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attention</c:v>
                </c:pt>
              </c:strCache>
            </c:strRef>
          </c:tx>
          <c:spPr>
            <a:solidFill>
              <a:srgbClr val="D9822B"/>
            </a:solidFill>
            <a:effectLst/>
          </c:spPr>
          <c:invertIfNegative val="0"/>
          <c:dLbls>
            <c:numFmt formatCode="0.00" sourceLinked="0"/>
            <c:txPr>
              <a:bodyPr/>
              <a:lstStyle/>
              <a:p>
                <a:pPr>
                  <a:defRPr b="0" i="0" strike="noStrike" sz="1000" u="none">
                    <a:solidFill>
                      <a:srgbClr val="1B2A24"/>
                    </a:solidFill>
                    <a:latin typeface="Arial"/>
                  </a:defRPr>
                </a:pPr>
              </a:p>
            </c:txPr>
            <c:showLegendKey val="0"/>
            <c:showVal val="1"/>
            <c:showCatName val="0"/>
            <c:showSerName val="0"/>
            <c:showPercent val="0"/>
            <c:showBubbleSize val="0"/>
            <c:showLeaderLines val="0"/>
          </c:dLbls>
          <c:cat>
            <c:multiLvlStrRef>
              <c:f>Sheet1!$A$2:$A$5</c:f>
              <c:multiLvlStrCache>
                <c:ptCount val="4"/>
                <c:lvl>
                  <c:pt idx="0">
                    <c:v>x₁ fond</c:v>
                  </c:pt>
                  <c:pt idx="1">
                    <c:v>x₂ fond</c:v>
                  </c:pt>
                  <c:pt idx="2">
                    <c:v>x₃ note</c:v>
                  </c:pt>
                  <c:pt idx="3">
                    <c:v>x₄ oiseau</c:v>
                  </c:pt>
                </c:lvl>
              </c:multiLvlStrCache>
            </c:multiLvlStrRef>
          </c:cat>
          <c:val>
            <c:numRef>
              <c:f>Sheet1!$B$2:$B$5</c:f>
              <c:numCache>
                <c:formatCode>General</c:formatCode>
                <c:ptCount val="4"/>
                <c:pt idx="0">
                  <c:v>0.09</c:v>
                </c:pt>
                <c:pt idx="1">
                  <c:v>0.11</c:v>
                </c:pt>
                <c:pt idx="2">
                  <c:v>0.66</c:v>
                </c:pt>
                <c:pt idx="3">
                  <c:v>0.14</c:v>
                </c:pt>
              </c:numCache>
            </c:numRef>
          </c:val>
        </c:ser>
        <c:ser>
          <c:idx val="1"/>
          <c:order val="1"/>
          <c:tx>
            <c:strRef>
              <c:f>Sheet1!$C$1</c:f>
              <c:strCache>
                <c:ptCount val="1"/>
                <c:pt idx="0">
                  <c:v>moyenne</c:v>
                </c:pt>
              </c:strCache>
            </c:strRef>
          </c:tx>
          <c:spPr>
            <a:solidFill>
              <a:srgbClr val="B8C4BD"/>
            </a:solidFill>
            <a:effectLst/>
          </c:spPr>
          <c:invertIfNegative val="0"/>
          <c:dLbls>
            <c:numFmt formatCode="0.00" sourceLinked="0"/>
            <c:txPr>
              <a:bodyPr/>
              <a:lstStyle/>
              <a:p>
                <a:pPr>
                  <a:defRPr b="0" i="0" strike="noStrike" sz="1000" u="none">
                    <a:solidFill>
                      <a:srgbClr val="1B2A24"/>
                    </a:solidFill>
                    <a:latin typeface="Arial"/>
                  </a:defRPr>
                </a:pPr>
              </a:p>
            </c:txPr>
            <c:showLegendKey val="0"/>
            <c:showVal val="1"/>
            <c:showCatName val="0"/>
            <c:showSerName val="0"/>
            <c:showPercent val="0"/>
            <c:showBubbleSize val="0"/>
            <c:showLeaderLines val="0"/>
          </c:dLbls>
          <c:cat>
            <c:multiLvlStrRef>
              <c:f>Sheet1!$A$2:$A$5</c:f>
              <c:multiLvlStrCache>
                <c:ptCount val="4"/>
                <c:lvl>
                  <c:pt idx="0">
                    <c:v>x₁ fond</c:v>
                  </c:pt>
                  <c:pt idx="1">
                    <c:v>x₂ fond</c:v>
                  </c:pt>
                  <c:pt idx="2">
                    <c:v>x₃ note</c:v>
                  </c:pt>
                  <c:pt idx="3">
                    <c:v>x₄ oiseau</c:v>
                  </c:pt>
                </c:lvl>
              </c:multiLvlStrCache>
            </c:multiLvlStrRef>
          </c:cat>
          <c:val>
            <c:numRef>
              <c:f>Sheet1!$C$2:$C$5</c:f>
              <c:numCache>
                <c:formatCode>General</c:formatCode>
                <c:ptCount val="4"/>
                <c:pt idx="0">
                  <c:v>0.25</c:v>
                </c:pt>
                <c:pt idx="1">
                  <c:v>0.25</c:v>
                </c:pt>
                <c:pt idx="2">
                  <c:v>0.25</c:v>
                </c:pt>
                <c:pt idx="3">
                  <c:v>0.25</c:v>
                </c:pt>
              </c:numCache>
            </c:numRef>
          </c:val>
        </c:ser>
        <c:dLbls>
          <c:numFmt formatCode="0.00" sourceLinked="0"/>
          <c:txPr>
            <a:bodyPr/>
            <a:lstStyle/>
            <a:p>
              <a:pPr>
                <a:defRPr b="0" i="0" strike="noStrike" sz="1000" u="none">
                  <a:solidFill>
                    <a:srgbClr val="1B2A24"/>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5B6B6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24"/>
                </a:solidFill>
                <a:latin typeface="Arial"/>
              </a:defRPr>
            </a:pPr>
            <a:r>
              <a:rPr sz="1300" b="0" i="0" u="none" strike="noStrike">
                <a:solidFill>
                  <a:srgbClr val="1B2A24"/>
                </a:solidFill>
                <a:latin typeface="Arial"/>
              </a:rPr>
              <a:t>Heures d'audio par site (enregistrements de 2 min)</a:t>
            </a:r>
          </a:p>
        </c:rich>
      </c:tx>
      <c:layout/>
      <c:overlay val="0"/>
    </c:title>
    <c:autoTitleDeleted val="0"/>
    <c:plotArea>
      <c:layout/>
      <c:barChart>
        <c:barDir val="bar"/>
        <c:grouping val="stacked"/>
        <c:varyColors val="0"/>
        <c:ser>
          <c:idx val="0"/>
          <c:order val="0"/>
          <c:tx>
            <c:strRef>
              <c:f>Sheet1!$B$1</c:f>
              <c:strCache>
                <c:ptCount val="1"/>
                <c:pt idx="0">
                  <c:v>2023-2024 · phénologie (1 an)</c:v>
                </c:pt>
              </c:strCache>
            </c:strRef>
          </c:tx>
          <c:spPr>
            <a:solidFill>
              <a:srgbClr val="3E7CB1"/>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Trésor</c:v>
                  </c:pt>
                  <c:pt idx="1">
                    <c:v>Kaw</c:v>
                  </c:pt>
                  <c:pt idx="2">
                    <c:v>Molokoï</c:v>
                  </c:pt>
                  <c:pt idx="3">
                    <c:v>Mataroni</c:v>
                  </c:pt>
                  <c:pt idx="4">
                    <c:v>RNRT</c:v>
                  </c:pt>
                  <c:pt idx="5">
                    <c:v>CDR</c:v>
                  </c:pt>
                  <c:pt idx="6">
                    <c:v>Patawa Est</c:v>
                  </c:pt>
                  <c:pt idx="7">
                    <c:v>Patawa Ouest</c:v>
                  </c:pt>
                </c:lvl>
              </c:multiLvlStrCache>
            </c:multiLvlStrRef>
          </c:cat>
          <c:val>
            <c:numRef>
              <c:f>Sheet1!$B$2:$B$9</c:f>
              <c:numCache>
                <c:formatCode>General</c:formatCode>
                <c:ptCount val="8"/>
                <c:pt idx="0">
                  <c:v>770.2</c:v>
                </c:pt>
                <c:pt idx="1">
                  <c:v>755</c:v>
                </c:pt>
                <c:pt idx="2">
                  <c:v>700</c:v>
                </c:pt>
                <c:pt idx="3">
                  <c:v>0</c:v>
                </c:pt>
                <c:pt idx="4">
                  <c:v>0</c:v>
                </c:pt>
                <c:pt idx="5">
                  <c:v>0</c:v>
                </c:pt>
                <c:pt idx="6">
                  <c:v>0</c:v>
                </c:pt>
                <c:pt idx="7">
                  <c:v>0</c:v>
                </c:pt>
              </c:numCache>
            </c:numRef>
          </c:val>
        </c:ser>
        <c:ser>
          <c:idx val="1"/>
          <c:order val="1"/>
          <c:tx>
            <c:strRef>
              <c:f>Sheet1!$C$1</c:f>
              <c:strCache>
                <c:ptCount val="1"/>
                <c:pt idx="0">
                  <c:v>2026 · campagne (1 semaine par site)</c:v>
                </c:pt>
              </c:strCache>
            </c:strRef>
          </c:tx>
          <c:spPr>
            <a:solidFill>
              <a:srgbClr val="2E8B57"/>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Trésor</c:v>
                  </c:pt>
                  <c:pt idx="1">
                    <c:v>Kaw</c:v>
                  </c:pt>
                  <c:pt idx="2">
                    <c:v>Molokoï</c:v>
                  </c:pt>
                  <c:pt idx="3">
                    <c:v>Mataroni</c:v>
                  </c:pt>
                  <c:pt idx="4">
                    <c:v>RNRT</c:v>
                  </c:pt>
                  <c:pt idx="5">
                    <c:v>CDR</c:v>
                  </c:pt>
                  <c:pt idx="6">
                    <c:v>Patawa Est</c:v>
                  </c:pt>
                  <c:pt idx="7">
                    <c:v>Patawa Ouest</c:v>
                  </c:pt>
                </c:lvl>
              </c:multiLvlStrCache>
            </c:multiLvlStrRef>
          </c:cat>
          <c:val>
            <c:numRef>
              <c:f>Sheet1!$C$2:$C$9</c:f>
              <c:numCache>
                <c:formatCode>General</c:formatCode>
                <c:ptCount val="8"/>
                <c:pt idx="0">
                  <c:v>0</c:v>
                </c:pt>
                <c:pt idx="1">
                  <c:v>0</c:v>
                </c:pt>
                <c:pt idx="2">
                  <c:v>0</c:v>
                </c:pt>
                <c:pt idx="3">
                  <c:v>432.5</c:v>
                </c:pt>
                <c:pt idx="4">
                  <c:v>242.7</c:v>
                </c:pt>
                <c:pt idx="5">
                  <c:v>179.7</c:v>
                </c:pt>
                <c:pt idx="6">
                  <c:v>87.4</c:v>
                </c:pt>
                <c:pt idx="7">
                  <c:v>36.6</c:v>
                </c:pt>
              </c:numCache>
            </c:numRef>
          </c:val>
        </c:ser>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A2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2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point de suivi. Plan : un cours sur l'attention en trois diapos, un état de l'art condensé, BirdCLEF+ 2026, l'ouverture du GitHub, le jeu de données et la nouvelle stratégie d'annotation décidée avec Élodie, les régularisations, et ce que je fais d'ici la prochaine réunion. La partie pré-benchmark AnuraSet est en cours de mise à jour. L'image de fond est un vrai chant d'A. blanci enregistré à Mataroni : les petites notes vers 4,5 kHz.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encodeur découpe le spectrogramme d'une fenêtre en morceaux : les jetons. perch_v2 en rend 16 × 4 = 64 pour une fenêtre de 5 s. Chaque jeton x_i est projeté trois fois par des matrices apprises. La clé k_i dit « ce que je contiens », la valeur v_i « ce que je transmets », la requête q « ce que je cherche ». Étape 1 : le score d'un jeton est le produit scalaire q · k_i, divisé par la racine de la dimension d pour que les scores ne grandissent pas avec la dimension (sinon le softmax sature). Étape 2 : le softmax transforme les scores en poids positifs de somme 1. Étape 3 : la sortie est la somme des valeurs pondérées. Analogie : une bibliothèque. La requête est ma question, les clés sont les titres des livres, les valeurs leur contenu ; je lis surtout les livres dont le titre répond à ma question. Deux usages : dans un transformer, c'est de l'auto-attention, chaque jeton émet sa propre requête, 64 requêtes et 64 sorties : les jetons se « parlent ». Dans notre sonde attentive, l'encodeur est gelé et on n'apprend qu'une seule requête, « où est A. blanci ? », plus une couche linéaire : une sortie par fenêtre.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haut, une vraie fenêtre de 5 s de Mataroni découpée en 64 jetons. À droite, des poids d'attention en illustration : ils ne viennent pas d'un modèle, je les ai calculés à la main sur la nouveauté de chaque morceau, pour montrer l'idée. Les jetons qui portent les notes d'A. blanci, vers 4,5 kHz, prennent le poids ; la bande d'insectes à 8 kHz, constante, n'en prend pas. Le problème que ça résout : avec la moyenne, chaque jeton pèse 1/64, et la note, qui occupe 2 à 4 jetons, est noyée dans le fond. Le calcul à la main du graphique : quatre jetons, une requête qui cherche l'énergie dans la bande de la note. Le jeton de la note reçoit 0,66 du poids, contre 0,25 avec la moyenne (0,66 = e^2,12 / (e^0,14 + e^0,28 + e^2,12 + e^0,57)). Entre les deux extrêmes, la moyenne et le maximum, l'attention choisit les poids selon le contenu de la fenêtre ; GeM est une version sans requête, avec un seul paramètre p qui glisse de la moyenne (p = 1) au maximum (p infini).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Avantages. Un : la note d'A. blanci dure 0,09 s et occupe 2 à 4 jetons sur 64 ; l'attention est faite pour ce cas. Deux : les transformers, Bird-MAE et BEATs, n'ont pas appris à résumer leur fenêtre en un vecteur ; ils ne donnent leur mesure qu'avec une tête sur leurs jetons. La revue de Schwinger et al. le mesure : BEATs passe de 94,10 à 97,98 AUROC sur BEANS en changeant seulement de tête. Trois : la carte des poids se lit, elle montre où le modèle a entendu, utile pour vérifier une détection. Inconvénients. Un : il faut stocker les jetons, 64 vecteurs par fenêtre au lieu d'un, sur 4,5 millions de fenêtres. Deux : une tête de plus à apprendre avec peu de positifs, donc un risque de sur-apprentissage. Trois : le gain n'est pas garanti ; dans BirdCLEF+ 2026, l'équipe DS@GT a perdu 0,013 à 0,035 point au classement avec une tête à attention. Quatre : parmi nos encodeurs, perch_v2 est le seul dont l'adaptateur sort déjà les jetons. Conclusion, conforme à la feuille de route V5 : la logistique reste la tête par défaut ; la sonde attentive est essayée dans le benchmark ONF pour un transformer libre, et gardée seulement si elle bat la logistique sur des points tenus à l'écart.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Étape 1, avant 2018 : un détecteur par espèce, gabarits ou MFCC plus SVM, réglés à la main, une espèce à la fois. Étape 2, 2018–2021 : les réseaux convolutifs sur spectrogrammes, entraînés sur Xeno-canto ; BirdNET (Kahl et al. 2021), fenêtres de 3 s à 48 kHz, environ 6 000 espèces, devient le standard des études de terrain ; les concours BirdCLEF popularisent la tâche. Étape 3, 2021–2023 : on n'utilise plus la sortie des classifieurs mais leur avant-dernière couche, l'embedding, pour d'autres espèces ; Ghani et al. 2023 montrent que les embeddings d'oiseaux (Perch 1) transfèrent mieux que ceux de modèles audio généraux, y compris hors des oiseaux. Étape 4, 2022–2025 : l'apprentissage auto-supervisé et les transformers, AVES, BEATs, Bird-MAE, apprennent sans étiquettes, sur des jetons, avec de l'attention. Étape 5, 2025–2026 : les modèles de fondation multi-taxons, Perch 2.0 (Google DeepMind, 12 M de paramètres, 1,5 million d'enregistrements, le meilleur en sondage linéaire), NatureLM-audio (Earth Species Project), ESP-AVES2 (ICLR 2026 : mélanger audio général et bioacoustique aide), BirdNET+ V3 en préversion, MetaPerch (ICML 2026, les métadonnées comme pertes d'entraînement) ; et des outils pour les comparer : bacpipe, qui rassemble 26 encodeurs derrière une même interface, BEANS, BirdSet. Trois leçons de la revue de Schwinger et al. (Ecological Informatics 2026) : la tête doit suivre la sortie de l'encodeur ; plus gros n'est pas meilleur (8, 88 et 300 millions de paramètres font à peu près jeu égal sur BirdSet) ; le classement BEANS ne contient aucun anoure. Où se place le projet : à l'étape 3, avec un encodeur de l'étape 5 gelé et une petite tête apprise. Pas de fine-tuning : quelques centaines d'exemples ne contraignent pas des millions de paramètres.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BirdCLEF+ 2026, sur Kaggle, organisé par Cornell dans le cadre de LifeCLEF ; clôture le 27 mai 2026, working notes présentées à CLEF 2026 à Iéna du 21 au 24 septembre. Données : 344 h d'enregistrements focaux, 178 h de paysages sonores de 23 sites du Pantanal brésilien, dont une heure seulement étiquetée. 234 taxons : oiseaux, amphibiens, insectes, reptiles, mammifères. Métrique : ROC-AUC macro par fenêtre de 5 s. Contrainte : inférence sur CPU seul en 90 minutes, la même situation que les portables de l'ONF. 4 094 équipes. Podium au score privé : 1er Nikita Babych, 0,966. Sa méthode : distiller les embeddings de Perch v2 et d'AudioProtoPNet dans un EfficientNetV2, puis l'affiner et l'entraîner en Noisy Student itératif sur les paysages sonores non étiquetés. 2e tennogh, 0,960 : d'après le titre de sa note, un ensemble divers, des pseudo-labels et un spécialiste des taxons non-oiseaux. 3e kapenon, 0,960, et 4e une équipe, 0,959 : je n'ai pas lu leurs méthodes. 5e Jiacheng Ma, 0,958, code public. Les cinq premiers se tiennent en moins d'un centième. Leçons : Perch v2 est partout, comme enseignant, initialisation ou branche de l'ensemble ; les pseudo-labels sur l'audio non étiqueté font la différence (le 13e passe de 0,881 à 0,934 avec de bons pseudo-labels) ; et la validation hors ligne ne prédit plus le classement au-dessus de 0,92 (Lu et Tsai, 13e).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Article : Miyaguchi, Gustineli et Cheung (Georgia Tech, équipe DS@GT), « Can Tokens Compete? », arXiv 2607.14474. Leur constat de départ est le nôtre : les amphibiens font 1,3 % des enregistrements focaux d'entraînement, mais 76,6 % des fenêtres de paysages sonores étiquetées. 72 des 234 taxons ne sont pas dans les classes de Perch. Pour eux, ils construisent une tête à prototypes sur les embeddings de Perch v2 gelé : μ+ est la moyenne des fenêtres où l'espèce est présente, μ− la moyenne de celles où elle est absente, et le score est cos(e, μ+) − cos(e, μ−). C'est notre prototype différentiel, en similarité cosinus. Résultat : sur les 66 paysages sonores étiquetés, AP macro de 0,895 sur les non-oiseaux, contre 0,074 pour leur réseau SED seul, et +0,011 au classement privé. Trois réserves : l'AP est mesurée sur les mêmes 66 fichiers qui construisent les prototypes, sans pli indiqué, donc optimiste ; en validation site tenu à l'écart (leur annexe), pour les espèces sans aucun enregistrement focal, la recherche par prototypes tombe au hasard (AUROC 0,26), et la régression ridge aussi (0,50) : sans exemple de l'espèce, aucune tête ne la trouve ; enfin leurs pseudo-labels et leur tête à attention ont fait baisser leur score. Ce que j'en retiens : Perch v2 porte de l'information sur les anoures même sans les avoir appris ; le prototype différentiel est un bon amorçage d'un nouveau site ; la logistique régularisée prend le relais dès qu'il y a des exemples, comme dans notre benchmark 07. Et les taxons se recouvrent en fréquence (1 à 4 kHz pour grenouilles, oiseaux et insectes) : une porte spectrale seule ne sépare pas les espèces.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 ajouter les tuteurs comme collaborateurs du dépôt rumble-paw-patrol/grenouille, en lecture, ou en écriture s'ils veulent commenter les pull requests. Ce qu'ils y trouvent : le README (installation, commandes, inventaire), la feuille de route V5, DECISIONS.md qui trace chaque choix avec sa date (160 à ce jour), les rapports de benchmarks avec leurs données et le script qui refait leurs figures, les tableaux en PNG lisibles partout, et le code avec ses tests. Les données de l'ONF ne sont pas dans le dépôt : seuls 66 clips de 10 s servent d'échantillon de test. J'ai besoin de vos identifiants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L'inventaire est complet depuis le 29 septembre. Deux jeux. La phénologie 2023-2024 : trois sites (Kaw, Molokoï, Trésor), deux enregistreurs par site, un an de décembre 2023 à novembre 2024, 66 779 enregistrements, 2 225 h. La campagne 2026 : cinq sites (Mataroni, RNRT, CDR, Patawa Est, Patawa Ouest), un relevé d'environ une semaine par site, 29 513 enregistrements, 979 h. Tous les enregistrements font 2 min, toutes les 30 min de 5 h à 20 h, en 48 kHz stéréo. Au total 3 204 h et 2,2 To. Après les drapeaux (durée anormale, hors relevé, micro dans le sac, horloge douteuse), 94 588 enregistrements restent encodables, soit 4,5 millions de fenêtres de 5 s au pas de 2,5 s. Deux conséquences pour la suite. En 2026, chaque site n'a été enregistré qu'une semaine : le mois est confondu avec le site. Seul le jeu 2023 couvre toutes les saisons. Et les 345 positifs et 150 négatifs importés de Blancinet sortent de l'entraînement et de l'évaluation : ils avaient été choisis par un détecteur et ne couvraient que Mataroni.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Décision de l'entretien avec Élodie, le 29 septembre : on repart de zéro. J'annote seul ; Élodie et Benoît vérifient un sous-échantillon ; aucun benchmark sur ces données avant leur go. Étape 1, avant toute écoute, je partage les points d'écoute : un site 2026 entier tenu à l'écart pour l'évaluation (choisi avec Élodie, au moins 10 points), 20 % des points des autres sites, une station 2023 sur deux ; le reste sert à l'entraînement. Étape 2, le lot d'entraînement : environ 450 extraits de 30 s ; en 2026, trois par point (pic du matin, pic du soir, une autre tranche) ; en 2023, 50 par station, la moitié en saison haute dont deux tiers en février-mars. Étape 3, le jeu d'évaluation : environ 250 enregistrements de 2 min écoutés en entier, sur les points tenus à l'écart, avec au moins 60 positifs. Étape 4, le paquet de vérification, à l'aveugle : mon label est caché et l'ordre mélangé ; environ 15 à 20 % de ce que j'ai annoté, soit 2 h 30 d'écoute chacun ; ils écoutent avec leur outil habituel et répondent dans un tableur. Étape 5, la règle du go : zéro erreur sur 60 positifs, au plus un chant manqué sur 100 négatifs ; le go est écrit dans DECISIONS.md. Les principes : aucun détecteur dans le tirage, sinon le jeu hérite de ses angles morts ; le point d'écoute est l'unité qui compte, donc beaucoup de points et peu d'enregistrements par point ; chaque strate qui donne des positifs donne aussi des négatifs, sinon la tête apprend l'heure ou le site ; tout tirage est fait par un script à graine fixée. À l'écoute, je note les intervalles où A. blanci chante, solo ou chœur, et la qualité A/B/C ; la décision reste binaire. Budget : environ 25 h pour moi.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en cours de mise à jour dans une autre session : à compléter.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L2, ou ridge : on ajoute lambda fois la norme des poids au carré à la perte. Les poids restent petits, la frontière ne repose pas sur quelques dimensions ; indispensable avec 1 536 dimensions pour quelques dizaines d'enregistrements positifs. Le paramètre C, l'inverse de lambda, se choisit par validation groupée par point d'écoute, avec la règle du « 1 écart-type » : le C le plus régularisant qui reste à moins d'un écart-type du meilleur. C'est en place. SpecAugment (Park et al. 2019) : pendant l'entraînement, on masque au hasard des bandes de fréquence et des tranches de temps du spectrogramme ; le réseau apprend à ne pas dépendre d'un seul indice. Chez nous, l'encodeur est gelé et les embeddings calculés une fois : SpecAugment ne sert que si l'on entraîne un réseau (distillation, modèle maison), ou si l'on ré-encode des copies augmentées. Et un masque sur la bande 4,4–5,5 kHz efface la note : il faut exclure cette bande du tirage. Les élégantes ont une idée commune : ne pas tirer les poids vers zéro, mais vers une solution déjà raisonnable. R30 : une L2 centrée sur le prototype différentiel ; avec peu d'annotations, la tête reste proche du prototype, puis s'en écarte quand les données le justifient. R31 : l'analyse discriminante linéaire à covariance rétrécie, un continuum entre le prototype (gamma = 1) et la logistique (gamma = 0), en solution fermée. L2-SP : pour affiner un réseau, on pénalise l'écart aux poids pré-entraînés plutôt qu'à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 la note d'A. blanci occupe environ 2 % d'une fenêtre de 3 s ; le reste, c'est le fond du site et du micro. Les embeddings se regroupent alors par site plutôt que par espèce, et une tête peut apprendre le site au lieu du chant. Les régularisations de cette diapo retirent de l'embedding ce qui dit le site ou le micro. R19 : soustraire la moyenne des embeddings du point d'écoute, dans l'esprit du prototype différentiel. R20 : centrer et réduire par site, à la manière d'AdaBN. R21 : retirer les directions qui prédisent le micro (INLP, LEACE) ; interdit avec R19, car la combinaison efface le chant. R37 : un biais par point d'écoute, rétréci vers zéro, comme dans un modèle mixte. DANN : apprendre une représentation dont on ne peut pas deviner le micro. Côté données, R1 colle des notes sur le fond d'autres sites. Et une régularisation qui vient de la nouvelle stratégie d'annotation : noter solo ou chœur et la qualité A/B/C, puis les apprendre comme tâches auxiliaires, oblige la tête à s'appuyer sur ce qui est commun à tous les A. blanci, la note et le rythme ; essayé seulement si chaque sous-classe compte au moins 30 enregistrements indépendants. Toutes se jugent sur des points tenus à l'écart, jamais en validation croisée sur des points connus : dans ce cas, le raccourci du site reste vrai et les classements s'inversent.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D'ici la prochaine réunion, dans deux à trois semaines. Un : annoter mon jeu, le lot d'entraînement et le jeu d'évaluation, tirés par script sans aucun détecteur. Deux : faire vérifier un sous-échantillon par Élodie et Benoît, à l'aveugle, corriger, et écrire le go. Trois : lancer le benchmark sur mes propres données, avec le même gabarit que le benchmark AnuraSet, sur des points tenus à l'écart. Quatre : présenter ce benchmark et conclure à la prochaine réunion. Deux questions pour vous : vos identifiants GitHub pour ouvrir le dépôt, et la possibilité d'encoder dans le cloud plutôt que sur mon portable ou sur les machines de l'ONF.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24"/>
        </a:solidFill>
      </p:bgPr>
    </p:bg>
    <p:spTree>
      <p:nvGrpSpPr>
        <p:cNvPr id="1" name=""/>
        <p:cNvGrpSpPr/>
        <p:nvPr/>
      </p:nvGrpSpPr>
      <p:grpSpPr>
        <a:xfrm>
          <a:off x="0" y="0"/>
          <a:ext cx="0" cy="0"/>
          <a:chOff x="0" y="0"/>
          <a:chExt cx="0" cy="0"/>
        </a:xfrm>
      </p:grpSpPr>
      <p:pic>
        <p:nvPicPr>
          <p:cNvPr id="2" name="Image 0" descr="/home/user/Grenouille/documentation/presentation-suivi-2/figures/titre.png">    </p:cNvPr>
          <p:cNvPicPr>
            <a:picLocks noChangeAspect="1"/>
          </p:cNvPicPr>
          <p:nvPr/>
        </p:nvPicPr>
        <p:blipFill>
          <a:blip r:embed="rId1"/>
          <a:srcRect l="0" r="0" t="0" b="0"/>
          <a:stretch/>
        </p:blipFill>
        <p:spPr>
          <a:xfrm>
            <a:off x="7863840" y="0"/>
            <a:ext cx="4327855" cy="6858000"/>
          </a:xfrm>
          <a:prstGeom prst="rect">
            <a:avLst/>
          </a:prstGeom>
        </p:spPr>
      </p:pic>
      <p:sp>
        <p:nvSpPr>
          <p:cNvPr id="3" name="Shape 0"/>
          <p:cNvSpPr/>
          <p:nvPr/>
        </p:nvSpPr>
        <p:spPr>
          <a:xfrm>
            <a:off x="548640" y="1143000"/>
            <a:ext cx="3566160" cy="329184"/>
          </a:xfrm>
          <a:prstGeom prst="roundRect">
            <a:avLst>
              <a:gd name="adj" fmla="val 50000"/>
            </a:avLst>
          </a:prstGeom>
          <a:solidFill>
            <a:srgbClr val="173D34"/>
          </a:solidFill>
          <a:ln w="12700">
            <a:solidFill>
              <a:srgbClr val="173D34"/>
            </a:solidFill>
            <a:prstDash val="solid"/>
          </a:ln>
        </p:spPr>
      </p:sp>
      <p:sp>
        <p:nvSpPr>
          <p:cNvPr id="4" name="Text 1"/>
          <p:cNvSpPr txBox="1"/>
          <p:nvPr/>
        </p:nvSpPr>
        <p:spPr>
          <a:xfrm>
            <a:off x="548640" y="1143000"/>
            <a:ext cx="3566160" cy="329184"/>
          </a:xfrm>
          <a:prstGeom prst="rect">
            <a:avLst/>
          </a:prstGeom>
          <a:noFill/>
          <a:ln/>
        </p:spPr>
        <p:txBody>
          <a:bodyPr wrap="square" lIns="0" tIns="0" rIns="0" bIns="0" rtlCol="0" anchor="ctr"/>
          <a:lstStyle/>
          <a:p>
            <a:pPr algn="ctr" indent="0" marL="0">
              <a:buNone/>
            </a:pPr>
            <a:r>
              <a:rPr lang="en-US" sz="1100" b="1" spc="100" kern="0" dirty="0">
                <a:solidFill>
                  <a:srgbClr val="E9B44C"/>
                </a:solidFill>
                <a:latin typeface="Calibri" pitchFamily="34" charset="0"/>
                <a:ea typeface="Calibri" pitchFamily="34" charset="-122"/>
                <a:cs typeface="Calibri" pitchFamily="34" charset="-120"/>
              </a:rPr>
              <a:t>STAGE ONF GUYANE · SUIVI N° 2</a:t>
            </a:r>
            <a:endParaRPr lang="en-US" sz="1100" dirty="0"/>
          </a:p>
        </p:txBody>
      </p:sp>
      <p:sp>
        <p:nvSpPr>
          <p:cNvPr id="5" name="Text 2"/>
          <p:cNvSpPr txBox="1"/>
          <p:nvPr/>
        </p:nvSpPr>
        <p:spPr>
          <a:xfrm>
            <a:off x="548640" y="1737360"/>
            <a:ext cx="7132320" cy="164592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Détection acoustique d'</a:t>
            </a:r>
            <a:endParaRPr lang="en-US" sz="4200" dirty="0"/>
          </a:p>
          <a:p>
            <a:pPr indent="0" marL="0">
              <a:buNone/>
            </a:pPr>
            <a:r>
              <a:rPr lang="en-US" sz="4200" b="1" i="1" dirty="0">
                <a:solidFill>
                  <a:srgbClr val="FFFFFF"/>
                </a:solidFill>
                <a:latin typeface="Cambria" pitchFamily="34" charset="0"/>
                <a:ea typeface="Cambria" pitchFamily="34" charset="-122"/>
                <a:cs typeface="Cambria" pitchFamily="34" charset="-120"/>
              </a:rPr>
              <a:t>Anomaloglossus blanci</a:t>
            </a:r>
            <a:endParaRPr lang="en-US" sz="4200" dirty="0"/>
          </a:p>
        </p:txBody>
      </p:sp>
      <p:sp>
        <p:nvSpPr>
          <p:cNvPr id="6" name="Text 3"/>
          <p:cNvSpPr txBox="1"/>
          <p:nvPr/>
        </p:nvSpPr>
        <p:spPr>
          <a:xfrm>
            <a:off x="548640" y="3520440"/>
            <a:ext cx="6949440" cy="640080"/>
          </a:xfrm>
          <a:prstGeom prst="rect">
            <a:avLst/>
          </a:prstGeom>
          <a:noFill/>
          <a:ln/>
        </p:spPr>
        <p:txBody>
          <a:bodyPr wrap="square" lIns="0" tIns="0" rIns="0" bIns="0" rtlCol="0" anchor="t"/>
          <a:lstStyle/>
          <a:p>
            <a:pPr indent="0" marL="0">
              <a:buNone/>
            </a:pPr>
            <a:r>
              <a:rPr lang="en-US" sz="1700" dirty="0">
                <a:solidFill>
                  <a:srgbClr val="A7BFB2"/>
                </a:solidFill>
                <a:latin typeface="Calibri" pitchFamily="34" charset="0"/>
                <a:ea typeface="Calibri" pitchFamily="34" charset="-122"/>
                <a:cs typeface="Calibri" pitchFamily="34" charset="-120"/>
              </a:rPr>
              <a:t>Attention · état de l'art · BirdCLEF+ 2026 · données et annotation · régularisations</a:t>
            </a:r>
            <a:endParaRPr lang="en-US" sz="1700" dirty="0"/>
          </a:p>
        </p:txBody>
      </p:sp>
      <p:sp>
        <p:nvSpPr>
          <p:cNvPr id="7" name="Text 4"/>
          <p:cNvSpPr txBox="1"/>
          <p:nvPr/>
        </p:nvSpPr>
        <p:spPr>
          <a:xfrm>
            <a:off x="548640" y="4343400"/>
            <a:ext cx="5486400" cy="320040"/>
          </a:xfrm>
          <a:prstGeom prst="rect">
            <a:avLst/>
          </a:prstGeom>
          <a:noFill/>
          <a:ln/>
        </p:spPr>
        <p:txBody>
          <a:bodyPr wrap="square" lIns="0" tIns="0" rIns="0" bIns="0" rtlCol="0" anchor="t"/>
          <a:lstStyle/>
          <a:p>
            <a:pPr indent="0" marL="0">
              <a:buNone/>
            </a:pPr>
            <a:r>
              <a:rPr lang="en-US" sz="1300" dirty="0">
                <a:solidFill>
                  <a:srgbClr val="A7BFB2"/>
                </a:solidFill>
                <a:latin typeface="Calibri" pitchFamily="34" charset="0"/>
                <a:ea typeface="Calibri" pitchFamily="34" charset="-122"/>
                <a:cs typeface="Calibri" pitchFamily="34" charset="-120"/>
              </a:rPr>
              <a:t>Léonard · 30 septembre 2026</a:t>
            </a:r>
            <a:endParaRPr lang="en-US" sz="1300" dirty="0"/>
          </a:p>
        </p:txBody>
      </p:sp>
      <p:sp>
        <p:nvSpPr>
          <p:cNvPr id="8" name="Text 5"/>
          <p:cNvSpPr txBox="1"/>
          <p:nvPr/>
        </p:nvSpPr>
        <p:spPr>
          <a:xfrm>
            <a:off x="8001000" y="6446520"/>
            <a:ext cx="4023360" cy="274320"/>
          </a:xfrm>
          <a:prstGeom prst="rect">
            <a:avLst/>
          </a:prstGeom>
          <a:noFill/>
          <a:ln/>
        </p:spPr>
        <p:txBody>
          <a:bodyPr wrap="square" lIns="0" tIns="0" rIns="0" bIns="0" rtlCol="0" anchor="t"/>
          <a:lstStyle/>
          <a:p>
            <a:pPr indent="0" marL="0">
              <a:buNone/>
            </a:pPr>
            <a:r>
              <a:rPr lang="en-US" sz="900" i="1" dirty="0">
                <a:solidFill>
                  <a:srgbClr val="FFFFFF"/>
                </a:solidFill>
                <a:latin typeface="Calibri" pitchFamily="34" charset="0"/>
                <a:ea typeface="Calibri" pitchFamily="34" charset="-122"/>
                <a:cs typeface="Calibri" pitchFamily="34" charset="-120"/>
              </a:rPr>
              <a:t>Fond : un chant d'A. blanci enregistré à Mataroni (spectrogramme, 1–9 kHz)</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4874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34874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ATTENTION · 1/3</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mécanisme interne : requêtes, clés, valeurs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2</a:t>
            </a:r>
            <a:endParaRPr lang="en-US" sz="900" dirty="0"/>
          </a:p>
        </p:txBody>
      </p:sp>
      <p:sp>
        <p:nvSpPr>
          <p:cNvPr id="7" name="Text 4"/>
          <p:cNvSpPr txBox="1"/>
          <p:nvPr/>
        </p:nvSpPr>
        <p:spPr>
          <a:xfrm>
            <a:off x="548640" y="1691640"/>
            <a:ext cx="2011680" cy="274320"/>
          </a:xfrm>
          <a:prstGeom prst="rect">
            <a:avLst/>
          </a:prstGeom>
          <a:noFill/>
          <a:ln/>
        </p:spPr>
        <p:txBody>
          <a:bodyPr wrap="square" lIns="0" tIns="0" rIns="0" bIns="0" rtlCol="0" anchor="t"/>
          <a:lstStyle/>
          <a:p>
            <a:pPr indent="0" marL="0">
              <a:buNone/>
            </a:pPr>
            <a:r>
              <a:rPr lang="en-US" sz="1200" b="1" dirty="0">
                <a:solidFill>
                  <a:srgbClr val="5B6B63"/>
                </a:solidFill>
                <a:latin typeface="Calibri" pitchFamily="34" charset="0"/>
                <a:ea typeface="Calibri" pitchFamily="34" charset="-122"/>
                <a:cs typeface="Calibri" pitchFamily="34" charset="-120"/>
              </a:rPr>
              <a:t>64 jetons d'une fenêtre</a:t>
            </a:r>
            <a:endParaRPr lang="en-US" sz="1200" dirty="0"/>
          </a:p>
        </p:txBody>
      </p:sp>
      <p:sp>
        <p:nvSpPr>
          <p:cNvPr id="8" name="Shape 5"/>
          <p:cNvSpPr/>
          <p:nvPr/>
        </p:nvSpPr>
        <p:spPr>
          <a:xfrm>
            <a:off x="731520" y="2057400"/>
            <a:ext cx="1280160" cy="438912"/>
          </a:xfrm>
          <a:prstGeom prst="roundRect">
            <a:avLst>
              <a:gd name="adj" fmla="val 16667"/>
            </a:avLst>
          </a:prstGeom>
          <a:solidFill>
            <a:srgbClr val="E4EEE8"/>
          </a:solidFill>
          <a:ln w="9525">
            <a:solidFill>
              <a:srgbClr val="CFDDD5"/>
            </a:solidFill>
            <a:prstDash val="solid"/>
          </a:ln>
        </p:spPr>
      </p:sp>
      <p:sp>
        <p:nvSpPr>
          <p:cNvPr id="9" name="Text 6"/>
          <p:cNvSpPr txBox="1"/>
          <p:nvPr/>
        </p:nvSpPr>
        <p:spPr>
          <a:xfrm>
            <a:off x="731520" y="2057400"/>
            <a:ext cx="1280160" cy="438912"/>
          </a:xfrm>
          <a:prstGeom prst="rect">
            <a:avLst/>
          </a:prstGeom>
          <a:noFill/>
          <a:ln/>
        </p:spPr>
        <p:txBody>
          <a:bodyPr wrap="square" lIns="0" tIns="0" rIns="0" bIns="0" rtlCol="0" anchor="ctr"/>
          <a:lstStyle/>
          <a:p>
            <a:pPr algn="ctr" indent="0" marL="0">
              <a:buNone/>
            </a:pPr>
            <a:r>
              <a:rPr lang="en-US" sz="1400" dirty="0">
                <a:solidFill>
                  <a:srgbClr val="1B2A24"/>
                </a:solidFill>
                <a:latin typeface="Calibri" pitchFamily="34" charset="0"/>
                <a:ea typeface="Calibri" pitchFamily="34" charset="-122"/>
                <a:cs typeface="Calibri" pitchFamily="34" charset="-120"/>
              </a:rPr>
              <a:t>x₁</a:t>
            </a:r>
            <a:endParaRPr lang="en-US" sz="1400" dirty="0"/>
          </a:p>
        </p:txBody>
      </p:sp>
      <p:sp>
        <p:nvSpPr>
          <p:cNvPr id="10" name="Shape 7"/>
          <p:cNvSpPr/>
          <p:nvPr/>
        </p:nvSpPr>
        <p:spPr>
          <a:xfrm>
            <a:off x="731520" y="2624328"/>
            <a:ext cx="1280160" cy="438912"/>
          </a:xfrm>
          <a:prstGeom prst="roundRect">
            <a:avLst>
              <a:gd name="adj" fmla="val 16667"/>
            </a:avLst>
          </a:prstGeom>
          <a:solidFill>
            <a:srgbClr val="E4EEE8"/>
          </a:solidFill>
          <a:ln w="9525">
            <a:solidFill>
              <a:srgbClr val="CFDDD5"/>
            </a:solidFill>
            <a:prstDash val="solid"/>
          </a:ln>
        </p:spPr>
      </p:sp>
      <p:sp>
        <p:nvSpPr>
          <p:cNvPr id="11" name="Text 8"/>
          <p:cNvSpPr txBox="1"/>
          <p:nvPr/>
        </p:nvSpPr>
        <p:spPr>
          <a:xfrm>
            <a:off x="731520" y="2624328"/>
            <a:ext cx="1280160" cy="438912"/>
          </a:xfrm>
          <a:prstGeom prst="rect">
            <a:avLst/>
          </a:prstGeom>
          <a:noFill/>
          <a:ln/>
        </p:spPr>
        <p:txBody>
          <a:bodyPr wrap="square" lIns="0" tIns="0" rIns="0" bIns="0" rtlCol="0" anchor="ctr"/>
          <a:lstStyle/>
          <a:p>
            <a:pPr algn="ctr" indent="0" marL="0">
              <a:buNone/>
            </a:pPr>
            <a:r>
              <a:rPr lang="en-US" sz="1400" dirty="0">
                <a:solidFill>
                  <a:srgbClr val="1B2A24"/>
                </a:solidFill>
                <a:latin typeface="Calibri" pitchFamily="34" charset="0"/>
                <a:ea typeface="Calibri" pitchFamily="34" charset="-122"/>
                <a:cs typeface="Calibri" pitchFamily="34" charset="-120"/>
              </a:rPr>
              <a:t>x₂</a:t>
            </a:r>
            <a:endParaRPr lang="en-US" sz="1400" dirty="0"/>
          </a:p>
        </p:txBody>
      </p:sp>
      <p:sp>
        <p:nvSpPr>
          <p:cNvPr id="12" name="Shape 9"/>
          <p:cNvSpPr/>
          <p:nvPr/>
        </p:nvSpPr>
        <p:spPr>
          <a:xfrm>
            <a:off x="731520" y="3191256"/>
            <a:ext cx="1280160" cy="438912"/>
          </a:xfrm>
          <a:prstGeom prst="roundRect">
            <a:avLst>
              <a:gd name="adj" fmla="val 16667"/>
            </a:avLst>
          </a:prstGeom>
          <a:solidFill>
            <a:srgbClr val="E9B44C"/>
          </a:solidFill>
          <a:ln w="9525">
            <a:solidFill>
              <a:srgbClr val="E9B44C"/>
            </a:solidFill>
            <a:prstDash val="solid"/>
          </a:ln>
        </p:spPr>
      </p:sp>
      <p:sp>
        <p:nvSpPr>
          <p:cNvPr id="13" name="Text 10"/>
          <p:cNvSpPr txBox="1"/>
          <p:nvPr/>
        </p:nvSpPr>
        <p:spPr>
          <a:xfrm>
            <a:off x="731520" y="3191256"/>
            <a:ext cx="1280160" cy="438912"/>
          </a:xfrm>
          <a:prstGeom prst="rect">
            <a:avLst/>
          </a:prstGeom>
          <a:noFill/>
          <a:ln/>
        </p:spPr>
        <p:txBody>
          <a:bodyPr wrap="square" lIns="0" tIns="0" rIns="0" bIns="0" rtlCol="0" anchor="ctr"/>
          <a:lstStyle/>
          <a:p>
            <a:pPr algn="ctr" indent="0" marL="0">
              <a:buNone/>
            </a:pPr>
            <a:r>
              <a:rPr lang="en-US" sz="1400" b="1" dirty="0">
                <a:solidFill>
                  <a:srgbClr val="1B2A24"/>
                </a:solidFill>
                <a:latin typeface="Calibri" pitchFamily="34" charset="0"/>
                <a:ea typeface="Calibri" pitchFamily="34" charset="-122"/>
                <a:cs typeface="Calibri" pitchFamily="34" charset="-120"/>
              </a:rPr>
              <a:t>x₃</a:t>
            </a:r>
            <a:endParaRPr lang="en-US" sz="1400" dirty="0"/>
          </a:p>
        </p:txBody>
      </p:sp>
      <p:sp>
        <p:nvSpPr>
          <p:cNvPr id="14" name="Shape 11"/>
          <p:cNvSpPr/>
          <p:nvPr/>
        </p:nvSpPr>
        <p:spPr>
          <a:xfrm>
            <a:off x="731520" y="3758184"/>
            <a:ext cx="1280160" cy="438912"/>
          </a:xfrm>
          <a:prstGeom prst="roundRect">
            <a:avLst>
              <a:gd name="adj" fmla="val 16667"/>
            </a:avLst>
          </a:prstGeom>
          <a:solidFill>
            <a:srgbClr val="E4EEE8"/>
          </a:solidFill>
          <a:ln w="9525">
            <a:solidFill>
              <a:srgbClr val="CFDDD5"/>
            </a:solidFill>
            <a:prstDash val="solid"/>
          </a:ln>
        </p:spPr>
      </p:sp>
      <p:sp>
        <p:nvSpPr>
          <p:cNvPr id="15" name="Text 12"/>
          <p:cNvSpPr txBox="1"/>
          <p:nvPr/>
        </p:nvSpPr>
        <p:spPr>
          <a:xfrm>
            <a:off x="731520" y="3758184"/>
            <a:ext cx="1280160" cy="438912"/>
          </a:xfrm>
          <a:prstGeom prst="rect">
            <a:avLst/>
          </a:prstGeom>
          <a:noFill/>
          <a:ln/>
        </p:spPr>
        <p:txBody>
          <a:bodyPr wrap="square" lIns="0" tIns="0" rIns="0" bIns="0" rtlCol="0" anchor="ctr"/>
          <a:lstStyle/>
          <a:p>
            <a:pPr algn="ctr" indent="0" marL="0">
              <a:buNone/>
            </a:pPr>
            <a:r>
              <a:rPr lang="en-US" sz="1400" dirty="0">
                <a:solidFill>
                  <a:srgbClr val="1B2A24"/>
                </a:solidFill>
                <a:latin typeface="Calibri" pitchFamily="34" charset="0"/>
                <a:ea typeface="Calibri" pitchFamily="34" charset="-122"/>
                <a:cs typeface="Calibri" pitchFamily="34" charset="-120"/>
              </a:rPr>
              <a:t>x₄</a:t>
            </a:r>
            <a:endParaRPr lang="en-US" sz="1400" dirty="0"/>
          </a:p>
        </p:txBody>
      </p:sp>
      <p:sp>
        <p:nvSpPr>
          <p:cNvPr id="16" name="Shape 13"/>
          <p:cNvSpPr/>
          <p:nvPr/>
        </p:nvSpPr>
        <p:spPr>
          <a:xfrm>
            <a:off x="731520" y="4325112"/>
            <a:ext cx="1280160" cy="438912"/>
          </a:xfrm>
          <a:prstGeom prst="roundRect">
            <a:avLst>
              <a:gd name="adj" fmla="val 16667"/>
            </a:avLst>
          </a:prstGeom>
          <a:solidFill>
            <a:srgbClr val="E4EEE8"/>
          </a:solidFill>
          <a:ln w="9525">
            <a:solidFill>
              <a:srgbClr val="CFDDD5"/>
            </a:solidFill>
            <a:prstDash val="solid"/>
          </a:ln>
        </p:spPr>
      </p:sp>
      <p:sp>
        <p:nvSpPr>
          <p:cNvPr id="17" name="Text 14"/>
          <p:cNvSpPr txBox="1"/>
          <p:nvPr/>
        </p:nvSpPr>
        <p:spPr>
          <a:xfrm>
            <a:off x="731520" y="4325112"/>
            <a:ext cx="1280160" cy="438912"/>
          </a:xfrm>
          <a:prstGeom prst="rect">
            <a:avLst/>
          </a:prstGeom>
          <a:noFill/>
          <a:ln/>
        </p:spPr>
        <p:txBody>
          <a:bodyPr wrap="square" lIns="0" tIns="0" rIns="0" bIns="0" rtlCol="0" anchor="ctr"/>
          <a:lstStyle/>
          <a:p>
            <a:pPr algn="ctr" indent="0" marL="0">
              <a:buNone/>
            </a:pPr>
            <a:r>
              <a:rPr lang="en-US" sz="1400" dirty="0">
                <a:solidFill>
                  <a:srgbClr val="1B2A24"/>
                </a:solidFill>
                <a:latin typeface="Calibri" pitchFamily="34" charset="0"/>
                <a:ea typeface="Calibri" pitchFamily="34" charset="-122"/>
                <a:cs typeface="Calibri" pitchFamily="34" charset="-120"/>
              </a:rPr>
              <a:t>x₆₄</a:t>
            </a:r>
            <a:endParaRPr lang="en-US" sz="1400" dirty="0"/>
          </a:p>
        </p:txBody>
      </p:sp>
      <p:sp>
        <p:nvSpPr>
          <p:cNvPr id="18" name="Text 15"/>
          <p:cNvSpPr txBox="1"/>
          <p:nvPr/>
        </p:nvSpPr>
        <p:spPr>
          <a:xfrm>
            <a:off x="731520" y="4937760"/>
            <a:ext cx="1463040" cy="274320"/>
          </a:xfrm>
          <a:prstGeom prst="rect">
            <a:avLst/>
          </a:prstGeom>
          <a:noFill/>
          <a:ln/>
        </p:spPr>
        <p:txBody>
          <a:bodyPr wrap="square" lIns="0" tIns="0" rIns="0" bIns="0" rtlCol="0" anchor="t"/>
          <a:lstStyle/>
          <a:p>
            <a:pPr indent="0" marL="0">
              <a:buNone/>
            </a:pPr>
            <a:r>
              <a:rPr lang="en-US" sz="1100" i="1" dirty="0">
                <a:solidFill>
                  <a:srgbClr val="8A5A00"/>
                </a:solidFill>
                <a:latin typeface="Calibri" pitchFamily="34" charset="0"/>
                <a:ea typeface="Calibri" pitchFamily="34" charset="-122"/>
                <a:cs typeface="Calibri" pitchFamily="34" charset="-120"/>
              </a:rPr>
              <a:t>x₃ : la note</a:t>
            </a:r>
            <a:endParaRPr lang="en-US" sz="1100" dirty="0"/>
          </a:p>
        </p:txBody>
      </p:sp>
      <p:sp>
        <p:nvSpPr>
          <p:cNvPr id="19" name="Shape 16"/>
          <p:cNvSpPr/>
          <p:nvPr/>
        </p:nvSpPr>
        <p:spPr>
          <a:xfrm>
            <a:off x="2057400" y="3429000"/>
            <a:ext cx="457200" cy="-1033272"/>
          </a:xfrm>
          <a:prstGeom prst="line">
            <a:avLst/>
          </a:prstGeom>
          <a:noFill/>
          <a:ln w="12700">
            <a:solidFill>
              <a:srgbClr val="A7BFB2"/>
            </a:solidFill>
            <a:prstDash val="solid"/>
            <a:tailEnd type="triangle"/>
          </a:ln>
        </p:spPr>
      </p:sp>
      <p:sp>
        <p:nvSpPr>
          <p:cNvPr id="20" name="Shape 17"/>
          <p:cNvSpPr/>
          <p:nvPr/>
        </p:nvSpPr>
        <p:spPr>
          <a:xfrm>
            <a:off x="2514600" y="2011680"/>
            <a:ext cx="2377440" cy="768096"/>
          </a:xfrm>
          <a:prstGeom prst="roundRect">
            <a:avLst>
              <a:gd name="adj" fmla="val 11905"/>
            </a:avLst>
          </a:prstGeom>
          <a:solidFill>
            <a:srgbClr val="FFFFFF"/>
          </a:solidFill>
          <a:ln w="12700">
            <a:solidFill>
              <a:srgbClr val="8A5A00"/>
            </a:solidFill>
            <a:prstDash val="solid"/>
          </a:ln>
        </p:spPr>
      </p:sp>
      <p:sp>
        <p:nvSpPr>
          <p:cNvPr id="21" name="Text 18"/>
          <p:cNvSpPr txBox="1"/>
          <p:nvPr/>
        </p:nvSpPr>
        <p:spPr>
          <a:xfrm>
            <a:off x="2651760" y="2103120"/>
            <a:ext cx="2148840" cy="640080"/>
          </a:xfrm>
          <a:prstGeom prst="rect">
            <a:avLst/>
          </a:prstGeom>
          <a:noFill/>
          <a:ln/>
        </p:spPr>
        <p:txBody>
          <a:bodyPr wrap="square" lIns="0" tIns="0" rIns="0" bIns="0" rtlCol="0" anchor="t"/>
          <a:lstStyle/>
          <a:p>
            <a:pPr indent="0" marL="0">
              <a:buNone/>
            </a:pPr>
            <a:r>
              <a:rPr lang="en-US" sz="1400" b="1" dirty="0">
                <a:solidFill>
                  <a:srgbClr val="8A5A00"/>
                </a:solidFill>
                <a:latin typeface="Calibri" pitchFamily="34" charset="0"/>
                <a:ea typeface="Calibri" pitchFamily="34" charset="-122"/>
                <a:cs typeface="Calibri" pitchFamily="34" charset="-120"/>
              </a:rPr>
              <a:t>W_Q → requête q</a:t>
            </a:r>
            <a:endParaRPr lang="en-US" sz="1400" dirty="0"/>
          </a:p>
          <a:p>
            <a:pPr indent="0" marL="0">
              <a:buNone/>
            </a:pPr>
            <a:r>
              <a:rPr lang="en-US" sz="1100" dirty="0">
                <a:solidFill>
                  <a:srgbClr val="5B6B63"/>
                </a:solidFill>
                <a:latin typeface="Calibri" pitchFamily="34" charset="0"/>
                <a:ea typeface="Calibri" pitchFamily="34" charset="-122"/>
                <a:cs typeface="Calibri" pitchFamily="34" charset="-120"/>
              </a:rPr>
              <a:t>ce que je cherche</a:t>
            </a:r>
            <a:endParaRPr lang="en-US" sz="1400" dirty="0"/>
          </a:p>
        </p:txBody>
      </p:sp>
      <p:sp>
        <p:nvSpPr>
          <p:cNvPr id="22" name="Shape 19"/>
          <p:cNvSpPr/>
          <p:nvPr/>
        </p:nvSpPr>
        <p:spPr>
          <a:xfrm>
            <a:off x="2057400" y="3429000"/>
            <a:ext cx="457200" cy="-27432"/>
          </a:xfrm>
          <a:prstGeom prst="line">
            <a:avLst/>
          </a:prstGeom>
          <a:noFill/>
          <a:ln w="12700">
            <a:solidFill>
              <a:srgbClr val="A7BFB2"/>
            </a:solidFill>
            <a:prstDash val="solid"/>
            <a:tailEnd type="triangle"/>
          </a:ln>
        </p:spPr>
      </p:sp>
      <p:sp>
        <p:nvSpPr>
          <p:cNvPr id="23" name="Shape 20"/>
          <p:cNvSpPr/>
          <p:nvPr/>
        </p:nvSpPr>
        <p:spPr>
          <a:xfrm>
            <a:off x="2514600" y="3017520"/>
            <a:ext cx="2377440" cy="768096"/>
          </a:xfrm>
          <a:prstGeom prst="roundRect">
            <a:avLst>
              <a:gd name="adj" fmla="val 11905"/>
            </a:avLst>
          </a:prstGeom>
          <a:solidFill>
            <a:srgbClr val="FFFFFF"/>
          </a:solidFill>
          <a:ln w="12700">
            <a:solidFill>
              <a:srgbClr val="2A7F72"/>
            </a:solidFill>
            <a:prstDash val="solid"/>
          </a:ln>
        </p:spPr>
      </p:sp>
      <p:sp>
        <p:nvSpPr>
          <p:cNvPr id="24" name="Text 21"/>
          <p:cNvSpPr txBox="1"/>
          <p:nvPr/>
        </p:nvSpPr>
        <p:spPr>
          <a:xfrm>
            <a:off x="2651760" y="3108960"/>
            <a:ext cx="2148840" cy="640080"/>
          </a:xfrm>
          <a:prstGeom prst="rect">
            <a:avLst/>
          </a:prstGeom>
          <a:noFill/>
          <a:ln/>
        </p:spPr>
        <p:txBody>
          <a:bodyPr wrap="square" lIns="0" tIns="0" rIns="0" bIns="0" rtlCol="0" anchor="t"/>
          <a:lstStyle/>
          <a:p>
            <a:pPr indent="0" marL="0">
              <a:buNone/>
            </a:pPr>
            <a:r>
              <a:rPr lang="en-US" sz="1400" b="1" dirty="0">
                <a:solidFill>
                  <a:srgbClr val="2A7F72"/>
                </a:solidFill>
                <a:latin typeface="Calibri" pitchFamily="34" charset="0"/>
                <a:ea typeface="Calibri" pitchFamily="34" charset="-122"/>
                <a:cs typeface="Calibri" pitchFamily="34" charset="-120"/>
              </a:rPr>
              <a:t>W_K → clés kᵢ</a:t>
            </a:r>
            <a:endParaRPr lang="en-US" sz="1400" dirty="0"/>
          </a:p>
          <a:p>
            <a:pPr indent="0" marL="0">
              <a:buNone/>
            </a:pPr>
            <a:r>
              <a:rPr lang="en-US" sz="1100" dirty="0">
                <a:solidFill>
                  <a:srgbClr val="5B6B63"/>
                </a:solidFill>
                <a:latin typeface="Calibri" pitchFamily="34" charset="0"/>
                <a:ea typeface="Calibri" pitchFamily="34" charset="-122"/>
                <a:cs typeface="Calibri" pitchFamily="34" charset="-120"/>
              </a:rPr>
              <a:t>ce que je contiens</a:t>
            </a:r>
            <a:endParaRPr lang="en-US" sz="1400" dirty="0"/>
          </a:p>
        </p:txBody>
      </p:sp>
      <p:sp>
        <p:nvSpPr>
          <p:cNvPr id="25" name="Shape 22"/>
          <p:cNvSpPr/>
          <p:nvPr/>
        </p:nvSpPr>
        <p:spPr>
          <a:xfrm>
            <a:off x="2057400" y="3429000"/>
            <a:ext cx="457200" cy="978408"/>
          </a:xfrm>
          <a:prstGeom prst="line">
            <a:avLst/>
          </a:prstGeom>
          <a:noFill/>
          <a:ln w="12700">
            <a:solidFill>
              <a:srgbClr val="A7BFB2"/>
            </a:solidFill>
            <a:prstDash val="solid"/>
            <a:tailEnd type="triangle"/>
          </a:ln>
        </p:spPr>
      </p:sp>
      <p:sp>
        <p:nvSpPr>
          <p:cNvPr id="26" name="Shape 23"/>
          <p:cNvSpPr/>
          <p:nvPr/>
        </p:nvSpPr>
        <p:spPr>
          <a:xfrm>
            <a:off x="2514600" y="4023360"/>
            <a:ext cx="2377440" cy="768096"/>
          </a:xfrm>
          <a:prstGeom prst="roundRect">
            <a:avLst>
              <a:gd name="adj" fmla="val 11905"/>
            </a:avLst>
          </a:prstGeom>
          <a:solidFill>
            <a:srgbClr val="FFFFFF"/>
          </a:solidFill>
          <a:ln w="12700">
            <a:solidFill>
              <a:srgbClr val="3E7CB1"/>
            </a:solidFill>
            <a:prstDash val="solid"/>
          </a:ln>
        </p:spPr>
      </p:sp>
      <p:sp>
        <p:nvSpPr>
          <p:cNvPr id="27" name="Text 24"/>
          <p:cNvSpPr txBox="1"/>
          <p:nvPr/>
        </p:nvSpPr>
        <p:spPr>
          <a:xfrm>
            <a:off x="2651760" y="4114800"/>
            <a:ext cx="2148840" cy="640080"/>
          </a:xfrm>
          <a:prstGeom prst="rect">
            <a:avLst/>
          </a:prstGeom>
          <a:noFill/>
          <a:ln/>
        </p:spPr>
        <p:txBody>
          <a:bodyPr wrap="square" lIns="0" tIns="0" rIns="0" bIns="0" rtlCol="0" anchor="t"/>
          <a:lstStyle/>
          <a:p>
            <a:pPr indent="0" marL="0">
              <a:buNone/>
            </a:pPr>
            <a:r>
              <a:rPr lang="en-US" sz="1400" b="1" dirty="0">
                <a:solidFill>
                  <a:srgbClr val="3E7CB1"/>
                </a:solidFill>
                <a:latin typeface="Calibri" pitchFamily="34" charset="0"/>
                <a:ea typeface="Calibri" pitchFamily="34" charset="-122"/>
                <a:cs typeface="Calibri" pitchFamily="34" charset="-120"/>
              </a:rPr>
              <a:t>W_V → valeurs vᵢ</a:t>
            </a:r>
            <a:endParaRPr lang="en-US" sz="1400" dirty="0"/>
          </a:p>
          <a:p>
            <a:pPr indent="0" marL="0">
              <a:buNone/>
            </a:pPr>
            <a:r>
              <a:rPr lang="en-US" sz="1100" dirty="0">
                <a:solidFill>
                  <a:srgbClr val="5B6B63"/>
                </a:solidFill>
                <a:latin typeface="Calibri" pitchFamily="34" charset="0"/>
                <a:ea typeface="Calibri" pitchFamily="34" charset="-122"/>
                <a:cs typeface="Calibri" pitchFamily="34" charset="-120"/>
              </a:rPr>
              <a:t>ce que je transmets</a:t>
            </a:r>
            <a:endParaRPr lang="en-US" sz="1400" dirty="0"/>
          </a:p>
        </p:txBody>
      </p:sp>
      <p:sp>
        <p:nvSpPr>
          <p:cNvPr id="28" name="Shape 25"/>
          <p:cNvSpPr/>
          <p:nvPr/>
        </p:nvSpPr>
        <p:spPr>
          <a:xfrm>
            <a:off x="4846320" y="2862072"/>
            <a:ext cx="365760" cy="0"/>
          </a:xfrm>
          <a:prstGeom prst="line">
            <a:avLst/>
          </a:prstGeom>
          <a:noFill/>
          <a:ln w="19050">
            <a:solidFill>
              <a:srgbClr val="A7BFB2"/>
            </a:solidFill>
            <a:prstDash val="solid"/>
            <a:tailEnd type="triangle"/>
          </a:ln>
        </p:spPr>
      </p:sp>
      <p:sp>
        <p:nvSpPr>
          <p:cNvPr id="29" name="Shape 26"/>
          <p:cNvSpPr/>
          <p:nvPr/>
        </p:nvSpPr>
        <p:spPr>
          <a:xfrm>
            <a:off x="5257800" y="2057400"/>
            <a:ext cx="1920240" cy="1600200"/>
          </a:xfrm>
          <a:prstGeom prst="roundRect">
            <a:avLst>
              <a:gd name="adj" fmla="val 5714"/>
            </a:avLst>
          </a:prstGeom>
          <a:solidFill>
            <a:srgbClr val="F3F7F4"/>
          </a:solidFill>
          <a:ln w="12700">
            <a:solidFill>
              <a:srgbClr val="F3F7F4"/>
            </a:solidFill>
            <a:prstDash val="solid"/>
          </a:ln>
        </p:spPr>
      </p:sp>
      <p:sp>
        <p:nvSpPr>
          <p:cNvPr id="30" name="Text 27"/>
          <p:cNvSpPr txBox="1"/>
          <p:nvPr/>
        </p:nvSpPr>
        <p:spPr>
          <a:xfrm>
            <a:off x="5394960" y="2194560"/>
            <a:ext cx="1691640" cy="274320"/>
          </a:xfrm>
          <a:prstGeom prst="rect">
            <a:avLst/>
          </a:prstGeom>
          <a:noFill/>
          <a:ln/>
        </p:spPr>
        <p:txBody>
          <a:bodyPr wrap="square" lIns="0" tIns="0" rIns="0" bIns="0" rtlCol="0" anchor="t"/>
          <a:lstStyle/>
          <a:p>
            <a:pPr indent="0" marL="0">
              <a:buNone/>
            </a:pPr>
            <a:r>
              <a:rPr lang="en-US" sz="1200" b="1" dirty="0">
                <a:solidFill>
                  <a:srgbClr val="8A5A00"/>
                </a:solidFill>
                <a:latin typeface="Calibri" pitchFamily="34" charset="0"/>
                <a:ea typeface="Calibri" pitchFamily="34" charset="-122"/>
                <a:cs typeface="Calibri" pitchFamily="34" charset="-120"/>
              </a:rPr>
              <a:t>1 · scores</a:t>
            </a:r>
            <a:endParaRPr lang="en-US" sz="1200" dirty="0"/>
          </a:p>
        </p:txBody>
      </p:sp>
      <p:sp>
        <p:nvSpPr>
          <p:cNvPr id="31" name="Text 28"/>
          <p:cNvSpPr txBox="1"/>
          <p:nvPr/>
        </p:nvSpPr>
        <p:spPr>
          <a:xfrm>
            <a:off x="5394960" y="2532888"/>
            <a:ext cx="1783080" cy="411480"/>
          </a:xfrm>
          <a:prstGeom prst="rect">
            <a:avLst/>
          </a:prstGeom>
          <a:noFill/>
          <a:ln/>
        </p:spPr>
        <p:txBody>
          <a:bodyPr wrap="square" lIns="0" tIns="0" rIns="0" bIns="0" rtlCol="0" anchor="t"/>
          <a:lstStyle/>
          <a:p>
            <a:pPr indent="0" marL="0">
              <a:buNone/>
            </a:pPr>
            <a:r>
              <a:rPr lang="en-US" sz="1500" b="1" dirty="0">
                <a:solidFill>
                  <a:srgbClr val="1B2A24"/>
                </a:solidFill>
                <a:latin typeface="Cambria" pitchFamily="34" charset="0"/>
                <a:ea typeface="Cambria" pitchFamily="34" charset="-122"/>
                <a:cs typeface="Cambria" pitchFamily="34" charset="-120"/>
              </a:rPr>
              <a:t>sᵢ = q · kᵢ / √d</a:t>
            </a:r>
            <a:endParaRPr lang="en-US" sz="1500" dirty="0"/>
          </a:p>
        </p:txBody>
      </p:sp>
      <p:sp>
        <p:nvSpPr>
          <p:cNvPr id="32" name="Text 29"/>
          <p:cNvSpPr txBox="1"/>
          <p:nvPr/>
        </p:nvSpPr>
        <p:spPr>
          <a:xfrm>
            <a:off x="5394960" y="3017520"/>
            <a:ext cx="178308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le jeton répond-il à la question ?</a:t>
            </a:r>
            <a:endParaRPr lang="en-US" sz="1150" dirty="0"/>
          </a:p>
        </p:txBody>
      </p:sp>
      <p:sp>
        <p:nvSpPr>
          <p:cNvPr id="33" name="Shape 30"/>
          <p:cNvSpPr/>
          <p:nvPr/>
        </p:nvSpPr>
        <p:spPr>
          <a:xfrm>
            <a:off x="7178040" y="2862072"/>
            <a:ext cx="228600" cy="0"/>
          </a:xfrm>
          <a:prstGeom prst="line">
            <a:avLst/>
          </a:prstGeom>
          <a:noFill/>
          <a:ln w="19050">
            <a:solidFill>
              <a:srgbClr val="A7BFB2"/>
            </a:solidFill>
            <a:prstDash val="solid"/>
            <a:tailEnd type="triangle"/>
          </a:ln>
        </p:spPr>
      </p:sp>
      <p:sp>
        <p:nvSpPr>
          <p:cNvPr id="34" name="Shape 31"/>
          <p:cNvSpPr/>
          <p:nvPr/>
        </p:nvSpPr>
        <p:spPr>
          <a:xfrm>
            <a:off x="7406640" y="2057400"/>
            <a:ext cx="1920240" cy="1600200"/>
          </a:xfrm>
          <a:prstGeom prst="roundRect">
            <a:avLst>
              <a:gd name="adj" fmla="val 5714"/>
            </a:avLst>
          </a:prstGeom>
          <a:solidFill>
            <a:srgbClr val="F3F7F4"/>
          </a:solidFill>
          <a:ln w="12700">
            <a:solidFill>
              <a:srgbClr val="F3F7F4"/>
            </a:solidFill>
            <a:prstDash val="solid"/>
          </a:ln>
        </p:spPr>
      </p:sp>
      <p:sp>
        <p:nvSpPr>
          <p:cNvPr id="35" name="Text 32"/>
          <p:cNvSpPr txBox="1"/>
          <p:nvPr/>
        </p:nvSpPr>
        <p:spPr>
          <a:xfrm>
            <a:off x="7543800" y="2194560"/>
            <a:ext cx="1691640" cy="274320"/>
          </a:xfrm>
          <a:prstGeom prst="rect">
            <a:avLst/>
          </a:prstGeom>
          <a:noFill/>
          <a:ln/>
        </p:spPr>
        <p:txBody>
          <a:bodyPr wrap="square" lIns="0" tIns="0" rIns="0" bIns="0" rtlCol="0" anchor="t"/>
          <a:lstStyle/>
          <a:p>
            <a:pPr indent="0" marL="0">
              <a:buNone/>
            </a:pPr>
            <a:r>
              <a:rPr lang="en-US" sz="1200" b="1" dirty="0">
                <a:solidFill>
                  <a:srgbClr val="8A5A00"/>
                </a:solidFill>
                <a:latin typeface="Calibri" pitchFamily="34" charset="0"/>
                <a:ea typeface="Calibri" pitchFamily="34" charset="-122"/>
                <a:cs typeface="Calibri" pitchFamily="34" charset="-120"/>
              </a:rPr>
              <a:t>2 · softmax</a:t>
            </a:r>
            <a:endParaRPr lang="en-US" sz="1200" dirty="0"/>
          </a:p>
        </p:txBody>
      </p:sp>
      <p:sp>
        <p:nvSpPr>
          <p:cNvPr id="36" name="Text 33"/>
          <p:cNvSpPr txBox="1"/>
          <p:nvPr/>
        </p:nvSpPr>
        <p:spPr>
          <a:xfrm>
            <a:off x="7543800" y="2532888"/>
            <a:ext cx="1783080" cy="411480"/>
          </a:xfrm>
          <a:prstGeom prst="rect">
            <a:avLst/>
          </a:prstGeom>
          <a:noFill/>
          <a:ln/>
        </p:spPr>
        <p:txBody>
          <a:bodyPr wrap="square" lIns="0" tIns="0" rIns="0" bIns="0" rtlCol="0" anchor="t"/>
          <a:lstStyle/>
          <a:p>
            <a:pPr indent="0" marL="0">
              <a:buNone/>
            </a:pPr>
            <a:r>
              <a:rPr lang="en-US" sz="1500" b="1" dirty="0">
                <a:solidFill>
                  <a:srgbClr val="1B2A24"/>
                </a:solidFill>
                <a:latin typeface="Cambria" pitchFamily="34" charset="0"/>
                <a:ea typeface="Cambria" pitchFamily="34" charset="-122"/>
                <a:cs typeface="Cambria" pitchFamily="34" charset="-120"/>
              </a:rPr>
              <a:t>αᵢ = e^sᵢ / Σⱼ e^sⱼ</a:t>
            </a:r>
            <a:endParaRPr lang="en-US" sz="1500" dirty="0"/>
          </a:p>
        </p:txBody>
      </p:sp>
      <p:sp>
        <p:nvSpPr>
          <p:cNvPr id="37" name="Text 34"/>
          <p:cNvSpPr txBox="1"/>
          <p:nvPr/>
        </p:nvSpPr>
        <p:spPr>
          <a:xfrm>
            <a:off x="7543800" y="3017520"/>
            <a:ext cx="1783080" cy="548640"/>
          </a:xfrm>
          <a:prstGeom prst="rect">
            <a:avLst/>
          </a:prstGeom>
          <a:noFill/>
          <a:ln/>
        </p:spPr>
        <p:txBody>
          <a:bodyPr wrap="square" lIns="0" tIns="0" rIns="0" bIns="0" rtlCol="0" anchor="t"/>
          <a:lstStyle/>
          <a:p>
            <a:pPr indent="0" marL="0">
              <a:buNone/>
            </a:pPr>
            <a:r>
              <a:rPr lang="en-US" sz="1150" dirty="0">
                <a:solidFill>
                  <a:srgbClr val="5B6B63"/>
                </a:solidFill>
                <a:latin typeface="Calibri" pitchFamily="34" charset="0"/>
                <a:ea typeface="Calibri" pitchFamily="34" charset="-122"/>
                <a:cs typeface="Calibri" pitchFamily="34" charset="-120"/>
              </a:rPr>
              <a:t>poids ≥ 0, de somme 1</a:t>
            </a:r>
            <a:endParaRPr lang="en-US" sz="1150" dirty="0"/>
          </a:p>
        </p:txBody>
      </p:sp>
      <p:sp>
        <p:nvSpPr>
          <p:cNvPr id="38" name="Shape 35"/>
          <p:cNvSpPr/>
          <p:nvPr/>
        </p:nvSpPr>
        <p:spPr>
          <a:xfrm>
            <a:off x="9326880" y="2862072"/>
            <a:ext cx="228600" cy="0"/>
          </a:xfrm>
          <a:prstGeom prst="line">
            <a:avLst/>
          </a:prstGeom>
          <a:noFill/>
          <a:ln w="19050">
            <a:solidFill>
              <a:srgbClr val="A7BFB2"/>
            </a:solidFill>
            <a:prstDash val="solid"/>
            <a:tailEnd type="triangle"/>
          </a:ln>
        </p:spPr>
      </p:sp>
      <p:sp>
        <p:nvSpPr>
          <p:cNvPr id="39" name="Shape 36"/>
          <p:cNvSpPr/>
          <p:nvPr/>
        </p:nvSpPr>
        <p:spPr>
          <a:xfrm>
            <a:off x="9555480" y="2057400"/>
            <a:ext cx="1920240" cy="1600200"/>
          </a:xfrm>
          <a:prstGeom prst="roundRect">
            <a:avLst>
              <a:gd name="adj" fmla="val 5714"/>
            </a:avLst>
          </a:prstGeom>
          <a:solidFill>
            <a:srgbClr val="0E2A24"/>
          </a:solidFill>
          <a:ln w="12700">
            <a:solidFill>
              <a:srgbClr val="0E2A24"/>
            </a:solidFill>
            <a:prstDash val="solid"/>
          </a:ln>
        </p:spPr>
      </p:sp>
      <p:sp>
        <p:nvSpPr>
          <p:cNvPr id="40" name="Text 37"/>
          <p:cNvSpPr txBox="1"/>
          <p:nvPr/>
        </p:nvSpPr>
        <p:spPr>
          <a:xfrm>
            <a:off x="9692640" y="2194560"/>
            <a:ext cx="1691640" cy="274320"/>
          </a:xfrm>
          <a:prstGeom prst="rect">
            <a:avLst/>
          </a:prstGeom>
          <a:noFill/>
          <a:ln/>
        </p:spPr>
        <p:txBody>
          <a:bodyPr wrap="square" lIns="0" tIns="0" rIns="0" bIns="0" rtlCol="0" anchor="t"/>
          <a:lstStyle/>
          <a:p>
            <a:pPr indent="0" marL="0">
              <a:buNone/>
            </a:pPr>
            <a:r>
              <a:rPr lang="en-US" sz="1200" b="1" dirty="0">
                <a:solidFill>
                  <a:srgbClr val="E9B44C"/>
                </a:solidFill>
                <a:latin typeface="Calibri" pitchFamily="34" charset="0"/>
                <a:ea typeface="Calibri" pitchFamily="34" charset="-122"/>
                <a:cs typeface="Calibri" pitchFamily="34" charset="-120"/>
              </a:rPr>
              <a:t>3 · somme pondérée</a:t>
            </a:r>
            <a:endParaRPr lang="en-US" sz="1200" dirty="0"/>
          </a:p>
        </p:txBody>
      </p:sp>
      <p:sp>
        <p:nvSpPr>
          <p:cNvPr id="41" name="Text 38"/>
          <p:cNvSpPr txBox="1"/>
          <p:nvPr/>
        </p:nvSpPr>
        <p:spPr>
          <a:xfrm>
            <a:off x="9692640" y="2532888"/>
            <a:ext cx="1783080" cy="41148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z = Σᵢ αᵢ vᵢ</a:t>
            </a:r>
            <a:endParaRPr lang="en-US" sz="1500" dirty="0"/>
          </a:p>
        </p:txBody>
      </p:sp>
      <p:sp>
        <p:nvSpPr>
          <p:cNvPr id="42" name="Text 39"/>
          <p:cNvSpPr txBox="1"/>
          <p:nvPr/>
        </p:nvSpPr>
        <p:spPr>
          <a:xfrm>
            <a:off x="9692640" y="3017520"/>
            <a:ext cx="1783080" cy="548640"/>
          </a:xfrm>
          <a:prstGeom prst="rect">
            <a:avLst/>
          </a:prstGeom>
          <a:noFill/>
          <a:ln/>
        </p:spPr>
        <p:txBody>
          <a:bodyPr wrap="square" lIns="0" tIns="0" rIns="0" bIns="0" rtlCol="0" anchor="t"/>
          <a:lstStyle/>
          <a:p>
            <a:pPr indent="0" marL="0">
              <a:buNone/>
            </a:pPr>
            <a:r>
              <a:rPr lang="en-US" sz="1150" dirty="0">
                <a:solidFill>
                  <a:srgbClr val="A7BFB2"/>
                </a:solidFill>
                <a:latin typeface="Calibri" pitchFamily="34" charset="0"/>
                <a:ea typeface="Calibri" pitchFamily="34" charset="-122"/>
                <a:cs typeface="Calibri" pitchFamily="34" charset="-120"/>
              </a:rPr>
              <a:t>un vecteur par fenêtre → score</a:t>
            </a:r>
            <a:endParaRPr lang="en-US" sz="1150" dirty="0"/>
          </a:p>
        </p:txBody>
      </p:sp>
      <p:sp>
        <p:nvSpPr>
          <p:cNvPr id="43" name="Shape 40"/>
          <p:cNvSpPr/>
          <p:nvPr/>
        </p:nvSpPr>
        <p:spPr>
          <a:xfrm>
            <a:off x="5257800" y="3931920"/>
            <a:ext cx="6355080" cy="685800"/>
          </a:xfrm>
          <a:prstGeom prst="roundRect">
            <a:avLst>
              <a:gd name="adj" fmla="val 13333"/>
            </a:avLst>
          </a:prstGeom>
          <a:solidFill>
            <a:srgbClr val="E4EEE8"/>
          </a:solidFill>
          <a:ln w="12700">
            <a:solidFill>
              <a:srgbClr val="E4EEE8"/>
            </a:solidFill>
            <a:prstDash val="solid"/>
          </a:ln>
        </p:spPr>
      </p:sp>
      <p:sp>
        <p:nvSpPr>
          <p:cNvPr id="44" name="Text 41"/>
          <p:cNvSpPr txBox="1"/>
          <p:nvPr/>
        </p:nvSpPr>
        <p:spPr>
          <a:xfrm>
            <a:off x="5532120" y="3931920"/>
            <a:ext cx="5943600" cy="685800"/>
          </a:xfrm>
          <a:prstGeom prst="rect">
            <a:avLst/>
          </a:prstGeom>
          <a:noFill/>
          <a:ln/>
        </p:spPr>
        <p:txBody>
          <a:bodyPr wrap="square" lIns="0" tIns="0" rIns="0" bIns="0" rtlCol="0" anchor="ctr"/>
          <a:lstStyle/>
          <a:p>
            <a:pPr indent="0" marL="0">
              <a:buNone/>
            </a:pPr>
            <a:r>
              <a:rPr lang="en-US" sz="1500" b="1" dirty="0">
                <a:solidFill>
                  <a:srgbClr val="1B2A24"/>
                </a:solidFill>
                <a:latin typeface="Calibri" pitchFamily="34" charset="0"/>
                <a:ea typeface="Calibri" pitchFamily="34" charset="-122"/>
                <a:cs typeface="Calibri" pitchFamily="34" charset="-120"/>
              </a:rPr>
              <a:t>En une ligne : </a:t>
            </a:r>
            <a:pPr indent="0" marL="0">
              <a:buNone/>
            </a:pPr>
            <a:r>
              <a:rPr lang="en-US" sz="1500" dirty="0">
                <a:solidFill>
                  <a:srgbClr val="1B2A24"/>
                </a:solidFill>
                <a:latin typeface="Cambria" pitchFamily="34" charset="0"/>
                <a:ea typeface="Cambria" pitchFamily="34" charset="-122"/>
                <a:cs typeface="Cambria" pitchFamily="34" charset="-120"/>
              </a:rPr>
              <a:t>Attention(Q, K, V) = softmax(Q Kᵀ / √d) · V</a:t>
            </a:r>
            <a:pPr indent="0" marL="0">
              <a:buNone/>
            </a:pPr>
            <a:r>
              <a:rPr lang="en-US" sz="1100" dirty="0">
                <a:solidFill>
                  <a:srgbClr val="5B6B63"/>
                </a:solidFill>
                <a:latin typeface="Calibri" pitchFamily="34" charset="0"/>
                <a:ea typeface="Calibri" pitchFamily="34" charset="-122"/>
                <a:cs typeface="Calibri" pitchFamily="34" charset="-120"/>
              </a:rPr>
              <a:t>   Vaswani et al. 2017</a:t>
            </a:r>
            <a:endParaRPr lang="en-US" sz="1500" dirty="0"/>
          </a:p>
        </p:txBody>
      </p:sp>
      <p:sp>
        <p:nvSpPr>
          <p:cNvPr id="45" name="Shape 42"/>
          <p:cNvSpPr/>
          <p:nvPr/>
        </p:nvSpPr>
        <p:spPr>
          <a:xfrm>
            <a:off x="548640" y="5303520"/>
            <a:ext cx="5486400" cy="960120"/>
          </a:xfrm>
          <a:prstGeom prst="roundRect">
            <a:avLst>
              <a:gd name="adj" fmla="val 9524"/>
            </a:avLst>
          </a:prstGeom>
          <a:solidFill>
            <a:srgbClr val="F3F7F4"/>
          </a:solidFill>
          <a:ln w="12700">
            <a:solidFill>
              <a:srgbClr val="F3F7F4"/>
            </a:solidFill>
            <a:prstDash val="solid"/>
          </a:ln>
        </p:spPr>
      </p:sp>
      <p:sp>
        <p:nvSpPr>
          <p:cNvPr id="46" name="Text 43"/>
          <p:cNvSpPr txBox="1"/>
          <p:nvPr/>
        </p:nvSpPr>
        <p:spPr>
          <a:xfrm>
            <a:off x="777240" y="5303520"/>
            <a:ext cx="5120640" cy="960120"/>
          </a:xfrm>
          <a:prstGeom prst="rect">
            <a:avLst/>
          </a:prstGeom>
          <a:noFill/>
          <a:ln/>
        </p:spPr>
        <p:txBody>
          <a:bodyPr wrap="square" lIns="0" tIns="0" rIns="0" bIns="0" rtlCol="0" anchor="ctr"/>
          <a:lstStyle/>
          <a:p>
            <a:pPr indent="0" marL="0">
              <a:buNone/>
            </a:pPr>
            <a:r>
              <a:rPr lang="en-US" sz="1400" b="1" dirty="0">
                <a:solidFill>
                  <a:srgbClr val="1B2A24"/>
                </a:solidFill>
                <a:latin typeface="Calibri" pitchFamily="34" charset="0"/>
                <a:ea typeface="Calibri" pitchFamily="34" charset="-122"/>
                <a:cs typeface="Calibri" pitchFamily="34" charset="-120"/>
              </a:rPr>
              <a:t>Auto-attention (transformer) : </a:t>
            </a:r>
            <a:pPr indent="0" marL="0">
              <a:buNone/>
            </a:pPr>
            <a:r>
              <a:rPr lang="en-US" sz="1400" dirty="0">
                <a:solidFill>
                  <a:srgbClr val="5B6B63"/>
                </a:solidFill>
                <a:latin typeface="Calibri" pitchFamily="34" charset="0"/>
                <a:ea typeface="Calibri" pitchFamily="34" charset="-122"/>
                <a:cs typeface="Calibri" pitchFamily="34" charset="-120"/>
              </a:rPr>
              <a:t>chaque jeton émet sa requête ; les jetons se « parlent ».</a:t>
            </a:r>
            <a:endParaRPr lang="en-US" sz="1400" dirty="0"/>
          </a:p>
        </p:txBody>
      </p:sp>
      <p:sp>
        <p:nvSpPr>
          <p:cNvPr id="47" name="Shape 44"/>
          <p:cNvSpPr/>
          <p:nvPr/>
        </p:nvSpPr>
        <p:spPr>
          <a:xfrm>
            <a:off x="6263640" y="5303520"/>
            <a:ext cx="5349240" cy="960120"/>
          </a:xfrm>
          <a:prstGeom prst="roundRect">
            <a:avLst>
              <a:gd name="adj" fmla="val 9524"/>
            </a:avLst>
          </a:prstGeom>
          <a:solidFill>
            <a:srgbClr val="F3F7F4"/>
          </a:solidFill>
          <a:ln w="12700">
            <a:solidFill>
              <a:srgbClr val="F3F7F4"/>
            </a:solidFill>
            <a:prstDash val="solid"/>
          </a:ln>
        </p:spPr>
      </p:sp>
      <p:sp>
        <p:nvSpPr>
          <p:cNvPr id="48" name="Text 45"/>
          <p:cNvSpPr txBox="1"/>
          <p:nvPr/>
        </p:nvSpPr>
        <p:spPr>
          <a:xfrm>
            <a:off x="6492240" y="5303520"/>
            <a:ext cx="4983480" cy="960120"/>
          </a:xfrm>
          <a:prstGeom prst="rect">
            <a:avLst/>
          </a:prstGeom>
          <a:noFill/>
          <a:ln/>
        </p:spPr>
        <p:txBody>
          <a:bodyPr wrap="square" lIns="0" tIns="0" rIns="0" bIns="0" rtlCol="0" anchor="ctr"/>
          <a:lstStyle/>
          <a:p>
            <a:pPr indent="0" marL="0">
              <a:buNone/>
            </a:pPr>
            <a:r>
              <a:rPr lang="en-US" sz="1400" b="1" dirty="0">
                <a:solidFill>
                  <a:srgbClr val="1B2A24"/>
                </a:solidFill>
                <a:latin typeface="Calibri" pitchFamily="34" charset="0"/>
                <a:ea typeface="Calibri" pitchFamily="34" charset="-122"/>
                <a:cs typeface="Calibri" pitchFamily="34" charset="-120"/>
              </a:rPr>
              <a:t>Sonde attentive (notre tête) : </a:t>
            </a:r>
            <a:pPr indent="0" marL="0">
              <a:buNone/>
            </a:pPr>
            <a:r>
              <a:rPr lang="en-US" sz="1400" dirty="0">
                <a:solidFill>
                  <a:srgbClr val="5B6B63"/>
                </a:solidFill>
                <a:latin typeface="Calibri" pitchFamily="34" charset="0"/>
                <a:ea typeface="Calibri" pitchFamily="34" charset="-122"/>
                <a:cs typeface="Calibri" pitchFamily="34" charset="-120"/>
              </a:rPr>
              <a:t>une seule requête apprise, encodeur gelé.</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4874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34874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ATTENTION · 2/3</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L'effet : pondérer les jetons au lieu de les moyenner</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3</a:t>
            </a:r>
            <a:endParaRPr lang="en-US" sz="900" dirty="0"/>
          </a:p>
        </p:txBody>
      </p:sp>
      <p:pic>
        <p:nvPicPr>
          <p:cNvPr id="7" name="Image 0" descr="/home/user/Grenouille/documentation/presentation-suivi-2/figures/patchs_attention.png">    </p:cNvPr>
          <p:cNvPicPr>
            <a:picLocks noChangeAspect="1"/>
          </p:cNvPicPr>
          <p:nvPr/>
        </p:nvPicPr>
        <p:blipFill>
          <a:blip r:embed="rId1"/>
          <a:stretch>
            <a:fillRect/>
          </a:stretch>
        </p:blipFill>
        <p:spPr>
          <a:xfrm>
            <a:off x="1051560" y="1463040"/>
            <a:ext cx="10058400" cy="3108960"/>
          </a:xfrm>
          <a:prstGeom prst="rect">
            <a:avLst/>
          </a:prstGeom>
        </p:spPr>
      </p:pic>
      <p:graphicFrame>
        <p:nvGraphicFramePr>
          <p:cNvPr id="8" name="Chart 0" descr=""/>
          <p:cNvGraphicFramePr/>
          <p:nvPr/>
        </p:nvGraphicFramePr>
        <p:xfrm>
          <a:off x="548640" y="4709160"/>
          <a:ext cx="4937760" cy="164592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760720" y="4754880"/>
            <a:ext cx="1847088" cy="1508760"/>
          </a:xfrm>
          <a:prstGeom prst="roundRect">
            <a:avLst>
              <a:gd name="adj" fmla="val 6061"/>
            </a:avLst>
          </a:prstGeom>
          <a:solidFill>
            <a:srgbClr val="F3F7F4"/>
          </a:solidFill>
          <a:ln w="12700">
            <a:solidFill>
              <a:srgbClr val="F3F7F4"/>
            </a:solidFill>
            <a:prstDash val="solid"/>
          </a:ln>
        </p:spPr>
      </p:sp>
      <p:sp>
        <p:nvSpPr>
          <p:cNvPr id="10" name="Text 5"/>
          <p:cNvSpPr txBox="1"/>
          <p:nvPr/>
        </p:nvSpPr>
        <p:spPr>
          <a:xfrm>
            <a:off x="5897880" y="4864608"/>
            <a:ext cx="1600200" cy="36576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Moyenne</a:t>
            </a:r>
            <a:endParaRPr lang="en-US" sz="1600" dirty="0"/>
          </a:p>
        </p:txBody>
      </p:sp>
      <p:sp>
        <p:nvSpPr>
          <p:cNvPr id="11" name="Text 6"/>
          <p:cNvSpPr txBox="1"/>
          <p:nvPr/>
        </p:nvSpPr>
        <p:spPr>
          <a:xfrm>
            <a:off x="5897880" y="5257800"/>
            <a:ext cx="1600200" cy="91440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chaque jeton pèse 1/64 : la note est noyée</a:t>
            </a:r>
            <a:endParaRPr lang="en-US" sz="1250" dirty="0"/>
          </a:p>
        </p:txBody>
      </p:sp>
      <p:sp>
        <p:nvSpPr>
          <p:cNvPr id="12" name="Shape 7"/>
          <p:cNvSpPr/>
          <p:nvPr/>
        </p:nvSpPr>
        <p:spPr>
          <a:xfrm>
            <a:off x="7744968" y="4754880"/>
            <a:ext cx="1847088" cy="1508760"/>
          </a:xfrm>
          <a:prstGeom prst="roundRect">
            <a:avLst>
              <a:gd name="adj" fmla="val 6061"/>
            </a:avLst>
          </a:prstGeom>
          <a:solidFill>
            <a:srgbClr val="F3F7F4"/>
          </a:solidFill>
          <a:ln w="12700">
            <a:solidFill>
              <a:srgbClr val="F3F7F4"/>
            </a:solidFill>
            <a:prstDash val="solid"/>
          </a:ln>
        </p:spPr>
      </p:sp>
      <p:sp>
        <p:nvSpPr>
          <p:cNvPr id="13" name="Text 8"/>
          <p:cNvSpPr txBox="1"/>
          <p:nvPr/>
        </p:nvSpPr>
        <p:spPr>
          <a:xfrm>
            <a:off x="7882128" y="4864608"/>
            <a:ext cx="1600200" cy="36576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Maximum</a:t>
            </a:r>
            <a:endParaRPr lang="en-US" sz="1600" dirty="0"/>
          </a:p>
        </p:txBody>
      </p:sp>
      <p:sp>
        <p:nvSpPr>
          <p:cNvPr id="14" name="Text 9"/>
          <p:cNvSpPr txBox="1"/>
          <p:nvPr/>
        </p:nvSpPr>
        <p:spPr>
          <a:xfrm>
            <a:off x="7882128" y="5257800"/>
            <a:ext cx="1600200" cy="91440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un seul jeton : sensible à un clic</a:t>
            </a:r>
            <a:endParaRPr lang="en-US" sz="1250" dirty="0"/>
          </a:p>
        </p:txBody>
      </p:sp>
      <p:sp>
        <p:nvSpPr>
          <p:cNvPr id="15" name="Shape 10"/>
          <p:cNvSpPr/>
          <p:nvPr/>
        </p:nvSpPr>
        <p:spPr>
          <a:xfrm>
            <a:off x="9729216" y="4754880"/>
            <a:ext cx="1847088" cy="1508760"/>
          </a:xfrm>
          <a:prstGeom prst="roundRect">
            <a:avLst>
              <a:gd name="adj" fmla="val 6061"/>
            </a:avLst>
          </a:prstGeom>
          <a:solidFill>
            <a:srgbClr val="0E2A24"/>
          </a:solidFill>
          <a:ln w="12700">
            <a:solidFill>
              <a:srgbClr val="0E2A24"/>
            </a:solidFill>
            <a:prstDash val="solid"/>
          </a:ln>
        </p:spPr>
      </p:sp>
      <p:sp>
        <p:nvSpPr>
          <p:cNvPr id="16" name="Text 11"/>
          <p:cNvSpPr txBox="1"/>
          <p:nvPr/>
        </p:nvSpPr>
        <p:spPr>
          <a:xfrm>
            <a:off x="9866376" y="4864608"/>
            <a:ext cx="1600200" cy="365760"/>
          </a:xfrm>
          <a:prstGeom prst="rect">
            <a:avLst/>
          </a:prstGeom>
          <a:noFill/>
          <a:ln/>
        </p:spPr>
        <p:txBody>
          <a:bodyPr wrap="square" lIns="0" tIns="0" rIns="0" bIns="0" rtlCol="0" anchor="t"/>
          <a:lstStyle/>
          <a:p>
            <a:pPr indent="0" marL="0">
              <a:buNone/>
            </a:pPr>
            <a:r>
              <a:rPr lang="en-US" sz="1600" b="1" dirty="0">
                <a:solidFill>
                  <a:srgbClr val="E9B44C"/>
                </a:solidFill>
                <a:latin typeface="Calibri" pitchFamily="34" charset="0"/>
                <a:ea typeface="Calibri" pitchFamily="34" charset="-122"/>
                <a:cs typeface="Calibri" pitchFamily="34" charset="-120"/>
              </a:rPr>
              <a:t>Attention</a:t>
            </a:r>
            <a:endParaRPr lang="en-US" sz="1600" dirty="0"/>
          </a:p>
        </p:txBody>
      </p:sp>
      <p:sp>
        <p:nvSpPr>
          <p:cNvPr id="17" name="Text 12"/>
          <p:cNvSpPr txBox="1"/>
          <p:nvPr/>
        </p:nvSpPr>
        <p:spPr>
          <a:xfrm>
            <a:off x="9866376" y="5257800"/>
            <a:ext cx="1600200"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poids appris, selon le contenu</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34874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34874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ATTENTION · 3/3</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Dans notre projet : avantages et inconvénients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4</a:t>
            </a:r>
            <a:endParaRPr lang="en-US" sz="900" dirty="0"/>
          </a:p>
        </p:txBody>
      </p:sp>
      <p:sp>
        <p:nvSpPr>
          <p:cNvPr id="7" name="Text 4"/>
          <p:cNvSpPr txBox="1"/>
          <p:nvPr/>
        </p:nvSpPr>
        <p:spPr>
          <a:xfrm>
            <a:off x="548640" y="1554480"/>
            <a:ext cx="5410048" cy="365760"/>
          </a:xfrm>
          <a:prstGeom prst="rect">
            <a:avLst/>
          </a:prstGeom>
          <a:noFill/>
          <a:ln/>
        </p:spPr>
        <p:txBody>
          <a:bodyPr wrap="square" lIns="0" tIns="0" rIns="0" bIns="0" rtlCol="0" anchor="t"/>
          <a:lstStyle/>
          <a:p>
            <a:pPr indent="0" marL="0">
              <a:buNone/>
            </a:pPr>
            <a:r>
              <a:rPr lang="en-US" sz="1800" b="1" dirty="0">
                <a:solidFill>
                  <a:srgbClr val="2A7F72"/>
                </a:solidFill>
                <a:latin typeface="Calibri" pitchFamily="34" charset="0"/>
                <a:ea typeface="Calibri" pitchFamily="34" charset="-122"/>
                <a:cs typeface="Calibri" pitchFamily="34" charset="-120"/>
              </a:rPr>
              <a:t>Avantages</a:t>
            </a:r>
            <a:endParaRPr lang="en-US" sz="1800" dirty="0"/>
          </a:p>
        </p:txBody>
      </p:sp>
      <p:sp>
        <p:nvSpPr>
          <p:cNvPr id="8" name="Shape 5"/>
          <p:cNvSpPr/>
          <p:nvPr/>
        </p:nvSpPr>
        <p:spPr>
          <a:xfrm>
            <a:off x="548640" y="2011680"/>
            <a:ext cx="5410048" cy="896112"/>
          </a:xfrm>
          <a:prstGeom prst="roundRect">
            <a:avLst>
              <a:gd name="adj" fmla="val 10204"/>
            </a:avLst>
          </a:prstGeom>
          <a:solidFill>
            <a:srgbClr val="F3F7F4"/>
          </a:solidFill>
          <a:ln w="12700">
            <a:solidFill>
              <a:srgbClr val="F3F7F4"/>
            </a:solidFill>
            <a:prstDash val="solid"/>
          </a:ln>
        </p:spPr>
      </p:sp>
      <p:sp>
        <p:nvSpPr>
          <p:cNvPr id="9" name="Shape 6"/>
          <p:cNvSpPr/>
          <p:nvPr/>
        </p:nvSpPr>
        <p:spPr>
          <a:xfrm>
            <a:off x="749808" y="2313432"/>
            <a:ext cx="292608" cy="292608"/>
          </a:xfrm>
          <a:prstGeom prst="ellipse">
            <a:avLst/>
          </a:prstGeom>
          <a:solidFill>
            <a:srgbClr val="2A7F72"/>
          </a:solidFill>
          <a:ln w="12700">
            <a:solidFill>
              <a:srgbClr val="2A7F72"/>
            </a:solidFill>
            <a:prstDash val="solid"/>
          </a:ln>
        </p:spPr>
      </p:sp>
      <p:sp>
        <p:nvSpPr>
          <p:cNvPr id="10" name="Text 7"/>
          <p:cNvSpPr txBox="1"/>
          <p:nvPr/>
        </p:nvSpPr>
        <p:spPr>
          <a:xfrm>
            <a:off x="749808" y="2313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8"/>
          <p:cNvSpPr txBox="1"/>
          <p:nvPr/>
        </p:nvSpPr>
        <p:spPr>
          <a:xfrm>
            <a:off x="1207008" y="2121408"/>
            <a:ext cx="4587088" cy="32004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Fait pour une note brève</a:t>
            </a:r>
            <a:endParaRPr lang="en-US" sz="1500" dirty="0"/>
          </a:p>
        </p:txBody>
      </p:sp>
      <p:sp>
        <p:nvSpPr>
          <p:cNvPr id="12" name="Text 9"/>
          <p:cNvSpPr txBox="1"/>
          <p:nvPr/>
        </p:nvSpPr>
        <p:spPr>
          <a:xfrm>
            <a:off x="1207008" y="2468880"/>
            <a:ext cx="4587088" cy="3657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0,09 s : 2 à 4 jetons sur 64, noyés par la moyenne</a:t>
            </a:r>
            <a:endParaRPr lang="en-US" sz="1250" dirty="0"/>
          </a:p>
        </p:txBody>
      </p:sp>
      <p:sp>
        <p:nvSpPr>
          <p:cNvPr id="13" name="Shape 10"/>
          <p:cNvSpPr/>
          <p:nvPr/>
        </p:nvSpPr>
        <p:spPr>
          <a:xfrm>
            <a:off x="548640" y="3035808"/>
            <a:ext cx="5410048" cy="896112"/>
          </a:xfrm>
          <a:prstGeom prst="roundRect">
            <a:avLst>
              <a:gd name="adj" fmla="val 10204"/>
            </a:avLst>
          </a:prstGeom>
          <a:solidFill>
            <a:srgbClr val="F3F7F4"/>
          </a:solidFill>
          <a:ln w="12700">
            <a:solidFill>
              <a:srgbClr val="F3F7F4"/>
            </a:solidFill>
            <a:prstDash val="solid"/>
          </a:ln>
        </p:spPr>
      </p:sp>
      <p:sp>
        <p:nvSpPr>
          <p:cNvPr id="14" name="Shape 11"/>
          <p:cNvSpPr/>
          <p:nvPr/>
        </p:nvSpPr>
        <p:spPr>
          <a:xfrm>
            <a:off x="749808" y="3337560"/>
            <a:ext cx="292608" cy="292608"/>
          </a:xfrm>
          <a:prstGeom prst="ellipse">
            <a:avLst/>
          </a:prstGeom>
          <a:solidFill>
            <a:srgbClr val="2A7F72"/>
          </a:solidFill>
          <a:ln w="12700">
            <a:solidFill>
              <a:srgbClr val="2A7F72"/>
            </a:solidFill>
            <a:prstDash val="solid"/>
          </a:ln>
        </p:spPr>
      </p:sp>
      <p:sp>
        <p:nvSpPr>
          <p:cNvPr id="15" name="Text 12"/>
          <p:cNvSpPr txBox="1"/>
          <p:nvPr/>
        </p:nvSpPr>
        <p:spPr>
          <a:xfrm>
            <a:off x="749808" y="333756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txBox="1"/>
          <p:nvPr/>
        </p:nvSpPr>
        <p:spPr>
          <a:xfrm>
            <a:off x="1207008" y="3145536"/>
            <a:ext cx="4587088" cy="32004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Indispensable aux transformers</a:t>
            </a:r>
            <a:endParaRPr lang="en-US" sz="1500" dirty="0"/>
          </a:p>
        </p:txBody>
      </p:sp>
      <p:sp>
        <p:nvSpPr>
          <p:cNvPr id="17" name="Text 14"/>
          <p:cNvSpPr txBox="1"/>
          <p:nvPr/>
        </p:nvSpPr>
        <p:spPr>
          <a:xfrm>
            <a:off x="1207008" y="3493008"/>
            <a:ext cx="4587088" cy="3657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BEATs : 94,10 → 97,98 AUROC en passant à l'attentive</a:t>
            </a:r>
            <a:endParaRPr lang="en-US" sz="1250" dirty="0"/>
          </a:p>
        </p:txBody>
      </p:sp>
      <p:sp>
        <p:nvSpPr>
          <p:cNvPr id="18" name="Shape 15"/>
          <p:cNvSpPr/>
          <p:nvPr/>
        </p:nvSpPr>
        <p:spPr>
          <a:xfrm>
            <a:off x="548640" y="4059936"/>
            <a:ext cx="5410048" cy="896112"/>
          </a:xfrm>
          <a:prstGeom prst="roundRect">
            <a:avLst>
              <a:gd name="adj" fmla="val 10204"/>
            </a:avLst>
          </a:prstGeom>
          <a:solidFill>
            <a:srgbClr val="F3F7F4"/>
          </a:solidFill>
          <a:ln w="12700">
            <a:solidFill>
              <a:srgbClr val="F3F7F4"/>
            </a:solidFill>
            <a:prstDash val="solid"/>
          </a:ln>
        </p:spPr>
      </p:sp>
      <p:sp>
        <p:nvSpPr>
          <p:cNvPr id="19" name="Shape 16"/>
          <p:cNvSpPr/>
          <p:nvPr/>
        </p:nvSpPr>
        <p:spPr>
          <a:xfrm>
            <a:off x="749808" y="4361688"/>
            <a:ext cx="292608" cy="292608"/>
          </a:xfrm>
          <a:prstGeom prst="ellipse">
            <a:avLst/>
          </a:prstGeom>
          <a:solidFill>
            <a:srgbClr val="2A7F72"/>
          </a:solidFill>
          <a:ln w="12700">
            <a:solidFill>
              <a:srgbClr val="2A7F72"/>
            </a:solidFill>
            <a:prstDash val="solid"/>
          </a:ln>
        </p:spPr>
      </p:sp>
      <p:sp>
        <p:nvSpPr>
          <p:cNvPr id="20" name="Text 17"/>
          <p:cNvSpPr txBox="1"/>
          <p:nvPr/>
        </p:nvSpPr>
        <p:spPr>
          <a:xfrm>
            <a:off x="749808" y="436168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8"/>
          <p:cNvSpPr txBox="1"/>
          <p:nvPr/>
        </p:nvSpPr>
        <p:spPr>
          <a:xfrm>
            <a:off x="1207008" y="4169664"/>
            <a:ext cx="4587088" cy="32004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Lisible</a:t>
            </a:r>
            <a:endParaRPr lang="en-US" sz="1500" dirty="0"/>
          </a:p>
        </p:txBody>
      </p:sp>
      <p:sp>
        <p:nvSpPr>
          <p:cNvPr id="22" name="Text 19"/>
          <p:cNvSpPr txBox="1"/>
          <p:nvPr/>
        </p:nvSpPr>
        <p:spPr>
          <a:xfrm>
            <a:off x="1207008" y="4517136"/>
            <a:ext cx="4587088" cy="3657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la carte des poids montre où le modèle a entendu</a:t>
            </a:r>
            <a:endParaRPr lang="en-US" sz="1250" dirty="0"/>
          </a:p>
        </p:txBody>
      </p:sp>
      <p:sp>
        <p:nvSpPr>
          <p:cNvPr id="23" name="Text 20"/>
          <p:cNvSpPr txBox="1"/>
          <p:nvPr/>
        </p:nvSpPr>
        <p:spPr>
          <a:xfrm>
            <a:off x="6233008" y="1554480"/>
            <a:ext cx="5410048" cy="365760"/>
          </a:xfrm>
          <a:prstGeom prst="rect">
            <a:avLst/>
          </a:prstGeom>
          <a:noFill/>
          <a:ln/>
        </p:spPr>
        <p:txBody>
          <a:bodyPr wrap="square" lIns="0" tIns="0" rIns="0" bIns="0" rtlCol="0" anchor="t"/>
          <a:lstStyle/>
          <a:p>
            <a:pPr indent="0" marL="0">
              <a:buNone/>
            </a:pPr>
            <a:r>
              <a:rPr lang="en-US" sz="1800" b="1" dirty="0">
                <a:solidFill>
                  <a:srgbClr val="C8553D"/>
                </a:solidFill>
                <a:latin typeface="Calibri" pitchFamily="34" charset="0"/>
                <a:ea typeface="Calibri" pitchFamily="34" charset="-122"/>
                <a:cs typeface="Calibri" pitchFamily="34" charset="-120"/>
              </a:rPr>
              <a:t>Inconvénients</a:t>
            </a:r>
            <a:endParaRPr lang="en-US" sz="1800" dirty="0"/>
          </a:p>
        </p:txBody>
      </p:sp>
      <p:sp>
        <p:nvSpPr>
          <p:cNvPr id="24" name="Shape 21"/>
          <p:cNvSpPr/>
          <p:nvPr/>
        </p:nvSpPr>
        <p:spPr>
          <a:xfrm>
            <a:off x="6233008" y="2011680"/>
            <a:ext cx="5410048" cy="896112"/>
          </a:xfrm>
          <a:prstGeom prst="roundRect">
            <a:avLst>
              <a:gd name="adj" fmla="val 10204"/>
            </a:avLst>
          </a:prstGeom>
          <a:solidFill>
            <a:srgbClr val="F3F7F4"/>
          </a:solidFill>
          <a:ln w="12700">
            <a:solidFill>
              <a:srgbClr val="F3F7F4"/>
            </a:solidFill>
            <a:prstDash val="solid"/>
          </a:ln>
        </p:spPr>
      </p:sp>
      <p:sp>
        <p:nvSpPr>
          <p:cNvPr id="25" name="Shape 22"/>
          <p:cNvSpPr/>
          <p:nvPr/>
        </p:nvSpPr>
        <p:spPr>
          <a:xfrm>
            <a:off x="6434176" y="2313432"/>
            <a:ext cx="292608" cy="292608"/>
          </a:xfrm>
          <a:prstGeom prst="ellipse">
            <a:avLst/>
          </a:prstGeom>
          <a:solidFill>
            <a:srgbClr val="C8553D"/>
          </a:solidFill>
          <a:ln w="12700">
            <a:solidFill>
              <a:srgbClr val="C8553D"/>
            </a:solidFill>
            <a:prstDash val="solid"/>
          </a:ln>
        </p:spPr>
      </p:sp>
      <p:sp>
        <p:nvSpPr>
          <p:cNvPr id="26" name="Text 23"/>
          <p:cNvSpPr txBox="1"/>
          <p:nvPr/>
        </p:nvSpPr>
        <p:spPr>
          <a:xfrm>
            <a:off x="6434176" y="2313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4"/>
          <p:cNvSpPr txBox="1"/>
          <p:nvPr/>
        </p:nvSpPr>
        <p:spPr>
          <a:xfrm>
            <a:off x="6891376" y="2121408"/>
            <a:ext cx="4587088" cy="32004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Mémoire</a:t>
            </a:r>
            <a:endParaRPr lang="en-US" sz="1500" dirty="0"/>
          </a:p>
        </p:txBody>
      </p:sp>
      <p:sp>
        <p:nvSpPr>
          <p:cNvPr id="28" name="Text 25"/>
          <p:cNvSpPr txBox="1"/>
          <p:nvPr/>
        </p:nvSpPr>
        <p:spPr>
          <a:xfrm>
            <a:off x="6891376" y="2468880"/>
            <a:ext cx="4587088" cy="3657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64 jetons par fenêtre au lieu d'un vecteur, × 4,5 M fenêtres</a:t>
            </a:r>
            <a:endParaRPr lang="en-US" sz="1250" dirty="0"/>
          </a:p>
        </p:txBody>
      </p:sp>
      <p:sp>
        <p:nvSpPr>
          <p:cNvPr id="29" name="Shape 26"/>
          <p:cNvSpPr/>
          <p:nvPr/>
        </p:nvSpPr>
        <p:spPr>
          <a:xfrm>
            <a:off x="6233008" y="3035808"/>
            <a:ext cx="5410048" cy="896112"/>
          </a:xfrm>
          <a:prstGeom prst="roundRect">
            <a:avLst>
              <a:gd name="adj" fmla="val 10204"/>
            </a:avLst>
          </a:prstGeom>
          <a:solidFill>
            <a:srgbClr val="F3F7F4"/>
          </a:solidFill>
          <a:ln w="12700">
            <a:solidFill>
              <a:srgbClr val="F3F7F4"/>
            </a:solidFill>
            <a:prstDash val="solid"/>
          </a:ln>
        </p:spPr>
      </p:sp>
      <p:sp>
        <p:nvSpPr>
          <p:cNvPr id="30" name="Shape 27"/>
          <p:cNvSpPr/>
          <p:nvPr/>
        </p:nvSpPr>
        <p:spPr>
          <a:xfrm>
            <a:off x="6434176" y="3337560"/>
            <a:ext cx="292608" cy="292608"/>
          </a:xfrm>
          <a:prstGeom prst="ellipse">
            <a:avLst/>
          </a:prstGeom>
          <a:solidFill>
            <a:srgbClr val="C8553D"/>
          </a:solidFill>
          <a:ln w="12700">
            <a:solidFill>
              <a:srgbClr val="C8553D"/>
            </a:solidFill>
            <a:prstDash val="solid"/>
          </a:ln>
        </p:spPr>
      </p:sp>
      <p:sp>
        <p:nvSpPr>
          <p:cNvPr id="31" name="Text 28"/>
          <p:cNvSpPr txBox="1"/>
          <p:nvPr/>
        </p:nvSpPr>
        <p:spPr>
          <a:xfrm>
            <a:off x="6434176" y="333756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29"/>
          <p:cNvSpPr txBox="1"/>
          <p:nvPr/>
        </p:nvSpPr>
        <p:spPr>
          <a:xfrm>
            <a:off x="6891376" y="3145536"/>
            <a:ext cx="4587088" cy="32004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Sur-apprentissage</a:t>
            </a:r>
            <a:endParaRPr lang="en-US" sz="1500" dirty="0"/>
          </a:p>
        </p:txBody>
      </p:sp>
      <p:sp>
        <p:nvSpPr>
          <p:cNvPr id="33" name="Text 30"/>
          <p:cNvSpPr txBox="1"/>
          <p:nvPr/>
        </p:nvSpPr>
        <p:spPr>
          <a:xfrm>
            <a:off x="6891376" y="3493008"/>
            <a:ext cx="4587088" cy="3657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une tête de plus à apprendre avec peu de positifs</a:t>
            </a:r>
            <a:endParaRPr lang="en-US" sz="1250" dirty="0"/>
          </a:p>
        </p:txBody>
      </p:sp>
      <p:sp>
        <p:nvSpPr>
          <p:cNvPr id="34" name="Shape 31"/>
          <p:cNvSpPr/>
          <p:nvPr/>
        </p:nvSpPr>
        <p:spPr>
          <a:xfrm>
            <a:off x="6233008" y="4059936"/>
            <a:ext cx="5410048" cy="896112"/>
          </a:xfrm>
          <a:prstGeom prst="roundRect">
            <a:avLst>
              <a:gd name="adj" fmla="val 10204"/>
            </a:avLst>
          </a:prstGeom>
          <a:solidFill>
            <a:srgbClr val="F3F7F4"/>
          </a:solidFill>
          <a:ln w="12700">
            <a:solidFill>
              <a:srgbClr val="F3F7F4"/>
            </a:solidFill>
            <a:prstDash val="solid"/>
          </a:ln>
        </p:spPr>
      </p:sp>
      <p:sp>
        <p:nvSpPr>
          <p:cNvPr id="35" name="Shape 32"/>
          <p:cNvSpPr/>
          <p:nvPr/>
        </p:nvSpPr>
        <p:spPr>
          <a:xfrm>
            <a:off x="6434176" y="4361688"/>
            <a:ext cx="292608" cy="292608"/>
          </a:xfrm>
          <a:prstGeom prst="ellipse">
            <a:avLst/>
          </a:prstGeom>
          <a:solidFill>
            <a:srgbClr val="C8553D"/>
          </a:solidFill>
          <a:ln w="12700">
            <a:solidFill>
              <a:srgbClr val="C8553D"/>
            </a:solidFill>
            <a:prstDash val="solid"/>
          </a:ln>
        </p:spPr>
      </p:sp>
      <p:sp>
        <p:nvSpPr>
          <p:cNvPr id="36" name="Text 33"/>
          <p:cNvSpPr txBox="1"/>
          <p:nvPr/>
        </p:nvSpPr>
        <p:spPr>
          <a:xfrm>
            <a:off x="6434176" y="436168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4"/>
          <p:cNvSpPr txBox="1"/>
          <p:nvPr/>
        </p:nvSpPr>
        <p:spPr>
          <a:xfrm>
            <a:off x="6891376" y="4169664"/>
            <a:ext cx="4587088" cy="32004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Gain incertain</a:t>
            </a:r>
            <a:endParaRPr lang="en-US" sz="1500" dirty="0"/>
          </a:p>
        </p:txBody>
      </p:sp>
      <p:sp>
        <p:nvSpPr>
          <p:cNvPr id="38" name="Text 35"/>
          <p:cNvSpPr txBox="1"/>
          <p:nvPr/>
        </p:nvSpPr>
        <p:spPr>
          <a:xfrm>
            <a:off x="6891376" y="4517136"/>
            <a:ext cx="4587088" cy="3657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BirdCLEF+ 2026 (DS@GT) : −0,013 à −0,035 avec une tête à attention</a:t>
            </a:r>
            <a:endParaRPr lang="en-US" sz="1250" dirty="0"/>
          </a:p>
        </p:txBody>
      </p:sp>
      <p:sp>
        <p:nvSpPr>
          <p:cNvPr id="39" name="Shape 36"/>
          <p:cNvSpPr/>
          <p:nvPr/>
        </p:nvSpPr>
        <p:spPr>
          <a:xfrm>
            <a:off x="548640" y="5257800"/>
            <a:ext cx="11094415" cy="1005840"/>
          </a:xfrm>
          <a:prstGeom prst="roundRect">
            <a:avLst>
              <a:gd name="adj" fmla="val 9091"/>
            </a:avLst>
          </a:prstGeom>
          <a:solidFill>
            <a:srgbClr val="0E2A24"/>
          </a:solidFill>
          <a:ln w="12700">
            <a:solidFill>
              <a:srgbClr val="0E2A24"/>
            </a:solidFill>
            <a:prstDash val="solid"/>
          </a:ln>
        </p:spPr>
      </p:sp>
      <p:sp>
        <p:nvSpPr>
          <p:cNvPr id="40" name="Text 37"/>
          <p:cNvSpPr txBox="1"/>
          <p:nvPr/>
        </p:nvSpPr>
        <p:spPr>
          <a:xfrm>
            <a:off x="822960" y="5257800"/>
            <a:ext cx="10545775" cy="1005840"/>
          </a:xfrm>
          <a:prstGeom prst="rect">
            <a:avLst/>
          </a:prstGeom>
          <a:noFill/>
          <a:ln/>
        </p:spPr>
        <p:txBody>
          <a:bodyPr wrap="square" lIns="0" tIns="0" rIns="0" bIns="0" rtlCol="0" anchor="ctr"/>
          <a:lstStyle/>
          <a:p>
            <a:pPr indent="0" marL="0">
              <a:buNone/>
            </a:pPr>
            <a:r>
              <a:rPr lang="en-US" sz="1500" b="1" dirty="0">
                <a:solidFill>
                  <a:srgbClr val="E9B44C"/>
                </a:solidFill>
                <a:latin typeface="Calibri" pitchFamily="34" charset="0"/>
                <a:ea typeface="Calibri" pitchFamily="34" charset="-122"/>
                <a:cs typeface="Calibri" pitchFamily="34" charset="-120"/>
              </a:rPr>
              <a:t>Verdict : </a:t>
            </a:r>
            <a:pPr indent="0" marL="0">
              <a:buNone/>
            </a:pPr>
            <a:r>
              <a:rPr lang="en-US" sz="1500" dirty="0">
                <a:solidFill>
                  <a:srgbClr val="FFFFFF"/>
                </a:solidFill>
                <a:latin typeface="Calibri" pitchFamily="34" charset="0"/>
                <a:ea typeface="Calibri" pitchFamily="34" charset="-122"/>
                <a:cs typeface="Calibri" pitchFamily="34" charset="-120"/>
              </a:rPr>
              <a:t>la logistique reste la tête par défaut. La sonde attentive est essayée pour un transformer libre, et gardée seulement si elle bat la logistique sur des points tenus à l'écart.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93292"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193292"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ÉTAT DE L'ART</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La bioacoustique en cinq étapes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731520" y="2331720"/>
            <a:ext cx="10728655" cy="0"/>
          </a:xfrm>
          <a:prstGeom prst="line">
            <a:avLst/>
          </a:prstGeom>
          <a:noFill/>
          <a:ln w="25400">
            <a:solidFill>
              <a:srgbClr val="A7BFB2"/>
            </a:solidFill>
            <a:prstDash val="solid"/>
          </a:ln>
        </p:spPr>
      </p:sp>
      <p:sp>
        <p:nvSpPr>
          <p:cNvPr id="8" name="Shape 5"/>
          <p:cNvSpPr/>
          <p:nvPr/>
        </p:nvSpPr>
        <p:spPr>
          <a:xfrm>
            <a:off x="1502634" y="2176272"/>
            <a:ext cx="310896" cy="310896"/>
          </a:xfrm>
          <a:prstGeom prst="ellipse">
            <a:avLst/>
          </a:prstGeom>
          <a:solidFill>
            <a:srgbClr val="0E2A24"/>
          </a:solidFill>
          <a:ln w="25400">
            <a:solidFill>
              <a:srgbClr val="FFFFFF"/>
            </a:solidFill>
            <a:prstDash val="solid"/>
          </a:ln>
        </p:spPr>
      </p:sp>
      <p:sp>
        <p:nvSpPr>
          <p:cNvPr id="9" name="Text 6"/>
          <p:cNvSpPr txBox="1"/>
          <p:nvPr/>
        </p:nvSpPr>
        <p:spPr>
          <a:xfrm>
            <a:off x="548640" y="1691640"/>
            <a:ext cx="2218883" cy="320040"/>
          </a:xfrm>
          <a:prstGeom prst="rect">
            <a:avLst/>
          </a:prstGeom>
          <a:noFill/>
          <a:ln/>
        </p:spPr>
        <p:txBody>
          <a:bodyPr wrap="square" lIns="0" tIns="0" rIns="0" bIns="0" rtlCol="0" anchor="t"/>
          <a:lstStyle/>
          <a:p>
            <a:pPr algn="ctr" indent="0" marL="0">
              <a:buNone/>
            </a:pPr>
            <a:r>
              <a:rPr lang="en-US" sz="1400" b="1" dirty="0">
                <a:solidFill>
                  <a:srgbClr val="5B6B63"/>
                </a:solidFill>
                <a:latin typeface="Calibri" pitchFamily="34" charset="0"/>
                <a:ea typeface="Calibri" pitchFamily="34" charset="-122"/>
                <a:cs typeface="Calibri" pitchFamily="34" charset="-120"/>
              </a:rPr>
              <a:t>&lt; 2018</a:t>
            </a:r>
            <a:endParaRPr lang="en-US" sz="1400" dirty="0"/>
          </a:p>
        </p:txBody>
      </p:sp>
      <p:sp>
        <p:nvSpPr>
          <p:cNvPr id="10" name="Shape 7"/>
          <p:cNvSpPr/>
          <p:nvPr/>
        </p:nvSpPr>
        <p:spPr>
          <a:xfrm>
            <a:off x="621792" y="2743200"/>
            <a:ext cx="2072579" cy="1737360"/>
          </a:xfrm>
          <a:prstGeom prst="roundRect">
            <a:avLst>
              <a:gd name="adj" fmla="val 5263"/>
            </a:avLst>
          </a:prstGeom>
          <a:solidFill>
            <a:srgbClr val="F3F7F4"/>
          </a:solidFill>
          <a:ln w="12700">
            <a:solidFill>
              <a:srgbClr val="F3F7F4"/>
            </a:solidFill>
            <a:prstDash val="solid"/>
          </a:ln>
        </p:spPr>
      </p:sp>
      <p:sp>
        <p:nvSpPr>
          <p:cNvPr id="11" name="Text 8"/>
          <p:cNvSpPr txBox="1"/>
          <p:nvPr/>
        </p:nvSpPr>
        <p:spPr>
          <a:xfrm>
            <a:off x="777240" y="2907792"/>
            <a:ext cx="1761683" cy="68580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Détecteurs par espèce</a:t>
            </a:r>
            <a:endParaRPr lang="en-US" sz="1600" dirty="0"/>
          </a:p>
        </p:txBody>
      </p:sp>
      <p:sp>
        <p:nvSpPr>
          <p:cNvPr id="12" name="Text 9"/>
          <p:cNvSpPr txBox="1"/>
          <p:nvPr/>
        </p:nvSpPr>
        <p:spPr>
          <a:xfrm>
            <a:off x="777240" y="3639312"/>
            <a:ext cx="1761683" cy="7315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gabarits, MFCC + SVM</a:t>
            </a:r>
            <a:endParaRPr lang="en-US" sz="1300" dirty="0"/>
          </a:p>
        </p:txBody>
      </p:sp>
      <p:sp>
        <p:nvSpPr>
          <p:cNvPr id="13" name="Shape 10"/>
          <p:cNvSpPr/>
          <p:nvPr/>
        </p:nvSpPr>
        <p:spPr>
          <a:xfrm>
            <a:off x="3721517" y="2176272"/>
            <a:ext cx="310896" cy="310896"/>
          </a:xfrm>
          <a:prstGeom prst="ellipse">
            <a:avLst/>
          </a:prstGeom>
          <a:solidFill>
            <a:srgbClr val="0E2A24"/>
          </a:solidFill>
          <a:ln w="25400">
            <a:solidFill>
              <a:srgbClr val="FFFFFF"/>
            </a:solidFill>
            <a:prstDash val="solid"/>
          </a:ln>
        </p:spPr>
      </p:sp>
      <p:sp>
        <p:nvSpPr>
          <p:cNvPr id="14" name="Text 11"/>
          <p:cNvSpPr txBox="1"/>
          <p:nvPr/>
        </p:nvSpPr>
        <p:spPr>
          <a:xfrm>
            <a:off x="2767523" y="1691640"/>
            <a:ext cx="2218883" cy="320040"/>
          </a:xfrm>
          <a:prstGeom prst="rect">
            <a:avLst/>
          </a:prstGeom>
          <a:noFill/>
          <a:ln/>
        </p:spPr>
        <p:txBody>
          <a:bodyPr wrap="square" lIns="0" tIns="0" rIns="0" bIns="0" rtlCol="0" anchor="t"/>
          <a:lstStyle/>
          <a:p>
            <a:pPr algn="ctr" indent="0" marL="0">
              <a:buNone/>
            </a:pPr>
            <a:r>
              <a:rPr lang="en-US" sz="1400" b="1" dirty="0">
                <a:solidFill>
                  <a:srgbClr val="5B6B63"/>
                </a:solidFill>
                <a:latin typeface="Calibri" pitchFamily="34" charset="0"/>
                <a:ea typeface="Calibri" pitchFamily="34" charset="-122"/>
                <a:cs typeface="Calibri" pitchFamily="34" charset="-120"/>
              </a:rPr>
              <a:t>2018–21</a:t>
            </a:r>
            <a:endParaRPr lang="en-US" sz="1400" dirty="0"/>
          </a:p>
        </p:txBody>
      </p:sp>
      <p:sp>
        <p:nvSpPr>
          <p:cNvPr id="15" name="Shape 12"/>
          <p:cNvSpPr/>
          <p:nvPr/>
        </p:nvSpPr>
        <p:spPr>
          <a:xfrm>
            <a:off x="2840675" y="2743200"/>
            <a:ext cx="2072579" cy="1737360"/>
          </a:xfrm>
          <a:prstGeom prst="roundRect">
            <a:avLst>
              <a:gd name="adj" fmla="val 5263"/>
            </a:avLst>
          </a:prstGeom>
          <a:solidFill>
            <a:srgbClr val="F3F7F4"/>
          </a:solidFill>
          <a:ln w="12700">
            <a:solidFill>
              <a:srgbClr val="F3F7F4"/>
            </a:solidFill>
            <a:prstDash val="solid"/>
          </a:ln>
        </p:spPr>
      </p:sp>
      <p:sp>
        <p:nvSpPr>
          <p:cNvPr id="16" name="Text 13"/>
          <p:cNvSpPr txBox="1"/>
          <p:nvPr/>
        </p:nvSpPr>
        <p:spPr>
          <a:xfrm>
            <a:off x="2996123" y="2907792"/>
            <a:ext cx="1761683" cy="68580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CNN sur spectrogrammes</a:t>
            </a:r>
            <a:endParaRPr lang="en-US" sz="1600" dirty="0"/>
          </a:p>
        </p:txBody>
      </p:sp>
      <p:sp>
        <p:nvSpPr>
          <p:cNvPr id="17" name="Text 14"/>
          <p:cNvSpPr txBox="1"/>
          <p:nvPr/>
        </p:nvSpPr>
        <p:spPr>
          <a:xfrm>
            <a:off x="2996123" y="3639312"/>
            <a:ext cx="1761683" cy="7315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BirdNET</a:t>
            </a:r>
            <a:endParaRPr lang="en-US" sz="1300" dirty="0"/>
          </a:p>
        </p:txBody>
      </p:sp>
      <p:sp>
        <p:nvSpPr>
          <p:cNvPr id="18" name="Shape 15"/>
          <p:cNvSpPr/>
          <p:nvPr/>
        </p:nvSpPr>
        <p:spPr>
          <a:xfrm>
            <a:off x="5940400" y="2176272"/>
            <a:ext cx="310896" cy="310896"/>
          </a:xfrm>
          <a:prstGeom prst="ellipse">
            <a:avLst/>
          </a:prstGeom>
          <a:solidFill>
            <a:srgbClr val="0E2A24"/>
          </a:solidFill>
          <a:ln w="25400">
            <a:solidFill>
              <a:srgbClr val="FFFFFF"/>
            </a:solidFill>
            <a:prstDash val="solid"/>
          </a:ln>
        </p:spPr>
      </p:sp>
      <p:sp>
        <p:nvSpPr>
          <p:cNvPr id="19" name="Text 16"/>
          <p:cNvSpPr txBox="1"/>
          <p:nvPr/>
        </p:nvSpPr>
        <p:spPr>
          <a:xfrm>
            <a:off x="4986406" y="1691640"/>
            <a:ext cx="2218883" cy="320040"/>
          </a:xfrm>
          <a:prstGeom prst="rect">
            <a:avLst/>
          </a:prstGeom>
          <a:noFill/>
          <a:ln/>
        </p:spPr>
        <p:txBody>
          <a:bodyPr wrap="square" lIns="0" tIns="0" rIns="0" bIns="0" rtlCol="0" anchor="t"/>
          <a:lstStyle/>
          <a:p>
            <a:pPr algn="ctr" indent="0" marL="0">
              <a:buNone/>
            </a:pPr>
            <a:r>
              <a:rPr lang="en-US" sz="1400" b="1" dirty="0">
                <a:solidFill>
                  <a:srgbClr val="5B6B63"/>
                </a:solidFill>
                <a:latin typeface="Calibri" pitchFamily="34" charset="0"/>
                <a:ea typeface="Calibri" pitchFamily="34" charset="-122"/>
                <a:cs typeface="Calibri" pitchFamily="34" charset="-120"/>
              </a:rPr>
              <a:t>2021–23</a:t>
            </a:r>
            <a:endParaRPr lang="en-US" sz="1400" dirty="0"/>
          </a:p>
        </p:txBody>
      </p:sp>
      <p:sp>
        <p:nvSpPr>
          <p:cNvPr id="20" name="Shape 17"/>
          <p:cNvSpPr/>
          <p:nvPr/>
        </p:nvSpPr>
        <p:spPr>
          <a:xfrm>
            <a:off x="5059558" y="2743200"/>
            <a:ext cx="2072579" cy="1737360"/>
          </a:xfrm>
          <a:prstGeom prst="roundRect">
            <a:avLst>
              <a:gd name="adj" fmla="val 5263"/>
            </a:avLst>
          </a:prstGeom>
          <a:solidFill>
            <a:srgbClr val="F3F7F4"/>
          </a:solidFill>
          <a:ln w="12700">
            <a:solidFill>
              <a:srgbClr val="F3F7F4"/>
            </a:solidFill>
            <a:prstDash val="solid"/>
          </a:ln>
        </p:spPr>
      </p:sp>
      <p:sp>
        <p:nvSpPr>
          <p:cNvPr id="21" name="Text 18"/>
          <p:cNvSpPr txBox="1"/>
          <p:nvPr/>
        </p:nvSpPr>
        <p:spPr>
          <a:xfrm>
            <a:off x="5215006" y="2907792"/>
            <a:ext cx="1761683" cy="68580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Embeddings réutilisés</a:t>
            </a:r>
            <a:endParaRPr lang="en-US" sz="1600" dirty="0"/>
          </a:p>
        </p:txBody>
      </p:sp>
      <p:sp>
        <p:nvSpPr>
          <p:cNvPr id="22" name="Text 19"/>
          <p:cNvSpPr txBox="1"/>
          <p:nvPr/>
        </p:nvSpPr>
        <p:spPr>
          <a:xfrm>
            <a:off x="5215006" y="3639312"/>
            <a:ext cx="1761683" cy="7315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Perch 1, transfert</a:t>
            </a:r>
            <a:endParaRPr lang="en-US" sz="1300" dirty="0"/>
          </a:p>
        </p:txBody>
      </p:sp>
      <p:sp>
        <p:nvSpPr>
          <p:cNvPr id="23" name="Shape 20"/>
          <p:cNvSpPr/>
          <p:nvPr/>
        </p:nvSpPr>
        <p:spPr>
          <a:xfrm>
            <a:off x="8159283" y="2176272"/>
            <a:ext cx="310896" cy="310896"/>
          </a:xfrm>
          <a:prstGeom prst="ellipse">
            <a:avLst/>
          </a:prstGeom>
          <a:solidFill>
            <a:srgbClr val="0E2A24"/>
          </a:solidFill>
          <a:ln w="25400">
            <a:solidFill>
              <a:srgbClr val="FFFFFF"/>
            </a:solidFill>
            <a:prstDash val="solid"/>
          </a:ln>
        </p:spPr>
      </p:sp>
      <p:sp>
        <p:nvSpPr>
          <p:cNvPr id="24" name="Text 21"/>
          <p:cNvSpPr txBox="1"/>
          <p:nvPr/>
        </p:nvSpPr>
        <p:spPr>
          <a:xfrm>
            <a:off x="7205289" y="1691640"/>
            <a:ext cx="2218883" cy="320040"/>
          </a:xfrm>
          <a:prstGeom prst="rect">
            <a:avLst/>
          </a:prstGeom>
          <a:noFill/>
          <a:ln/>
        </p:spPr>
        <p:txBody>
          <a:bodyPr wrap="square" lIns="0" tIns="0" rIns="0" bIns="0" rtlCol="0" anchor="t"/>
          <a:lstStyle/>
          <a:p>
            <a:pPr algn="ctr" indent="0" marL="0">
              <a:buNone/>
            </a:pPr>
            <a:r>
              <a:rPr lang="en-US" sz="1400" b="1" dirty="0">
                <a:solidFill>
                  <a:srgbClr val="5B6B63"/>
                </a:solidFill>
                <a:latin typeface="Calibri" pitchFamily="34" charset="0"/>
                <a:ea typeface="Calibri" pitchFamily="34" charset="-122"/>
                <a:cs typeface="Calibri" pitchFamily="34" charset="-120"/>
              </a:rPr>
              <a:t>2022–25</a:t>
            </a:r>
            <a:endParaRPr lang="en-US" sz="1400" dirty="0"/>
          </a:p>
        </p:txBody>
      </p:sp>
      <p:sp>
        <p:nvSpPr>
          <p:cNvPr id="25" name="Shape 22"/>
          <p:cNvSpPr/>
          <p:nvPr/>
        </p:nvSpPr>
        <p:spPr>
          <a:xfrm>
            <a:off x="7278441" y="2743200"/>
            <a:ext cx="2072579" cy="1737360"/>
          </a:xfrm>
          <a:prstGeom prst="roundRect">
            <a:avLst>
              <a:gd name="adj" fmla="val 5263"/>
            </a:avLst>
          </a:prstGeom>
          <a:solidFill>
            <a:srgbClr val="F3F7F4"/>
          </a:solidFill>
          <a:ln w="12700">
            <a:solidFill>
              <a:srgbClr val="F3F7F4"/>
            </a:solidFill>
            <a:prstDash val="solid"/>
          </a:ln>
        </p:spPr>
      </p:sp>
      <p:sp>
        <p:nvSpPr>
          <p:cNvPr id="26" name="Text 23"/>
          <p:cNvSpPr txBox="1"/>
          <p:nvPr/>
        </p:nvSpPr>
        <p:spPr>
          <a:xfrm>
            <a:off x="7433889" y="2907792"/>
            <a:ext cx="1761683" cy="68580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Auto-supervisé</a:t>
            </a:r>
            <a:endParaRPr lang="en-US" sz="1600" dirty="0"/>
          </a:p>
        </p:txBody>
      </p:sp>
      <p:sp>
        <p:nvSpPr>
          <p:cNvPr id="27" name="Text 24"/>
          <p:cNvSpPr txBox="1"/>
          <p:nvPr/>
        </p:nvSpPr>
        <p:spPr>
          <a:xfrm>
            <a:off x="7433889" y="3639312"/>
            <a:ext cx="1761683" cy="73152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BEATs, Bird-MAE</a:t>
            </a:r>
            <a:endParaRPr lang="en-US" sz="1300" dirty="0"/>
          </a:p>
        </p:txBody>
      </p:sp>
      <p:sp>
        <p:nvSpPr>
          <p:cNvPr id="28" name="Shape 25"/>
          <p:cNvSpPr/>
          <p:nvPr/>
        </p:nvSpPr>
        <p:spPr>
          <a:xfrm>
            <a:off x="10378166" y="2176272"/>
            <a:ext cx="310896" cy="310896"/>
          </a:xfrm>
          <a:prstGeom prst="ellipse">
            <a:avLst/>
          </a:prstGeom>
          <a:solidFill>
            <a:srgbClr val="E9B44C"/>
          </a:solidFill>
          <a:ln w="25400">
            <a:solidFill>
              <a:srgbClr val="FFFFFF"/>
            </a:solidFill>
            <a:prstDash val="solid"/>
          </a:ln>
        </p:spPr>
      </p:sp>
      <p:sp>
        <p:nvSpPr>
          <p:cNvPr id="29" name="Text 26"/>
          <p:cNvSpPr txBox="1"/>
          <p:nvPr/>
        </p:nvSpPr>
        <p:spPr>
          <a:xfrm>
            <a:off x="9424172" y="1691640"/>
            <a:ext cx="2218883" cy="320040"/>
          </a:xfrm>
          <a:prstGeom prst="rect">
            <a:avLst/>
          </a:prstGeom>
          <a:noFill/>
          <a:ln/>
        </p:spPr>
        <p:txBody>
          <a:bodyPr wrap="square" lIns="0" tIns="0" rIns="0" bIns="0" rtlCol="0" anchor="t"/>
          <a:lstStyle/>
          <a:p>
            <a:pPr algn="ctr" indent="0" marL="0">
              <a:buNone/>
            </a:pPr>
            <a:r>
              <a:rPr lang="en-US" sz="1400" b="1" dirty="0">
                <a:solidFill>
                  <a:srgbClr val="8A5A00"/>
                </a:solidFill>
                <a:latin typeface="Calibri" pitchFamily="34" charset="0"/>
                <a:ea typeface="Calibri" pitchFamily="34" charset="-122"/>
                <a:cs typeface="Calibri" pitchFamily="34" charset="-120"/>
              </a:rPr>
              <a:t>2025–26</a:t>
            </a:r>
            <a:endParaRPr lang="en-US" sz="1400" dirty="0"/>
          </a:p>
        </p:txBody>
      </p:sp>
      <p:sp>
        <p:nvSpPr>
          <p:cNvPr id="30" name="Shape 27"/>
          <p:cNvSpPr/>
          <p:nvPr/>
        </p:nvSpPr>
        <p:spPr>
          <a:xfrm>
            <a:off x="9497324" y="2743200"/>
            <a:ext cx="2072579" cy="1737360"/>
          </a:xfrm>
          <a:prstGeom prst="roundRect">
            <a:avLst>
              <a:gd name="adj" fmla="val 5263"/>
            </a:avLst>
          </a:prstGeom>
          <a:solidFill>
            <a:srgbClr val="0E2A24"/>
          </a:solidFill>
          <a:ln w="12700">
            <a:solidFill>
              <a:srgbClr val="0E2A24"/>
            </a:solidFill>
            <a:prstDash val="solid"/>
          </a:ln>
        </p:spPr>
      </p:sp>
      <p:sp>
        <p:nvSpPr>
          <p:cNvPr id="31" name="Text 28"/>
          <p:cNvSpPr txBox="1"/>
          <p:nvPr/>
        </p:nvSpPr>
        <p:spPr>
          <a:xfrm>
            <a:off x="9652772" y="2907792"/>
            <a:ext cx="1761683"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Modèles de fondation</a:t>
            </a:r>
            <a:endParaRPr lang="en-US" sz="1600" dirty="0"/>
          </a:p>
        </p:txBody>
      </p:sp>
      <p:sp>
        <p:nvSpPr>
          <p:cNvPr id="32" name="Text 29"/>
          <p:cNvSpPr txBox="1"/>
          <p:nvPr/>
        </p:nvSpPr>
        <p:spPr>
          <a:xfrm>
            <a:off x="9652772" y="3639312"/>
            <a:ext cx="1761683" cy="731520"/>
          </a:xfrm>
          <a:prstGeom prst="rect">
            <a:avLst/>
          </a:prstGeom>
          <a:noFill/>
          <a:ln/>
        </p:spPr>
        <p:txBody>
          <a:bodyPr wrap="square" lIns="0" tIns="0" rIns="0" bIns="0" rtlCol="0" anchor="t"/>
          <a:lstStyle/>
          <a:p>
            <a:pPr indent="0" marL="0">
              <a:buNone/>
            </a:pPr>
            <a:r>
              <a:rPr lang="en-US" sz="1300" dirty="0">
                <a:solidFill>
                  <a:srgbClr val="A7BFB2"/>
                </a:solidFill>
                <a:latin typeface="Calibri" pitchFamily="34" charset="0"/>
                <a:ea typeface="Calibri" pitchFamily="34" charset="-122"/>
                <a:cs typeface="Calibri" pitchFamily="34" charset="-120"/>
              </a:rPr>
              <a:t>Perch 2.0, NatureLM, ESP-AVES2, MetaPerch</a:t>
            </a:r>
            <a:endParaRPr lang="en-US" sz="1300" dirty="0"/>
          </a:p>
        </p:txBody>
      </p:sp>
      <p:sp>
        <p:nvSpPr>
          <p:cNvPr id="33" name="Shape 30"/>
          <p:cNvSpPr/>
          <p:nvPr/>
        </p:nvSpPr>
        <p:spPr>
          <a:xfrm>
            <a:off x="548640" y="4846320"/>
            <a:ext cx="11094415" cy="1325880"/>
          </a:xfrm>
          <a:prstGeom prst="roundRect">
            <a:avLst>
              <a:gd name="adj" fmla="val 6897"/>
            </a:avLst>
          </a:prstGeom>
          <a:solidFill>
            <a:srgbClr val="E4EEE8"/>
          </a:solidFill>
          <a:ln w="12700">
            <a:solidFill>
              <a:srgbClr val="E4EEE8"/>
            </a:solidFill>
            <a:prstDash val="solid"/>
          </a:ln>
        </p:spPr>
      </p:sp>
      <p:sp>
        <p:nvSpPr>
          <p:cNvPr id="34" name="Text 31"/>
          <p:cNvSpPr txBox="1"/>
          <p:nvPr/>
        </p:nvSpPr>
        <p:spPr>
          <a:xfrm>
            <a:off x="822960" y="4846320"/>
            <a:ext cx="10545775" cy="1325880"/>
          </a:xfrm>
          <a:prstGeom prst="rect">
            <a:avLst/>
          </a:prstGeom>
          <a:noFill/>
          <a:ln/>
        </p:spPr>
        <p:txBody>
          <a:bodyPr wrap="square" lIns="0" tIns="0" rIns="0" bIns="0" rtlCol="0" anchor="ctr"/>
          <a:lstStyle/>
          <a:p>
            <a:pPr indent="0" marL="0">
              <a:buNone/>
            </a:pPr>
            <a:r>
              <a:rPr lang="en-US" sz="1600" b="1" dirty="0">
                <a:solidFill>
                  <a:srgbClr val="1B2A24"/>
                </a:solidFill>
                <a:latin typeface="Calibri" pitchFamily="34" charset="0"/>
                <a:ea typeface="Calibri" pitchFamily="34" charset="-122"/>
                <a:cs typeface="Calibri" pitchFamily="34" charset="-120"/>
              </a:rPr>
              <a:t>Nous : </a:t>
            </a:r>
            <a:pPr indent="0" marL="0">
              <a:buNone/>
            </a:pPr>
            <a:r>
              <a:rPr lang="en-US" sz="1600" dirty="0">
                <a:solidFill>
                  <a:srgbClr val="1B2A24"/>
                </a:solidFill>
                <a:latin typeface="Calibri" pitchFamily="34" charset="0"/>
                <a:ea typeface="Calibri" pitchFamily="34" charset="-122"/>
                <a:cs typeface="Calibri" pitchFamily="34" charset="-120"/>
              </a:rPr>
              <a:t>étape 3 avec un encodeur de l'étape 5, gelé, et une petite tête apprise.  </a:t>
            </a:r>
            <a:pPr indent="0" marL="0">
              <a:buNone/>
            </a:pPr>
            <a:r>
              <a:rPr lang="en-US" sz="1600" b="1" dirty="0">
                <a:solidFill>
                  <a:srgbClr val="1B2A24"/>
                </a:solidFill>
                <a:latin typeface="Calibri" pitchFamily="34" charset="0"/>
                <a:ea typeface="Calibri" pitchFamily="34" charset="-122"/>
                <a:cs typeface="Calibri" pitchFamily="34" charset="-120"/>
              </a:rPr>
              <a:t>Leçon : </a:t>
            </a:r>
            <a:pPr indent="0" marL="0">
              <a:buNone/>
            </a:pPr>
            <a:r>
              <a:rPr lang="en-US" sz="1600" dirty="0">
                <a:solidFill>
                  <a:srgbClr val="1B2A24"/>
                </a:solidFill>
                <a:latin typeface="Calibri" pitchFamily="34" charset="0"/>
                <a:ea typeface="Calibri" pitchFamily="34" charset="-122"/>
                <a:cs typeface="Calibri" pitchFamily="34" charset="-120"/>
              </a:rPr>
              <a:t>la tête doit suivre la sortie de l'encodeur ; plus gros n'est pas meilleur.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73736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BIRDCLEF+ 2026 · 1/2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concours : le Pantanal, et un classement serré</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48640" y="1600200"/>
            <a:ext cx="3017520" cy="1024128"/>
          </a:xfrm>
          <a:prstGeom prst="roundRect">
            <a:avLst>
              <a:gd name="adj" fmla="val 8929"/>
            </a:avLst>
          </a:prstGeom>
          <a:solidFill>
            <a:srgbClr val="F3F7F4"/>
          </a:solidFill>
          <a:ln w="12700">
            <a:solidFill>
              <a:srgbClr val="F3F7F4"/>
            </a:solidFill>
            <a:prstDash val="solid"/>
          </a:ln>
        </p:spPr>
      </p:sp>
      <p:sp>
        <p:nvSpPr>
          <p:cNvPr id="8" name="Text 5"/>
          <p:cNvSpPr txBox="1"/>
          <p:nvPr/>
        </p:nvSpPr>
        <p:spPr>
          <a:xfrm>
            <a:off x="731520" y="1673352"/>
            <a:ext cx="2651760" cy="548640"/>
          </a:xfrm>
          <a:prstGeom prst="rect">
            <a:avLst/>
          </a:prstGeom>
          <a:noFill/>
          <a:ln/>
        </p:spPr>
        <p:txBody>
          <a:bodyPr wrap="square" lIns="0" tIns="0" rIns="0" bIns="0" rtlCol="0" anchor="t"/>
          <a:lstStyle/>
          <a:p>
            <a:pPr indent="0" marL="0">
              <a:buNone/>
            </a:pPr>
            <a:r>
              <a:rPr lang="en-US" sz="2800" b="1" dirty="0">
                <a:solidFill>
                  <a:srgbClr val="8A5A00"/>
                </a:solidFill>
                <a:latin typeface="Cambria" pitchFamily="34" charset="0"/>
                <a:ea typeface="Cambria" pitchFamily="34" charset="-122"/>
                <a:cs typeface="Cambria" pitchFamily="34" charset="-120"/>
              </a:rPr>
              <a:t>234</a:t>
            </a:r>
            <a:endParaRPr lang="en-US" sz="2800" dirty="0"/>
          </a:p>
        </p:txBody>
      </p:sp>
      <p:sp>
        <p:nvSpPr>
          <p:cNvPr id="9" name="Text 6"/>
          <p:cNvSpPr txBox="1"/>
          <p:nvPr/>
        </p:nvSpPr>
        <p:spPr>
          <a:xfrm>
            <a:off x="731520" y="2221992"/>
            <a:ext cx="2651760" cy="32004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taxons, dont amphibiens et insectes</a:t>
            </a:r>
            <a:endParaRPr lang="en-US" sz="1250" dirty="0"/>
          </a:p>
        </p:txBody>
      </p:sp>
      <p:sp>
        <p:nvSpPr>
          <p:cNvPr id="10" name="Shape 7"/>
          <p:cNvSpPr/>
          <p:nvPr/>
        </p:nvSpPr>
        <p:spPr>
          <a:xfrm>
            <a:off x="548640" y="2770632"/>
            <a:ext cx="3017520" cy="1024128"/>
          </a:xfrm>
          <a:prstGeom prst="roundRect">
            <a:avLst>
              <a:gd name="adj" fmla="val 8929"/>
            </a:avLst>
          </a:prstGeom>
          <a:solidFill>
            <a:srgbClr val="F3F7F4"/>
          </a:solidFill>
          <a:ln w="12700">
            <a:solidFill>
              <a:srgbClr val="F3F7F4"/>
            </a:solidFill>
            <a:prstDash val="solid"/>
          </a:ln>
        </p:spPr>
      </p:sp>
      <p:sp>
        <p:nvSpPr>
          <p:cNvPr id="11" name="Text 8"/>
          <p:cNvSpPr txBox="1"/>
          <p:nvPr/>
        </p:nvSpPr>
        <p:spPr>
          <a:xfrm>
            <a:off x="731520" y="2843784"/>
            <a:ext cx="2651760" cy="548640"/>
          </a:xfrm>
          <a:prstGeom prst="rect">
            <a:avLst/>
          </a:prstGeom>
          <a:noFill/>
          <a:ln/>
        </p:spPr>
        <p:txBody>
          <a:bodyPr wrap="square" lIns="0" tIns="0" rIns="0" bIns="0" rtlCol="0" anchor="t"/>
          <a:lstStyle/>
          <a:p>
            <a:pPr indent="0" marL="0">
              <a:buNone/>
            </a:pPr>
            <a:r>
              <a:rPr lang="en-US" sz="2800" b="1" dirty="0">
                <a:solidFill>
                  <a:srgbClr val="8A5A00"/>
                </a:solidFill>
                <a:latin typeface="Cambria" pitchFamily="34" charset="0"/>
                <a:ea typeface="Cambria" pitchFamily="34" charset="-122"/>
                <a:cs typeface="Cambria" pitchFamily="34" charset="-120"/>
              </a:rPr>
              <a:t>23</a:t>
            </a:r>
            <a:endParaRPr lang="en-US" sz="2800" dirty="0"/>
          </a:p>
        </p:txBody>
      </p:sp>
      <p:sp>
        <p:nvSpPr>
          <p:cNvPr id="12" name="Text 9"/>
          <p:cNvSpPr txBox="1"/>
          <p:nvPr/>
        </p:nvSpPr>
        <p:spPr>
          <a:xfrm>
            <a:off x="731520" y="3392424"/>
            <a:ext cx="2651760" cy="32004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sites du Pantanal (Brésil)</a:t>
            </a:r>
            <a:endParaRPr lang="en-US" sz="1250" dirty="0"/>
          </a:p>
        </p:txBody>
      </p:sp>
      <p:sp>
        <p:nvSpPr>
          <p:cNvPr id="13" name="Shape 10"/>
          <p:cNvSpPr/>
          <p:nvPr/>
        </p:nvSpPr>
        <p:spPr>
          <a:xfrm>
            <a:off x="548640" y="3941064"/>
            <a:ext cx="3017520" cy="1024128"/>
          </a:xfrm>
          <a:prstGeom prst="roundRect">
            <a:avLst>
              <a:gd name="adj" fmla="val 8929"/>
            </a:avLst>
          </a:prstGeom>
          <a:solidFill>
            <a:srgbClr val="0E2A24"/>
          </a:solidFill>
          <a:ln w="12700">
            <a:solidFill>
              <a:srgbClr val="0E2A24"/>
            </a:solidFill>
            <a:prstDash val="solid"/>
          </a:ln>
        </p:spPr>
      </p:sp>
      <p:sp>
        <p:nvSpPr>
          <p:cNvPr id="14" name="Text 11"/>
          <p:cNvSpPr txBox="1"/>
          <p:nvPr/>
        </p:nvSpPr>
        <p:spPr>
          <a:xfrm>
            <a:off x="731520" y="4014216"/>
            <a:ext cx="2651760" cy="548640"/>
          </a:xfrm>
          <a:prstGeom prst="rect">
            <a:avLst/>
          </a:prstGeom>
          <a:noFill/>
          <a:ln/>
        </p:spPr>
        <p:txBody>
          <a:bodyPr wrap="square" lIns="0" tIns="0" rIns="0" bIns="0" rtlCol="0" anchor="t"/>
          <a:lstStyle/>
          <a:p>
            <a:pPr indent="0" marL="0">
              <a:buNone/>
            </a:pPr>
            <a:r>
              <a:rPr lang="en-US" sz="2800" b="1" dirty="0">
                <a:solidFill>
                  <a:srgbClr val="E9B44C"/>
                </a:solidFill>
                <a:latin typeface="Cambria" pitchFamily="34" charset="0"/>
                <a:ea typeface="Cambria" pitchFamily="34" charset="-122"/>
                <a:cs typeface="Cambria" pitchFamily="34" charset="-120"/>
              </a:rPr>
              <a:t>CPU</a:t>
            </a:r>
            <a:endParaRPr lang="en-US" sz="2800" dirty="0"/>
          </a:p>
        </p:txBody>
      </p:sp>
      <p:sp>
        <p:nvSpPr>
          <p:cNvPr id="15" name="Text 12"/>
          <p:cNvSpPr txBox="1"/>
          <p:nvPr/>
        </p:nvSpPr>
        <p:spPr>
          <a:xfrm>
            <a:off x="731520" y="4562856"/>
            <a:ext cx="2651760" cy="3200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seul, 90 min : comme l'ONF</a:t>
            </a:r>
            <a:endParaRPr lang="en-US" sz="1250" dirty="0"/>
          </a:p>
        </p:txBody>
      </p:sp>
      <p:sp>
        <p:nvSpPr>
          <p:cNvPr id="16" name="Shape 13"/>
          <p:cNvSpPr/>
          <p:nvPr/>
        </p:nvSpPr>
        <p:spPr>
          <a:xfrm>
            <a:off x="548640" y="5111496"/>
            <a:ext cx="3017520" cy="1024128"/>
          </a:xfrm>
          <a:prstGeom prst="roundRect">
            <a:avLst>
              <a:gd name="adj" fmla="val 8929"/>
            </a:avLst>
          </a:prstGeom>
          <a:solidFill>
            <a:srgbClr val="F3F7F4"/>
          </a:solidFill>
          <a:ln w="12700">
            <a:solidFill>
              <a:srgbClr val="F3F7F4"/>
            </a:solidFill>
            <a:prstDash val="solid"/>
          </a:ln>
        </p:spPr>
      </p:sp>
      <p:sp>
        <p:nvSpPr>
          <p:cNvPr id="17" name="Text 14"/>
          <p:cNvSpPr txBox="1"/>
          <p:nvPr/>
        </p:nvSpPr>
        <p:spPr>
          <a:xfrm>
            <a:off x="731520" y="5184648"/>
            <a:ext cx="2651760" cy="548640"/>
          </a:xfrm>
          <a:prstGeom prst="rect">
            <a:avLst/>
          </a:prstGeom>
          <a:noFill/>
          <a:ln/>
        </p:spPr>
        <p:txBody>
          <a:bodyPr wrap="square" lIns="0" tIns="0" rIns="0" bIns="0" rtlCol="0" anchor="t"/>
          <a:lstStyle/>
          <a:p>
            <a:pPr indent="0" marL="0">
              <a:buNone/>
            </a:pPr>
            <a:r>
              <a:rPr lang="en-US" sz="2800" b="1" dirty="0">
                <a:solidFill>
                  <a:srgbClr val="8A5A00"/>
                </a:solidFill>
                <a:latin typeface="Cambria" pitchFamily="34" charset="0"/>
                <a:ea typeface="Cambria" pitchFamily="34" charset="-122"/>
                <a:cs typeface="Cambria" pitchFamily="34" charset="-120"/>
              </a:rPr>
              <a:t>4 094</a:t>
            </a:r>
            <a:endParaRPr lang="en-US" sz="2800" dirty="0"/>
          </a:p>
        </p:txBody>
      </p:sp>
      <p:sp>
        <p:nvSpPr>
          <p:cNvPr id="18" name="Text 15"/>
          <p:cNvSpPr txBox="1"/>
          <p:nvPr/>
        </p:nvSpPr>
        <p:spPr>
          <a:xfrm>
            <a:off x="731520" y="5733288"/>
            <a:ext cx="2651760" cy="32004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équipes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886200" y="1600200"/>
          <a:ext cx="7754112" cy="914400"/>
        </p:xfrm>
        <a:graphic>
          <a:graphicData uri="http://schemas.openxmlformats.org/drawingml/2006/table">
            <a:tbl>
              <a:tblPr/>
              <a:tblGrid>
                <a:gridCol w="594360"/>
                <a:gridCol w="1965960"/>
                <a:gridCol w="1051560"/>
                <a:gridCol w="414223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Rang</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Équipe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Score privé</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Approche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r>
              <a:tr h="502920">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Nikita Babych</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0,966</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distillation de Perch v2 + AudioProtoPNet, puis Noisy Student sur l'audio non étiqueté</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502920">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tennogh</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0,960</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ensemble divers, pseudo-labels, spécialiste des non-oiseaux</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kapenon</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0,960</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non lue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502920">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équipe « BirdCLEF+ 2026 »</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0,959</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non lue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Jiacheng Ma</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0,958</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code public</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bl>
          </a:graphicData>
        </a:graphic>
      </p:graphicFrame>
      <p:sp>
        <p:nvSpPr>
          <p:cNvPr id="20" name="Shape 16"/>
          <p:cNvSpPr/>
          <p:nvPr/>
        </p:nvSpPr>
        <p:spPr>
          <a:xfrm>
            <a:off x="3886200" y="4892040"/>
            <a:ext cx="2487168" cy="1371600"/>
          </a:xfrm>
          <a:prstGeom prst="roundRect">
            <a:avLst>
              <a:gd name="adj" fmla="val 6667"/>
            </a:avLst>
          </a:prstGeom>
          <a:solidFill>
            <a:srgbClr val="E4EEE8"/>
          </a:solidFill>
          <a:ln w="12700">
            <a:solidFill>
              <a:srgbClr val="E4EEE8"/>
            </a:solidFill>
            <a:prstDash val="solid"/>
          </a:ln>
        </p:spPr>
      </p:sp>
      <p:sp>
        <p:nvSpPr>
          <p:cNvPr id="21" name="Text 17"/>
          <p:cNvSpPr txBox="1"/>
          <p:nvPr/>
        </p:nvSpPr>
        <p:spPr>
          <a:xfrm>
            <a:off x="4069080" y="5029200"/>
            <a:ext cx="2148840" cy="365760"/>
          </a:xfrm>
          <a:prstGeom prst="rect">
            <a:avLst/>
          </a:prstGeom>
          <a:noFill/>
          <a:ln/>
        </p:spPr>
        <p:txBody>
          <a:bodyPr wrap="square" lIns="0" tIns="0" rIns="0" bIns="0" rtlCol="0" anchor="t"/>
          <a:lstStyle/>
          <a:p>
            <a:pPr indent="0" marL="0">
              <a:buNone/>
            </a:pPr>
            <a:r>
              <a:rPr lang="en-US" sz="1500" b="1" dirty="0">
                <a:solidFill>
                  <a:srgbClr val="2A7F72"/>
                </a:solidFill>
                <a:latin typeface="Calibri" pitchFamily="34" charset="0"/>
                <a:ea typeface="Calibri" pitchFamily="34" charset="-122"/>
                <a:cs typeface="Calibri" pitchFamily="34" charset="-120"/>
              </a:rPr>
              <a:t>Perch v2 partout</a:t>
            </a:r>
            <a:endParaRPr lang="en-US" sz="1500" dirty="0"/>
          </a:p>
        </p:txBody>
      </p:sp>
      <p:sp>
        <p:nvSpPr>
          <p:cNvPr id="22" name="Text 18"/>
          <p:cNvSpPr txBox="1"/>
          <p:nvPr/>
        </p:nvSpPr>
        <p:spPr>
          <a:xfrm>
            <a:off x="4069080" y="5413248"/>
            <a:ext cx="2148840" cy="777240"/>
          </a:xfrm>
          <a:prstGeom prst="rect">
            <a:avLst/>
          </a:prstGeom>
          <a:noFill/>
          <a:ln/>
        </p:spPr>
        <p:txBody>
          <a:bodyPr wrap="square" lIns="0" tIns="0" rIns="0" bIns="0" rtlCol="0" anchor="t"/>
          <a:lstStyle/>
          <a:p>
            <a:pPr indent="0" marL="0">
              <a:buNone/>
            </a:pPr>
            <a:r>
              <a:rPr lang="en-US" sz="1300" dirty="0">
                <a:solidFill>
                  <a:srgbClr val="1B2A24"/>
                </a:solidFill>
                <a:latin typeface="Calibri" pitchFamily="34" charset="0"/>
                <a:ea typeface="Calibri" pitchFamily="34" charset="-122"/>
                <a:cs typeface="Calibri" pitchFamily="34" charset="-120"/>
              </a:rPr>
              <a:t>enseignant, initialisation ou branche</a:t>
            </a:r>
            <a:endParaRPr lang="en-US" sz="1300" dirty="0"/>
          </a:p>
        </p:txBody>
      </p:sp>
      <p:sp>
        <p:nvSpPr>
          <p:cNvPr id="23" name="Shape 19"/>
          <p:cNvSpPr/>
          <p:nvPr/>
        </p:nvSpPr>
        <p:spPr>
          <a:xfrm>
            <a:off x="6519672" y="4892040"/>
            <a:ext cx="2487168" cy="1371600"/>
          </a:xfrm>
          <a:prstGeom prst="roundRect">
            <a:avLst>
              <a:gd name="adj" fmla="val 6667"/>
            </a:avLst>
          </a:prstGeom>
          <a:solidFill>
            <a:srgbClr val="E4EEE8"/>
          </a:solidFill>
          <a:ln w="12700">
            <a:solidFill>
              <a:srgbClr val="E4EEE8"/>
            </a:solidFill>
            <a:prstDash val="solid"/>
          </a:ln>
        </p:spPr>
      </p:sp>
      <p:sp>
        <p:nvSpPr>
          <p:cNvPr id="24" name="Text 20"/>
          <p:cNvSpPr txBox="1"/>
          <p:nvPr/>
        </p:nvSpPr>
        <p:spPr>
          <a:xfrm>
            <a:off x="6702552" y="5029200"/>
            <a:ext cx="2148840" cy="365760"/>
          </a:xfrm>
          <a:prstGeom prst="rect">
            <a:avLst/>
          </a:prstGeom>
          <a:noFill/>
          <a:ln/>
        </p:spPr>
        <p:txBody>
          <a:bodyPr wrap="square" lIns="0" tIns="0" rIns="0" bIns="0" rtlCol="0" anchor="t"/>
          <a:lstStyle/>
          <a:p>
            <a:pPr indent="0" marL="0">
              <a:buNone/>
            </a:pPr>
            <a:r>
              <a:rPr lang="en-US" sz="1500" b="1" dirty="0">
                <a:solidFill>
                  <a:srgbClr val="2A7F72"/>
                </a:solidFill>
                <a:latin typeface="Calibri" pitchFamily="34" charset="0"/>
                <a:ea typeface="Calibri" pitchFamily="34" charset="-122"/>
                <a:cs typeface="Calibri" pitchFamily="34" charset="-120"/>
              </a:rPr>
              <a:t>Pseudo-labels</a:t>
            </a:r>
            <a:endParaRPr lang="en-US" sz="1500" dirty="0"/>
          </a:p>
        </p:txBody>
      </p:sp>
      <p:sp>
        <p:nvSpPr>
          <p:cNvPr id="25" name="Text 21"/>
          <p:cNvSpPr txBox="1"/>
          <p:nvPr/>
        </p:nvSpPr>
        <p:spPr>
          <a:xfrm>
            <a:off x="6702552" y="5413248"/>
            <a:ext cx="2148840" cy="777240"/>
          </a:xfrm>
          <a:prstGeom prst="rect">
            <a:avLst/>
          </a:prstGeom>
          <a:noFill/>
          <a:ln/>
        </p:spPr>
        <p:txBody>
          <a:bodyPr wrap="square" lIns="0" tIns="0" rIns="0" bIns="0" rtlCol="0" anchor="t"/>
          <a:lstStyle/>
          <a:p>
            <a:pPr indent="0" marL="0">
              <a:buNone/>
            </a:pPr>
            <a:r>
              <a:rPr lang="en-US" sz="1300" dirty="0">
                <a:solidFill>
                  <a:srgbClr val="1B2A24"/>
                </a:solidFill>
                <a:latin typeface="Calibri" pitchFamily="34" charset="0"/>
                <a:ea typeface="Calibri" pitchFamily="34" charset="-122"/>
                <a:cs typeface="Calibri" pitchFamily="34" charset="-120"/>
              </a:rPr>
              <a:t>le 13e : 0,881 → 0,934</a:t>
            </a:r>
            <a:endParaRPr lang="en-US" sz="1300" dirty="0"/>
          </a:p>
        </p:txBody>
      </p:sp>
      <p:sp>
        <p:nvSpPr>
          <p:cNvPr id="26" name="Shape 22"/>
          <p:cNvSpPr/>
          <p:nvPr/>
        </p:nvSpPr>
        <p:spPr>
          <a:xfrm>
            <a:off x="9153144" y="4892040"/>
            <a:ext cx="2487168" cy="1371600"/>
          </a:xfrm>
          <a:prstGeom prst="roundRect">
            <a:avLst>
              <a:gd name="adj" fmla="val 6667"/>
            </a:avLst>
          </a:prstGeom>
          <a:solidFill>
            <a:srgbClr val="E4EEE8"/>
          </a:solidFill>
          <a:ln w="12700">
            <a:solidFill>
              <a:srgbClr val="E4EEE8"/>
            </a:solidFill>
            <a:prstDash val="solid"/>
          </a:ln>
        </p:spPr>
      </p:sp>
      <p:sp>
        <p:nvSpPr>
          <p:cNvPr id="27" name="Text 23"/>
          <p:cNvSpPr txBox="1"/>
          <p:nvPr/>
        </p:nvSpPr>
        <p:spPr>
          <a:xfrm>
            <a:off x="9336024" y="5029200"/>
            <a:ext cx="2148840" cy="365760"/>
          </a:xfrm>
          <a:prstGeom prst="rect">
            <a:avLst/>
          </a:prstGeom>
          <a:noFill/>
          <a:ln/>
        </p:spPr>
        <p:txBody>
          <a:bodyPr wrap="square" lIns="0" tIns="0" rIns="0" bIns="0" rtlCol="0" anchor="t"/>
          <a:lstStyle/>
          <a:p>
            <a:pPr indent="0" marL="0">
              <a:buNone/>
            </a:pPr>
            <a:r>
              <a:rPr lang="en-US" sz="1500" b="1" dirty="0">
                <a:solidFill>
                  <a:srgbClr val="2A7F72"/>
                </a:solidFill>
                <a:latin typeface="Calibri" pitchFamily="34" charset="0"/>
                <a:ea typeface="Calibri" pitchFamily="34" charset="-122"/>
                <a:cs typeface="Calibri" pitchFamily="34" charset="-120"/>
              </a:rPr>
              <a:t>Validation trompeuse</a:t>
            </a:r>
            <a:endParaRPr lang="en-US" sz="1500" dirty="0"/>
          </a:p>
        </p:txBody>
      </p:sp>
      <p:sp>
        <p:nvSpPr>
          <p:cNvPr id="28" name="Text 24"/>
          <p:cNvSpPr txBox="1"/>
          <p:nvPr/>
        </p:nvSpPr>
        <p:spPr>
          <a:xfrm>
            <a:off x="9336024" y="5413248"/>
            <a:ext cx="2148840" cy="777240"/>
          </a:xfrm>
          <a:prstGeom prst="rect">
            <a:avLst/>
          </a:prstGeom>
          <a:noFill/>
          <a:ln/>
        </p:spPr>
        <p:txBody>
          <a:bodyPr wrap="square" lIns="0" tIns="0" rIns="0" bIns="0" rtlCol="0" anchor="t"/>
          <a:lstStyle/>
          <a:p>
            <a:pPr indent="0" marL="0">
              <a:buNone/>
            </a:pPr>
            <a:r>
              <a:rPr lang="en-US" sz="1300" dirty="0">
                <a:solidFill>
                  <a:srgbClr val="1B2A24"/>
                </a:solidFill>
                <a:latin typeface="Calibri" pitchFamily="34" charset="0"/>
                <a:ea typeface="Calibri" pitchFamily="34" charset="-122"/>
                <a:cs typeface="Calibri" pitchFamily="34" charset="-120"/>
              </a:rPr>
              <a:t>au-dessus de 0,92, elle ne prédit plus le classement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737360"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737360"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BIRDCLEF+ 2026 · 2/2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Une équipe a fait notre prototype différentiel sur Perch v2</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48640" y="1600200"/>
            <a:ext cx="4846320" cy="4663440"/>
          </a:xfrm>
          <a:prstGeom prst="roundRect">
            <a:avLst>
              <a:gd name="adj" fmla="val 1961"/>
            </a:avLst>
          </a:prstGeom>
          <a:solidFill>
            <a:srgbClr val="0E2A24"/>
          </a:solidFill>
          <a:ln w="12700">
            <a:solidFill>
              <a:srgbClr val="0E2A24"/>
            </a:solidFill>
            <a:prstDash val="solid"/>
          </a:ln>
        </p:spPr>
      </p:sp>
      <p:sp>
        <p:nvSpPr>
          <p:cNvPr id="8" name="Text 5"/>
          <p:cNvSpPr txBox="1"/>
          <p:nvPr/>
        </p:nvSpPr>
        <p:spPr>
          <a:xfrm>
            <a:off x="822960" y="1783080"/>
            <a:ext cx="4297680" cy="274320"/>
          </a:xfrm>
          <a:prstGeom prst="rect">
            <a:avLst/>
          </a:prstGeom>
          <a:noFill/>
          <a:ln/>
        </p:spPr>
        <p:txBody>
          <a:bodyPr wrap="square" lIns="0" tIns="0" rIns="0" bIns="0" rtlCol="0" anchor="t"/>
          <a:lstStyle/>
          <a:p>
            <a:pPr indent="0" marL="0">
              <a:buNone/>
            </a:pPr>
            <a:r>
              <a:rPr lang="en-US" sz="1100" b="1" spc="100" kern="0" dirty="0">
                <a:solidFill>
                  <a:srgbClr val="E9B44C"/>
                </a:solidFill>
                <a:latin typeface="Calibri" pitchFamily="34" charset="0"/>
                <a:ea typeface="Calibri" pitchFamily="34" charset="-122"/>
                <a:cs typeface="Calibri" pitchFamily="34" charset="-120"/>
              </a:rPr>
              <a:t>LEUR TÊTE À PROTOTYPES</a:t>
            </a:r>
            <a:endParaRPr lang="en-US" sz="1100" dirty="0"/>
          </a:p>
        </p:txBody>
      </p:sp>
      <p:sp>
        <p:nvSpPr>
          <p:cNvPr id="9" name="Text 6"/>
          <p:cNvSpPr txBox="1"/>
          <p:nvPr/>
        </p:nvSpPr>
        <p:spPr>
          <a:xfrm>
            <a:off x="822960" y="2148840"/>
            <a:ext cx="4389120" cy="50292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score = cos(e, μ₊) − cos(e, μ₋)</a:t>
            </a:r>
            <a:endParaRPr lang="en-US" sz="2100" dirty="0"/>
          </a:p>
        </p:txBody>
      </p:sp>
      <p:sp>
        <p:nvSpPr>
          <p:cNvPr id="10" name="Text 7"/>
          <p:cNvSpPr txBox="1"/>
          <p:nvPr/>
        </p:nvSpPr>
        <p:spPr>
          <a:xfrm>
            <a:off x="822960" y="2926080"/>
            <a:ext cx="4297680" cy="2560320"/>
          </a:xfrm>
          <a:prstGeom prst="rect">
            <a:avLst/>
          </a:prstGeom>
          <a:noFill/>
          <a:ln/>
        </p:spPr>
        <p:txBody>
          <a:bodyPr wrap="square" lIns="0" tIns="0" rIns="0" bIns="0" rtlCol="0" anchor="t"/>
          <a:lstStyle/>
          <a:p>
            <a:pPr marL="177800" indent="-1778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e : embedding Perch v2 gelé de la fenêtre</a:t>
            </a:r>
            <a:endParaRPr lang="en-US" sz="1600" dirty="0"/>
          </a:p>
          <a:p>
            <a:pPr marL="177800" indent="-177800">
              <a:spcAft>
                <a:spcPts val="1400"/>
              </a:spcAft>
              <a:buSzPct val="100000"/>
              <a:buChar char="•"/>
            </a:pPr>
            <a:r>
              <a:rPr lang="en-US" sz="1600" dirty="0">
                <a:solidFill>
                  <a:srgbClr val="FFFFFF"/>
                </a:solidFill>
                <a:latin typeface="Calibri" pitchFamily="34" charset="0"/>
                <a:ea typeface="Calibri" pitchFamily="34" charset="-122"/>
                <a:cs typeface="Calibri" pitchFamily="34" charset="-120"/>
              </a:rPr>
              <a:t>μ₊ : moyenne des fenêtres où l'espèce chante ; μ₋ : où elle ne chante pas</a:t>
            </a:r>
            <a:endParaRPr lang="en-US" sz="1600" dirty="0"/>
          </a:p>
          <a:p>
            <a:pPr marL="177800" indent="-177800">
              <a:spcAft>
                <a:spcPts val="1400"/>
              </a:spcAft>
              <a:buSzPct val="100000"/>
              <a:buChar char="•"/>
            </a:pPr>
            <a:r>
              <a:rPr lang="en-US" sz="1600" b="1" dirty="0">
                <a:solidFill>
                  <a:srgbClr val="E9B44C"/>
                </a:solidFill>
                <a:latin typeface="Calibri" pitchFamily="34" charset="0"/>
                <a:ea typeface="Calibri" pitchFamily="34" charset="-122"/>
                <a:cs typeface="Calibri" pitchFamily="34" charset="-120"/>
              </a:rPr>
              <a:t>= notre prototype différentiel, en cosinus</a:t>
            </a:r>
            <a:endParaRPr lang="en-US" sz="1600" dirty="0"/>
          </a:p>
        </p:txBody>
      </p:sp>
      <p:sp>
        <p:nvSpPr>
          <p:cNvPr id="11" name="Text 8"/>
          <p:cNvSpPr txBox="1"/>
          <p:nvPr/>
        </p:nvSpPr>
        <p:spPr>
          <a:xfrm>
            <a:off x="822960" y="5760720"/>
            <a:ext cx="4297680" cy="365760"/>
          </a:xfrm>
          <a:prstGeom prst="rect">
            <a:avLst/>
          </a:prstGeom>
          <a:noFill/>
          <a:ln/>
        </p:spPr>
        <p:txBody>
          <a:bodyPr wrap="square" lIns="0" tIns="0" rIns="0" bIns="0" rtlCol="0" anchor="t"/>
          <a:lstStyle/>
          <a:p>
            <a:pPr indent="0" marL="0">
              <a:buNone/>
            </a:pPr>
            <a:r>
              <a:rPr lang="en-US" sz="1100" i="1" dirty="0">
                <a:solidFill>
                  <a:srgbClr val="A7BFB2"/>
                </a:solidFill>
                <a:latin typeface="Calibri" pitchFamily="34" charset="0"/>
                <a:ea typeface="Calibri" pitchFamily="34" charset="-122"/>
                <a:cs typeface="Calibri" pitchFamily="34" charset="-120"/>
              </a:rPr>
              <a:t>Miyaguchi, Gustineli, Cheung (Georgia Tech) · arXiv 2607.14474</a:t>
            </a:r>
            <a:endParaRPr lang="en-US" sz="1100" dirty="0"/>
          </a:p>
        </p:txBody>
      </p:sp>
      <p:sp>
        <p:nvSpPr>
          <p:cNvPr id="12" name="Shape 9"/>
          <p:cNvSpPr/>
          <p:nvPr/>
        </p:nvSpPr>
        <p:spPr>
          <a:xfrm>
            <a:off x="5669280" y="1600200"/>
            <a:ext cx="2880360" cy="1600200"/>
          </a:xfrm>
          <a:prstGeom prst="roundRect">
            <a:avLst>
              <a:gd name="adj" fmla="val 5714"/>
            </a:avLst>
          </a:prstGeom>
          <a:solidFill>
            <a:srgbClr val="F3F7F4"/>
          </a:solidFill>
          <a:ln w="12700">
            <a:solidFill>
              <a:srgbClr val="F3F7F4"/>
            </a:solidFill>
            <a:prstDash val="solid"/>
          </a:ln>
        </p:spPr>
      </p:sp>
      <p:sp>
        <p:nvSpPr>
          <p:cNvPr id="13" name="Text 10"/>
          <p:cNvSpPr txBox="1"/>
          <p:nvPr/>
        </p:nvSpPr>
        <p:spPr>
          <a:xfrm>
            <a:off x="5852160" y="1719072"/>
            <a:ext cx="2560320" cy="548640"/>
          </a:xfrm>
          <a:prstGeom prst="rect">
            <a:avLst/>
          </a:prstGeom>
          <a:noFill/>
          <a:ln/>
        </p:spPr>
        <p:txBody>
          <a:bodyPr wrap="square" lIns="0" tIns="0" rIns="0" bIns="0" rtlCol="0" anchor="t"/>
          <a:lstStyle/>
          <a:p>
            <a:pPr indent="0" marL="0">
              <a:buNone/>
            </a:pPr>
            <a:r>
              <a:rPr lang="en-US" sz="2600" b="1" dirty="0">
                <a:solidFill>
                  <a:srgbClr val="8A5A00"/>
                </a:solidFill>
                <a:latin typeface="Calibri" pitchFamily="34" charset="0"/>
                <a:ea typeface="Calibri" pitchFamily="34" charset="-122"/>
                <a:cs typeface="Calibri" pitchFamily="34" charset="-120"/>
              </a:rPr>
              <a:t>1,3 % → 76,6 %</a:t>
            </a:r>
            <a:endParaRPr lang="en-US" sz="2600" dirty="0"/>
          </a:p>
        </p:txBody>
      </p:sp>
      <p:sp>
        <p:nvSpPr>
          <p:cNvPr id="14" name="Text 11"/>
          <p:cNvSpPr txBox="1"/>
          <p:nvPr/>
        </p:nvSpPr>
        <p:spPr>
          <a:xfrm>
            <a:off x="5852160" y="2304288"/>
            <a:ext cx="2560320" cy="8229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part des amphibiens : enregistrements focaux → paysages sonores étiquetés</a:t>
            </a:r>
            <a:endParaRPr lang="en-US" sz="1250" dirty="0"/>
          </a:p>
        </p:txBody>
      </p:sp>
      <p:sp>
        <p:nvSpPr>
          <p:cNvPr id="15" name="Shape 12"/>
          <p:cNvSpPr/>
          <p:nvPr/>
        </p:nvSpPr>
        <p:spPr>
          <a:xfrm>
            <a:off x="8686800" y="1600200"/>
            <a:ext cx="2880360" cy="1600200"/>
          </a:xfrm>
          <a:prstGeom prst="roundRect">
            <a:avLst>
              <a:gd name="adj" fmla="val 5714"/>
            </a:avLst>
          </a:prstGeom>
          <a:solidFill>
            <a:srgbClr val="F3F7F4"/>
          </a:solidFill>
          <a:ln w="12700">
            <a:solidFill>
              <a:srgbClr val="F3F7F4"/>
            </a:solidFill>
            <a:prstDash val="solid"/>
          </a:ln>
        </p:spPr>
      </p:sp>
      <p:sp>
        <p:nvSpPr>
          <p:cNvPr id="16" name="Text 13"/>
          <p:cNvSpPr txBox="1"/>
          <p:nvPr/>
        </p:nvSpPr>
        <p:spPr>
          <a:xfrm>
            <a:off x="8869680" y="1719072"/>
            <a:ext cx="2560320" cy="548640"/>
          </a:xfrm>
          <a:prstGeom prst="rect">
            <a:avLst/>
          </a:prstGeom>
          <a:noFill/>
          <a:ln/>
        </p:spPr>
        <p:txBody>
          <a:bodyPr wrap="square" lIns="0" tIns="0" rIns="0" bIns="0" rtlCol="0" anchor="t"/>
          <a:lstStyle/>
          <a:p>
            <a:pPr indent="0" marL="0">
              <a:buNone/>
            </a:pPr>
            <a:r>
              <a:rPr lang="en-US" sz="2600" b="1" dirty="0">
                <a:solidFill>
                  <a:srgbClr val="8A5A00"/>
                </a:solidFill>
                <a:latin typeface="Calibri" pitchFamily="34" charset="0"/>
                <a:ea typeface="Calibri" pitchFamily="34" charset="-122"/>
                <a:cs typeface="Calibri" pitchFamily="34" charset="-120"/>
              </a:rPr>
              <a:t>0,895 vs 0,074</a:t>
            </a:r>
            <a:endParaRPr lang="en-US" sz="2600" dirty="0"/>
          </a:p>
        </p:txBody>
      </p:sp>
      <p:sp>
        <p:nvSpPr>
          <p:cNvPr id="17" name="Text 14"/>
          <p:cNvSpPr txBox="1"/>
          <p:nvPr/>
        </p:nvSpPr>
        <p:spPr>
          <a:xfrm>
            <a:off x="8869680" y="2304288"/>
            <a:ext cx="2560320" cy="8229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AP macro des non-oiseaux : prototypes vs leur réseau SED seul</a:t>
            </a:r>
            <a:endParaRPr lang="en-US" sz="1250" dirty="0"/>
          </a:p>
        </p:txBody>
      </p:sp>
      <p:sp>
        <p:nvSpPr>
          <p:cNvPr id="18" name="Shape 15"/>
          <p:cNvSpPr/>
          <p:nvPr/>
        </p:nvSpPr>
        <p:spPr>
          <a:xfrm>
            <a:off x="5669280" y="3383280"/>
            <a:ext cx="5897880" cy="1417320"/>
          </a:xfrm>
          <a:prstGeom prst="roundRect">
            <a:avLst>
              <a:gd name="adj" fmla="val 6452"/>
            </a:avLst>
          </a:prstGeom>
          <a:solidFill>
            <a:srgbClr val="FFFFFF"/>
          </a:solidFill>
          <a:ln w="12700">
            <a:solidFill>
              <a:srgbClr val="CFDDD5"/>
            </a:solidFill>
            <a:prstDash val="solid"/>
          </a:ln>
        </p:spPr>
      </p:sp>
      <p:sp>
        <p:nvSpPr>
          <p:cNvPr id="19" name="Text 16"/>
          <p:cNvSpPr txBox="1"/>
          <p:nvPr/>
        </p:nvSpPr>
        <p:spPr>
          <a:xfrm>
            <a:off x="5852160" y="3474720"/>
            <a:ext cx="5486400" cy="274320"/>
          </a:xfrm>
          <a:prstGeom prst="rect">
            <a:avLst/>
          </a:prstGeom>
          <a:noFill/>
          <a:ln/>
        </p:spPr>
        <p:txBody>
          <a:bodyPr wrap="square" lIns="0" tIns="0" rIns="0" bIns="0" rtlCol="0" anchor="t"/>
          <a:lstStyle/>
          <a:p>
            <a:pPr indent="0" marL="0">
              <a:buNone/>
            </a:pPr>
            <a:r>
              <a:rPr lang="en-US" sz="1100" b="1" spc="100" kern="0" dirty="0">
                <a:solidFill>
                  <a:srgbClr val="C8553D"/>
                </a:solidFill>
                <a:latin typeface="Calibri" pitchFamily="34" charset="0"/>
                <a:ea typeface="Calibri" pitchFamily="34" charset="-122"/>
                <a:cs typeface="Calibri" pitchFamily="34" charset="-120"/>
              </a:rPr>
              <a:t>RÉSERVES</a:t>
            </a:r>
            <a:endParaRPr lang="en-US" sz="1100" dirty="0"/>
          </a:p>
        </p:txBody>
      </p:sp>
      <p:sp>
        <p:nvSpPr>
          <p:cNvPr id="20" name="Text 17"/>
          <p:cNvSpPr txBox="1"/>
          <p:nvPr/>
        </p:nvSpPr>
        <p:spPr>
          <a:xfrm>
            <a:off x="5852160" y="3794760"/>
            <a:ext cx="5577840" cy="9601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B2A24"/>
                </a:solidFill>
                <a:latin typeface="Calibri" pitchFamily="34" charset="0"/>
                <a:ea typeface="Calibri" pitchFamily="34" charset="-122"/>
                <a:cs typeface="Calibri" pitchFamily="34" charset="-120"/>
              </a:rPr>
              <a:t>AP mesurée sur les fichiers qui construisent les prototypes : optimiste</a:t>
            </a:r>
            <a:endParaRPr lang="en-US" sz="1300" dirty="0"/>
          </a:p>
          <a:p>
            <a:pPr marL="177800" indent="-177800">
              <a:spcAft>
                <a:spcPts val="500"/>
              </a:spcAft>
              <a:buSzPct val="100000"/>
              <a:buChar char="•"/>
            </a:pPr>
            <a:r>
              <a:rPr lang="en-US" sz="1300" dirty="0">
                <a:solidFill>
                  <a:srgbClr val="1B2A24"/>
                </a:solidFill>
                <a:latin typeface="Calibri" pitchFamily="34" charset="0"/>
                <a:ea typeface="Calibri" pitchFamily="34" charset="-122"/>
                <a:cs typeface="Calibri" pitchFamily="34" charset="-120"/>
              </a:rPr>
              <a:t>Site tenu à l'écart, espèce sans exemple d'entraînement : prototypes et ridge au hasard</a:t>
            </a:r>
            <a:endParaRPr lang="en-US" sz="1300" dirty="0"/>
          </a:p>
        </p:txBody>
      </p:sp>
      <p:sp>
        <p:nvSpPr>
          <p:cNvPr id="21" name="Shape 18"/>
          <p:cNvSpPr/>
          <p:nvPr/>
        </p:nvSpPr>
        <p:spPr>
          <a:xfrm>
            <a:off x="5669280" y="4983480"/>
            <a:ext cx="5897880" cy="1280160"/>
          </a:xfrm>
          <a:prstGeom prst="roundRect">
            <a:avLst>
              <a:gd name="adj" fmla="val 7143"/>
            </a:avLst>
          </a:prstGeom>
          <a:solidFill>
            <a:srgbClr val="E4EEE8"/>
          </a:solidFill>
          <a:ln w="12700">
            <a:solidFill>
              <a:srgbClr val="E4EEE8"/>
            </a:solidFill>
            <a:prstDash val="solid"/>
          </a:ln>
        </p:spPr>
      </p:sp>
      <p:sp>
        <p:nvSpPr>
          <p:cNvPr id="22" name="Text 19"/>
          <p:cNvSpPr txBox="1"/>
          <p:nvPr/>
        </p:nvSpPr>
        <p:spPr>
          <a:xfrm>
            <a:off x="5852160" y="4983480"/>
            <a:ext cx="5577840" cy="1280160"/>
          </a:xfrm>
          <a:prstGeom prst="rect">
            <a:avLst/>
          </a:prstGeom>
          <a:noFill/>
          <a:ln/>
        </p:spPr>
        <p:txBody>
          <a:bodyPr wrap="square" lIns="0" tIns="0" rIns="0" bIns="0" rtlCol="0" anchor="ctr"/>
          <a:lstStyle/>
          <a:p>
            <a:pPr indent="0" marL="0">
              <a:buNone/>
            </a:pPr>
            <a:r>
              <a:rPr lang="en-US" sz="1400" b="1" dirty="0">
                <a:solidFill>
                  <a:srgbClr val="2A7F72"/>
                </a:solidFill>
                <a:latin typeface="Calibri" pitchFamily="34" charset="0"/>
                <a:ea typeface="Calibri" pitchFamily="34" charset="-122"/>
                <a:cs typeface="Calibri" pitchFamily="34" charset="-120"/>
              </a:rPr>
              <a:t>Pour nous : </a:t>
            </a:r>
            <a:pPr indent="0" marL="0">
              <a:buNone/>
            </a:pPr>
            <a:r>
              <a:rPr lang="en-US" sz="1400" dirty="0">
                <a:solidFill>
                  <a:srgbClr val="1B2A24"/>
                </a:solidFill>
                <a:latin typeface="Calibri" pitchFamily="34" charset="0"/>
                <a:ea typeface="Calibri" pitchFamily="34" charset="-122"/>
                <a:cs typeface="Calibri" pitchFamily="34" charset="-120"/>
              </a:rPr>
              <a:t>prototype différentiel pour amorcer un nouveau site, logistique régularisée dès qu'il y a des exemples. Perch v2 porte de l'information sur les anoures.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649224"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649224"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GITHUB</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dépôt s'ouvre aux tuteurs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600200"/>
            <a:ext cx="5120640" cy="4663440"/>
          </a:xfrm>
          <a:prstGeom prst="roundRect">
            <a:avLst>
              <a:gd name="adj" fmla="val 1961"/>
            </a:avLst>
          </a:prstGeom>
          <a:solidFill>
            <a:srgbClr val="0E2A24"/>
          </a:solidFill>
          <a:ln w="12700">
            <a:solidFill>
              <a:srgbClr val="0E2A24"/>
            </a:solidFill>
            <a:prstDash val="solid"/>
          </a:ln>
        </p:spPr>
      </p:sp>
      <p:sp>
        <p:nvSpPr>
          <p:cNvPr id="8" name="Text 5"/>
          <p:cNvSpPr txBox="1"/>
          <p:nvPr/>
        </p:nvSpPr>
        <p:spPr>
          <a:xfrm>
            <a:off x="822960" y="1810512"/>
            <a:ext cx="2926080" cy="329184"/>
          </a:xfrm>
          <a:prstGeom prst="rect">
            <a:avLst/>
          </a:prstGeom>
          <a:noFill/>
          <a:ln/>
        </p:spPr>
        <p:txBody>
          <a:bodyPr wrap="square" lIns="0" tIns="0" rIns="0" bIns="0" rtlCol="0" anchor="t"/>
          <a:lstStyle/>
          <a:p>
            <a:pPr indent="0" marL="0">
              <a:buNone/>
            </a:pPr>
            <a:r>
              <a:rPr lang="en-US" sz="1250" b="1" dirty="0">
                <a:solidFill>
                  <a:srgbClr val="E9B44C"/>
                </a:solidFill>
                <a:latin typeface="Courier New" pitchFamily="34" charset="0"/>
                <a:ea typeface="Courier New" pitchFamily="34" charset="-122"/>
                <a:cs typeface="Courier New" pitchFamily="34" charset="-120"/>
              </a:rPr>
              <a:t>grenouille/</a:t>
            </a:r>
            <a:endParaRPr lang="en-US" sz="1250" dirty="0"/>
          </a:p>
        </p:txBody>
      </p:sp>
      <p:sp>
        <p:nvSpPr>
          <p:cNvPr id="9" name="Text 6"/>
          <p:cNvSpPr txBox="1"/>
          <p:nvPr/>
        </p:nvSpPr>
        <p:spPr>
          <a:xfrm>
            <a:off x="822960" y="2194560"/>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README.md</a:t>
            </a:r>
            <a:endParaRPr lang="en-US" sz="1250" dirty="0"/>
          </a:p>
        </p:txBody>
      </p:sp>
      <p:sp>
        <p:nvSpPr>
          <p:cNvPr id="10" name="Text 7"/>
          <p:cNvSpPr txBox="1"/>
          <p:nvPr/>
        </p:nvSpPr>
        <p:spPr>
          <a:xfrm>
            <a:off x="3749040" y="2194560"/>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installer, lancer</a:t>
            </a:r>
            <a:endParaRPr lang="en-US" sz="1150" dirty="0"/>
          </a:p>
        </p:txBody>
      </p:sp>
      <p:sp>
        <p:nvSpPr>
          <p:cNvPr id="11" name="Text 8"/>
          <p:cNvSpPr txBox="1"/>
          <p:nvPr/>
        </p:nvSpPr>
        <p:spPr>
          <a:xfrm>
            <a:off x="822960" y="2578608"/>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DECISIONS.md</a:t>
            </a:r>
            <a:endParaRPr lang="en-US" sz="1250" dirty="0"/>
          </a:p>
        </p:txBody>
      </p:sp>
      <p:sp>
        <p:nvSpPr>
          <p:cNvPr id="12" name="Text 9"/>
          <p:cNvSpPr txBox="1"/>
          <p:nvPr/>
        </p:nvSpPr>
        <p:spPr>
          <a:xfrm>
            <a:off x="3749040" y="2578608"/>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160 choix datés</a:t>
            </a:r>
            <a:endParaRPr lang="en-US" sz="1150" dirty="0"/>
          </a:p>
        </p:txBody>
      </p:sp>
      <p:sp>
        <p:nvSpPr>
          <p:cNvPr id="13" name="Text 10"/>
          <p:cNvSpPr txBox="1"/>
          <p:nvPr/>
        </p:nvSpPr>
        <p:spPr>
          <a:xfrm>
            <a:off x="822960" y="2962656"/>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blanci/</a:t>
            </a:r>
            <a:endParaRPr lang="en-US" sz="1250" dirty="0"/>
          </a:p>
        </p:txBody>
      </p:sp>
      <p:sp>
        <p:nvSpPr>
          <p:cNvPr id="14" name="Text 11"/>
          <p:cNvSpPr txBox="1"/>
          <p:nvPr/>
        </p:nvSpPr>
        <p:spPr>
          <a:xfrm>
            <a:off x="3749040" y="2962656"/>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le code</a:t>
            </a:r>
            <a:endParaRPr lang="en-US" sz="1150" dirty="0"/>
          </a:p>
        </p:txBody>
      </p:sp>
      <p:sp>
        <p:nvSpPr>
          <p:cNvPr id="15" name="Text 12"/>
          <p:cNvSpPr txBox="1"/>
          <p:nvPr/>
        </p:nvSpPr>
        <p:spPr>
          <a:xfrm>
            <a:off x="822960" y="3346704"/>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tests/</a:t>
            </a:r>
            <a:endParaRPr lang="en-US" sz="1250" dirty="0"/>
          </a:p>
        </p:txBody>
      </p:sp>
      <p:sp>
        <p:nvSpPr>
          <p:cNvPr id="16" name="Text 13"/>
          <p:cNvSpPr txBox="1"/>
          <p:nvPr/>
        </p:nvSpPr>
        <p:spPr>
          <a:xfrm>
            <a:off x="3749040" y="3346704"/>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tests automatiques</a:t>
            </a:r>
            <a:endParaRPr lang="en-US" sz="1150" dirty="0"/>
          </a:p>
        </p:txBody>
      </p:sp>
      <p:sp>
        <p:nvSpPr>
          <p:cNvPr id="17" name="Text 14"/>
          <p:cNvSpPr txBox="1"/>
          <p:nvPr/>
        </p:nvSpPr>
        <p:spPr>
          <a:xfrm>
            <a:off x="822960" y="3730752"/>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notebooks/</a:t>
            </a:r>
            <a:endParaRPr lang="en-US" sz="1250" dirty="0"/>
          </a:p>
        </p:txBody>
      </p:sp>
      <p:sp>
        <p:nvSpPr>
          <p:cNvPr id="18" name="Text 15"/>
          <p:cNvSpPr txBox="1"/>
          <p:nvPr/>
        </p:nvSpPr>
        <p:spPr>
          <a:xfrm>
            <a:off x="3749040" y="3730752"/>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3 carnets</a:t>
            </a:r>
            <a:endParaRPr lang="en-US" sz="1150" dirty="0"/>
          </a:p>
        </p:txBody>
      </p:sp>
      <p:sp>
        <p:nvSpPr>
          <p:cNvPr id="19" name="Text 16"/>
          <p:cNvSpPr txBox="1"/>
          <p:nvPr/>
        </p:nvSpPr>
        <p:spPr>
          <a:xfrm>
            <a:off x="822960" y="4114800"/>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echantillon/</a:t>
            </a:r>
            <a:endParaRPr lang="en-US" sz="1250" dirty="0"/>
          </a:p>
        </p:txBody>
      </p:sp>
      <p:sp>
        <p:nvSpPr>
          <p:cNvPr id="20" name="Text 17"/>
          <p:cNvSpPr txBox="1"/>
          <p:nvPr/>
        </p:nvSpPr>
        <p:spPr>
          <a:xfrm>
            <a:off x="3749040" y="4114800"/>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66 clips de 10 s</a:t>
            </a:r>
            <a:endParaRPr lang="en-US" sz="1150" dirty="0"/>
          </a:p>
        </p:txBody>
      </p:sp>
      <p:sp>
        <p:nvSpPr>
          <p:cNvPr id="21" name="Text 18"/>
          <p:cNvSpPr txBox="1"/>
          <p:nvPr/>
        </p:nvSpPr>
        <p:spPr>
          <a:xfrm>
            <a:off x="822960" y="4498848"/>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biblio/</a:t>
            </a:r>
            <a:endParaRPr lang="en-US" sz="1250" dirty="0"/>
          </a:p>
        </p:txBody>
      </p:sp>
      <p:sp>
        <p:nvSpPr>
          <p:cNvPr id="22" name="Text 19"/>
          <p:cNvSpPr txBox="1"/>
          <p:nvPr/>
        </p:nvSpPr>
        <p:spPr>
          <a:xfrm>
            <a:off x="3749040" y="4498848"/>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bibliographie</a:t>
            </a:r>
            <a:endParaRPr lang="en-US" sz="1150" dirty="0"/>
          </a:p>
        </p:txBody>
      </p:sp>
      <p:sp>
        <p:nvSpPr>
          <p:cNvPr id="23" name="Text 20"/>
          <p:cNvSpPr txBox="1"/>
          <p:nvPr/>
        </p:nvSpPr>
        <p:spPr>
          <a:xfrm>
            <a:off x="822960" y="4882896"/>
            <a:ext cx="2926080" cy="329184"/>
          </a:xfrm>
          <a:prstGeom prst="rect">
            <a:avLst/>
          </a:prstGeom>
          <a:noFill/>
          <a:ln/>
        </p:spPr>
        <p:txBody>
          <a:bodyPr wrap="square" lIns="0" tIns="0" rIns="0" bIns="0" rtlCol="0" anchor="t"/>
          <a:lstStyle/>
          <a:p>
            <a:pPr indent="0" marL="0">
              <a:buNone/>
            </a:pPr>
            <a:r>
              <a:rPr lang="en-US" sz="1250" dirty="0">
                <a:solidFill>
                  <a:srgbClr val="FFFFFF"/>
                </a:solidFill>
                <a:latin typeface="Courier New" pitchFamily="34" charset="0"/>
                <a:ea typeface="Courier New" pitchFamily="34" charset="-122"/>
                <a:cs typeface="Courier New" pitchFamily="34" charset="-120"/>
              </a:rPr>
              <a:t>└─ documentation/</a:t>
            </a:r>
            <a:endParaRPr lang="en-US" sz="1250" dirty="0"/>
          </a:p>
        </p:txBody>
      </p:sp>
      <p:sp>
        <p:nvSpPr>
          <p:cNvPr id="24" name="Text 21"/>
          <p:cNvSpPr txBox="1"/>
          <p:nvPr/>
        </p:nvSpPr>
        <p:spPr>
          <a:xfrm>
            <a:off x="822960" y="5266944"/>
            <a:ext cx="2926080" cy="329184"/>
          </a:xfrm>
          <a:prstGeom prst="rect">
            <a:avLst/>
          </a:prstGeom>
          <a:noFill/>
          <a:ln/>
        </p:spPr>
        <p:txBody>
          <a:bodyPr wrap="square" lIns="0" tIns="0" rIns="0" bIns="0" rtlCol="0" anchor="t"/>
          <a:lstStyle/>
          <a:p>
            <a:pPr indent="0" marL="0">
              <a:buNone/>
            </a:pPr>
            <a:r>
              <a:rPr lang="en-US" sz="1250" dirty="0">
                <a:solidFill>
                  <a:srgbClr val="A7BFB2"/>
                </a:solidFill>
                <a:latin typeface="Courier New" pitchFamily="34" charset="0"/>
                <a:ea typeface="Courier New" pitchFamily="34" charset="-122"/>
                <a:cs typeface="Courier New" pitchFamily="34" charset="-120"/>
              </a:rPr>
              <a:t>   ├─ feuille-de-route-V5.md</a:t>
            </a:r>
            <a:endParaRPr lang="en-US" sz="1250" dirty="0"/>
          </a:p>
        </p:txBody>
      </p:sp>
      <p:sp>
        <p:nvSpPr>
          <p:cNvPr id="25" name="Text 22"/>
          <p:cNvSpPr txBox="1"/>
          <p:nvPr/>
        </p:nvSpPr>
        <p:spPr>
          <a:xfrm>
            <a:off x="822960" y="5650992"/>
            <a:ext cx="2926080" cy="329184"/>
          </a:xfrm>
          <a:prstGeom prst="rect">
            <a:avLst/>
          </a:prstGeom>
          <a:noFill/>
          <a:ln/>
        </p:spPr>
        <p:txBody>
          <a:bodyPr wrap="square" lIns="0" tIns="0" rIns="0" bIns="0" rtlCol="0" anchor="t"/>
          <a:lstStyle/>
          <a:p>
            <a:pPr indent="0" marL="0">
              <a:buNone/>
            </a:pPr>
            <a:r>
              <a:rPr lang="en-US" sz="1250" dirty="0">
                <a:solidFill>
                  <a:srgbClr val="A7BFB2"/>
                </a:solidFill>
                <a:latin typeface="Courier New" pitchFamily="34" charset="0"/>
                <a:ea typeface="Courier New" pitchFamily="34" charset="-122"/>
                <a:cs typeface="Courier New" pitchFamily="34" charset="-120"/>
              </a:rPr>
              <a:t>   └─ benchmarks/</a:t>
            </a:r>
            <a:endParaRPr lang="en-US" sz="1250" dirty="0"/>
          </a:p>
        </p:txBody>
      </p:sp>
      <p:sp>
        <p:nvSpPr>
          <p:cNvPr id="26" name="Text 23"/>
          <p:cNvSpPr txBox="1"/>
          <p:nvPr/>
        </p:nvSpPr>
        <p:spPr>
          <a:xfrm>
            <a:off x="3749040" y="5650992"/>
            <a:ext cx="1828800" cy="329184"/>
          </a:xfrm>
          <a:prstGeom prst="rect">
            <a:avLst/>
          </a:prstGeom>
          <a:noFill/>
          <a:ln/>
        </p:spPr>
        <p:txBody>
          <a:bodyPr wrap="square" lIns="0" tIns="0" rIns="0" bIns="0" rtlCol="0" anchor="t"/>
          <a:lstStyle/>
          <a:p>
            <a:pPr indent="0" marL="0">
              <a:buNone/>
            </a:pPr>
            <a:r>
              <a:rPr lang="en-US" sz="1150" i="1" dirty="0">
                <a:solidFill>
                  <a:srgbClr val="A7BFB2"/>
                </a:solidFill>
                <a:latin typeface="Calibri" pitchFamily="34" charset="0"/>
                <a:ea typeface="Calibri" pitchFamily="34" charset="-122"/>
                <a:cs typeface="Calibri" pitchFamily="34" charset="-120"/>
              </a:rPr>
              <a:t>rapports + données</a:t>
            </a:r>
            <a:endParaRPr lang="en-US" sz="1150" dirty="0"/>
          </a:p>
        </p:txBody>
      </p:sp>
      <p:sp>
        <p:nvSpPr>
          <p:cNvPr id="27" name="Shape 24"/>
          <p:cNvSpPr/>
          <p:nvPr/>
        </p:nvSpPr>
        <p:spPr>
          <a:xfrm>
            <a:off x="5943600" y="1600200"/>
            <a:ext cx="5669280" cy="1024128"/>
          </a:xfrm>
          <a:prstGeom prst="roundRect">
            <a:avLst>
              <a:gd name="adj" fmla="val 8929"/>
            </a:avLst>
          </a:prstGeom>
          <a:solidFill>
            <a:srgbClr val="F3F7F4"/>
          </a:solidFill>
          <a:ln w="12700">
            <a:solidFill>
              <a:srgbClr val="F3F7F4"/>
            </a:solidFill>
            <a:prstDash val="solid"/>
          </a:ln>
        </p:spPr>
      </p:sp>
      <p:sp>
        <p:nvSpPr>
          <p:cNvPr id="28" name="Shape 25"/>
          <p:cNvSpPr/>
          <p:nvPr/>
        </p:nvSpPr>
        <p:spPr>
          <a:xfrm>
            <a:off x="6172200" y="1911096"/>
            <a:ext cx="402336" cy="402336"/>
          </a:xfrm>
          <a:prstGeom prst="ellipse">
            <a:avLst/>
          </a:prstGeom>
          <a:solidFill>
            <a:srgbClr val="2A7F72"/>
          </a:solidFill>
          <a:ln w="12700">
            <a:solidFill>
              <a:srgbClr val="2A7F72"/>
            </a:solidFill>
            <a:prstDash val="solid"/>
          </a:ln>
        </p:spPr>
      </p:sp>
      <p:sp>
        <p:nvSpPr>
          <p:cNvPr id="29" name="Text 26"/>
          <p:cNvSpPr txBox="1"/>
          <p:nvPr/>
        </p:nvSpPr>
        <p:spPr>
          <a:xfrm>
            <a:off x="617220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0" name="Text 27"/>
          <p:cNvSpPr txBox="1"/>
          <p:nvPr/>
        </p:nvSpPr>
        <p:spPr>
          <a:xfrm>
            <a:off x="6766560" y="1728216"/>
            <a:ext cx="4663440" cy="32004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Lire</a:t>
            </a:r>
            <a:endParaRPr lang="en-US" sz="1600" dirty="0"/>
          </a:p>
        </p:txBody>
      </p:sp>
      <p:sp>
        <p:nvSpPr>
          <p:cNvPr id="31" name="Text 28"/>
          <p:cNvSpPr txBox="1"/>
          <p:nvPr/>
        </p:nvSpPr>
        <p:spPr>
          <a:xfrm>
            <a:off x="6766560" y="2075688"/>
            <a:ext cx="4663440" cy="45720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chaque benchmark a son rapport : question, méthode, résultats, limites.</a:t>
            </a:r>
            <a:endParaRPr lang="en-US" sz="1300" dirty="0"/>
          </a:p>
        </p:txBody>
      </p:sp>
      <p:sp>
        <p:nvSpPr>
          <p:cNvPr id="32" name="Shape 29"/>
          <p:cNvSpPr/>
          <p:nvPr/>
        </p:nvSpPr>
        <p:spPr>
          <a:xfrm>
            <a:off x="5943600" y="2788920"/>
            <a:ext cx="5669280" cy="1024128"/>
          </a:xfrm>
          <a:prstGeom prst="roundRect">
            <a:avLst>
              <a:gd name="adj" fmla="val 8929"/>
            </a:avLst>
          </a:prstGeom>
          <a:solidFill>
            <a:srgbClr val="F3F7F4"/>
          </a:solidFill>
          <a:ln w="12700">
            <a:solidFill>
              <a:srgbClr val="F3F7F4"/>
            </a:solidFill>
            <a:prstDash val="solid"/>
          </a:ln>
        </p:spPr>
      </p:sp>
      <p:sp>
        <p:nvSpPr>
          <p:cNvPr id="33" name="Shape 30"/>
          <p:cNvSpPr/>
          <p:nvPr/>
        </p:nvSpPr>
        <p:spPr>
          <a:xfrm>
            <a:off x="6172200" y="3099816"/>
            <a:ext cx="402336" cy="402336"/>
          </a:xfrm>
          <a:prstGeom prst="ellipse">
            <a:avLst/>
          </a:prstGeom>
          <a:solidFill>
            <a:srgbClr val="2A7F72"/>
          </a:solidFill>
          <a:ln w="12700">
            <a:solidFill>
              <a:srgbClr val="2A7F72"/>
            </a:solidFill>
            <a:prstDash val="solid"/>
          </a:ln>
        </p:spPr>
      </p:sp>
      <p:sp>
        <p:nvSpPr>
          <p:cNvPr id="34" name="Text 31"/>
          <p:cNvSpPr txBox="1"/>
          <p:nvPr/>
        </p:nvSpPr>
        <p:spPr>
          <a:xfrm>
            <a:off x="6172200" y="3099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5" name="Text 32"/>
          <p:cNvSpPr txBox="1"/>
          <p:nvPr/>
        </p:nvSpPr>
        <p:spPr>
          <a:xfrm>
            <a:off x="6766560" y="2916936"/>
            <a:ext cx="4663440" cy="32004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Commenter</a:t>
            </a:r>
            <a:endParaRPr lang="en-US" sz="1600" dirty="0"/>
          </a:p>
        </p:txBody>
      </p:sp>
      <p:sp>
        <p:nvSpPr>
          <p:cNvPr id="36" name="Text 33"/>
          <p:cNvSpPr txBox="1"/>
          <p:nvPr/>
        </p:nvSpPr>
        <p:spPr>
          <a:xfrm>
            <a:off x="6766560" y="3264408"/>
            <a:ext cx="4663440" cy="45720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dans les pull requests ou les issues : une question laisse une trace.</a:t>
            </a:r>
            <a:endParaRPr lang="en-US" sz="1300" dirty="0"/>
          </a:p>
        </p:txBody>
      </p:sp>
      <p:sp>
        <p:nvSpPr>
          <p:cNvPr id="37" name="Shape 34"/>
          <p:cNvSpPr/>
          <p:nvPr/>
        </p:nvSpPr>
        <p:spPr>
          <a:xfrm>
            <a:off x="5943600" y="3977640"/>
            <a:ext cx="5669280" cy="1024128"/>
          </a:xfrm>
          <a:prstGeom prst="roundRect">
            <a:avLst>
              <a:gd name="adj" fmla="val 8929"/>
            </a:avLst>
          </a:prstGeom>
          <a:solidFill>
            <a:srgbClr val="F3F7F4"/>
          </a:solidFill>
          <a:ln w="12700">
            <a:solidFill>
              <a:srgbClr val="F3F7F4"/>
            </a:solidFill>
            <a:prstDash val="solid"/>
          </a:ln>
        </p:spPr>
      </p:sp>
      <p:sp>
        <p:nvSpPr>
          <p:cNvPr id="38" name="Shape 35"/>
          <p:cNvSpPr/>
          <p:nvPr/>
        </p:nvSpPr>
        <p:spPr>
          <a:xfrm>
            <a:off x="6172200" y="4288536"/>
            <a:ext cx="402336" cy="402336"/>
          </a:xfrm>
          <a:prstGeom prst="ellipse">
            <a:avLst/>
          </a:prstGeom>
          <a:solidFill>
            <a:srgbClr val="2A7F72"/>
          </a:solidFill>
          <a:ln w="12700">
            <a:solidFill>
              <a:srgbClr val="2A7F72"/>
            </a:solidFill>
            <a:prstDash val="solid"/>
          </a:ln>
        </p:spPr>
      </p:sp>
      <p:sp>
        <p:nvSpPr>
          <p:cNvPr id="39" name="Text 36"/>
          <p:cNvSpPr txBox="1"/>
          <p:nvPr/>
        </p:nvSpPr>
        <p:spPr>
          <a:xfrm>
            <a:off x="6172200" y="4288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0" name="Text 37"/>
          <p:cNvSpPr txBox="1"/>
          <p:nvPr/>
        </p:nvSpPr>
        <p:spPr>
          <a:xfrm>
            <a:off x="6766560" y="4105656"/>
            <a:ext cx="4663440" cy="320040"/>
          </a:xfrm>
          <a:prstGeom prst="rect">
            <a:avLst/>
          </a:prstGeom>
          <a:noFill/>
          <a:ln/>
        </p:spPr>
        <p:txBody>
          <a:bodyPr wrap="square" lIns="0" tIns="0" rIns="0" bIns="0" rtlCol="0" anchor="t"/>
          <a:lstStyle/>
          <a:p>
            <a:pPr indent="0" marL="0">
              <a:buNone/>
            </a:pPr>
            <a:r>
              <a:rPr lang="en-US" sz="1600" b="1" dirty="0">
                <a:solidFill>
                  <a:srgbClr val="1B2A24"/>
                </a:solidFill>
                <a:latin typeface="Calibri" pitchFamily="34" charset="0"/>
                <a:ea typeface="Calibri" pitchFamily="34" charset="-122"/>
                <a:cs typeface="Calibri" pitchFamily="34" charset="-120"/>
              </a:rPr>
              <a:t>Vérifier</a:t>
            </a:r>
            <a:endParaRPr lang="en-US" sz="1600" dirty="0"/>
          </a:p>
        </p:txBody>
      </p:sp>
      <p:sp>
        <p:nvSpPr>
          <p:cNvPr id="41" name="Text 38"/>
          <p:cNvSpPr txBox="1"/>
          <p:nvPr/>
        </p:nvSpPr>
        <p:spPr>
          <a:xfrm>
            <a:off x="6766560" y="4453128"/>
            <a:ext cx="4663440" cy="457200"/>
          </a:xfrm>
          <a:prstGeom prst="rect">
            <a:avLst/>
          </a:prstGeom>
          <a:noFill/>
          <a:ln/>
        </p:spPr>
        <p:txBody>
          <a:bodyPr wrap="square" lIns="0" tIns="0" rIns="0" bIns="0" rtlCol="0" anchor="t"/>
          <a:lstStyle/>
          <a:p>
            <a:pPr indent="0" marL="0">
              <a:buNone/>
            </a:pPr>
            <a:r>
              <a:rPr lang="en-US" sz="1300" dirty="0">
                <a:solidFill>
                  <a:srgbClr val="5B6B63"/>
                </a:solidFill>
                <a:latin typeface="Calibri" pitchFamily="34" charset="0"/>
                <a:ea typeface="Calibri" pitchFamily="34" charset="-122"/>
                <a:cs typeface="Calibri" pitchFamily="34" charset="-120"/>
              </a:rPr>
              <a:t>chaque chiffre de cette présentation renvoie à un fichier du dépôt.</a:t>
            </a:r>
            <a:endParaRPr lang="en-US" sz="1300" dirty="0"/>
          </a:p>
        </p:txBody>
      </p:sp>
      <p:sp>
        <p:nvSpPr>
          <p:cNvPr id="42" name="Shape 39"/>
          <p:cNvSpPr/>
          <p:nvPr/>
        </p:nvSpPr>
        <p:spPr>
          <a:xfrm>
            <a:off x="5943600" y="5212080"/>
            <a:ext cx="5669280" cy="1051560"/>
          </a:xfrm>
          <a:prstGeom prst="roundRect">
            <a:avLst>
              <a:gd name="adj" fmla="val 8696"/>
            </a:avLst>
          </a:prstGeom>
          <a:solidFill>
            <a:srgbClr val="E9B44C"/>
          </a:solidFill>
          <a:ln w="12700">
            <a:solidFill>
              <a:srgbClr val="E9B44C"/>
            </a:solidFill>
            <a:prstDash val="solid"/>
          </a:ln>
        </p:spPr>
      </p:sp>
      <p:sp>
        <p:nvSpPr>
          <p:cNvPr id="43" name="Text 40"/>
          <p:cNvSpPr txBox="1"/>
          <p:nvPr/>
        </p:nvSpPr>
        <p:spPr>
          <a:xfrm>
            <a:off x="6126480" y="5212080"/>
            <a:ext cx="5303520" cy="1051560"/>
          </a:xfrm>
          <a:prstGeom prst="rect">
            <a:avLst/>
          </a:prstGeom>
          <a:noFill/>
          <a:ln/>
        </p:spPr>
        <p:txBody>
          <a:bodyPr wrap="square" lIns="0" tIns="0" rIns="0" bIns="0" rtlCol="0" anchor="ctr"/>
          <a:lstStyle/>
          <a:p>
            <a:pPr indent="0" marL="0">
              <a:buNone/>
            </a:pPr>
            <a:r>
              <a:rPr lang="en-US" sz="1400" b="1" dirty="0">
                <a:solidFill>
                  <a:srgbClr val="0E2A24"/>
                </a:solidFill>
                <a:latin typeface="Calibri" pitchFamily="34" charset="0"/>
                <a:ea typeface="Calibri" pitchFamily="34" charset="-122"/>
                <a:cs typeface="Calibri" pitchFamily="34" charset="-120"/>
              </a:rPr>
              <a:t>À me donner : </a:t>
            </a:r>
            <a:pPr indent="0" marL="0">
              <a:buNone/>
            </a:pPr>
            <a:r>
              <a:rPr lang="en-US" sz="1400" dirty="0">
                <a:solidFill>
                  <a:srgbClr val="0E2A24"/>
                </a:solidFill>
                <a:latin typeface="Calibri" pitchFamily="34" charset="0"/>
                <a:ea typeface="Calibri" pitchFamily="34" charset="-122"/>
                <a:cs typeface="Calibri" pitchFamily="34" charset="-120"/>
              </a:rPr>
              <a:t>vos identifiants GitHub. Hors du dépôt : l'audio de l'ONF et les stocks d'embeddings.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93292"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193292"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DONNÉES · 1/2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 jeu de données : 96 292 enregistrements, 8 sites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9</a:t>
            </a:r>
            <a:endParaRPr lang="en-US" sz="900" dirty="0"/>
          </a:p>
        </p:txBody>
      </p:sp>
      <p:graphicFrame>
        <p:nvGraphicFramePr>
          <p:cNvPr id="7" name="Chart 0" descr=""/>
          <p:cNvGraphicFramePr/>
          <p:nvPr/>
        </p:nvGraphicFramePr>
        <p:xfrm>
          <a:off x="548640" y="1508760"/>
          <a:ext cx="6675120" cy="48006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589520" y="1600200"/>
            <a:ext cx="4023360" cy="932688"/>
          </a:xfrm>
          <a:prstGeom prst="roundRect">
            <a:avLst>
              <a:gd name="adj" fmla="val 9804"/>
            </a:avLst>
          </a:prstGeom>
          <a:solidFill>
            <a:srgbClr val="F3F7F4"/>
          </a:solidFill>
          <a:ln w="12700">
            <a:solidFill>
              <a:srgbClr val="F3F7F4"/>
            </a:solidFill>
            <a:prstDash val="solid"/>
          </a:ln>
        </p:spPr>
      </p:sp>
      <p:sp>
        <p:nvSpPr>
          <p:cNvPr id="9" name="Text 5"/>
          <p:cNvSpPr txBox="1"/>
          <p:nvPr/>
        </p:nvSpPr>
        <p:spPr>
          <a:xfrm>
            <a:off x="7772400" y="1691640"/>
            <a:ext cx="1828800" cy="731520"/>
          </a:xfrm>
          <a:prstGeom prst="rect">
            <a:avLst/>
          </a:prstGeom>
          <a:noFill/>
          <a:ln/>
        </p:spPr>
        <p:txBody>
          <a:bodyPr wrap="square" lIns="0" tIns="0" rIns="0" bIns="0" rtlCol="0" anchor="ctr"/>
          <a:lstStyle/>
          <a:p>
            <a:pPr indent="0" marL="0">
              <a:buNone/>
            </a:pPr>
            <a:r>
              <a:rPr lang="en-US" sz="2600" b="1" dirty="0">
                <a:solidFill>
                  <a:srgbClr val="8A5A00"/>
                </a:solidFill>
                <a:latin typeface="Cambria" pitchFamily="34" charset="0"/>
                <a:ea typeface="Cambria" pitchFamily="34" charset="-122"/>
                <a:cs typeface="Cambria" pitchFamily="34" charset="-120"/>
              </a:rPr>
              <a:t>3 204 h</a:t>
            </a:r>
            <a:endParaRPr lang="en-US" sz="2600" dirty="0"/>
          </a:p>
        </p:txBody>
      </p:sp>
      <p:sp>
        <p:nvSpPr>
          <p:cNvPr id="10" name="Text 6"/>
          <p:cNvSpPr txBox="1"/>
          <p:nvPr/>
        </p:nvSpPr>
        <p:spPr>
          <a:xfrm>
            <a:off x="9601200" y="1691640"/>
            <a:ext cx="1920240" cy="73152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d'audio, 2,2 To</a:t>
            </a:r>
            <a:endParaRPr lang="en-US" sz="1300" dirty="0"/>
          </a:p>
        </p:txBody>
      </p:sp>
      <p:sp>
        <p:nvSpPr>
          <p:cNvPr id="11" name="Shape 7"/>
          <p:cNvSpPr/>
          <p:nvPr/>
        </p:nvSpPr>
        <p:spPr>
          <a:xfrm>
            <a:off x="7589520" y="2679192"/>
            <a:ext cx="4023360" cy="932688"/>
          </a:xfrm>
          <a:prstGeom prst="roundRect">
            <a:avLst>
              <a:gd name="adj" fmla="val 9804"/>
            </a:avLst>
          </a:prstGeom>
          <a:solidFill>
            <a:srgbClr val="F3F7F4"/>
          </a:solidFill>
          <a:ln w="12700">
            <a:solidFill>
              <a:srgbClr val="F3F7F4"/>
            </a:solidFill>
            <a:prstDash val="solid"/>
          </a:ln>
        </p:spPr>
      </p:sp>
      <p:sp>
        <p:nvSpPr>
          <p:cNvPr id="12" name="Text 8"/>
          <p:cNvSpPr txBox="1"/>
          <p:nvPr/>
        </p:nvSpPr>
        <p:spPr>
          <a:xfrm>
            <a:off x="7772400" y="2770632"/>
            <a:ext cx="1828800" cy="731520"/>
          </a:xfrm>
          <a:prstGeom prst="rect">
            <a:avLst/>
          </a:prstGeom>
          <a:noFill/>
          <a:ln/>
        </p:spPr>
        <p:txBody>
          <a:bodyPr wrap="square" lIns="0" tIns="0" rIns="0" bIns="0" rtlCol="0" anchor="ctr"/>
          <a:lstStyle/>
          <a:p>
            <a:pPr indent="0" marL="0">
              <a:buNone/>
            </a:pPr>
            <a:r>
              <a:rPr lang="en-US" sz="2600" b="1" dirty="0">
                <a:solidFill>
                  <a:srgbClr val="8A5A00"/>
                </a:solidFill>
                <a:latin typeface="Cambria" pitchFamily="34" charset="0"/>
                <a:ea typeface="Cambria" pitchFamily="34" charset="-122"/>
                <a:cs typeface="Cambria" pitchFamily="34" charset="-120"/>
              </a:rPr>
              <a:t>94 588</a:t>
            </a:r>
            <a:endParaRPr lang="en-US" sz="2600" dirty="0"/>
          </a:p>
        </p:txBody>
      </p:sp>
      <p:sp>
        <p:nvSpPr>
          <p:cNvPr id="13" name="Text 9"/>
          <p:cNvSpPr txBox="1"/>
          <p:nvPr/>
        </p:nvSpPr>
        <p:spPr>
          <a:xfrm>
            <a:off x="9601200" y="2770632"/>
            <a:ext cx="1920240" cy="73152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enregistrements encodables</a:t>
            </a:r>
            <a:endParaRPr lang="en-US" sz="1300" dirty="0"/>
          </a:p>
        </p:txBody>
      </p:sp>
      <p:sp>
        <p:nvSpPr>
          <p:cNvPr id="14" name="Shape 10"/>
          <p:cNvSpPr/>
          <p:nvPr/>
        </p:nvSpPr>
        <p:spPr>
          <a:xfrm>
            <a:off x="7589520" y="3758184"/>
            <a:ext cx="4023360" cy="932688"/>
          </a:xfrm>
          <a:prstGeom prst="roundRect">
            <a:avLst>
              <a:gd name="adj" fmla="val 9804"/>
            </a:avLst>
          </a:prstGeom>
          <a:solidFill>
            <a:srgbClr val="F3F7F4"/>
          </a:solidFill>
          <a:ln w="12700">
            <a:solidFill>
              <a:srgbClr val="F3F7F4"/>
            </a:solidFill>
            <a:prstDash val="solid"/>
          </a:ln>
        </p:spPr>
      </p:sp>
      <p:sp>
        <p:nvSpPr>
          <p:cNvPr id="15" name="Text 11"/>
          <p:cNvSpPr txBox="1"/>
          <p:nvPr/>
        </p:nvSpPr>
        <p:spPr>
          <a:xfrm>
            <a:off x="7772400" y="3849624"/>
            <a:ext cx="1828800" cy="731520"/>
          </a:xfrm>
          <a:prstGeom prst="rect">
            <a:avLst/>
          </a:prstGeom>
          <a:noFill/>
          <a:ln/>
        </p:spPr>
        <p:txBody>
          <a:bodyPr wrap="square" lIns="0" tIns="0" rIns="0" bIns="0" rtlCol="0" anchor="ctr"/>
          <a:lstStyle/>
          <a:p>
            <a:pPr indent="0" marL="0">
              <a:buNone/>
            </a:pPr>
            <a:r>
              <a:rPr lang="en-US" sz="2600" b="1" dirty="0">
                <a:solidFill>
                  <a:srgbClr val="8A5A00"/>
                </a:solidFill>
                <a:latin typeface="Cambria" pitchFamily="34" charset="0"/>
                <a:ea typeface="Cambria" pitchFamily="34" charset="-122"/>
                <a:cs typeface="Cambria" pitchFamily="34" charset="-120"/>
              </a:rPr>
              <a:t>4,5 M</a:t>
            </a:r>
            <a:endParaRPr lang="en-US" sz="2600" dirty="0"/>
          </a:p>
        </p:txBody>
      </p:sp>
      <p:sp>
        <p:nvSpPr>
          <p:cNvPr id="16" name="Text 12"/>
          <p:cNvSpPr txBox="1"/>
          <p:nvPr/>
        </p:nvSpPr>
        <p:spPr>
          <a:xfrm>
            <a:off x="9601200" y="3849624"/>
            <a:ext cx="1920240" cy="731520"/>
          </a:xfrm>
          <a:prstGeom prst="rect">
            <a:avLst/>
          </a:prstGeom>
          <a:noFill/>
          <a:ln/>
        </p:spPr>
        <p:txBody>
          <a:bodyPr wrap="square" lIns="0" tIns="0" rIns="0" bIns="0" rtlCol="0" anchor="ctr"/>
          <a:lstStyle/>
          <a:p>
            <a:pPr indent="0" marL="0">
              <a:buNone/>
            </a:pPr>
            <a:r>
              <a:rPr lang="en-US" sz="1300" dirty="0">
                <a:solidFill>
                  <a:srgbClr val="5B6B63"/>
                </a:solidFill>
                <a:latin typeface="Calibri" pitchFamily="34" charset="0"/>
                <a:ea typeface="Calibri" pitchFamily="34" charset="-122"/>
                <a:cs typeface="Calibri" pitchFamily="34" charset="-120"/>
              </a:rPr>
              <a:t>fenêtres de 5 s (pas 2,5 s)</a:t>
            </a:r>
            <a:endParaRPr lang="en-US" sz="1300" dirty="0"/>
          </a:p>
        </p:txBody>
      </p:sp>
      <p:sp>
        <p:nvSpPr>
          <p:cNvPr id="17" name="Shape 13"/>
          <p:cNvSpPr/>
          <p:nvPr/>
        </p:nvSpPr>
        <p:spPr>
          <a:xfrm>
            <a:off x="7589520" y="4892040"/>
            <a:ext cx="4023360" cy="1417320"/>
          </a:xfrm>
          <a:prstGeom prst="roundRect">
            <a:avLst>
              <a:gd name="adj" fmla="val 6452"/>
            </a:avLst>
          </a:prstGeom>
          <a:solidFill>
            <a:srgbClr val="0E2A24"/>
          </a:solidFill>
          <a:ln w="12700">
            <a:solidFill>
              <a:srgbClr val="0E2A24"/>
            </a:solidFill>
            <a:prstDash val="solid"/>
          </a:ln>
        </p:spPr>
      </p:sp>
      <p:sp>
        <p:nvSpPr>
          <p:cNvPr id="18" name="Text 14"/>
          <p:cNvSpPr txBox="1"/>
          <p:nvPr/>
        </p:nvSpPr>
        <p:spPr>
          <a:xfrm>
            <a:off x="7772400" y="5029200"/>
            <a:ext cx="3703320" cy="118872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2026 : une semaine par site, le mois est confondu avec le site</a:t>
            </a:r>
            <a:endParaRPr lang="en-US" sz="1350" dirty="0"/>
          </a:p>
          <a:p>
            <a:pPr marL="177800" indent="-177800">
              <a:spcAft>
                <a:spcPts val="800"/>
              </a:spcAft>
              <a:buSzPct val="100000"/>
              <a:buChar char="•"/>
            </a:pPr>
            <a:r>
              <a:rPr lang="en-US" sz="1350" b="1" dirty="0">
                <a:solidFill>
                  <a:srgbClr val="E9B44C"/>
                </a:solidFill>
                <a:latin typeface="Calibri" pitchFamily="34" charset="0"/>
                <a:ea typeface="Calibri" pitchFamily="34" charset="-122"/>
                <a:cs typeface="Calibri" pitchFamily="34" charset="-120"/>
              </a:rPr>
              <a:t>Labels Blancinet (345 + 150) : sortis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193292"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193292"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DONNÉES · 2/2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Annoter en partant de zéro (décision avec Élodie)</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03504" y="1600200"/>
            <a:ext cx="1944563" cy="2148840"/>
          </a:xfrm>
          <a:prstGeom prst="roundRect">
            <a:avLst>
              <a:gd name="adj" fmla="val 4702"/>
            </a:avLst>
          </a:prstGeom>
          <a:solidFill>
            <a:srgbClr val="F3F7F4"/>
          </a:solidFill>
          <a:ln w="12700">
            <a:solidFill>
              <a:srgbClr val="F3F7F4"/>
            </a:solidFill>
            <a:prstDash val="solid"/>
          </a:ln>
        </p:spPr>
      </p:sp>
      <p:sp>
        <p:nvSpPr>
          <p:cNvPr id="8" name="Shape 5"/>
          <p:cNvSpPr/>
          <p:nvPr/>
        </p:nvSpPr>
        <p:spPr>
          <a:xfrm>
            <a:off x="786384" y="1764792"/>
            <a:ext cx="384048" cy="384048"/>
          </a:xfrm>
          <a:prstGeom prst="ellipse">
            <a:avLst/>
          </a:prstGeom>
          <a:solidFill>
            <a:srgbClr val="2A7F72"/>
          </a:solidFill>
          <a:ln w="12700">
            <a:solidFill>
              <a:srgbClr val="2A7F72"/>
            </a:solidFill>
            <a:prstDash val="solid"/>
          </a:ln>
        </p:spPr>
      </p:sp>
      <p:sp>
        <p:nvSpPr>
          <p:cNvPr id="9" name="Text 6"/>
          <p:cNvSpPr txBox="1"/>
          <p:nvPr/>
        </p:nvSpPr>
        <p:spPr>
          <a:xfrm>
            <a:off x="786384"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786384" y="2258568"/>
            <a:ext cx="1670243" cy="59436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Partition des points</a:t>
            </a:r>
            <a:endParaRPr lang="en-US" sz="1500" dirty="0"/>
          </a:p>
        </p:txBody>
      </p:sp>
      <p:sp>
        <p:nvSpPr>
          <p:cNvPr id="11" name="Text 8"/>
          <p:cNvSpPr txBox="1"/>
          <p:nvPr/>
        </p:nvSpPr>
        <p:spPr>
          <a:xfrm>
            <a:off x="786384" y="2852928"/>
            <a:ext cx="1670243" cy="8229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avant écoute : un site entier + 20 % des points tenus à l'écart</a:t>
            </a:r>
            <a:endParaRPr lang="en-US" sz="1250" dirty="0"/>
          </a:p>
        </p:txBody>
      </p:sp>
      <p:sp>
        <p:nvSpPr>
          <p:cNvPr id="12" name="Shape 9"/>
          <p:cNvSpPr/>
          <p:nvPr/>
        </p:nvSpPr>
        <p:spPr>
          <a:xfrm>
            <a:off x="2548067" y="2651760"/>
            <a:ext cx="164592" cy="0"/>
          </a:xfrm>
          <a:prstGeom prst="line">
            <a:avLst/>
          </a:prstGeom>
          <a:noFill/>
          <a:ln w="19050">
            <a:solidFill>
              <a:srgbClr val="A7BFB2"/>
            </a:solidFill>
            <a:prstDash val="solid"/>
            <a:tailEnd type="triangle"/>
          </a:ln>
        </p:spPr>
      </p:sp>
      <p:sp>
        <p:nvSpPr>
          <p:cNvPr id="13" name="Shape 10"/>
          <p:cNvSpPr/>
          <p:nvPr/>
        </p:nvSpPr>
        <p:spPr>
          <a:xfrm>
            <a:off x="2822387" y="1600200"/>
            <a:ext cx="1944563" cy="2148840"/>
          </a:xfrm>
          <a:prstGeom prst="roundRect">
            <a:avLst>
              <a:gd name="adj" fmla="val 4702"/>
            </a:avLst>
          </a:prstGeom>
          <a:solidFill>
            <a:srgbClr val="F3F7F4"/>
          </a:solidFill>
          <a:ln w="12700">
            <a:solidFill>
              <a:srgbClr val="F3F7F4"/>
            </a:solidFill>
            <a:prstDash val="solid"/>
          </a:ln>
        </p:spPr>
      </p:sp>
      <p:sp>
        <p:nvSpPr>
          <p:cNvPr id="14" name="Shape 11"/>
          <p:cNvSpPr/>
          <p:nvPr/>
        </p:nvSpPr>
        <p:spPr>
          <a:xfrm>
            <a:off x="3005267" y="1764792"/>
            <a:ext cx="384048" cy="384048"/>
          </a:xfrm>
          <a:prstGeom prst="ellipse">
            <a:avLst/>
          </a:prstGeom>
          <a:solidFill>
            <a:srgbClr val="2A7F72"/>
          </a:solidFill>
          <a:ln w="12700">
            <a:solidFill>
              <a:srgbClr val="2A7F72"/>
            </a:solidFill>
            <a:prstDash val="solid"/>
          </a:ln>
        </p:spPr>
      </p:sp>
      <p:sp>
        <p:nvSpPr>
          <p:cNvPr id="15" name="Text 12"/>
          <p:cNvSpPr txBox="1"/>
          <p:nvPr/>
        </p:nvSpPr>
        <p:spPr>
          <a:xfrm>
            <a:off x="3005267"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3005267" y="2258568"/>
            <a:ext cx="1670243" cy="59436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Lot d'entraînement</a:t>
            </a:r>
            <a:endParaRPr lang="en-US" sz="1500" dirty="0"/>
          </a:p>
        </p:txBody>
      </p:sp>
      <p:sp>
        <p:nvSpPr>
          <p:cNvPr id="17" name="Text 14"/>
          <p:cNvSpPr txBox="1"/>
          <p:nvPr/>
        </p:nvSpPr>
        <p:spPr>
          <a:xfrm>
            <a:off x="3005267" y="2852928"/>
            <a:ext cx="1670243" cy="8229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 450 extraits de 30 s, 3 par point, 60 % aux heures de pic</a:t>
            </a:r>
            <a:endParaRPr lang="en-US" sz="1250" dirty="0"/>
          </a:p>
        </p:txBody>
      </p:sp>
      <p:sp>
        <p:nvSpPr>
          <p:cNvPr id="18" name="Shape 15"/>
          <p:cNvSpPr/>
          <p:nvPr/>
        </p:nvSpPr>
        <p:spPr>
          <a:xfrm>
            <a:off x="4766950" y="2651760"/>
            <a:ext cx="164592" cy="0"/>
          </a:xfrm>
          <a:prstGeom prst="line">
            <a:avLst/>
          </a:prstGeom>
          <a:noFill/>
          <a:ln w="19050">
            <a:solidFill>
              <a:srgbClr val="A7BFB2"/>
            </a:solidFill>
            <a:prstDash val="solid"/>
            <a:tailEnd type="triangle"/>
          </a:ln>
        </p:spPr>
      </p:sp>
      <p:sp>
        <p:nvSpPr>
          <p:cNvPr id="19" name="Shape 16"/>
          <p:cNvSpPr/>
          <p:nvPr/>
        </p:nvSpPr>
        <p:spPr>
          <a:xfrm>
            <a:off x="5041270" y="1600200"/>
            <a:ext cx="1944563" cy="2148840"/>
          </a:xfrm>
          <a:prstGeom prst="roundRect">
            <a:avLst>
              <a:gd name="adj" fmla="val 4702"/>
            </a:avLst>
          </a:prstGeom>
          <a:solidFill>
            <a:srgbClr val="F3F7F4"/>
          </a:solidFill>
          <a:ln w="12700">
            <a:solidFill>
              <a:srgbClr val="F3F7F4"/>
            </a:solidFill>
            <a:prstDash val="solid"/>
          </a:ln>
        </p:spPr>
      </p:sp>
      <p:sp>
        <p:nvSpPr>
          <p:cNvPr id="20" name="Shape 17"/>
          <p:cNvSpPr/>
          <p:nvPr/>
        </p:nvSpPr>
        <p:spPr>
          <a:xfrm>
            <a:off x="5224150" y="1764792"/>
            <a:ext cx="384048" cy="384048"/>
          </a:xfrm>
          <a:prstGeom prst="ellipse">
            <a:avLst/>
          </a:prstGeom>
          <a:solidFill>
            <a:srgbClr val="2A7F72"/>
          </a:solidFill>
          <a:ln w="12700">
            <a:solidFill>
              <a:srgbClr val="2A7F72"/>
            </a:solidFill>
            <a:prstDash val="solid"/>
          </a:ln>
        </p:spPr>
      </p:sp>
      <p:sp>
        <p:nvSpPr>
          <p:cNvPr id="21" name="Text 18"/>
          <p:cNvSpPr txBox="1"/>
          <p:nvPr/>
        </p:nvSpPr>
        <p:spPr>
          <a:xfrm>
            <a:off x="5224150"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5224150" y="2258568"/>
            <a:ext cx="1670243" cy="59436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Jeu d'évaluation</a:t>
            </a:r>
            <a:endParaRPr lang="en-US" sz="1500" dirty="0"/>
          </a:p>
        </p:txBody>
      </p:sp>
      <p:sp>
        <p:nvSpPr>
          <p:cNvPr id="23" name="Text 20"/>
          <p:cNvSpPr txBox="1"/>
          <p:nvPr/>
        </p:nvSpPr>
        <p:spPr>
          <a:xfrm>
            <a:off x="5224150" y="2852928"/>
            <a:ext cx="1670243" cy="8229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 250 enregistrements entiers, ≥ 60 positifs</a:t>
            </a:r>
            <a:endParaRPr lang="en-US" sz="1250" dirty="0"/>
          </a:p>
        </p:txBody>
      </p:sp>
      <p:sp>
        <p:nvSpPr>
          <p:cNvPr id="24" name="Shape 21"/>
          <p:cNvSpPr/>
          <p:nvPr/>
        </p:nvSpPr>
        <p:spPr>
          <a:xfrm>
            <a:off x="6985833" y="2651760"/>
            <a:ext cx="164592" cy="0"/>
          </a:xfrm>
          <a:prstGeom prst="line">
            <a:avLst/>
          </a:prstGeom>
          <a:noFill/>
          <a:ln w="19050">
            <a:solidFill>
              <a:srgbClr val="A7BFB2"/>
            </a:solidFill>
            <a:prstDash val="solid"/>
            <a:tailEnd type="triangle"/>
          </a:ln>
        </p:spPr>
      </p:sp>
      <p:sp>
        <p:nvSpPr>
          <p:cNvPr id="25" name="Shape 22"/>
          <p:cNvSpPr/>
          <p:nvPr/>
        </p:nvSpPr>
        <p:spPr>
          <a:xfrm>
            <a:off x="7260153" y="1600200"/>
            <a:ext cx="1944563" cy="2148840"/>
          </a:xfrm>
          <a:prstGeom prst="roundRect">
            <a:avLst>
              <a:gd name="adj" fmla="val 4702"/>
            </a:avLst>
          </a:prstGeom>
          <a:solidFill>
            <a:srgbClr val="0E2A24"/>
          </a:solidFill>
          <a:ln w="12700">
            <a:solidFill>
              <a:srgbClr val="0E2A24"/>
            </a:solidFill>
            <a:prstDash val="solid"/>
          </a:ln>
        </p:spPr>
      </p:sp>
      <p:sp>
        <p:nvSpPr>
          <p:cNvPr id="26" name="Shape 23"/>
          <p:cNvSpPr/>
          <p:nvPr/>
        </p:nvSpPr>
        <p:spPr>
          <a:xfrm>
            <a:off x="7443033" y="1764792"/>
            <a:ext cx="384048" cy="384048"/>
          </a:xfrm>
          <a:prstGeom prst="ellipse">
            <a:avLst/>
          </a:prstGeom>
          <a:solidFill>
            <a:srgbClr val="E9B44C"/>
          </a:solidFill>
          <a:ln w="12700">
            <a:solidFill>
              <a:srgbClr val="E9B44C"/>
            </a:solidFill>
            <a:prstDash val="solid"/>
          </a:ln>
        </p:spPr>
      </p:sp>
      <p:sp>
        <p:nvSpPr>
          <p:cNvPr id="27" name="Text 24"/>
          <p:cNvSpPr txBox="1"/>
          <p:nvPr/>
        </p:nvSpPr>
        <p:spPr>
          <a:xfrm>
            <a:off x="7443033"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5"/>
          <p:cNvSpPr txBox="1"/>
          <p:nvPr/>
        </p:nvSpPr>
        <p:spPr>
          <a:xfrm>
            <a:off x="7443033" y="2258568"/>
            <a:ext cx="1670243"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Vérification à l'aveugle</a:t>
            </a:r>
            <a:endParaRPr lang="en-US" sz="1500" dirty="0"/>
          </a:p>
        </p:txBody>
      </p:sp>
      <p:sp>
        <p:nvSpPr>
          <p:cNvPr id="29" name="Text 26"/>
          <p:cNvSpPr txBox="1"/>
          <p:nvPr/>
        </p:nvSpPr>
        <p:spPr>
          <a:xfrm>
            <a:off x="7443033" y="2852928"/>
            <a:ext cx="1670243" cy="822960"/>
          </a:xfrm>
          <a:prstGeom prst="rect">
            <a:avLst/>
          </a:prstGeom>
          <a:noFill/>
          <a:ln/>
        </p:spPr>
        <p:txBody>
          <a:bodyPr wrap="square" lIns="0" tIns="0" rIns="0" bIns="0" rtlCol="0" anchor="t"/>
          <a:lstStyle/>
          <a:p>
            <a:pPr indent="0" marL="0">
              <a:buNone/>
            </a:pPr>
            <a:r>
              <a:rPr lang="en-US" sz="1250" dirty="0">
                <a:solidFill>
                  <a:srgbClr val="A7BFB2"/>
                </a:solidFill>
                <a:latin typeface="Calibri" pitchFamily="34" charset="0"/>
                <a:ea typeface="Calibri" pitchFamily="34" charset="-122"/>
                <a:cs typeface="Calibri" pitchFamily="34" charset="-120"/>
              </a:rPr>
              <a:t>Élodie et Benoît : 15–20 %, ≈ 2 h 30 chacun</a:t>
            </a:r>
            <a:endParaRPr lang="en-US" sz="1250" dirty="0"/>
          </a:p>
        </p:txBody>
      </p:sp>
      <p:sp>
        <p:nvSpPr>
          <p:cNvPr id="30" name="Shape 27"/>
          <p:cNvSpPr/>
          <p:nvPr/>
        </p:nvSpPr>
        <p:spPr>
          <a:xfrm>
            <a:off x="9204716" y="2651760"/>
            <a:ext cx="164592" cy="0"/>
          </a:xfrm>
          <a:prstGeom prst="line">
            <a:avLst/>
          </a:prstGeom>
          <a:noFill/>
          <a:ln w="19050">
            <a:solidFill>
              <a:srgbClr val="A7BFB2"/>
            </a:solidFill>
            <a:prstDash val="solid"/>
            <a:tailEnd type="triangle"/>
          </a:ln>
        </p:spPr>
      </p:sp>
      <p:sp>
        <p:nvSpPr>
          <p:cNvPr id="31" name="Shape 28"/>
          <p:cNvSpPr/>
          <p:nvPr/>
        </p:nvSpPr>
        <p:spPr>
          <a:xfrm>
            <a:off x="9479036" y="1600200"/>
            <a:ext cx="1944563" cy="2148840"/>
          </a:xfrm>
          <a:prstGeom prst="roundRect">
            <a:avLst>
              <a:gd name="adj" fmla="val 4702"/>
            </a:avLst>
          </a:prstGeom>
          <a:solidFill>
            <a:srgbClr val="F3F7F4"/>
          </a:solidFill>
          <a:ln w="12700">
            <a:solidFill>
              <a:srgbClr val="F3F7F4"/>
            </a:solidFill>
            <a:prstDash val="solid"/>
          </a:ln>
        </p:spPr>
      </p:sp>
      <p:sp>
        <p:nvSpPr>
          <p:cNvPr id="32" name="Shape 29"/>
          <p:cNvSpPr/>
          <p:nvPr/>
        </p:nvSpPr>
        <p:spPr>
          <a:xfrm>
            <a:off x="9661916" y="1764792"/>
            <a:ext cx="384048" cy="384048"/>
          </a:xfrm>
          <a:prstGeom prst="ellipse">
            <a:avLst/>
          </a:prstGeom>
          <a:solidFill>
            <a:srgbClr val="2A7F72"/>
          </a:solidFill>
          <a:ln w="12700">
            <a:solidFill>
              <a:srgbClr val="2A7F72"/>
            </a:solidFill>
            <a:prstDash val="solid"/>
          </a:ln>
        </p:spPr>
      </p:sp>
      <p:sp>
        <p:nvSpPr>
          <p:cNvPr id="33" name="Text 30"/>
          <p:cNvSpPr txBox="1"/>
          <p:nvPr/>
        </p:nvSpPr>
        <p:spPr>
          <a:xfrm>
            <a:off x="9661916"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1"/>
          <p:cNvSpPr txBox="1"/>
          <p:nvPr/>
        </p:nvSpPr>
        <p:spPr>
          <a:xfrm>
            <a:off x="9661916" y="2258568"/>
            <a:ext cx="1670243" cy="594360"/>
          </a:xfrm>
          <a:prstGeom prst="rect">
            <a:avLst/>
          </a:prstGeom>
          <a:noFill/>
          <a:ln/>
        </p:spPr>
        <p:txBody>
          <a:bodyPr wrap="square" lIns="0" tIns="0" rIns="0" bIns="0" rtlCol="0" anchor="t"/>
          <a:lstStyle/>
          <a:p>
            <a:pPr indent="0" marL="0">
              <a:buNone/>
            </a:pPr>
            <a:r>
              <a:rPr lang="en-US" sz="1500" b="1" dirty="0">
                <a:solidFill>
                  <a:srgbClr val="1B2A24"/>
                </a:solidFill>
                <a:latin typeface="Calibri" pitchFamily="34" charset="0"/>
                <a:ea typeface="Calibri" pitchFamily="34" charset="-122"/>
                <a:cs typeface="Calibri" pitchFamily="34" charset="-120"/>
              </a:rPr>
              <a:t>Go écrit</a:t>
            </a:r>
            <a:endParaRPr lang="en-US" sz="1500" dirty="0"/>
          </a:p>
        </p:txBody>
      </p:sp>
      <p:sp>
        <p:nvSpPr>
          <p:cNvPr id="35" name="Text 32"/>
          <p:cNvSpPr txBox="1"/>
          <p:nvPr/>
        </p:nvSpPr>
        <p:spPr>
          <a:xfrm>
            <a:off x="9661916" y="2852928"/>
            <a:ext cx="1670243" cy="822960"/>
          </a:xfrm>
          <a:prstGeom prst="rect">
            <a:avLst/>
          </a:prstGeom>
          <a:noFill/>
          <a:ln/>
        </p:spPr>
        <p:txBody>
          <a:bodyPr wrap="square" lIns="0" tIns="0" rIns="0" bIns="0" rtlCol="0" anchor="t"/>
          <a:lstStyle/>
          <a:p>
            <a:pPr indent="0" marL="0">
              <a:buNone/>
            </a:pPr>
            <a:r>
              <a:rPr lang="en-US" sz="1250" dirty="0">
                <a:solidFill>
                  <a:srgbClr val="5B6B63"/>
                </a:solidFill>
                <a:latin typeface="Calibri" pitchFamily="34" charset="0"/>
                <a:ea typeface="Calibri" pitchFamily="34" charset="-122"/>
                <a:cs typeface="Calibri" pitchFamily="34" charset="-120"/>
              </a:rPr>
              <a:t>0 erreur / 60 positifs, ≤ 1 chant manqué / 100</a:t>
            </a:r>
            <a:endParaRPr lang="en-US" sz="1250" dirty="0"/>
          </a:p>
        </p:txBody>
      </p:sp>
      <p:sp>
        <p:nvSpPr>
          <p:cNvPr id="36" name="Shape 33"/>
          <p:cNvSpPr/>
          <p:nvPr/>
        </p:nvSpPr>
        <p:spPr>
          <a:xfrm>
            <a:off x="548640" y="4023360"/>
            <a:ext cx="6583680" cy="640080"/>
          </a:xfrm>
          <a:prstGeom prst="roundRect">
            <a:avLst>
              <a:gd name="adj" fmla="val 14286"/>
            </a:avLst>
          </a:prstGeom>
          <a:solidFill>
            <a:srgbClr val="E4EEE8"/>
          </a:solidFill>
          <a:ln w="12700">
            <a:solidFill>
              <a:srgbClr val="E4EEE8"/>
            </a:solidFill>
            <a:prstDash val="solid"/>
          </a:ln>
        </p:spPr>
      </p:sp>
      <p:sp>
        <p:nvSpPr>
          <p:cNvPr id="37" name="Text 34"/>
          <p:cNvSpPr txBox="1"/>
          <p:nvPr/>
        </p:nvSpPr>
        <p:spPr>
          <a:xfrm>
            <a:off x="777240" y="4023360"/>
            <a:ext cx="6217920" cy="640080"/>
          </a:xfrm>
          <a:prstGeom prst="rect">
            <a:avLst/>
          </a:prstGeom>
          <a:noFill/>
          <a:ln/>
        </p:spPr>
        <p:txBody>
          <a:bodyPr wrap="square" lIns="0" tIns="0" rIns="0" bIns="0" rtlCol="0" anchor="ctr"/>
          <a:lstStyle/>
          <a:p>
            <a:pPr indent="0" marL="0">
              <a:buNone/>
            </a:pPr>
            <a:r>
              <a:rPr lang="en-US" sz="1350" b="1" dirty="0">
                <a:solidFill>
                  <a:srgbClr val="1B2A24"/>
                </a:solidFill>
                <a:latin typeface="Calibri" pitchFamily="34" charset="0"/>
                <a:ea typeface="Calibri" pitchFamily="34" charset="-122"/>
                <a:cs typeface="Calibri" pitchFamily="34" charset="-120"/>
              </a:rPr>
              <a:t>Aucun détecteur dans le tirage : </a:t>
            </a:r>
            <a:pPr indent="0" marL="0">
              <a:buNone/>
            </a:pPr>
            <a:r>
              <a:rPr lang="en-US" sz="1350" dirty="0">
                <a:solidFill>
                  <a:srgbClr val="5B6B63"/>
                </a:solidFill>
                <a:latin typeface="Calibri" pitchFamily="34" charset="0"/>
                <a:ea typeface="Calibri" pitchFamily="34" charset="-122"/>
                <a:cs typeface="Calibri" pitchFamily="34" charset="-120"/>
              </a:rPr>
              <a:t>sinon le jeu hérite de ses angles morts</a:t>
            </a:r>
            <a:endParaRPr lang="en-US" sz="1350" dirty="0"/>
          </a:p>
        </p:txBody>
      </p:sp>
      <p:sp>
        <p:nvSpPr>
          <p:cNvPr id="38" name="Shape 35"/>
          <p:cNvSpPr/>
          <p:nvPr/>
        </p:nvSpPr>
        <p:spPr>
          <a:xfrm>
            <a:off x="548640" y="4782312"/>
            <a:ext cx="6583680" cy="640080"/>
          </a:xfrm>
          <a:prstGeom prst="roundRect">
            <a:avLst>
              <a:gd name="adj" fmla="val 14286"/>
            </a:avLst>
          </a:prstGeom>
          <a:solidFill>
            <a:srgbClr val="E4EEE8"/>
          </a:solidFill>
          <a:ln w="12700">
            <a:solidFill>
              <a:srgbClr val="E4EEE8"/>
            </a:solidFill>
            <a:prstDash val="solid"/>
          </a:ln>
        </p:spPr>
      </p:sp>
      <p:sp>
        <p:nvSpPr>
          <p:cNvPr id="39" name="Text 36"/>
          <p:cNvSpPr txBox="1"/>
          <p:nvPr/>
        </p:nvSpPr>
        <p:spPr>
          <a:xfrm>
            <a:off x="777240" y="4782312"/>
            <a:ext cx="6217920" cy="640080"/>
          </a:xfrm>
          <a:prstGeom prst="rect">
            <a:avLst/>
          </a:prstGeom>
          <a:noFill/>
          <a:ln/>
        </p:spPr>
        <p:txBody>
          <a:bodyPr wrap="square" lIns="0" tIns="0" rIns="0" bIns="0" rtlCol="0" anchor="ctr"/>
          <a:lstStyle/>
          <a:p>
            <a:pPr indent="0" marL="0">
              <a:buNone/>
            </a:pPr>
            <a:r>
              <a:rPr lang="en-US" sz="1350" b="1" dirty="0">
                <a:solidFill>
                  <a:srgbClr val="1B2A24"/>
                </a:solidFill>
                <a:latin typeface="Calibri" pitchFamily="34" charset="0"/>
                <a:ea typeface="Calibri" pitchFamily="34" charset="-122"/>
                <a:cs typeface="Calibri" pitchFamily="34" charset="-120"/>
              </a:rPr>
              <a:t>Le point d'écoute est l'unité : </a:t>
            </a:r>
            <a:pPr indent="0" marL="0">
              <a:buNone/>
            </a:pPr>
            <a:r>
              <a:rPr lang="en-US" sz="1350" dirty="0">
                <a:solidFill>
                  <a:srgbClr val="5B6B63"/>
                </a:solidFill>
                <a:latin typeface="Calibri" pitchFamily="34" charset="0"/>
                <a:ea typeface="Calibri" pitchFamily="34" charset="-122"/>
                <a:cs typeface="Calibri" pitchFamily="34" charset="-120"/>
              </a:rPr>
              <a:t>beaucoup de points, peu d'enregistrements par point</a:t>
            </a:r>
            <a:endParaRPr lang="en-US" sz="1350" dirty="0"/>
          </a:p>
        </p:txBody>
      </p:sp>
      <p:sp>
        <p:nvSpPr>
          <p:cNvPr id="40" name="Shape 37"/>
          <p:cNvSpPr/>
          <p:nvPr/>
        </p:nvSpPr>
        <p:spPr>
          <a:xfrm>
            <a:off x="548640" y="5541264"/>
            <a:ext cx="6583680" cy="640080"/>
          </a:xfrm>
          <a:prstGeom prst="roundRect">
            <a:avLst>
              <a:gd name="adj" fmla="val 14286"/>
            </a:avLst>
          </a:prstGeom>
          <a:solidFill>
            <a:srgbClr val="E4EEE8"/>
          </a:solidFill>
          <a:ln w="12700">
            <a:solidFill>
              <a:srgbClr val="E4EEE8"/>
            </a:solidFill>
            <a:prstDash val="solid"/>
          </a:ln>
        </p:spPr>
      </p:sp>
      <p:sp>
        <p:nvSpPr>
          <p:cNvPr id="41" name="Text 38"/>
          <p:cNvSpPr txBox="1"/>
          <p:nvPr/>
        </p:nvSpPr>
        <p:spPr>
          <a:xfrm>
            <a:off x="777240" y="5541264"/>
            <a:ext cx="6217920" cy="640080"/>
          </a:xfrm>
          <a:prstGeom prst="rect">
            <a:avLst/>
          </a:prstGeom>
          <a:noFill/>
          <a:ln/>
        </p:spPr>
        <p:txBody>
          <a:bodyPr wrap="square" lIns="0" tIns="0" rIns="0" bIns="0" rtlCol="0" anchor="ctr"/>
          <a:lstStyle/>
          <a:p>
            <a:pPr indent="0" marL="0">
              <a:buNone/>
            </a:pPr>
            <a:r>
              <a:rPr lang="en-US" sz="1350" b="1" dirty="0">
                <a:solidFill>
                  <a:srgbClr val="1B2A24"/>
                </a:solidFill>
                <a:latin typeface="Calibri" pitchFamily="34" charset="0"/>
                <a:ea typeface="Calibri" pitchFamily="34" charset="-122"/>
                <a:cs typeface="Calibri" pitchFamily="34" charset="-120"/>
              </a:rPr>
              <a:t>Positifs et négatifs des mêmes strates : </a:t>
            </a:r>
            <a:pPr indent="0" marL="0">
              <a:buNone/>
            </a:pPr>
            <a:r>
              <a:rPr lang="en-US" sz="1350" dirty="0">
                <a:solidFill>
                  <a:srgbClr val="5B6B63"/>
                </a:solidFill>
                <a:latin typeface="Calibri" pitchFamily="34" charset="0"/>
                <a:ea typeface="Calibri" pitchFamily="34" charset="-122"/>
                <a:cs typeface="Calibri" pitchFamily="34" charset="-120"/>
              </a:rPr>
              <a:t>sinon la tête apprend l'heure ou le site</a:t>
            </a:r>
            <a:endParaRPr lang="en-US" sz="1350" dirty="0"/>
          </a:p>
        </p:txBody>
      </p:sp>
      <p:sp>
        <p:nvSpPr>
          <p:cNvPr id="42" name="Shape 39"/>
          <p:cNvSpPr/>
          <p:nvPr/>
        </p:nvSpPr>
        <p:spPr>
          <a:xfrm>
            <a:off x="7360920" y="4023360"/>
            <a:ext cx="4251960" cy="2157984"/>
          </a:xfrm>
          <a:prstGeom prst="roundRect">
            <a:avLst>
              <a:gd name="adj" fmla="val 4237"/>
            </a:avLst>
          </a:prstGeom>
          <a:solidFill>
            <a:srgbClr val="0E2A24"/>
          </a:solidFill>
          <a:ln w="12700">
            <a:solidFill>
              <a:srgbClr val="0E2A24"/>
            </a:solidFill>
            <a:prstDash val="solid"/>
          </a:ln>
        </p:spPr>
      </p:sp>
      <p:sp>
        <p:nvSpPr>
          <p:cNvPr id="43" name="Text 40"/>
          <p:cNvSpPr txBox="1"/>
          <p:nvPr/>
        </p:nvSpPr>
        <p:spPr>
          <a:xfrm>
            <a:off x="7589520" y="4160520"/>
            <a:ext cx="3840480" cy="274320"/>
          </a:xfrm>
          <a:prstGeom prst="rect">
            <a:avLst/>
          </a:prstGeom>
          <a:noFill/>
          <a:ln/>
        </p:spPr>
        <p:txBody>
          <a:bodyPr wrap="square" lIns="0" tIns="0" rIns="0" bIns="0" rtlCol="0" anchor="t"/>
          <a:lstStyle/>
          <a:p>
            <a:pPr indent="0" marL="0">
              <a:buNone/>
            </a:pPr>
            <a:r>
              <a:rPr lang="en-US" sz="1100" b="1" spc="100" kern="0" dirty="0">
                <a:solidFill>
                  <a:srgbClr val="E9B44C"/>
                </a:solidFill>
                <a:latin typeface="Calibri" pitchFamily="34" charset="0"/>
                <a:ea typeface="Calibri" pitchFamily="34" charset="-122"/>
                <a:cs typeface="Calibri" pitchFamily="34" charset="-120"/>
              </a:rPr>
              <a:t>À L'ÉCOUTE : ANNOTER FIN, DÉCIDER GROS</a:t>
            </a:r>
            <a:endParaRPr lang="en-US" sz="1100" dirty="0"/>
          </a:p>
        </p:txBody>
      </p:sp>
      <p:sp>
        <p:nvSpPr>
          <p:cNvPr id="44" name="Text 41"/>
          <p:cNvSpPr txBox="1"/>
          <p:nvPr/>
        </p:nvSpPr>
        <p:spPr>
          <a:xfrm>
            <a:off x="7589520" y="4526280"/>
            <a:ext cx="3840480" cy="16002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Intervalles de chant, à 0,5 s près</a:t>
            </a:r>
            <a:endParaRPr lang="en-US" sz="1400" dirty="0"/>
          </a:p>
          <a:p>
            <a:pPr marL="177800" indent="-1778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Solo ou chœur, qualité A/B/C</a:t>
            </a:r>
            <a:endParaRPr lang="en-US" sz="1400" dirty="0"/>
          </a:p>
          <a:p>
            <a:pPr marL="177800" indent="-1778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Décision binaire : présente ou non</a:t>
            </a:r>
            <a:endParaRPr lang="en-US" sz="1400" dirty="0"/>
          </a:p>
          <a:p>
            <a:pPr marL="177800" indent="-177800">
              <a:spcAft>
                <a:spcPts val="700"/>
              </a:spcAft>
              <a:buSzPct val="100000"/>
              <a:buChar char="•"/>
            </a:pPr>
            <a:r>
              <a:rPr lang="en-US" sz="1400" dirty="0">
                <a:solidFill>
                  <a:srgbClr val="FFFFFF"/>
                </a:solidFill>
                <a:latin typeface="Calibri" pitchFamily="34" charset="0"/>
                <a:ea typeface="Calibri" pitchFamily="34" charset="-122"/>
                <a:cs typeface="Calibri" pitchFamily="34" charset="-120"/>
              </a:rPr>
              <a:t>Budget : ≈ 25 h d'écoute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92808"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892808"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PRÉ-BENCHMARK ANURASET</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Pré-benchmark AnuraSet</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737360"/>
            <a:ext cx="11094415" cy="4480560"/>
          </a:xfrm>
          <a:prstGeom prst="roundRect">
            <a:avLst>
              <a:gd name="adj" fmla="val 2041"/>
            </a:avLst>
          </a:prstGeom>
          <a:solidFill>
            <a:srgbClr val="F3F7F4"/>
          </a:solidFill>
          <a:ln w="12700">
            <a:solidFill>
              <a:srgbClr val="CFDDD5"/>
            </a:solidFill>
            <a:prstDash val="solid"/>
          </a:ln>
        </p:spPr>
      </p:sp>
      <p:sp>
        <p:nvSpPr>
          <p:cNvPr id="8" name="Text 5"/>
          <p:cNvSpPr txBox="1"/>
          <p:nvPr/>
        </p:nvSpPr>
        <p:spPr>
          <a:xfrm>
            <a:off x="548640" y="3291840"/>
            <a:ext cx="11094415" cy="548640"/>
          </a:xfrm>
          <a:prstGeom prst="rect">
            <a:avLst/>
          </a:prstGeom>
          <a:noFill/>
          <a:ln/>
        </p:spPr>
        <p:txBody>
          <a:bodyPr wrap="square" lIns="0" tIns="0" rIns="0" bIns="0" rtlCol="0" anchor="t"/>
          <a:lstStyle/>
          <a:p>
            <a:pPr algn="ctr" indent="0" marL="0">
              <a:buNone/>
            </a:pPr>
            <a:r>
              <a:rPr lang="en-US" sz="2400" b="1" dirty="0">
                <a:solidFill>
                  <a:srgbClr val="5B6B63"/>
                </a:solidFill>
                <a:latin typeface="Cambria" pitchFamily="34" charset="0"/>
                <a:ea typeface="Cambria" pitchFamily="34" charset="-122"/>
                <a:cs typeface="Cambria" pitchFamily="34" charset="-120"/>
              </a:rPr>
              <a:t>Section en cours de mise à jour</a:t>
            </a:r>
            <a:endParaRPr lang="en-US" sz="2400" dirty="0"/>
          </a:p>
        </p:txBody>
      </p:sp>
      <p:sp>
        <p:nvSpPr>
          <p:cNvPr id="9" name="Text 6"/>
          <p:cNvSpPr txBox="1"/>
          <p:nvPr/>
        </p:nvSpPr>
        <p:spPr>
          <a:xfrm>
            <a:off x="548640" y="3886200"/>
            <a:ext cx="11094415" cy="365760"/>
          </a:xfrm>
          <a:prstGeom prst="rect">
            <a:avLst/>
          </a:prstGeom>
          <a:noFill/>
          <a:ln/>
        </p:spPr>
        <p:txBody>
          <a:bodyPr wrap="square" lIns="0" tIns="0" rIns="0" bIns="0" rtlCol="0" anchor="t"/>
          <a:lstStyle/>
          <a:p>
            <a:pPr algn="ctr" indent="0" marL="0">
              <a:buNone/>
            </a:pPr>
            <a:r>
              <a:rPr lang="en-US" sz="1400" i="1" dirty="0">
                <a:solidFill>
                  <a:srgbClr val="A7BFB2"/>
                </a:solidFill>
                <a:latin typeface="Calibri" pitchFamily="34" charset="0"/>
                <a:ea typeface="Calibri" pitchFamily="34" charset="-122"/>
                <a:cs typeface="Calibri" pitchFamily="34" charset="-120"/>
              </a:rPr>
              <a:t>à compléter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15084"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815084"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RÉGULARISATIONS · 1/2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Les classiques, et les élégantes</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600200"/>
            <a:ext cx="3566160" cy="4663440"/>
          </a:xfrm>
          <a:prstGeom prst="roundRect">
            <a:avLst>
              <a:gd name="adj" fmla="val 2564"/>
            </a:avLst>
          </a:prstGeom>
          <a:solidFill>
            <a:srgbClr val="F3F7F4"/>
          </a:solidFill>
          <a:ln w="12700">
            <a:solidFill>
              <a:srgbClr val="F3F7F4"/>
            </a:solidFill>
            <a:prstDash val="solid"/>
          </a:ln>
        </p:spPr>
      </p:sp>
      <p:sp>
        <p:nvSpPr>
          <p:cNvPr id="8" name="Text 5"/>
          <p:cNvSpPr txBox="1"/>
          <p:nvPr/>
        </p:nvSpPr>
        <p:spPr>
          <a:xfrm>
            <a:off x="777240" y="1755648"/>
            <a:ext cx="3108960" cy="274320"/>
          </a:xfrm>
          <a:prstGeom prst="rect">
            <a:avLst/>
          </a:prstGeom>
          <a:noFill/>
          <a:ln/>
        </p:spPr>
        <p:txBody>
          <a:bodyPr wrap="square" lIns="0" tIns="0" rIns="0" bIns="0" rtlCol="0" anchor="t"/>
          <a:lstStyle/>
          <a:p>
            <a:pPr indent="0" marL="0">
              <a:buNone/>
            </a:pPr>
            <a:r>
              <a:rPr lang="en-US" sz="1100" b="1" spc="100" kern="0" dirty="0">
                <a:solidFill>
                  <a:srgbClr val="2A7F72"/>
                </a:solidFill>
                <a:latin typeface="Calibri" pitchFamily="34" charset="0"/>
                <a:ea typeface="Calibri" pitchFamily="34" charset="-122"/>
                <a:cs typeface="Calibri" pitchFamily="34" charset="-120"/>
              </a:rPr>
              <a:t>L2 · RIDGE</a:t>
            </a:r>
            <a:endParaRPr lang="en-US" sz="1100" dirty="0"/>
          </a:p>
        </p:txBody>
      </p:sp>
      <p:sp>
        <p:nvSpPr>
          <p:cNvPr id="9" name="Text 6"/>
          <p:cNvSpPr txBox="1"/>
          <p:nvPr/>
        </p:nvSpPr>
        <p:spPr>
          <a:xfrm>
            <a:off x="777240" y="2103120"/>
            <a:ext cx="3200400" cy="548640"/>
          </a:xfrm>
          <a:prstGeom prst="rect">
            <a:avLst/>
          </a:prstGeom>
          <a:noFill/>
          <a:ln/>
        </p:spPr>
        <p:txBody>
          <a:bodyPr wrap="square" lIns="0" tIns="0" rIns="0" bIns="0" rtlCol="0" anchor="t"/>
          <a:lstStyle/>
          <a:p>
            <a:pPr indent="0" marL="0">
              <a:buNone/>
            </a:pPr>
            <a:r>
              <a:rPr lang="en-US" sz="2400" b="1" dirty="0">
                <a:solidFill>
                  <a:srgbClr val="1B2A24"/>
                </a:solidFill>
                <a:latin typeface="Cambria" pitchFamily="34" charset="0"/>
                <a:ea typeface="Cambria" pitchFamily="34" charset="-122"/>
                <a:cs typeface="Cambria" pitchFamily="34" charset="-120"/>
              </a:rPr>
              <a:t>perte + λ ‖w‖²</a:t>
            </a:r>
            <a:endParaRPr lang="en-US" sz="2400" dirty="0"/>
          </a:p>
        </p:txBody>
      </p:sp>
      <p:sp>
        <p:nvSpPr>
          <p:cNvPr id="10" name="Text 7"/>
          <p:cNvSpPr txBox="1"/>
          <p:nvPr/>
        </p:nvSpPr>
        <p:spPr>
          <a:xfrm>
            <a:off x="777240" y="2834640"/>
            <a:ext cx="3154680" cy="3291840"/>
          </a:xfrm>
          <a:prstGeom prst="rect">
            <a:avLst/>
          </a:prstGeom>
          <a:noFill/>
          <a:ln/>
        </p:spPr>
        <p:txBody>
          <a:bodyPr wrap="square" lIns="0" tIns="0" rIns="0" bIns="0" rtlCol="0" anchor="t"/>
          <a:lstStyle/>
          <a:p>
            <a:pPr marL="177800" indent="-177800">
              <a:spcAft>
                <a:spcPts val="1400"/>
              </a:spcAft>
              <a:buSzPct val="100000"/>
              <a:buChar char="•"/>
            </a:pPr>
            <a:r>
              <a:rPr lang="en-US" sz="1550" dirty="0">
                <a:solidFill>
                  <a:srgbClr val="1B2A24"/>
                </a:solidFill>
                <a:latin typeface="Calibri" pitchFamily="34" charset="0"/>
                <a:ea typeface="Calibri" pitchFamily="34" charset="-122"/>
                <a:cs typeface="Calibri" pitchFamily="34" charset="-120"/>
              </a:rPr>
              <a:t>Poids petits : la frontière ne repose pas sur quelques dimensions</a:t>
            </a:r>
            <a:endParaRPr lang="en-US" sz="1550" dirty="0"/>
          </a:p>
          <a:p>
            <a:pPr marL="177800" indent="-177800">
              <a:spcAft>
                <a:spcPts val="1400"/>
              </a:spcAft>
              <a:buSzPct val="100000"/>
              <a:buChar char="•"/>
            </a:pPr>
            <a:r>
              <a:rPr lang="en-US" sz="1550" dirty="0">
                <a:solidFill>
                  <a:srgbClr val="1B2A24"/>
                </a:solidFill>
                <a:latin typeface="Calibri" pitchFamily="34" charset="0"/>
                <a:ea typeface="Calibri" pitchFamily="34" charset="-122"/>
                <a:cs typeface="Calibri" pitchFamily="34" charset="-120"/>
              </a:rPr>
              <a:t>C choisi par validation groupée par point d'écoute</a:t>
            </a:r>
            <a:endParaRPr lang="en-US" sz="1550" dirty="0"/>
          </a:p>
          <a:p>
            <a:pPr marL="177800" indent="-177800">
              <a:spcAft>
                <a:spcPts val="1400"/>
              </a:spcAft>
              <a:buSzPct val="100000"/>
              <a:buChar char="•"/>
            </a:pPr>
            <a:r>
              <a:rPr lang="en-US" sz="1550" b="1" dirty="0">
                <a:solidFill>
                  <a:srgbClr val="2A7F72"/>
                </a:solidFill>
                <a:latin typeface="Calibri" pitchFamily="34" charset="0"/>
                <a:ea typeface="Calibri" pitchFamily="34" charset="-122"/>
                <a:cs typeface="Calibri" pitchFamily="34" charset="-120"/>
              </a:rPr>
              <a:t>En place</a:t>
            </a:r>
            <a:endParaRPr lang="en-US" sz="1550" dirty="0"/>
          </a:p>
        </p:txBody>
      </p:sp>
      <p:sp>
        <p:nvSpPr>
          <p:cNvPr id="11" name="Shape 8"/>
          <p:cNvSpPr/>
          <p:nvPr/>
        </p:nvSpPr>
        <p:spPr>
          <a:xfrm>
            <a:off x="4297680" y="1600200"/>
            <a:ext cx="3657600" cy="4663440"/>
          </a:xfrm>
          <a:prstGeom prst="roundRect">
            <a:avLst>
              <a:gd name="adj" fmla="val 2500"/>
            </a:avLst>
          </a:prstGeom>
          <a:solidFill>
            <a:srgbClr val="F3F7F4"/>
          </a:solidFill>
          <a:ln w="12700">
            <a:solidFill>
              <a:srgbClr val="F3F7F4"/>
            </a:solidFill>
            <a:prstDash val="solid"/>
          </a:ln>
        </p:spPr>
      </p:sp>
      <p:sp>
        <p:nvSpPr>
          <p:cNvPr id="12" name="Text 9"/>
          <p:cNvSpPr txBox="1"/>
          <p:nvPr/>
        </p:nvSpPr>
        <p:spPr>
          <a:xfrm>
            <a:off x="4526280" y="1755648"/>
            <a:ext cx="3200400" cy="274320"/>
          </a:xfrm>
          <a:prstGeom prst="rect">
            <a:avLst/>
          </a:prstGeom>
          <a:noFill/>
          <a:ln/>
        </p:spPr>
        <p:txBody>
          <a:bodyPr wrap="square" lIns="0" tIns="0" rIns="0" bIns="0" rtlCol="0" anchor="t"/>
          <a:lstStyle/>
          <a:p>
            <a:pPr indent="0" marL="0">
              <a:buNone/>
            </a:pPr>
            <a:r>
              <a:rPr lang="en-US" sz="1100" b="1" spc="100" kern="0" dirty="0">
                <a:solidFill>
                  <a:srgbClr val="2A7F72"/>
                </a:solidFill>
                <a:latin typeface="Calibri" pitchFamily="34" charset="0"/>
                <a:ea typeface="Calibri" pitchFamily="34" charset="-122"/>
                <a:cs typeface="Calibri" pitchFamily="34" charset="-120"/>
              </a:rPr>
              <a:t>SPECAUGMENT</a:t>
            </a:r>
            <a:endParaRPr lang="en-US" sz="1100" dirty="0"/>
          </a:p>
        </p:txBody>
      </p:sp>
      <p:pic>
        <p:nvPicPr>
          <p:cNvPr id="13" name="Image 0" descr="/home/user/Grenouille/documentation/presentation-suivi-2/figures/specaugment.png">    </p:cNvPr>
          <p:cNvPicPr>
            <a:picLocks noChangeAspect="1"/>
          </p:cNvPicPr>
          <p:nvPr/>
        </p:nvPicPr>
        <p:blipFill>
          <a:blip r:embed="rId1"/>
          <a:stretch>
            <a:fillRect/>
          </a:stretch>
        </p:blipFill>
        <p:spPr>
          <a:xfrm>
            <a:off x="4434840" y="2103120"/>
            <a:ext cx="3383280" cy="1082650"/>
          </a:xfrm>
          <a:prstGeom prst="rect">
            <a:avLst/>
          </a:prstGeom>
        </p:spPr>
      </p:pic>
      <p:sp>
        <p:nvSpPr>
          <p:cNvPr id="14" name="Text 10"/>
          <p:cNvSpPr txBox="1"/>
          <p:nvPr/>
        </p:nvSpPr>
        <p:spPr>
          <a:xfrm>
            <a:off x="4526280" y="3291840"/>
            <a:ext cx="3246120" cy="283464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B2A24"/>
                </a:solidFill>
                <a:latin typeface="Calibri" pitchFamily="34" charset="0"/>
                <a:ea typeface="Calibri" pitchFamily="34" charset="-122"/>
                <a:cs typeface="Calibri" pitchFamily="34" charset="-120"/>
              </a:rPr>
              <a:t>Masques aléatoires en temps et en fréquence</a:t>
            </a:r>
            <a:endParaRPr lang="en-US" sz="1350" dirty="0"/>
          </a:p>
          <a:p>
            <a:pPr marL="177800" indent="-177800">
              <a:spcAft>
                <a:spcPts val="800"/>
              </a:spcAft>
              <a:buSzPct val="100000"/>
              <a:buChar char="•"/>
            </a:pPr>
            <a:r>
              <a:rPr lang="en-US" sz="1350" dirty="0">
                <a:solidFill>
                  <a:srgbClr val="1B2A24"/>
                </a:solidFill>
                <a:latin typeface="Calibri" pitchFamily="34" charset="0"/>
                <a:ea typeface="Calibri" pitchFamily="34" charset="-122"/>
                <a:cs typeface="Calibri" pitchFamily="34" charset="-120"/>
              </a:rPr>
              <a:t>Sans effet sur un encodeur gelé : pour un réseau entraîné</a:t>
            </a:r>
            <a:endParaRPr lang="en-US" sz="1350" dirty="0"/>
          </a:p>
          <a:p>
            <a:pPr marL="177800" indent="-177800">
              <a:spcAft>
                <a:spcPts val="800"/>
              </a:spcAft>
              <a:buSzPct val="100000"/>
              <a:buChar char="•"/>
            </a:pPr>
            <a:r>
              <a:rPr lang="en-US" sz="1350" b="1" dirty="0">
                <a:solidFill>
                  <a:srgbClr val="C8553D"/>
                </a:solidFill>
                <a:latin typeface="Calibri" pitchFamily="34" charset="0"/>
                <a:ea typeface="Calibri" pitchFamily="34" charset="-122"/>
                <a:cs typeface="Calibri" pitchFamily="34" charset="-120"/>
              </a:rPr>
              <a:t>Exclure 4,4–5,5 kHz : sinon la note est effacée</a:t>
            </a:r>
            <a:endParaRPr lang="en-US" sz="1350" dirty="0"/>
          </a:p>
        </p:txBody>
      </p:sp>
      <p:sp>
        <p:nvSpPr>
          <p:cNvPr id="15" name="Shape 11"/>
          <p:cNvSpPr/>
          <p:nvPr/>
        </p:nvSpPr>
        <p:spPr>
          <a:xfrm>
            <a:off x="8138160" y="1600200"/>
            <a:ext cx="3504895" cy="4663440"/>
          </a:xfrm>
          <a:prstGeom prst="roundRect">
            <a:avLst>
              <a:gd name="adj" fmla="val 2609"/>
            </a:avLst>
          </a:prstGeom>
          <a:solidFill>
            <a:srgbClr val="0E2A24"/>
          </a:solidFill>
          <a:ln w="12700">
            <a:solidFill>
              <a:srgbClr val="0E2A24"/>
            </a:solidFill>
            <a:prstDash val="solid"/>
          </a:ln>
        </p:spPr>
      </p:sp>
      <p:sp>
        <p:nvSpPr>
          <p:cNvPr id="16" name="Text 12"/>
          <p:cNvSpPr txBox="1"/>
          <p:nvPr/>
        </p:nvSpPr>
        <p:spPr>
          <a:xfrm>
            <a:off x="8366760" y="1755648"/>
            <a:ext cx="3017520" cy="274320"/>
          </a:xfrm>
          <a:prstGeom prst="rect">
            <a:avLst/>
          </a:prstGeom>
          <a:noFill/>
          <a:ln/>
        </p:spPr>
        <p:txBody>
          <a:bodyPr wrap="square" lIns="0" tIns="0" rIns="0" bIns="0" rtlCol="0" anchor="t"/>
          <a:lstStyle/>
          <a:p>
            <a:pPr indent="0" marL="0">
              <a:buNone/>
            </a:pPr>
            <a:r>
              <a:rPr lang="en-US" sz="1100" b="1" spc="100" kern="0" dirty="0">
                <a:solidFill>
                  <a:srgbClr val="E9B44C"/>
                </a:solidFill>
                <a:latin typeface="Calibri" pitchFamily="34" charset="0"/>
                <a:ea typeface="Calibri" pitchFamily="34" charset="-122"/>
                <a:cs typeface="Calibri" pitchFamily="34" charset="-120"/>
              </a:rPr>
              <a:t>LES ÉLÉGANTES</a:t>
            </a:r>
            <a:endParaRPr lang="en-US" sz="1100" dirty="0"/>
          </a:p>
        </p:txBody>
      </p:sp>
      <p:sp>
        <p:nvSpPr>
          <p:cNvPr id="17" name="Text 13"/>
          <p:cNvSpPr txBox="1"/>
          <p:nvPr/>
        </p:nvSpPr>
        <p:spPr>
          <a:xfrm>
            <a:off x="8366760" y="2057400"/>
            <a:ext cx="3063240" cy="548640"/>
          </a:xfrm>
          <a:prstGeom prst="rect">
            <a:avLst/>
          </a:prstGeom>
          <a:noFill/>
          <a:ln/>
        </p:spPr>
        <p:txBody>
          <a:bodyPr wrap="square" lIns="0" tIns="0" rIns="0" bIns="0" rtlCol="0" anchor="t"/>
          <a:lstStyle/>
          <a:p>
            <a:pPr indent="0" marL="0">
              <a:buNone/>
            </a:pPr>
            <a:r>
              <a:rPr lang="en-US" sz="1300" i="1" dirty="0">
                <a:solidFill>
                  <a:srgbClr val="A7BFB2"/>
                </a:solidFill>
                <a:latin typeface="Calibri" pitchFamily="34" charset="0"/>
                <a:ea typeface="Calibri" pitchFamily="34" charset="-122"/>
                <a:cs typeface="Calibri" pitchFamily="34" charset="-120"/>
              </a:rPr>
              <a:t>tirer vers ce qu'on sait déjà, pas vers zéro</a:t>
            </a:r>
            <a:endParaRPr lang="en-US" sz="1300" dirty="0"/>
          </a:p>
        </p:txBody>
      </p:sp>
      <p:sp>
        <p:nvSpPr>
          <p:cNvPr id="18" name="Text 14"/>
          <p:cNvSpPr txBox="1"/>
          <p:nvPr/>
        </p:nvSpPr>
        <p:spPr>
          <a:xfrm>
            <a:off x="8366760" y="2743200"/>
            <a:ext cx="3063240" cy="365760"/>
          </a:xfrm>
          <a:prstGeom prst="rect">
            <a:avLst/>
          </a:prstGeom>
          <a:noFill/>
          <a:ln/>
        </p:spPr>
        <p:txBody>
          <a:bodyPr wrap="square" lIns="0" tIns="0" rIns="0" bIns="0" rtlCol="0" anchor="t"/>
          <a:lstStyle/>
          <a:p>
            <a:pPr indent="0" marL="0">
              <a:buNone/>
            </a:pPr>
            <a:r>
              <a:rPr lang="en-US" sz="1500" b="1" dirty="0">
                <a:solidFill>
                  <a:srgbClr val="E9B44C"/>
                </a:solidFill>
                <a:latin typeface="Calibri" pitchFamily="34" charset="0"/>
                <a:ea typeface="Calibri" pitchFamily="34" charset="-122"/>
                <a:cs typeface="Calibri" pitchFamily="34" charset="-120"/>
              </a:rPr>
              <a:t>R30  </a:t>
            </a:r>
            <a:pPr indent="0" marL="0">
              <a:buNone/>
            </a:pPr>
            <a:r>
              <a:rPr lang="en-US" sz="1500" b="1" dirty="0">
                <a:solidFill>
                  <a:srgbClr val="FFFFFF"/>
                </a:solidFill>
                <a:latin typeface="Cambria" pitchFamily="34" charset="0"/>
                <a:ea typeface="Cambria" pitchFamily="34" charset="-122"/>
                <a:cs typeface="Cambria" pitchFamily="34" charset="-120"/>
              </a:rPr>
              <a:t>λ ‖w − w_proto‖²</a:t>
            </a:r>
            <a:endParaRPr lang="en-US" sz="1500" dirty="0"/>
          </a:p>
        </p:txBody>
      </p:sp>
      <p:sp>
        <p:nvSpPr>
          <p:cNvPr id="19" name="Text 15"/>
          <p:cNvSpPr txBox="1"/>
          <p:nvPr/>
        </p:nvSpPr>
        <p:spPr>
          <a:xfrm>
            <a:off x="8366760" y="3127248"/>
            <a:ext cx="3063240" cy="640080"/>
          </a:xfrm>
          <a:prstGeom prst="rect">
            <a:avLst/>
          </a:prstGeom>
          <a:noFill/>
          <a:ln/>
        </p:spPr>
        <p:txBody>
          <a:bodyPr wrap="square" lIns="0" tIns="0" rIns="0" bIns="0" rtlCol="0" anchor="t"/>
          <a:lstStyle/>
          <a:p>
            <a:pPr indent="0" marL="0">
              <a:buNone/>
            </a:pPr>
            <a:r>
              <a:rPr lang="en-US" sz="1250" dirty="0">
                <a:solidFill>
                  <a:srgbClr val="A7BFB2"/>
                </a:solidFill>
                <a:latin typeface="Calibri" pitchFamily="34" charset="0"/>
                <a:ea typeface="Calibri" pitchFamily="34" charset="-122"/>
                <a:cs typeface="Calibri" pitchFamily="34" charset="-120"/>
              </a:rPr>
              <a:t>rester près du prototype tant qu'il y a peu d'exemples</a:t>
            </a:r>
            <a:endParaRPr lang="en-US" sz="1250" dirty="0"/>
          </a:p>
        </p:txBody>
      </p:sp>
      <p:sp>
        <p:nvSpPr>
          <p:cNvPr id="20" name="Text 16"/>
          <p:cNvSpPr txBox="1"/>
          <p:nvPr/>
        </p:nvSpPr>
        <p:spPr>
          <a:xfrm>
            <a:off x="8366760" y="3886200"/>
            <a:ext cx="3063240" cy="365760"/>
          </a:xfrm>
          <a:prstGeom prst="rect">
            <a:avLst/>
          </a:prstGeom>
          <a:noFill/>
          <a:ln/>
        </p:spPr>
        <p:txBody>
          <a:bodyPr wrap="square" lIns="0" tIns="0" rIns="0" bIns="0" rtlCol="0" anchor="t"/>
          <a:lstStyle/>
          <a:p>
            <a:pPr indent="0" marL="0">
              <a:buNone/>
            </a:pPr>
            <a:r>
              <a:rPr lang="en-US" sz="1500" b="1" dirty="0">
                <a:solidFill>
                  <a:srgbClr val="E9B44C"/>
                </a:solidFill>
                <a:latin typeface="Calibri" pitchFamily="34" charset="0"/>
                <a:ea typeface="Calibri" pitchFamily="34" charset="-122"/>
                <a:cs typeface="Calibri" pitchFamily="34" charset="-120"/>
              </a:rPr>
              <a:t>R31  </a:t>
            </a:r>
            <a:pPr indent="0" marL="0">
              <a:buNone/>
            </a:pPr>
            <a:r>
              <a:rPr lang="en-US" sz="1500" b="1" dirty="0">
                <a:solidFill>
                  <a:srgbClr val="FFFFFF"/>
                </a:solidFill>
                <a:latin typeface="Cambria" pitchFamily="34" charset="0"/>
                <a:ea typeface="Cambria" pitchFamily="34" charset="-122"/>
                <a:cs typeface="Cambria" pitchFamily="34" charset="-120"/>
              </a:rPr>
              <a:t>LDA rétrécie</a:t>
            </a:r>
            <a:endParaRPr lang="en-US" sz="1500" dirty="0"/>
          </a:p>
        </p:txBody>
      </p:sp>
      <p:sp>
        <p:nvSpPr>
          <p:cNvPr id="21" name="Text 17"/>
          <p:cNvSpPr txBox="1"/>
          <p:nvPr/>
        </p:nvSpPr>
        <p:spPr>
          <a:xfrm>
            <a:off x="8366760" y="4270248"/>
            <a:ext cx="3063240" cy="640080"/>
          </a:xfrm>
          <a:prstGeom prst="rect">
            <a:avLst/>
          </a:prstGeom>
          <a:noFill/>
          <a:ln/>
        </p:spPr>
        <p:txBody>
          <a:bodyPr wrap="square" lIns="0" tIns="0" rIns="0" bIns="0" rtlCol="0" anchor="t"/>
          <a:lstStyle/>
          <a:p>
            <a:pPr indent="0" marL="0">
              <a:buNone/>
            </a:pPr>
            <a:r>
              <a:rPr lang="en-US" sz="1250" dirty="0">
                <a:solidFill>
                  <a:srgbClr val="A7BFB2"/>
                </a:solidFill>
                <a:latin typeface="Calibri" pitchFamily="34" charset="0"/>
                <a:ea typeface="Calibri" pitchFamily="34" charset="-122"/>
                <a:cs typeface="Calibri" pitchFamily="34" charset="-120"/>
              </a:rPr>
              <a:t>du prototype à la logistique, en solution fermée</a:t>
            </a:r>
            <a:endParaRPr lang="en-US" sz="1250" dirty="0"/>
          </a:p>
        </p:txBody>
      </p:sp>
      <p:sp>
        <p:nvSpPr>
          <p:cNvPr id="22" name="Text 18"/>
          <p:cNvSpPr txBox="1"/>
          <p:nvPr/>
        </p:nvSpPr>
        <p:spPr>
          <a:xfrm>
            <a:off x="8366760" y="5029200"/>
            <a:ext cx="3063240" cy="365760"/>
          </a:xfrm>
          <a:prstGeom prst="rect">
            <a:avLst/>
          </a:prstGeom>
          <a:noFill/>
          <a:ln/>
        </p:spPr>
        <p:txBody>
          <a:bodyPr wrap="square" lIns="0" tIns="0" rIns="0" bIns="0" rtlCol="0" anchor="t"/>
          <a:lstStyle/>
          <a:p>
            <a:pPr indent="0" marL="0">
              <a:buNone/>
            </a:pPr>
            <a:r>
              <a:rPr lang="en-US" sz="1500" b="1" dirty="0">
                <a:solidFill>
                  <a:srgbClr val="E9B44C"/>
                </a:solidFill>
                <a:latin typeface="Calibri" pitchFamily="34" charset="0"/>
                <a:ea typeface="Calibri" pitchFamily="34" charset="-122"/>
                <a:cs typeface="Calibri" pitchFamily="34" charset="-120"/>
              </a:rPr>
              <a:t>L2-SP  </a:t>
            </a:r>
            <a:pPr indent="0" marL="0">
              <a:buNone/>
            </a:pPr>
            <a:r>
              <a:rPr lang="en-US" sz="1500" b="1" dirty="0">
                <a:solidFill>
                  <a:srgbClr val="FFFFFF"/>
                </a:solidFill>
                <a:latin typeface="Cambria" pitchFamily="34" charset="0"/>
                <a:ea typeface="Cambria" pitchFamily="34" charset="-122"/>
                <a:cs typeface="Cambria" pitchFamily="34" charset="-120"/>
              </a:rPr>
              <a:t>λ ‖θ − θ₀‖²</a:t>
            </a:r>
            <a:endParaRPr lang="en-US" sz="1500" dirty="0"/>
          </a:p>
        </p:txBody>
      </p:sp>
      <p:sp>
        <p:nvSpPr>
          <p:cNvPr id="23" name="Text 19"/>
          <p:cNvSpPr txBox="1"/>
          <p:nvPr/>
        </p:nvSpPr>
        <p:spPr>
          <a:xfrm>
            <a:off x="8366760" y="5413248"/>
            <a:ext cx="3063240" cy="640080"/>
          </a:xfrm>
          <a:prstGeom prst="rect">
            <a:avLst/>
          </a:prstGeom>
          <a:noFill/>
          <a:ln/>
        </p:spPr>
        <p:txBody>
          <a:bodyPr wrap="square" lIns="0" tIns="0" rIns="0" bIns="0" rtlCol="0" anchor="t"/>
          <a:lstStyle/>
          <a:p>
            <a:pPr indent="0" marL="0">
              <a:buNone/>
            </a:pPr>
            <a:r>
              <a:rPr lang="en-US" sz="1250" dirty="0">
                <a:solidFill>
                  <a:srgbClr val="A7BFB2"/>
                </a:solidFill>
                <a:latin typeface="Calibri" pitchFamily="34" charset="0"/>
                <a:ea typeface="Calibri" pitchFamily="34" charset="-122"/>
                <a:cs typeface="Calibri" pitchFamily="34" charset="-120"/>
              </a:rPr>
              <a:t>affiner un réseau sans oublier le pré-entraîné</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1815084" cy="292608"/>
          </a:xfrm>
          <a:prstGeom prst="roundRect">
            <a:avLst>
              <a:gd name="adj" fmla="val 50000"/>
            </a:avLst>
          </a:prstGeom>
          <a:solidFill>
            <a:srgbClr val="E4EEE8"/>
          </a:solidFill>
          <a:ln w="12700">
            <a:solidFill>
              <a:srgbClr val="E4EEE8"/>
            </a:solidFill>
            <a:prstDash val="solid"/>
          </a:ln>
        </p:spPr>
      </p:sp>
      <p:sp>
        <p:nvSpPr>
          <p:cNvPr id="3" name="Text 1"/>
          <p:cNvSpPr txBox="1"/>
          <p:nvPr/>
        </p:nvSpPr>
        <p:spPr>
          <a:xfrm>
            <a:off x="548640" y="365760"/>
            <a:ext cx="1815084" cy="292608"/>
          </a:xfrm>
          <a:prstGeom prst="rect">
            <a:avLst/>
          </a:prstGeom>
          <a:noFill/>
          <a:ln/>
        </p:spPr>
        <p:txBody>
          <a:bodyPr wrap="square" lIns="0" tIns="0" rIns="0" bIns="0" rtlCol="0" anchor="ctr"/>
          <a:lstStyle/>
          <a:p>
            <a:pPr algn="ctr" indent="0" marL="0">
              <a:buNone/>
            </a:pPr>
            <a:r>
              <a:rPr lang="en-US" sz="1000" b="1" spc="100" kern="0" dirty="0">
                <a:solidFill>
                  <a:srgbClr val="2A7F72"/>
                </a:solidFill>
                <a:latin typeface="Calibri" pitchFamily="34" charset="0"/>
                <a:ea typeface="Calibri" pitchFamily="34" charset="-122"/>
                <a:cs typeface="Calibri" pitchFamily="34" charset="-120"/>
              </a:rPr>
              <a:t>RÉGULARISATIONS · 2/2</a:t>
            </a:r>
            <a:endParaRPr lang="en-US" sz="1000" dirty="0"/>
          </a:p>
        </p:txBody>
      </p:sp>
      <p:sp>
        <p:nvSpPr>
          <p:cNvPr id="4" name="Text 2"/>
          <p:cNvSpPr txBox="1"/>
          <p:nvPr/>
        </p:nvSpPr>
        <p:spPr>
          <a:xfrm>
            <a:off x="548640" y="749808"/>
            <a:ext cx="11094415" cy="640080"/>
          </a:xfrm>
          <a:prstGeom prst="rect">
            <a:avLst/>
          </a:prstGeom>
          <a:noFill/>
          <a:ln/>
        </p:spPr>
        <p:txBody>
          <a:bodyPr wrap="square" lIns="0" tIns="0" rIns="0" bIns="0" rtlCol="0" anchor="ctr"/>
          <a:lstStyle/>
          <a:p>
            <a:pPr indent="0" marL="0">
              <a:buNone/>
            </a:pPr>
            <a:r>
              <a:rPr lang="en-US" sz="2800" b="1" dirty="0">
                <a:solidFill>
                  <a:srgbClr val="1B2A24"/>
                </a:solidFill>
                <a:latin typeface="Cambria" pitchFamily="34" charset="0"/>
                <a:ea typeface="Cambria" pitchFamily="34" charset="-122"/>
                <a:cs typeface="Cambria" pitchFamily="34" charset="-120"/>
              </a:rPr>
              <a:t>Pour de nouveaux points d'écoute : retirer ce qui dit le site</a:t>
            </a:r>
            <a:endParaRPr lang="en-US" sz="2800" dirty="0"/>
          </a:p>
        </p:txBody>
      </p:sp>
      <p:sp>
        <p:nvSpPr>
          <p:cNvPr id="5" name="Text 3"/>
          <p:cNvSpPr txBox="1"/>
          <p:nvPr/>
        </p:nvSpPr>
        <p:spPr>
          <a:xfrm>
            <a:off x="11277295" y="6473952"/>
            <a:ext cx="457200" cy="228600"/>
          </a:xfrm>
          <a:prstGeom prst="rect">
            <a:avLst/>
          </a:prstGeom>
          <a:noFill/>
          <a:ln/>
        </p:spPr>
        <p:txBody>
          <a:bodyPr wrap="square" lIns="0" tIns="0" rIns="0" bIns="0" rtlCol="0" anchor="t"/>
          <a:lstStyle/>
          <a:p>
            <a:pPr algn="r" indent="0" marL="0">
              <a:buNone/>
            </a:pPr>
            <a:r>
              <a:rPr lang="en-US" sz="900" dirty="0">
                <a:solidFill>
                  <a:srgbClr val="A7BFB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600200"/>
            <a:ext cx="4754880" cy="2103120"/>
          </a:xfrm>
          <a:prstGeom prst="roundRect">
            <a:avLst>
              <a:gd name="adj" fmla="val 4348"/>
            </a:avLst>
          </a:prstGeom>
          <a:solidFill>
            <a:srgbClr val="0E2A24"/>
          </a:solidFill>
          <a:ln w="12700">
            <a:solidFill>
              <a:srgbClr val="0E2A24"/>
            </a:solidFill>
            <a:prstDash val="solid"/>
          </a:ln>
        </p:spPr>
      </p:sp>
      <p:sp>
        <p:nvSpPr>
          <p:cNvPr id="8" name="Text 5"/>
          <p:cNvSpPr txBox="1"/>
          <p:nvPr/>
        </p:nvSpPr>
        <p:spPr>
          <a:xfrm>
            <a:off x="822960" y="1783080"/>
            <a:ext cx="4297680" cy="502920"/>
          </a:xfrm>
          <a:prstGeom prst="rect">
            <a:avLst/>
          </a:prstGeom>
          <a:noFill/>
          <a:ln/>
        </p:spPr>
        <p:txBody>
          <a:bodyPr wrap="square" lIns="0" tIns="0" rIns="0" bIns="0" rtlCol="0" anchor="t"/>
          <a:lstStyle/>
          <a:p>
            <a:pPr indent="0" marL="0">
              <a:buNone/>
            </a:pPr>
            <a:r>
              <a:rPr lang="en-US" sz="2200" dirty="0">
                <a:solidFill>
                  <a:srgbClr val="FFFFFF"/>
                </a:solidFill>
                <a:latin typeface="Cambria" pitchFamily="34" charset="0"/>
                <a:ea typeface="Cambria" pitchFamily="34" charset="-122"/>
                <a:cs typeface="Cambria" pitchFamily="34" charset="-120"/>
              </a:rPr>
              <a:t>embedding = </a:t>
            </a:r>
            <a:pPr indent="0" marL="0">
              <a:buNone/>
            </a:pPr>
            <a:r>
              <a:rPr lang="en-US" sz="2200" b="1" dirty="0">
                <a:solidFill>
                  <a:srgbClr val="E9B44C"/>
                </a:solidFill>
                <a:latin typeface="Cambria" pitchFamily="34" charset="0"/>
                <a:ea typeface="Cambria" pitchFamily="34" charset="-122"/>
                <a:cs typeface="Cambria" pitchFamily="34" charset="-120"/>
              </a:rPr>
              <a:t>chant</a:t>
            </a:r>
            <a:pPr indent="0" marL="0">
              <a:buNone/>
            </a:pPr>
            <a:r>
              <a:rPr lang="en-US" sz="2200" dirty="0">
                <a:solidFill>
                  <a:srgbClr val="FFFFFF"/>
                </a:solidFill>
                <a:latin typeface="Cambria" pitchFamily="34" charset="0"/>
                <a:ea typeface="Cambria" pitchFamily="34" charset="-122"/>
                <a:cs typeface="Cambria" pitchFamily="34" charset="-120"/>
              </a:rPr>
              <a:t> + </a:t>
            </a:r>
            <a:pPr indent="0" marL="0">
              <a:buNone/>
            </a:pPr>
            <a:r>
              <a:rPr lang="en-US" sz="2200" b="1" dirty="0">
                <a:solidFill>
                  <a:srgbClr val="A7BFB2"/>
                </a:solidFill>
                <a:latin typeface="Cambria" pitchFamily="34" charset="0"/>
                <a:ea typeface="Cambria" pitchFamily="34" charset="-122"/>
                <a:cs typeface="Cambria" pitchFamily="34" charset="-120"/>
              </a:rPr>
              <a:t>fond du point</a:t>
            </a:r>
            <a:endParaRPr lang="en-US" sz="2200" dirty="0"/>
          </a:p>
        </p:txBody>
      </p:sp>
      <p:sp>
        <p:nvSpPr>
          <p:cNvPr id="9" name="Text 6"/>
          <p:cNvSpPr txBox="1"/>
          <p:nvPr/>
        </p:nvSpPr>
        <p:spPr>
          <a:xfrm>
            <a:off x="822960" y="2377440"/>
            <a:ext cx="4251960" cy="11887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La note ≈ 2 % de la fenêtre : le fond domine, les embeddings se groupent par site. Retirer le fond rend le chant comparable d'un point à l'autre.</a:t>
            </a:r>
            <a:endParaRPr lang="en-US" sz="1350" dirty="0"/>
          </a:p>
        </p:txBody>
      </p:sp>
      <p:sp>
        <p:nvSpPr>
          <p:cNvPr id="10" name="Shape 7"/>
          <p:cNvSpPr/>
          <p:nvPr/>
        </p:nvSpPr>
        <p:spPr>
          <a:xfrm>
            <a:off x="548640" y="3886200"/>
            <a:ext cx="4754880" cy="2377440"/>
          </a:xfrm>
          <a:prstGeom prst="roundRect">
            <a:avLst>
              <a:gd name="adj" fmla="val 3846"/>
            </a:avLst>
          </a:prstGeom>
          <a:solidFill>
            <a:srgbClr val="E4EEE8"/>
          </a:solidFill>
          <a:ln w="12700">
            <a:solidFill>
              <a:srgbClr val="E4EEE8"/>
            </a:solidFill>
            <a:prstDash val="solid"/>
          </a:ln>
        </p:spPr>
      </p:sp>
      <p:sp>
        <p:nvSpPr>
          <p:cNvPr id="11" name="Text 8"/>
          <p:cNvSpPr txBox="1"/>
          <p:nvPr/>
        </p:nvSpPr>
        <p:spPr>
          <a:xfrm>
            <a:off x="822960" y="4023360"/>
            <a:ext cx="4206240" cy="274320"/>
          </a:xfrm>
          <a:prstGeom prst="rect">
            <a:avLst/>
          </a:prstGeom>
          <a:noFill/>
          <a:ln/>
        </p:spPr>
        <p:txBody>
          <a:bodyPr wrap="square" lIns="0" tIns="0" rIns="0" bIns="0" rtlCol="0" anchor="t"/>
          <a:lstStyle/>
          <a:p>
            <a:pPr indent="0" marL="0">
              <a:buNone/>
            </a:pPr>
            <a:r>
              <a:rPr lang="en-US" sz="1100" b="1" spc="100" kern="0" dirty="0">
                <a:solidFill>
                  <a:srgbClr val="2A7F72"/>
                </a:solidFill>
                <a:latin typeface="Calibri" pitchFamily="34" charset="0"/>
                <a:ea typeface="Calibri" pitchFamily="34" charset="-122"/>
                <a:cs typeface="Calibri" pitchFamily="34" charset="-120"/>
              </a:rPr>
              <a:t>RÈGLE</a:t>
            </a:r>
            <a:endParaRPr lang="en-US" sz="1100" dirty="0"/>
          </a:p>
        </p:txBody>
      </p:sp>
      <p:sp>
        <p:nvSpPr>
          <p:cNvPr id="12" name="Text 9"/>
          <p:cNvSpPr txBox="1"/>
          <p:nvPr/>
        </p:nvSpPr>
        <p:spPr>
          <a:xfrm>
            <a:off x="822960" y="4389120"/>
            <a:ext cx="4206240" cy="1737360"/>
          </a:xfrm>
          <a:prstGeom prst="rect">
            <a:avLst/>
          </a:prstGeom>
          <a:noFill/>
          <a:ln/>
        </p:spPr>
        <p:txBody>
          <a:bodyPr wrap="square" lIns="0" tIns="0" rIns="0" bIns="0" rtlCol="0" anchor="t"/>
          <a:lstStyle/>
          <a:p>
            <a:pPr indent="0" marL="0">
              <a:buNone/>
            </a:pPr>
            <a:r>
              <a:rPr lang="en-US" sz="1500" dirty="0">
                <a:solidFill>
                  <a:srgbClr val="1B2A24"/>
                </a:solidFill>
                <a:latin typeface="Calibri" pitchFamily="34" charset="0"/>
                <a:ea typeface="Calibri" pitchFamily="34" charset="-122"/>
                <a:cs typeface="Calibri" pitchFamily="34" charset="-120"/>
              </a:rPr>
              <a:t>Toujours jugées sur des points tenus à l'écart, jamais en validation croisée sur des points connus : le raccourci du site y reste vrai.</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577840" y="1600200"/>
          <a:ext cx="6062472" cy="914400"/>
        </p:xfrm>
        <a:graphic>
          <a:graphicData uri="http://schemas.openxmlformats.org/drawingml/2006/table">
            <a:tbl>
              <a:tblPr/>
              <a:tblGrid>
                <a:gridCol w="2148840"/>
                <a:gridCol w="3913632"/>
              </a:tblGrid>
              <a:tr h="5760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Régularisation</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 qu'elle fait</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0E2A24"/>
                    </a:solidFill>
                  </a:tcPr>
                </a:tc>
              </a:tr>
              <a:tr h="576072">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R19 · centrage par point</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soustrait la moyenne des embeddings du point</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576072">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R20 · AdaBN par site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centre et réduit chaque site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r h="576072">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R21 · retrait de directions</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efface ce qui prédit le micro (INLP, LEACE) ; jamais avec R19</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576072">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R37 · biais par point</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un biais par point, rétréci vers 0 (modèle mixte)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r h="576072">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DANN</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représentation où le micro est indevinable</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r h="576072">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R1 · mélange de fond</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notes collées sur le fond d'autres sites</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FFFFF"/>
                    </a:solidFill>
                  </a:tcPr>
                </a:tc>
              </a:tr>
              <a:tr h="576072">
                <a:tc>
                  <a:txBody>
                    <a:bodyPr/>
                    <a:lstStyle/>
                    <a:p>
                      <a:pPr indent="0" marL="0">
                        <a:buNone/>
                      </a:pPr>
                      <a:r>
                        <a:rPr lang="en-US" sz="1300" b="1" dirty="0">
                          <a:solidFill>
                            <a:srgbClr val="8A5A00"/>
                          </a:solidFill>
                          <a:latin typeface="Calibri" pitchFamily="34" charset="0"/>
                          <a:ea typeface="Calibri" pitchFamily="34" charset="-122"/>
                          <a:cs typeface="Calibri" pitchFamily="34" charset="-120"/>
                        </a:rPr>
                        <a:t>Tâches auxiliaires</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c>
                  <a:txBody>
                    <a:bodyPr/>
                    <a:lstStyle/>
                    <a:p>
                      <a:pPr indent="0" marL="0">
                        <a:buNone/>
                      </a:pPr>
                      <a:r>
                        <a:rPr lang="en-US" sz="1300" dirty="0">
                          <a:solidFill>
                            <a:srgbClr val="1B2A24"/>
                          </a:solidFill>
                          <a:latin typeface="Calibri" pitchFamily="34" charset="0"/>
                          <a:ea typeface="Calibri" pitchFamily="34" charset="-122"/>
                          <a:cs typeface="Calibri" pitchFamily="34" charset="-120"/>
                        </a:rPr>
                        <a:t>solo / chœur et qualité A/B/C, apprises à côté de la décision</a:t>
                      </a:r>
                      <a:endParaRPr lang="en-US" sz="1300" dirty="0">
                        <a:latin typeface="Calibri" charset="0"/>
                        <a:ea typeface="Calibri" charset="0"/>
                        <a:cs typeface="Calibri" charset="0"/>
                      </a:endParaRPr>
                    </a:p>
                  </a:txBody>
                  <a:tcPr marL="64008" marR="64008" marT="64008" marB="64008" anchor="ctr">
                    <a:lnL w="6350" cap="flat" cmpd="sng" algn="ctr">
                      <a:solidFill>
                        <a:srgbClr val="CFDDD5"/>
                      </a:solidFill>
                      <a:prstDash val="solid"/>
                      <a:round/>
                      <a:headEnd type="none" w="med" len="med"/>
                      <a:tailEnd type="none" w="med" len="med"/>
                    </a:lnL>
                    <a:lnR w="6350" cap="flat" cmpd="sng" algn="ctr">
                      <a:solidFill>
                        <a:srgbClr val="CFDDD5"/>
                      </a:solidFill>
                      <a:prstDash val="solid"/>
                      <a:round/>
                      <a:headEnd type="none" w="med" len="med"/>
                      <a:tailEnd type="none" w="med" len="med"/>
                    </a:lnR>
                    <a:lnT w="6350" cap="flat" cmpd="sng" algn="ctr">
                      <a:solidFill>
                        <a:srgbClr val="CFDDD5"/>
                      </a:solidFill>
                      <a:prstDash val="solid"/>
                      <a:round/>
                      <a:headEnd type="none" w="med" len="med"/>
                      <a:tailEnd type="none" w="med" len="med"/>
                    </a:lnT>
                    <a:lnB w="6350" cap="flat" cmpd="sng" algn="ctr">
                      <a:solidFill>
                        <a:srgbClr val="CFDDD5"/>
                      </a:solidFill>
                      <a:prstDash val="solid"/>
                      <a:round/>
                      <a:headEnd type="none" w="med" len="med"/>
                      <a:tailEnd type="none" w="med" len="med"/>
                    </a:lnB>
                    <a:solidFill>
                      <a:srgbClr val="F3F7F4"/>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548640" y="502920"/>
            <a:ext cx="3291840" cy="329184"/>
          </a:xfrm>
          <a:prstGeom prst="roundRect">
            <a:avLst>
              <a:gd name="adj" fmla="val 50000"/>
            </a:avLst>
          </a:prstGeom>
          <a:solidFill>
            <a:srgbClr val="173D34"/>
          </a:solidFill>
          <a:ln w="12700">
            <a:solidFill>
              <a:srgbClr val="173D34"/>
            </a:solidFill>
            <a:prstDash val="solid"/>
          </a:ln>
        </p:spPr>
      </p:sp>
      <p:sp>
        <p:nvSpPr>
          <p:cNvPr id="3" name="Text 1"/>
          <p:cNvSpPr txBox="1"/>
          <p:nvPr/>
        </p:nvSpPr>
        <p:spPr>
          <a:xfrm>
            <a:off x="548640" y="502920"/>
            <a:ext cx="3291840" cy="329184"/>
          </a:xfrm>
          <a:prstGeom prst="rect">
            <a:avLst/>
          </a:prstGeom>
          <a:noFill/>
          <a:ln/>
        </p:spPr>
        <p:txBody>
          <a:bodyPr wrap="square" lIns="0" tIns="0" rIns="0" bIns="0" rtlCol="0" anchor="ctr"/>
          <a:lstStyle/>
          <a:p>
            <a:pPr algn="ctr" indent="0" marL="0">
              <a:buNone/>
            </a:pPr>
            <a:r>
              <a:rPr lang="en-US" sz="1100" b="1" spc="100" kern="0" dirty="0">
                <a:solidFill>
                  <a:srgbClr val="E9B44C"/>
                </a:solidFill>
                <a:latin typeface="Calibri" pitchFamily="34" charset="0"/>
                <a:ea typeface="Calibri" pitchFamily="34" charset="-122"/>
                <a:cs typeface="Calibri" pitchFamily="34" charset="-120"/>
              </a:rPr>
              <a:t>D'ICI LA PROCHAINE RÉUNION</a:t>
            </a:r>
            <a:endParaRPr lang="en-US" sz="1100" dirty="0"/>
          </a:p>
        </p:txBody>
      </p:sp>
      <p:sp>
        <p:nvSpPr>
          <p:cNvPr id="4" name="Text 2"/>
          <p:cNvSpPr txBox="1"/>
          <p:nvPr/>
        </p:nvSpPr>
        <p:spPr>
          <a:xfrm>
            <a:off x="548640" y="960120"/>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Les deux à trois prochaines semaines</a:t>
            </a:r>
            <a:endParaRPr lang="en-US" sz="3200" dirty="0"/>
          </a:p>
        </p:txBody>
      </p:sp>
      <p:sp>
        <p:nvSpPr>
          <p:cNvPr id="5" name="Shape 3"/>
          <p:cNvSpPr/>
          <p:nvPr/>
        </p:nvSpPr>
        <p:spPr>
          <a:xfrm>
            <a:off x="822960" y="2286000"/>
            <a:ext cx="10545775" cy="0"/>
          </a:xfrm>
          <a:prstGeom prst="line">
            <a:avLst/>
          </a:prstGeom>
          <a:noFill/>
          <a:ln w="25400">
            <a:solidFill>
              <a:srgbClr val="2A7F72"/>
            </a:solidFill>
            <a:prstDash val="solid"/>
          </a:ln>
        </p:spPr>
      </p:sp>
      <p:sp>
        <p:nvSpPr>
          <p:cNvPr id="6" name="Shape 4"/>
          <p:cNvSpPr/>
          <p:nvPr/>
        </p:nvSpPr>
        <p:spPr>
          <a:xfrm>
            <a:off x="640080" y="2066544"/>
            <a:ext cx="438912" cy="438912"/>
          </a:xfrm>
          <a:prstGeom prst="ellipse">
            <a:avLst/>
          </a:prstGeom>
          <a:solidFill>
            <a:srgbClr val="2A7F72"/>
          </a:solidFill>
          <a:ln w="12700">
            <a:solidFill>
              <a:srgbClr val="2A7F72"/>
            </a:solidFill>
            <a:prstDash val="solid"/>
          </a:ln>
        </p:spPr>
      </p:sp>
      <p:sp>
        <p:nvSpPr>
          <p:cNvPr id="7" name="Text 5"/>
          <p:cNvSpPr txBox="1"/>
          <p:nvPr/>
        </p:nvSpPr>
        <p:spPr>
          <a:xfrm>
            <a:off x="640080" y="20665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Shape 6"/>
          <p:cNvSpPr/>
          <p:nvPr/>
        </p:nvSpPr>
        <p:spPr>
          <a:xfrm>
            <a:off x="594360" y="2743200"/>
            <a:ext cx="2545004" cy="2377440"/>
          </a:xfrm>
          <a:prstGeom prst="roundRect">
            <a:avLst>
              <a:gd name="adj" fmla="val 3846"/>
            </a:avLst>
          </a:prstGeom>
          <a:solidFill>
            <a:srgbClr val="173D34"/>
          </a:solidFill>
          <a:ln w="12700">
            <a:solidFill>
              <a:srgbClr val="173D34"/>
            </a:solidFill>
            <a:prstDash val="solid"/>
          </a:ln>
        </p:spPr>
      </p:sp>
      <p:sp>
        <p:nvSpPr>
          <p:cNvPr id="9" name="Text 7"/>
          <p:cNvSpPr txBox="1"/>
          <p:nvPr/>
        </p:nvSpPr>
        <p:spPr>
          <a:xfrm>
            <a:off x="822960" y="2926080"/>
            <a:ext cx="2133524"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Annoter mon jeu</a:t>
            </a:r>
            <a:endParaRPr lang="en-US" sz="1800" dirty="0"/>
          </a:p>
        </p:txBody>
      </p:sp>
      <p:sp>
        <p:nvSpPr>
          <p:cNvPr id="10" name="Text 8"/>
          <p:cNvSpPr txBox="1"/>
          <p:nvPr/>
        </p:nvSpPr>
        <p:spPr>
          <a:xfrm>
            <a:off x="822960" y="3657600"/>
            <a:ext cx="2133524" cy="1371600"/>
          </a:xfrm>
          <a:prstGeom prst="rect">
            <a:avLst/>
          </a:prstGeom>
          <a:noFill/>
          <a:ln/>
        </p:spPr>
        <p:txBody>
          <a:bodyPr wrap="square" lIns="0" tIns="0" rIns="0" bIns="0" rtlCol="0" anchor="t"/>
          <a:lstStyle/>
          <a:p>
            <a:pPr indent="0" marL="0">
              <a:buNone/>
            </a:pPr>
            <a:r>
              <a:rPr lang="en-US" sz="1350" dirty="0">
                <a:solidFill>
                  <a:srgbClr val="A7BFB2"/>
                </a:solidFill>
                <a:latin typeface="Calibri" pitchFamily="34" charset="0"/>
                <a:ea typeface="Calibri" pitchFamily="34" charset="-122"/>
                <a:cs typeface="Calibri" pitchFamily="34" charset="-120"/>
              </a:rPr>
              <a:t>lot d'entraînement (≈ 450 extraits de 30 s) et jeu d'évaluation (≈ 250 enregistrements entiers), tirés sans détecteur</a:t>
            </a:r>
            <a:endParaRPr lang="en-US" sz="1350" dirty="0"/>
          </a:p>
        </p:txBody>
      </p:sp>
      <p:sp>
        <p:nvSpPr>
          <p:cNvPr id="11" name="Shape 9"/>
          <p:cNvSpPr/>
          <p:nvPr/>
        </p:nvSpPr>
        <p:spPr>
          <a:xfrm>
            <a:off x="3413684" y="2066544"/>
            <a:ext cx="438912" cy="438912"/>
          </a:xfrm>
          <a:prstGeom prst="ellipse">
            <a:avLst/>
          </a:prstGeom>
          <a:solidFill>
            <a:srgbClr val="2A7F72"/>
          </a:solidFill>
          <a:ln w="12700">
            <a:solidFill>
              <a:srgbClr val="2A7F72"/>
            </a:solidFill>
            <a:prstDash val="solid"/>
          </a:ln>
        </p:spPr>
      </p:sp>
      <p:sp>
        <p:nvSpPr>
          <p:cNvPr id="12" name="Text 10"/>
          <p:cNvSpPr txBox="1"/>
          <p:nvPr/>
        </p:nvSpPr>
        <p:spPr>
          <a:xfrm>
            <a:off x="3413684" y="20665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Shape 11"/>
          <p:cNvSpPr/>
          <p:nvPr/>
        </p:nvSpPr>
        <p:spPr>
          <a:xfrm>
            <a:off x="3367964" y="2743200"/>
            <a:ext cx="2545004" cy="2377440"/>
          </a:xfrm>
          <a:prstGeom prst="roundRect">
            <a:avLst>
              <a:gd name="adj" fmla="val 3846"/>
            </a:avLst>
          </a:prstGeom>
          <a:solidFill>
            <a:srgbClr val="173D34"/>
          </a:solidFill>
          <a:ln w="12700">
            <a:solidFill>
              <a:srgbClr val="173D34"/>
            </a:solidFill>
            <a:prstDash val="solid"/>
          </a:ln>
        </p:spPr>
      </p:sp>
      <p:sp>
        <p:nvSpPr>
          <p:cNvPr id="14" name="Text 12"/>
          <p:cNvSpPr txBox="1"/>
          <p:nvPr/>
        </p:nvSpPr>
        <p:spPr>
          <a:xfrm>
            <a:off x="3596564" y="2926080"/>
            <a:ext cx="2133524"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Vérifier avec Élodie et Benoît</a:t>
            </a:r>
            <a:endParaRPr lang="en-US" sz="1800" dirty="0"/>
          </a:p>
        </p:txBody>
      </p:sp>
      <p:sp>
        <p:nvSpPr>
          <p:cNvPr id="15" name="Text 13"/>
          <p:cNvSpPr txBox="1"/>
          <p:nvPr/>
        </p:nvSpPr>
        <p:spPr>
          <a:xfrm>
            <a:off x="3596564" y="3657600"/>
            <a:ext cx="2133524" cy="1371600"/>
          </a:xfrm>
          <a:prstGeom prst="rect">
            <a:avLst/>
          </a:prstGeom>
          <a:noFill/>
          <a:ln/>
        </p:spPr>
        <p:txBody>
          <a:bodyPr wrap="square" lIns="0" tIns="0" rIns="0" bIns="0" rtlCol="0" anchor="t"/>
          <a:lstStyle/>
          <a:p>
            <a:pPr indent="0" marL="0">
              <a:buNone/>
            </a:pPr>
            <a:r>
              <a:rPr lang="en-US" sz="1350" dirty="0">
                <a:solidFill>
                  <a:srgbClr val="A7BFB2"/>
                </a:solidFill>
                <a:latin typeface="Calibri" pitchFamily="34" charset="0"/>
                <a:ea typeface="Calibri" pitchFamily="34" charset="-122"/>
                <a:cs typeface="Calibri" pitchFamily="34" charset="-120"/>
              </a:rPr>
              <a:t>paquet à l'aveugle, ≈ 2 h 30 d'écoute chacun ; corrections ; go écrit</a:t>
            </a:r>
            <a:endParaRPr lang="en-US" sz="1350" dirty="0"/>
          </a:p>
        </p:txBody>
      </p:sp>
      <p:sp>
        <p:nvSpPr>
          <p:cNvPr id="16" name="Shape 14"/>
          <p:cNvSpPr/>
          <p:nvPr/>
        </p:nvSpPr>
        <p:spPr>
          <a:xfrm>
            <a:off x="6187288" y="2066544"/>
            <a:ext cx="438912" cy="438912"/>
          </a:xfrm>
          <a:prstGeom prst="ellipse">
            <a:avLst/>
          </a:prstGeom>
          <a:solidFill>
            <a:srgbClr val="2A7F72"/>
          </a:solidFill>
          <a:ln w="12700">
            <a:solidFill>
              <a:srgbClr val="2A7F72"/>
            </a:solidFill>
            <a:prstDash val="solid"/>
          </a:ln>
        </p:spPr>
      </p:sp>
      <p:sp>
        <p:nvSpPr>
          <p:cNvPr id="17" name="Text 15"/>
          <p:cNvSpPr txBox="1"/>
          <p:nvPr/>
        </p:nvSpPr>
        <p:spPr>
          <a:xfrm>
            <a:off x="6187288" y="20665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Shape 16"/>
          <p:cNvSpPr/>
          <p:nvPr/>
        </p:nvSpPr>
        <p:spPr>
          <a:xfrm>
            <a:off x="6141568" y="2743200"/>
            <a:ext cx="2545004" cy="2377440"/>
          </a:xfrm>
          <a:prstGeom prst="roundRect">
            <a:avLst>
              <a:gd name="adj" fmla="val 3846"/>
            </a:avLst>
          </a:prstGeom>
          <a:solidFill>
            <a:srgbClr val="173D34"/>
          </a:solidFill>
          <a:ln w="12700">
            <a:solidFill>
              <a:srgbClr val="173D34"/>
            </a:solidFill>
            <a:prstDash val="solid"/>
          </a:ln>
        </p:spPr>
      </p:sp>
      <p:sp>
        <p:nvSpPr>
          <p:cNvPr id="19" name="Text 17"/>
          <p:cNvSpPr txBox="1"/>
          <p:nvPr/>
        </p:nvSpPr>
        <p:spPr>
          <a:xfrm>
            <a:off x="6370168" y="2926080"/>
            <a:ext cx="2133524" cy="6858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Benchmarker sur mes données</a:t>
            </a:r>
            <a:endParaRPr lang="en-US" sz="1800" dirty="0"/>
          </a:p>
        </p:txBody>
      </p:sp>
      <p:sp>
        <p:nvSpPr>
          <p:cNvPr id="20" name="Text 18"/>
          <p:cNvSpPr txBox="1"/>
          <p:nvPr/>
        </p:nvSpPr>
        <p:spPr>
          <a:xfrm>
            <a:off x="6370168" y="3657600"/>
            <a:ext cx="2133524" cy="1371600"/>
          </a:xfrm>
          <a:prstGeom prst="rect">
            <a:avLst/>
          </a:prstGeom>
          <a:noFill/>
          <a:ln/>
        </p:spPr>
        <p:txBody>
          <a:bodyPr wrap="square" lIns="0" tIns="0" rIns="0" bIns="0" rtlCol="0" anchor="t"/>
          <a:lstStyle/>
          <a:p>
            <a:pPr indent="0" marL="0">
              <a:buNone/>
            </a:pPr>
            <a:r>
              <a:rPr lang="en-US" sz="1350" dirty="0">
                <a:solidFill>
                  <a:srgbClr val="A7BFB2"/>
                </a:solidFill>
                <a:latin typeface="Calibri" pitchFamily="34" charset="0"/>
                <a:ea typeface="Calibri" pitchFamily="34" charset="-122"/>
                <a:cs typeface="Calibri" pitchFamily="34" charset="-120"/>
              </a:rPr>
              <a:t>même gabarit que le benchmark AnuraSet, sur des points tenus à l'écart</a:t>
            </a:r>
            <a:endParaRPr lang="en-US" sz="1350" dirty="0"/>
          </a:p>
        </p:txBody>
      </p:sp>
      <p:sp>
        <p:nvSpPr>
          <p:cNvPr id="21" name="Shape 19"/>
          <p:cNvSpPr/>
          <p:nvPr/>
        </p:nvSpPr>
        <p:spPr>
          <a:xfrm>
            <a:off x="8960891" y="2066544"/>
            <a:ext cx="438912" cy="438912"/>
          </a:xfrm>
          <a:prstGeom prst="ellipse">
            <a:avLst/>
          </a:prstGeom>
          <a:solidFill>
            <a:srgbClr val="E9B44C"/>
          </a:solidFill>
          <a:ln w="12700">
            <a:solidFill>
              <a:srgbClr val="E9B44C"/>
            </a:solidFill>
            <a:prstDash val="solid"/>
          </a:ln>
        </p:spPr>
      </p:sp>
      <p:sp>
        <p:nvSpPr>
          <p:cNvPr id="22" name="Text 20"/>
          <p:cNvSpPr txBox="1"/>
          <p:nvPr/>
        </p:nvSpPr>
        <p:spPr>
          <a:xfrm>
            <a:off x="8960891" y="20665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Shape 21"/>
          <p:cNvSpPr/>
          <p:nvPr/>
        </p:nvSpPr>
        <p:spPr>
          <a:xfrm>
            <a:off x="8915171" y="2743200"/>
            <a:ext cx="2545004" cy="2377440"/>
          </a:xfrm>
          <a:prstGeom prst="roundRect">
            <a:avLst>
              <a:gd name="adj" fmla="val 3846"/>
            </a:avLst>
          </a:prstGeom>
          <a:solidFill>
            <a:srgbClr val="173D34"/>
          </a:solidFill>
          <a:ln w="12700">
            <a:solidFill>
              <a:srgbClr val="173D34"/>
            </a:solidFill>
            <a:prstDash val="solid"/>
          </a:ln>
        </p:spPr>
      </p:sp>
      <p:sp>
        <p:nvSpPr>
          <p:cNvPr id="24" name="Text 22"/>
          <p:cNvSpPr txBox="1"/>
          <p:nvPr/>
        </p:nvSpPr>
        <p:spPr>
          <a:xfrm>
            <a:off x="9143771" y="2926080"/>
            <a:ext cx="2133524" cy="685800"/>
          </a:xfrm>
          <a:prstGeom prst="rect">
            <a:avLst/>
          </a:prstGeom>
          <a:noFill/>
          <a:ln/>
        </p:spPr>
        <p:txBody>
          <a:bodyPr wrap="square" lIns="0" tIns="0" rIns="0" bIns="0" rtlCol="0" anchor="t"/>
          <a:lstStyle/>
          <a:p>
            <a:pPr indent="0" marL="0">
              <a:buNone/>
            </a:pPr>
            <a:r>
              <a:rPr lang="en-US" sz="1800" b="1" dirty="0">
                <a:solidFill>
                  <a:srgbClr val="E9B44C"/>
                </a:solidFill>
                <a:latin typeface="Calibri" pitchFamily="34" charset="0"/>
                <a:ea typeface="Calibri" pitchFamily="34" charset="-122"/>
                <a:cs typeface="Calibri" pitchFamily="34" charset="-120"/>
              </a:rPr>
              <a:t>Présenter le benchmark</a:t>
            </a:r>
            <a:endParaRPr lang="en-US" sz="1800" dirty="0"/>
          </a:p>
        </p:txBody>
      </p:sp>
      <p:sp>
        <p:nvSpPr>
          <p:cNvPr id="25" name="Text 23"/>
          <p:cNvSpPr txBox="1"/>
          <p:nvPr/>
        </p:nvSpPr>
        <p:spPr>
          <a:xfrm>
            <a:off x="9143771" y="3657600"/>
            <a:ext cx="2133524" cy="1371600"/>
          </a:xfrm>
          <a:prstGeom prst="rect">
            <a:avLst/>
          </a:prstGeom>
          <a:noFill/>
          <a:ln/>
        </p:spPr>
        <p:txBody>
          <a:bodyPr wrap="square" lIns="0" tIns="0" rIns="0" bIns="0" rtlCol="0" anchor="t"/>
          <a:lstStyle/>
          <a:p>
            <a:pPr indent="0" marL="0">
              <a:buNone/>
            </a:pPr>
            <a:r>
              <a:rPr lang="en-US" sz="1350" dirty="0">
                <a:solidFill>
                  <a:srgbClr val="A7BFB2"/>
                </a:solidFill>
                <a:latin typeface="Calibri" pitchFamily="34" charset="0"/>
                <a:ea typeface="Calibri" pitchFamily="34" charset="-122"/>
                <a:cs typeface="Calibri" pitchFamily="34" charset="-120"/>
              </a:rPr>
              <a:t>et conclure à la prochaine réunion</a:t>
            </a:r>
            <a:endParaRPr lang="en-US" sz="1350" dirty="0"/>
          </a:p>
        </p:txBody>
      </p:sp>
      <p:sp>
        <p:nvSpPr>
          <p:cNvPr id="26" name="Shape 24"/>
          <p:cNvSpPr/>
          <p:nvPr/>
        </p:nvSpPr>
        <p:spPr>
          <a:xfrm>
            <a:off x="548640" y="5440680"/>
            <a:ext cx="11094415" cy="822960"/>
          </a:xfrm>
          <a:prstGeom prst="roundRect">
            <a:avLst>
              <a:gd name="adj" fmla="val 11111"/>
            </a:avLst>
          </a:prstGeom>
          <a:solidFill>
            <a:srgbClr val="E9B44C"/>
          </a:solidFill>
          <a:ln w="12700">
            <a:solidFill>
              <a:srgbClr val="E9B44C"/>
            </a:solidFill>
            <a:prstDash val="solid"/>
          </a:ln>
        </p:spPr>
      </p:sp>
      <p:sp>
        <p:nvSpPr>
          <p:cNvPr id="27" name="Text 25"/>
          <p:cNvSpPr txBox="1"/>
          <p:nvPr/>
        </p:nvSpPr>
        <p:spPr>
          <a:xfrm>
            <a:off x="822960" y="5440680"/>
            <a:ext cx="10545775" cy="822960"/>
          </a:xfrm>
          <a:prstGeom prst="rect">
            <a:avLst/>
          </a:prstGeom>
          <a:noFill/>
          <a:ln/>
        </p:spPr>
        <p:txBody>
          <a:bodyPr wrap="square" lIns="0" tIns="0" rIns="0" bIns="0" rtlCol="0" anchor="ctr"/>
          <a:lstStyle/>
          <a:p>
            <a:pPr indent="0" marL="0">
              <a:buNone/>
            </a:pPr>
            <a:r>
              <a:rPr lang="en-US" sz="1500" b="1" dirty="0">
                <a:solidFill>
                  <a:srgbClr val="0E2A24"/>
                </a:solidFill>
                <a:latin typeface="Calibri" pitchFamily="34" charset="0"/>
                <a:ea typeface="Calibri" pitchFamily="34" charset="-122"/>
                <a:cs typeface="Calibri" pitchFamily="34" charset="-120"/>
              </a:rPr>
              <a:t>Questions : </a:t>
            </a:r>
            <a:pPr indent="0" marL="0">
              <a:buNone/>
            </a:pPr>
            <a:r>
              <a:rPr lang="en-US" sz="1500" dirty="0">
                <a:solidFill>
                  <a:srgbClr val="0E2A24"/>
                </a:solidFill>
                <a:latin typeface="Calibri" pitchFamily="34" charset="0"/>
                <a:ea typeface="Calibri" pitchFamily="34" charset="-122"/>
                <a:cs typeface="Calibri" pitchFamily="34" charset="-120"/>
              </a:rPr>
              <a:t>vos identifiants GitHub ? · peut-on encoder dans le cloud plutôt que sur un portable (droits sur l'audio, stockage, budget) ?</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Détection acoustique d'Anomaloglossus blanci — suivi n° 2</dc:title>
  <dc:subject>PptxGenJS Presentation</dc:subject>
  <dc:creator>Léonard</dc:creator>
  <cp:lastModifiedBy>Léonard</cp:lastModifiedBy>
  <cp:revision>1</cp:revision>
  <dcterms:created xsi:type="dcterms:W3CDTF">2026-09-30T15:14:27Z</dcterms:created>
  <dcterms:modified xsi:type="dcterms:W3CDTF">2026-09-30T15:14:27Z</dcterms:modified>
</cp:coreProperties>
</file>