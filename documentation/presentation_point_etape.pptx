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Point d'étape en semaine 2. Plan : le problème, le pipeline (partie centrale), une diapo par étape avec les méthodes envisagées et les choix, puis ce que le benchmark va trancher, mes questions et mes prochaines étapes.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biais de sélection : les 345 positifs sont des détections de Blancinet (score ≥ 0,10) vérifiées à la main. Les chants que Blancinet a ratés n'ont jamais été écoutés. Un détecteur évalué sur ce jeu mesure donc son rappel par rapport à Blancinet, pas par rapport à la réalité : d'où l'audit aléatoire. Deuxième limite, distincte : tout vient de Mataroni, et un seul point (RB04) porte 42 % des positifs.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Deux branches à partir des mêmes fenêtres : l'encodeur suivi d'une tête (head) qui donne un score par fenêtre, et un module séquentiel qui décrit le rythme et la persistance du chant directement sur l'audio. La fusion combine les deux. L'agrégation passe de la fenêtre à l'enregistrement puis au point d'écoute. La sélection choisit ce qu'on fait écouter ; les nouveaux labels reviennent au corpus et la tête est réentraînée : c'est la boucle. En pointillés : l'encodeur sert aussi à chercher par similarité, à regrouper (clustering) et, avec Perch 2.0, à fournir les scores des congénères. L'évaluation traverse tout. Légende des statuts utilisée dans la suite.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corpus réunit trois sources et les annotations. Les drapeaux sont des remarques sur un enregistrement : seuls silencieux, micro dans sac et hors relevé excluent ; la pluie fait partie de l'environnement réel du micro. Les négatifs appariés ne sont pas écoutés : certains contiennent peut-être A. blanci ; on l'assume, en gardant le biais en tête. Le choix des espèces AnuraSet est une question pour aujourd'hui.</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grille est indépendante de l'encodeur : une fenêtre est définie par (enregistrement, décalage, durée). Question d'échelle : la note est minuscule dans la fenêtre ; les protocoles B, C et E testent si on gagne à mieux la cadrer.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Tous les encodeurs passent par bacpipe, derrière la même interface. BirdNET reste une référence, pas un livrable. L'objection « 16 kHz, c'est limite » se teste : si Bird-MAE sur audio filtré à 8 kHz fait aussi bien que Bird-MAE natif, la fréquence d'échantillonnage n'est pas le problème pour ce chant (vers 4,75 kHz). La revue citée est celle d'Ecological Informatics (2026) envoyée par l'encadrant.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Toutes les têtes cherchent une direction w dans l'espace des embeddings ; le score d'une fenêtre est son produit scalaire avec w. Elles diffèrent par la façon d'obtenir w : un exemple, une moyenne, une différence de moyennes, ou une optimisation. LoRA et distillation ne viennent qu'après le choix de l'encodeur.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Quatre questions auxquelles le benchmark répond. La première est la plus intéressante scientifiquement : tant que tous les positifs viennent d'un seul site, une méthode qui retire explicitement le fond du site pourrait mieux généraliser qu'une régression logistique plus puissante.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chant est continu : quand A. blanci chante, elle chante souvent pendant les 2 minutes. Une détection isolée est donc suspecte. Le module séquentiel exploite cette structure temporelle, que l'encodeur ne voit pas à l'échelle d'une fenêtre.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Stacking à deux niveaux. Au niveau 1, la tête et le module séquentiel produisent leurs sorties ; au niveau 2, une régression logistique apprend à les combiner. Peu de coefficients, parce qu'on a peu d'enregistrements positifs indépendants.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L'enregistrement de 2 minutes est l'unité principale. Si le chant est toujours continu, la fraction de fenêtres positives est un bon score ; s'il peut être ponctuel, le maximum ou le top-k sont plus sûrs. Au niveau du point, on ne dit jamais « absent » : on dit « non détecté ».</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Chaque méthode répond à un besoin différent : la file 60-20-20 améliore le modèle, la récolte par similarité trouve vite des positifs sur un nouveau site, l'audit aléatoire mesure honnêtement le rappel, le clustering produit des négatifs en volume. Les tours s'arrêtent quand le gain mesuré sur le jeu gelé devient négligeable.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boucle : les labels s'ajoutent (jamais modifiés), la tête est réentraînée sur tous les labels, et elle ne remplace l'ancienne que si elle fait au moins aussi bien sur le jeu gelé. C'est ce que l'ONF devra refaire seul à chaque campagne.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Trois niveaux, du plus facile au plus exigeant. Le niveau 2 est celui qui compte pour le tuteur : un détecteur qui marche sur des sites qu'il n'a jamais vus. Intervalles par bootstrap sur les enregistrements ; « A meilleur que B » seulement si l'intervalle apparié exclut zéro.</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livrable vient après le choix de l'encodeur. Contrainte forte : les portables de l'ONF (i5, sans GPU). Les leviers s'appliquent dans cet ordre : export et quantification, heures de pic, sous-échantillonnage (le chant continu permet de ne pas tout analyser), puis distillation si nécessaire.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Récapitulatif des lignes « à comparer » des diapos précédentes. Le go/no-go évite de s'entêter sur une piste qui ne marche pas : on fixe le critère avant de voir les résultats.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Questions classées de la plus bloquante à la moins urgente pour les prochains jours : les données 2023 et le canal conditionnent l'encodage ; le chant ponctuel conditionne l'agrégation ; les licences doivent être tranchées avant le choix définitif de l'encodeur.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Priorité immédiate : reprendre le code module par module pour me l'approprier, puis lancer les premiers encodages et produire le tableau de benchmark avant la fin de la semaine 3.</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7332A"/>
        </a:solidFill>
        <a:effectLst/>
      </p:bgPr>
    </p:bg>
    <p:spTree>
      <p:nvGrpSpPr>
        <p:cNvPr id="1" name=""/>
        <p:cNvGrpSpPr/>
        <p:nvPr/>
      </p:nvGrpSpPr>
      <p:grpSpPr/>
      <p:sp>
        <p:nvSpPr>
          <p:cNvPr id="2" name="TextBox 1"/>
          <p:cNvSpPr txBox="1"/>
          <p:nvPr/>
        </p:nvSpPr>
        <p:spPr>
          <a:xfrm>
            <a:off x="731520" y="1097280"/>
            <a:ext cx="9144000" cy="320040"/>
          </a:xfrm>
          <a:prstGeom prst="rect">
            <a:avLst/>
          </a:prstGeom>
          <a:noFill/>
        </p:spPr>
        <p:txBody>
          <a:bodyPr wrap="square" anchor="t" lIns="0" rIns="0" tIns="0" bIns="0">
            <a:spAutoFit/>
          </a:bodyPr>
          <a:lstStyle/>
          <a:p>
            <a:pPr algn="l">
              <a:spcAft>
                <a:spcPts val="400"/>
              </a:spcAft>
            </a:pPr>
            <a:r>
              <a:rPr sz="1300" b="1" i="0">
                <a:solidFill>
                  <a:srgbClr val="F2A541"/>
                </a:solidFill>
                <a:latin typeface="Calibri"/>
              </a:rPr>
              <a:t>STAGE ONF GUYANE · POINT D'ÉTAPE</a:t>
            </a:r>
          </a:p>
        </p:txBody>
      </p:sp>
      <p:sp>
        <p:nvSpPr>
          <p:cNvPr id="3" name="TextBox 2"/>
          <p:cNvSpPr txBox="1"/>
          <p:nvPr/>
        </p:nvSpPr>
        <p:spPr>
          <a:xfrm>
            <a:off x="731520" y="1554480"/>
            <a:ext cx="10515600" cy="1645920"/>
          </a:xfrm>
          <a:prstGeom prst="rect">
            <a:avLst/>
          </a:prstGeom>
          <a:noFill/>
        </p:spPr>
        <p:txBody>
          <a:bodyPr wrap="square" anchor="t" lIns="0" rIns="0" tIns="0" bIns="0">
            <a:spAutoFit/>
          </a:bodyPr>
          <a:lstStyle/>
          <a:p>
            <a:pPr algn="l">
              <a:spcAft>
                <a:spcPts val="0"/>
              </a:spcAft>
            </a:pPr>
            <a:r>
              <a:rPr sz="4400" b="1" i="0">
                <a:solidFill>
                  <a:srgbClr val="FFFFFF"/>
                </a:solidFill>
                <a:latin typeface="Cambria"/>
              </a:rPr>
              <a:t>Détection acoustique d'</a:t>
            </a:r>
          </a:p>
          <a:p>
            <a:pPr algn="l">
              <a:spcAft>
                <a:spcPts val="400"/>
              </a:spcAft>
            </a:pPr>
            <a:r>
              <a:rPr sz="4400" b="1" i="1">
                <a:solidFill>
                  <a:srgbClr val="FFFFFF"/>
                </a:solidFill>
                <a:latin typeface="Cambria"/>
              </a:rPr>
              <a:t>Anomaloglossus blanci</a:t>
            </a:r>
          </a:p>
        </p:txBody>
      </p:sp>
      <p:sp>
        <p:nvSpPr>
          <p:cNvPr id="4" name="TextBox 3"/>
          <p:cNvSpPr txBox="1"/>
          <p:nvPr/>
        </p:nvSpPr>
        <p:spPr>
          <a:xfrm>
            <a:off x="731520" y="3246120"/>
            <a:ext cx="10058400" cy="457200"/>
          </a:xfrm>
          <a:prstGeom prst="rect">
            <a:avLst/>
          </a:prstGeom>
          <a:noFill/>
        </p:spPr>
        <p:txBody>
          <a:bodyPr wrap="square" anchor="t" lIns="0" rIns="0" tIns="0" bIns="0">
            <a:spAutoFit/>
          </a:bodyPr>
          <a:lstStyle/>
          <a:p>
            <a:pPr algn="l">
              <a:spcAft>
                <a:spcPts val="400"/>
              </a:spcAft>
            </a:pPr>
            <a:r>
              <a:rPr sz="2000" b="0" i="0">
                <a:solidFill>
                  <a:srgbClr val="C9DCCF"/>
                </a:solidFill>
                <a:latin typeface="Calibri"/>
              </a:rPr>
              <a:t>Structure du projet, pipeline, choix faits et choix à faire</a:t>
            </a:r>
          </a:p>
        </p:txBody>
      </p:sp>
      <p:sp>
        <p:nvSpPr>
          <p:cNvPr id="5" name="TextBox 4"/>
          <p:cNvSpPr txBox="1"/>
          <p:nvPr/>
        </p:nvSpPr>
        <p:spPr>
          <a:xfrm>
            <a:off x="731520" y="3840480"/>
            <a:ext cx="10058400" cy="365760"/>
          </a:xfrm>
          <a:prstGeom prst="rect">
            <a:avLst/>
          </a:prstGeom>
          <a:noFill/>
        </p:spPr>
        <p:txBody>
          <a:bodyPr wrap="square" anchor="t" lIns="0" rIns="0" tIns="0" bIns="0">
            <a:spAutoFit/>
          </a:bodyPr>
          <a:lstStyle/>
          <a:p>
            <a:pPr algn="l">
              <a:spcAft>
                <a:spcPts val="400"/>
              </a:spcAft>
            </a:pPr>
            <a:r>
              <a:rPr sz="1500" b="0" i="0">
                <a:solidFill>
                  <a:srgbClr val="C9DCCF"/>
                </a:solidFill>
                <a:latin typeface="Calibri"/>
              </a:rPr>
              <a:t>Léonard · septembre 2026</a:t>
            </a:r>
          </a:p>
        </p:txBody>
      </p:sp>
      <p:cxnSp>
        <p:nvCxnSpPr>
          <p:cNvPr id="6" name="Connector 5"/>
          <p:cNvCxnSpPr/>
          <p:nvPr/>
        </p:nvCxnSpPr>
        <p:spPr>
          <a:xfrm>
            <a:off x="731520" y="5532120"/>
            <a:ext cx="10698480" cy="0"/>
          </a:xfrm>
          <a:prstGeom prst="line">
            <a:avLst/>
          </a:prstGeom>
          <a:ln w="12700">
            <a:solidFill>
              <a:srgbClr val="2F6B4F"/>
            </a:solidFill>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907868" y="5349240"/>
            <a:ext cx="80336" cy="365760"/>
          </a:xfrm>
          <a:prstGeom prst="roundRect">
            <a:avLst>
              <a:gd name="adj" fmla="val 50000"/>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a:lstStyle/>
          <a:p>
            <a:pPr algn="ctr"/>
          </a:p>
        </p:txBody>
      </p:sp>
      <p:sp>
        <p:nvSpPr>
          <p:cNvPr id="8" name="Rounded Rectangle 7"/>
          <p:cNvSpPr/>
          <p:nvPr/>
        </p:nvSpPr>
        <p:spPr>
          <a:xfrm>
            <a:off x="1739058" y="5349240"/>
            <a:ext cx="80336" cy="365760"/>
          </a:xfrm>
          <a:prstGeom prst="roundRect">
            <a:avLst>
              <a:gd name="adj" fmla="val 50000"/>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a:lstStyle/>
          <a:p>
            <a:pPr algn="ctr"/>
          </a:p>
        </p:txBody>
      </p:sp>
      <p:sp>
        <p:nvSpPr>
          <p:cNvPr id="9" name="Rounded Rectangle 8"/>
          <p:cNvSpPr/>
          <p:nvPr/>
        </p:nvSpPr>
        <p:spPr>
          <a:xfrm>
            <a:off x="2570247" y="5349240"/>
            <a:ext cx="80336" cy="365760"/>
          </a:xfrm>
          <a:prstGeom prst="roundRect">
            <a:avLst>
              <a:gd name="adj" fmla="val 50000"/>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a:lstStyle/>
          <a:p>
            <a:pPr algn="ctr"/>
          </a:p>
        </p:txBody>
      </p:sp>
      <p:sp>
        <p:nvSpPr>
          <p:cNvPr id="10" name="Rounded Rectangle 9"/>
          <p:cNvSpPr/>
          <p:nvPr/>
        </p:nvSpPr>
        <p:spPr>
          <a:xfrm>
            <a:off x="3401437" y="5349240"/>
            <a:ext cx="80336" cy="365760"/>
          </a:xfrm>
          <a:prstGeom prst="roundRect">
            <a:avLst>
              <a:gd name="adj" fmla="val 50000"/>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a:lstStyle/>
          <a:p>
            <a:pPr algn="ctr"/>
          </a:p>
        </p:txBody>
      </p:sp>
      <p:sp>
        <p:nvSpPr>
          <p:cNvPr id="11" name="Rounded Rectangle 10"/>
          <p:cNvSpPr/>
          <p:nvPr/>
        </p:nvSpPr>
        <p:spPr>
          <a:xfrm>
            <a:off x="4232626" y="5349240"/>
            <a:ext cx="80336" cy="365760"/>
          </a:xfrm>
          <a:prstGeom prst="roundRect">
            <a:avLst>
              <a:gd name="adj" fmla="val 50000"/>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a:lstStyle/>
          <a:p>
            <a:pPr algn="ctr"/>
          </a:p>
        </p:txBody>
      </p:sp>
      <p:sp>
        <p:nvSpPr>
          <p:cNvPr id="12" name="Rounded Rectangle 11"/>
          <p:cNvSpPr/>
          <p:nvPr/>
        </p:nvSpPr>
        <p:spPr>
          <a:xfrm>
            <a:off x="5063816" y="5349240"/>
            <a:ext cx="80336" cy="365760"/>
          </a:xfrm>
          <a:prstGeom prst="roundRect">
            <a:avLst>
              <a:gd name="adj" fmla="val 50000"/>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a:lstStyle/>
          <a:p>
            <a:pPr algn="ctr"/>
          </a:p>
        </p:txBody>
      </p:sp>
      <p:sp>
        <p:nvSpPr>
          <p:cNvPr id="13" name="Rounded Rectangle 12"/>
          <p:cNvSpPr/>
          <p:nvPr/>
        </p:nvSpPr>
        <p:spPr>
          <a:xfrm>
            <a:off x="5895006" y="5349240"/>
            <a:ext cx="80336" cy="365760"/>
          </a:xfrm>
          <a:prstGeom prst="roundRect">
            <a:avLst>
              <a:gd name="adj" fmla="val 50000"/>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a:lstStyle/>
          <a:p>
            <a:pPr algn="ctr"/>
          </a:p>
        </p:txBody>
      </p:sp>
      <p:sp>
        <p:nvSpPr>
          <p:cNvPr id="14" name="Rounded Rectangle 13"/>
          <p:cNvSpPr/>
          <p:nvPr/>
        </p:nvSpPr>
        <p:spPr>
          <a:xfrm>
            <a:off x="6726195" y="5349240"/>
            <a:ext cx="80336" cy="365760"/>
          </a:xfrm>
          <a:prstGeom prst="roundRect">
            <a:avLst>
              <a:gd name="adj" fmla="val 50000"/>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a:lstStyle/>
          <a:p>
            <a:pPr algn="ctr"/>
          </a:p>
        </p:txBody>
      </p:sp>
      <p:sp>
        <p:nvSpPr>
          <p:cNvPr id="15" name="Rounded Rectangle 14"/>
          <p:cNvSpPr/>
          <p:nvPr/>
        </p:nvSpPr>
        <p:spPr>
          <a:xfrm>
            <a:off x="7557385" y="5349240"/>
            <a:ext cx="80336" cy="365760"/>
          </a:xfrm>
          <a:prstGeom prst="roundRect">
            <a:avLst>
              <a:gd name="adj" fmla="val 50000"/>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a:lstStyle/>
          <a:p>
            <a:pPr algn="ctr"/>
          </a:p>
        </p:txBody>
      </p:sp>
      <p:sp>
        <p:nvSpPr>
          <p:cNvPr id="16" name="Rounded Rectangle 15"/>
          <p:cNvSpPr/>
          <p:nvPr/>
        </p:nvSpPr>
        <p:spPr>
          <a:xfrm>
            <a:off x="8388574" y="5349240"/>
            <a:ext cx="80336" cy="365760"/>
          </a:xfrm>
          <a:prstGeom prst="roundRect">
            <a:avLst>
              <a:gd name="adj" fmla="val 50000"/>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a:lstStyle/>
          <a:p>
            <a:pPr algn="ctr"/>
          </a:p>
        </p:txBody>
      </p:sp>
      <p:sp>
        <p:nvSpPr>
          <p:cNvPr id="17" name="Rounded Rectangle 16"/>
          <p:cNvSpPr/>
          <p:nvPr/>
        </p:nvSpPr>
        <p:spPr>
          <a:xfrm>
            <a:off x="9219764" y="5349240"/>
            <a:ext cx="80336" cy="365760"/>
          </a:xfrm>
          <a:prstGeom prst="roundRect">
            <a:avLst>
              <a:gd name="adj" fmla="val 50000"/>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a:lstStyle/>
          <a:p>
            <a:pPr algn="ctr"/>
          </a:p>
        </p:txBody>
      </p:sp>
      <p:sp>
        <p:nvSpPr>
          <p:cNvPr id="18" name="Rounded Rectangle 17"/>
          <p:cNvSpPr/>
          <p:nvPr/>
        </p:nvSpPr>
        <p:spPr>
          <a:xfrm>
            <a:off x="10050954" y="5349240"/>
            <a:ext cx="80336" cy="365760"/>
          </a:xfrm>
          <a:prstGeom prst="roundRect">
            <a:avLst>
              <a:gd name="adj" fmla="val 50000"/>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a:lstStyle/>
          <a:p>
            <a:pPr algn="ctr"/>
          </a:p>
        </p:txBody>
      </p:sp>
      <p:sp>
        <p:nvSpPr>
          <p:cNvPr id="19" name="Rounded Rectangle 18"/>
          <p:cNvSpPr/>
          <p:nvPr/>
        </p:nvSpPr>
        <p:spPr>
          <a:xfrm>
            <a:off x="10882143" y="5349240"/>
            <a:ext cx="80336" cy="365760"/>
          </a:xfrm>
          <a:prstGeom prst="roundRect">
            <a:avLst>
              <a:gd name="adj" fmla="val 50000"/>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a:lstStyle/>
          <a:p>
            <a:pPr algn="ctr"/>
          </a:p>
        </p:txBody>
      </p:sp>
      <p:sp>
        <p:nvSpPr>
          <p:cNvPr id="20" name="Rounded Rectangle 19"/>
          <p:cNvSpPr/>
          <p:nvPr/>
        </p:nvSpPr>
        <p:spPr>
          <a:xfrm>
            <a:off x="3053442" y="5184648"/>
            <a:ext cx="1763485" cy="694944"/>
          </a:xfrm>
          <a:prstGeom prst="roundRect">
            <a:avLst>
              <a:gd name="adj" fmla="val 10000"/>
            </a:avLst>
          </a:prstGeom>
          <a:noFill/>
          <a:ln w="12700">
            <a:solidFill>
              <a:srgbClr val="C9DCCF"/>
            </a:solidFill>
            <a:prstDash val="dash"/>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a:lstStyle/>
          <a:p>
            <a:pPr algn="ctr"/>
          </a:p>
        </p:txBody>
      </p:sp>
      <p:sp>
        <p:nvSpPr>
          <p:cNvPr id="21" name="TextBox 20"/>
          <p:cNvSpPr txBox="1"/>
          <p:nvPr/>
        </p:nvSpPr>
        <p:spPr>
          <a:xfrm>
            <a:off x="3053442" y="5943600"/>
            <a:ext cx="2926080" cy="274320"/>
          </a:xfrm>
          <a:prstGeom prst="rect">
            <a:avLst/>
          </a:prstGeom>
          <a:noFill/>
        </p:spPr>
        <p:txBody>
          <a:bodyPr wrap="square" anchor="t" lIns="0" rIns="0" tIns="0" bIns="0">
            <a:spAutoFit/>
          </a:bodyPr>
          <a:lstStyle/>
          <a:p>
            <a:pPr algn="l">
              <a:spcAft>
                <a:spcPts val="400"/>
              </a:spcAft>
            </a:pPr>
            <a:r>
              <a:rPr sz="1100" b="0" i="0">
                <a:solidFill>
                  <a:srgbClr val="C9DCCF"/>
                </a:solidFill>
                <a:latin typeface="Calibri"/>
              </a:rPr>
              <a:t>une fenêtre de 3 s</a:t>
            </a:r>
          </a:p>
        </p:txBody>
      </p:sp>
      <p:sp>
        <p:nvSpPr>
          <p:cNvPr id="22" name="TextBox 21"/>
          <p:cNvSpPr txBox="1"/>
          <p:nvPr/>
        </p:nvSpPr>
        <p:spPr>
          <a:xfrm>
            <a:off x="6583680" y="5943600"/>
            <a:ext cx="4846320" cy="274320"/>
          </a:xfrm>
          <a:prstGeom prst="rect">
            <a:avLst/>
          </a:prstGeom>
          <a:noFill/>
        </p:spPr>
        <p:txBody>
          <a:bodyPr wrap="square" anchor="t" lIns="0" rIns="0" tIns="0" bIns="0">
            <a:spAutoFit/>
          </a:bodyPr>
          <a:lstStyle/>
          <a:p>
            <a:pPr algn="r">
              <a:spcAft>
                <a:spcPts val="400"/>
              </a:spcAft>
            </a:pPr>
            <a:r>
              <a:rPr sz="1100" b="0" i="1">
                <a:solidFill>
                  <a:srgbClr val="C9DCCF"/>
                </a:solidFill>
                <a:latin typeface="Calibri"/>
              </a:rPr>
              <a:t>une note de 0,09 s toutes les ~1,4 s, vers 4,75 kHz</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92608"/>
            <a:ext cx="11274552" cy="548640"/>
          </a:xfrm>
          <a:prstGeom prst="rect">
            <a:avLst/>
          </a:prstGeom>
          <a:noFill/>
        </p:spPr>
        <p:txBody>
          <a:bodyPr wrap="square" anchor="t" lIns="0" rIns="0" tIns="0" bIns="0">
            <a:spAutoFit/>
          </a:bodyPr>
          <a:lstStyle/>
          <a:p>
            <a:pPr algn="l">
              <a:spcAft>
                <a:spcPts val="400"/>
              </a:spcAft>
            </a:pPr>
            <a:r>
              <a:rPr sz="2800" b="1" i="0">
                <a:solidFill>
                  <a:srgbClr val="17332A"/>
                </a:solidFill>
                <a:latin typeface="Cambria"/>
              </a:rPr>
              <a:t>Le problème</a:t>
            </a:r>
          </a:p>
        </p:txBody>
      </p:sp>
      <p:sp>
        <p:nvSpPr>
          <p:cNvPr id="3" name="Rounded Rectangle 2"/>
          <p:cNvSpPr/>
          <p:nvPr/>
        </p:nvSpPr>
        <p:spPr>
          <a:xfrm>
            <a:off x="457200" y="1097280"/>
            <a:ext cx="11274552" cy="960120"/>
          </a:xfrm>
          <a:prstGeom prst="roundRect">
            <a:avLst>
              <a:gd name="adj" fmla="val 8000"/>
            </a:avLst>
          </a:prstGeom>
          <a:solidFill>
            <a:srgbClr val="E6EFE8"/>
          </a:solidFill>
          <a:ln>
            <a:noFill/>
          </a:ln>
          <a:effectLst/>
        </p:spPr>
        <p:style>
          <a:lnRef idx="1">
            <a:schemeClr val="accent1"/>
          </a:lnRef>
          <a:fillRef idx="3">
            <a:schemeClr val="accent1"/>
          </a:fillRef>
          <a:effectRef idx="2">
            <a:schemeClr val="accent1"/>
          </a:effectRef>
          <a:fontRef idx="minor">
            <a:schemeClr val="lt1"/>
          </a:fontRef>
        </p:style>
        <p:txBody>
          <a:bodyPr rtlCol="0" anchor="ctr" lIns="228600" rIns="228600" tIns="228600" bIns="228600" wrap="square"/>
          <a:lstStyle/>
          <a:p>
            <a:pPr algn="l">
              <a:spcAft>
                <a:spcPts val="400"/>
              </a:spcAft>
            </a:pPr>
            <a:r>
              <a:rPr sz="1500" b="1" i="0">
                <a:solidFill>
                  <a:srgbClr val="1C2B24"/>
                </a:solidFill>
                <a:latin typeface="Calibri"/>
              </a:rPr>
              <a:t>Objectif</a:t>
            </a:r>
            <a:r>
              <a:rPr sz="1500" b="0" i="0">
                <a:solidFill>
                  <a:srgbClr val="1C2B24"/>
                </a:solidFill>
                <a:latin typeface="Calibri"/>
              </a:rPr>
              <a:t> : un détecteur robuste d'</a:t>
            </a:r>
            <a:r>
              <a:rPr sz="1500" b="0" i="1">
                <a:solidFill>
                  <a:srgbClr val="1C2B24"/>
                </a:solidFill>
                <a:latin typeface="Calibri"/>
              </a:rPr>
              <a:t>A. blanci</a:t>
            </a:r>
            <a:r>
              <a:rPr sz="1500" b="0" i="0">
                <a:solidFill>
                  <a:srgbClr val="1C2B24"/>
                </a:solidFill>
                <a:latin typeface="Calibri"/>
              </a:rPr>
              <a:t>, qui fonctionne sur de nouveaux sites, utilisable par un naturaliste et que l'ONF réentraînera seul sur ses portables (i5, sans GPU).</a:t>
            </a:r>
          </a:p>
          <a:p>
            <a:pPr algn="l">
              <a:spcAft>
                <a:spcPts val="400"/>
              </a:spcAft>
            </a:pPr>
            <a:r>
              <a:rPr sz="1500" b="1" i="0">
                <a:solidFill>
                  <a:srgbClr val="1C2B24"/>
                </a:solidFill>
                <a:latin typeface="Calibri"/>
              </a:rPr>
              <a:t>Mesures</a:t>
            </a:r>
            <a:r>
              <a:rPr sz="1500" b="0" i="0">
                <a:solidFill>
                  <a:srgbClr val="1C2B24"/>
                </a:solidFill>
                <a:latin typeface="Calibri"/>
              </a:rPr>
              <a:t> : AP et rappel · approches comparées par score, vitesse et prise en main.</a:t>
            </a:r>
          </a:p>
        </p:txBody>
      </p:sp>
      <p:sp>
        <p:nvSpPr>
          <p:cNvPr id="4" name="Rounded Rectangle 3"/>
          <p:cNvSpPr/>
          <p:nvPr/>
        </p:nvSpPr>
        <p:spPr>
          <a:xfrm>
            <a:off x="457200" y="2331720"/>
            <a:ext cx="2612898" cy="2514600"/>
          </a:xfrm>
          <a:prstGeom prst="roundRect">
            <a:avLst>
              <a:gd name="adj" fmla="val 8000"/>
            </a:avLst>
          </a:prstGeom>
          <a:solidFill>
            <a:srgbClr val="F4F8F5"/>
          </a:solidFill>
          <a:ln w="12700">
            <a:solidFill>
              <a:srgbClr val="E6EFE8"/>
            </a:solid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a:lstStyle/>
          <a:p>
            <a:pPr algn="ctr"/>
          </a:p>
        </p:txBody>
      </p:sp>
      <p:sp>
        <p:nvSpPr>
          <p:cNvPr id="5" name="TextBox 4"/>
          <p:cNvSpPr txBox="1"/>
          <p:nvPr/>
        </p:nvSpPr>
        <p:spPr>
          <a:xfrm>
            <a:off x="685800" y="2560320"/>
            <a:ext cx="2155698" cy="822960"/>
          </a:xfrm>
          <a:prstGeom prst="rect">
            <a:avLst/>
          </a:prstGeom>
          <a:noFill/>
        </p:spPr>
        <p:txBody>
          <a:bodyPr wrap="square" anchor="t" lIns="0" rIns="0" tIns="0" bIns="0">
            <a:spAutoFit/>
          </a:bodyPr>
          <a:lstStyle/>
          <a:p>
            <a:pPr algn="l">
              <a:spcAft>
                <a:spcPts val="400"/>
              </a:spcAft>
            </a:pPr>
            <a:r>
              <a:rPr sz="4000" b="1" i="0">
                <a:solidFill>
                  <a:srgbClr val="9A5A06"/>
                </a:solidFill>
                <a:latin typeface="Cambria"/>
              </a:rPr>
              <a:t>0,09 s</a:t>
            </a:r>
          </a:p>
        </p:txBody>
      </p:sp>
      <p:sp>
        <p:nvSpPr>
          <p:cNvPr id="6" name="TextBox 5"/>
          <p:cNvSpPr txBox="1"/>
          <p:nvPr/>
        </p:nvSpPr>
        <p:spPr>
          <a:xfrm>
            <a:off x="685800" y="3474720"/>
            <a:ext cx="2155698" cy="1280160"/>
          </a:xfrm>
          <a:prstGeom prst="rect">
            <a:avLst/>
          </a:prstGeom>
          <a:noFill/>
        </p:spPr>
        <p:txBody>
          <a:bodyPr wrap="square" anchor="t" lIns="0" rIns="0" tIns="0" bIns="0">
            <a:spAutoFit/>
          </a:bodyPr>
          <a:lstStyle/>
          <a:p>
            <a:pPr algn="l">
              <a:spcAft>
                <a:spcPts val="400"/>
              </a:spcAft>
            </a:pPr>
            <a:r>
              <a:rPr sz="1400" b="0" i="0">
                <a:solidFill>
                  <a:srgbClr val="1C2B24"/>
                </a:solidFill>
                <a:latin typeface="Calibri"/>
              </a:rPr>
              <a:t>une note brève vers 4,75 kHz, dans une bande de fréquences encombrée</a:t>
            </a:r>
          </a:p>
        </p:txBody>
      </p:sp>
      <p:sp>
        <p:nvSpPr>
          <p:cNvPr id="7" name="Rounded Rectangle 6"/>
          <p:cNvSpPr/>
          <p:nvPr/>
        </p:nvSpPr>
        <p:spPr>
          <a:xfrm>
            <a:off x="3344418" y="2331720"/>
            <a:ext cx="2612898" cy="2514600"/>
          </a:xfrm>
          <a:prstGeom prst="roundRect">
            <a:avLst>
              <a:gd name="adj" fmla="val 8000"/>
            </a:avLst>
          </a:prstGeom>
          <a:solidFill>
            <a:srgbClr val="F4F8F5"/>
          </a:solidFill>
          <a:ln w="12700">
            <a:solidFill>
              <a:srgbClr val="E6EFE8"/>
            </a:solid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a:lstStyle/>
          <a:p>
            <a:pPr algn="ctr"/>
          </a:p>
        </p:txBody>
      </p:sp>
      <p:sp>
        <p:nvSpPr>
          <p:cNvPr id="8" name="TextBox 7"/>
          <p:cNvSpPr txBox="1"/>
          <p:nvPr/>
        </p:nvSpPr>
        <p:spPr>
          <a:xfrm>
            <a:off x="3573018" y="2560320"/>
            <a:ext cx="2155698" cy="822960"/>
          </a:xfrm>
          <a:prstGeom prst="rect">
            <a:avLst/>
          </a:prstGeom>
          <a:noFill/>
        </p:spPr>
        <p:txBody>
          <a:bodyPr wrap="square" anchor="t" lIns="0" rIns="0" tIns="0" bIns="0">
            <a:spAutoFit/>
          </a:bodyPr>
          <a:lstStyle/>
          <a:p>
            <a:pPr algn="l">
              <a:spcAft>
                <a:spcPts val="400"/>
              </a:spcAft>
            </a:pPr>
            <a:r>
              <a:rPr sz="4000" b="1" i="0">
                <a:solidFill>
                  <a:srgbClr val="9A5A06"/>
                </a:solidFill>
                <a:latin typeface="Cambria"/>
              </a:rPr>
              <a:t>≈ 50</a:t>
            </a:r>
          </a:p>
        </p:txBody>
      </p:sp>
      <p:sp>
        <p:nvSpPr>
          <p:cNvPr id="9" name="TextBox 8"/>
          <p:cNvSpPr txBox="1"/>
          <p:nvPr/>
        </p:nvSpPr>
        <p:spPr>
          <a:xfrm>
            <a:off x="3573018" y="3474720"/>
            <a:ext cx="2155698" cy="1280160"/>
          </a:xfrm>
          <a:prstGeom prst="rect">
            <a:avLst/>
          </a:prstGeom>
          <a:noFill/>
        </p:spPr>
        <p:txBody>
          <a:bodyPr wrap="square" anchor="t" lIns="0" rIns="0" tIns="0" bIns="0">
            <a:spAutoFit/>
          </a:bodyPr>
          <a:lstStyle/>
          <a:p>
            <a:pPr algn="l">
              <a:spcAft>
                <a:spcPts val="400"/>
              </a:spcAft>
            </a:pPr>
            <a:r>
              <a:rPr sz="1400" b="0" i="0">
                <a:solidFill>
                  <a:srgbClr val="1C2B24"/>
                </a:solidFill>
                <a:latin typeface="Calibri"/>
              </a:rPr>
              <a:t>sources de fausses alarmes recensées : oiseaux, amphibiens, grillons, artefacts</a:t>
            </a:r>
          </a:p>
        </p:txBody>
      </p:sp>
      <p:sp>
        <p:nvSpPr>
          <p:cNvPr id="10" name="Rounded Rectangle 9"/>
          <p:cNvSpPr/>
          <p:nvPr/>
        </p:nvSpPr>
        <p:spPr>
          <a:xfrm>
            <a:off x="6231636" y="2331720"/>
            <a:ext cx="2612898" cy="2514600"/>
          </a:xfrm>
          <a:prstGeom prst="roundRect">
            <a:avLst>
              <a:gd name="adj" fmla="val 8000"/>
            </a:avLst>
          </a:prstGeom>
          <a:solidFill>
            <a:srgbClr val="F4F8F5"/>
          </a:solidFill>
          <a:ln w="12700">
            <a:solidFill>
              <a:srgbClr val="E6EFE8"/>
            </a:solid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a:lstStyle/>
          <a:p>
            <a:pPr algn="ctr"/>
          </a:p>
        </p:txBody>
      </p:sp>
      <p:sp>
        <p:nvSpPr>
          <p:cNvPr id="11" name="TextBox 10"/>
          <p:cNvSpPr txBox="1"/>
          <p:nvPr/>
        </p:nvSpPr>
        <p:spPr>
          <a:xfrm>
            <a:off x="6460236" y="2560320"/>
            <a:ext cx="2155698" cy="822960"/>
          </a:xfrm>
          <a:prstGeom prst="rect">
            <a:avLst/>
          </a:prstGeom>
          <a:noFill/>
        </p:spPr>
        <p:txBody>
          <a:bodyPr wrap="square" anchor="t" lIns="0" rIns="0" tIns="0" bIns="0">
            <a:spAutoFit/>
          </a:bodyPr>
          <a:lstStyle/>
          <a:p>
            <a:pPr algn="l">
              <a:spcAft>
                <a:spcPts val="400"/>
              </a:spcAft>
            </a:pPr>
            <a:r>
              <a:rPr sz="4000" b="1" i="0">
                <a:solidFill>
                  <a:srgbClr val="9A5A06"/>
                </a:solidFill>
                <a:latin typeface="Cambria"/>
              </a:rPr>
              <a:t>1 site</a:t>
            </a:r>
          </a:p>
        </p:txBody>
      </p:sp>
      <p:sp>
        <p:nvSpPr>
          <p:cNvPr id="12" name="TextBox 11"/>
          <p:cNvSpPr txBox="1"/>
          <p:nvPr/>
        </p:nvSpPr>
        <p:spPr>
          <a:xfrm>
            <a:off x="6460236" y="3474720"/>
            <a:ext cx="2155698" cy="1280160"/>
          </a:xfrm>
          <a:prstGeom prst="rect">
            <a:avLst/>
          </a:prstGeom>
          <a:noFill/>
        </p:spPr>
        <p:txBody>
          <a:bodyPr wrap="square" anchor="t" lIns="0" rIns="0" tIns="0" bIns="0">
            <a:spAutoFit/>
          </a:bodyPr>
          <a:lstStyle/>
          <a:p>
            <a:pPr algn="l">
              <a:spcAft>
                <a:spcPts val="400"/>
              </a:spcAft>
            </a:pPr>
            <a:r>
              <a:rPr sz="1400" b="0" i="0">
                <a:solidFill>
                  <a:srgbClr val="1C2B24"/>
                </a:solidFill>
                <a:latin typeface="Calibri"/>
              </a:rPr>
              <a:t>tous les positifs annotés viennent de Mataroni : 345 fenêtres, 51 enregistrements</a:t>
            </a:r>
          </a:p>
        </p:txBody>
      </p:sp>
      <p:sp>
        <p:nvSpPr>
          <p:cNvPr id="13" name="Rounded Rectangle 12"/>
          <p:cNvSpPr/>
          <p:nvPr/>
        </p:nvSpPr>
        <p:spPr>
          <a:xfrm>
            <a:off x="9118854" y="2331720"/>
            <a:ext cx="2612898" cy="2514600"/>
          </a:xfrm>
          <a:prstGeom prst="roundRect">
            <a:avLst>
              <a:gd name="adj" fmla="val 8000"/>
            </a:avLst>
          </a:prstGeom>
          <a:solidFill>
            <a:srgbClr val="F4F8F5"/>
          </a:solidFill>
          <a:ln w="12700">
            <a:solidFill>
              <a:srgbClr val="E6EFE8"/>
            </a:solid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a:lstStyle/>
          <a:p>
            <a:pPr algn="ctr"/>
          </a:p>
        </p:txBody>
      </p:sp>
      <p:sp>
        <p:nvSpPr>
          <p:cNvPr id="14" name="TextBox 13"/>
          <p:cNvSpPr txBox="1"/>
          <p:nvPr/>
        </p:nvSpPr>
        <p:spPr>
          <a:xfrm>
            <a:off x="9347454" y="2560320"/>
            <a:ext cx="2155698" cy="822960"/>
          </a:xfrm>
          <a:prstGeom prst="rect">
            <a:avLst/>
          </a:prstGeom>
          <a:noFill/>
        </p:spPr>
        <p:txBody>
          <a:bodyPr wrap="square" anchor="t" lIns="0" rIns="0" tIns="0" bIns="0">
            <a:spAutoFit/>
          </a:bodyPr>
          <a:lstStyle/>
          <a:p>
            <a:pPr algn="l">
              <a:spcAft>
                <a:spcPts val="400"/>
              </a:spcAft>
            </a:pPr>
            <a:r>
              <a:rPr sz="4000" b="1" i="0">
                <a:solidFill>
                  <a:srgbClr val="9A5A06"/>
                </a:solidFill>
                <a:latin typeface="Cambria"/>
              </a:rPr>
              <a:t>Biais</a:t>
            </a:r>
          </a:p>
        </p:txBody>
      </p:sp>
      <p:sp>
        <p:nvSpPr>
          <p:cNvPr id="15" name="TextBox 14"/>
          <p:cNvSpPr txBox="1"/>
          <p:nvPr/>
        </p:nvSpPr>
        <p:spPr>
          <a:xfrm>
            <a:off x="9347454" y="3474720"/>
            <a:ext cx="2155698" cy="1280160"/>
          </a:xfrm>
          <a:prstGeom prst="rect">
            <a:avLst/>
          </a:prstGeom>
          <a:noFill/>
        </p:spPr>
        <p:txBody>
          <a:bodyPr wrap="square" anchor="t" lIns="0" rIns="0" tIns="0" bIns="0">
            <a:spAutoFit/>
          </a:bodyPr>
          <a:lstStyle/>
          <a:p>
            <a:pPr algn="l">
              <a:spcAft>
                <a:spcPts val="400"/>
              </a:spcAft>
            </a:pPr>
            <a:r>
              <a:rPr sz="1400" b="0" i="0">
                <a:solidFill>
                  <a:srgbClr val="1C2B24"/>
                </a:solidFill>
                <a:latin typeface="Calibri"/>
              </a:rPr>
              <a:t>on n'a écouté que ce que Blancinet avait détecté : les chants qu'il a ratés manquent au jeu</a:t>
            </a:r>
          </a:p>
        </p:txBody>
      </p:sp>
      <p:sp>
        <p:nvSpPr>
          <p:cNvPr id="16" name="Rounded Rectangle 15"/>
          <p:cNvSpPr/>
          <p:nvPr/>
        </p:nvSpPr>
        <p:spPr>
          <a:xfrm>
            <a:off x="457200" y="5166360"/>
            <a:ext cx="11274552" cy="868680"/>
          </a:xfrm>
          <a:prstGeom prst="roundRect">
            <a:avLst>
              <a:gd name="adj" fmla="val 8000"/>
            </a:avLst>
          </a:prstGeom>
          <a:solidFill>
            <a:srgbClr val="17332A"/>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rIns="274320" tIns="274320" bIns="274320" wrap="square"/>
          <a:lstStyle/>
          <a:p>
            <a:pPr algn="l">
              <a:spcAft>
                <a:spcPts val="400"/>
              </a:spcAft>
            </a:pPr>
            <a:r>
              <a:rPr sz="1700" b="1" i="0">
                <a:solidFill>
                  <a:srgbClr val="FFFFFF"/>
                </a:solidFill>
                <a:latin typeface="Calibri"/>
              </a:rPr>
              <a:t>Priorité au rappel</a:t>
            </a:r>
            <a:r>
              <a:rPr sz="1700" b="0" i="0">
                <a:solidFill>
                  <a:srgbClr val="FFFFFF"/>
                </a:solidFill>
                <a:latin typeface="Calibri"/>
              </a:rPr>
              <a:t> : une fausse absence ne se rattrape pas ; une fausse présence se vérifie à l'écoute.</a:t>
            </a:r>
          </a:p>
        </p:txBody>
      </p:sp>
      <p:sp>
        <p:nvSpPr>
          <p:cNvPr id="17" name="TextBox 16"/>
          <p:cNvSpPr txBox="1"/>
          <p:nvPr/>
        </p:nvSpPr>
        <p:spPr>
          <a:xfrm>
            <a:off x="11277295" y="6473952"/>
            <a:ext cx="457200" cy="228600"/>
          </a:xfrm>
          <a:prstGeom prst="rect">
            <a:avLst/>
          </a:prstGeom>
          <a:noFill/>
        </p:spPr>
        <p:txBody>
          <a:bodyPr wrap="square" anchor="t" lIns="0" rIns="0" tIns="0" bIns="0">
            <a:spAutoFit/>
          </a:bodyPr>
          <a:lstStyle/>
          <a:p>
            <a:pPr algn="r">
              <a:spcAft>
                <a:spcPts val="400"/>
              </a:spcAft>
            </a:pPr>
            <a:r>
              <a:rPr sz="1000" b="0" i="0">
                <a:solidFill>
                  <a:srgbClr val="5E6E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92608"/>
            <a:ext cx="11274552" cy="548640"/>
          </a:xfrm>
          <a:prstGeom prst="rect">
            <a:avLst/>
          </a:prstGeom>
          <a:noFill/>
        </p:spPr>
        <p:txBody>
          <a:bodyPr wrap="square" anchor="t" lIns="0" rIns="0" tIns="0" bIns="0">
            <a:spAutoFit/>
          </a:bodyPr>
          <a:lstStyle/>
          <a:p>
            <a:pPr algn="l">
              <a:spcAft>
                <a:spcPts val="400"/>
              </a:spcAft>
            </a:pPr>
            <a:r>
              <a:rPr sz="2800" b="1" i="0">
                <a:solidFill>
                  <a:srgbClr val="17332A"/>
                </a:solidFill>
                <a:latin typeface="Cambria"/>
              </a:rPr>
              <a:t>Le pipeline : de l'audio brut à la boucle d'entraînement</a:t>
            </a:r>
          </a:p>
        </p:txBody>
      </p:sp>
      <p:cxnSp>
        <p:nvCxnSpPr>
          <p:cNvPr id="3" name="Connector 2"/>
          <p:cNvCxnSpPr/>
          <p:nvPr/>
        </p:nvCxnSpPr>
        <p:spPr>
          <a:xfrm>
            <a:off x="1591056" y="2994660"/>
            <a:ext cx="315206" cy="0"/>
          </a:xfrm>
          <a:prstGeom prst="line">
            <a:avLst/>
          </a:prstGeom>
          <a:ln w="22225">
            <a:solidFill>
              <a:srgbClr val="2F6B4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3040118" y="2994660"/>
            <a:ext cx="157604" cy="0"/>
          </a:xfrm>
          <a:prstGeom prst="line">
            <a:avLst/>
          </a:prstGeom>
          <a:ln w="22225">
            <a:solidFill>
              <a:srgbClr val="2F6B4F"/>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3197722" y="2354580"/>
            <a:ext cx="0" cy="1280160"/>
          </a:xfrm>
          <a:prstGeom prst="line">
            <a:avLst/>
          </a:prstGeom>
          <a:ln w="22225">
            <a:solidFill>
              <a:srgbClr val="2F6B4F"/>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197722" y="2354580"/>
            <a:ext cx="157603" cy="0"/>
          </a:xfrm>
          <a:prstGeom prst="line">
            <a:avLst/>
          </a:prstGeom>
          <a:ln w="22225">
            <a:solidFill>
              <a:srgbClr val="2F6B4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3197722" y="3634740"/>
            <a:ext cx="157603" cy="0"/>
          </a:xfrm>
          <a:prstGeom prst="line">
            <a:avLst/>
          </a:prstGeom>
          <a:ln w="22225">
            <a:solidFill>
              <a:srgbClr val="2F6B4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4489181" y="2354580"/>
            <a:ext cx="315207" cy="0"/>
          </a:xfrm>
          <a:prstGeom prst="line">
            <a:avLst/>
          </a:prstGeom>
          <a:ln w="22225">
            <a:solidFill>
              <a:srgbClr val="2F6B4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5938244" y="2354580"/>
            <a:ext cx="157603" cy="0"/>
          </a:xfrm>
          <a:prstGeom prst="line">
            <a:avLst/>
          </a:prstGeom>
          <a:ln w="22225">
            <a:solidFill>
              <a:srgbClr val="2F6B4F"/>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938244" y="3634740"/>
            <a:ext cx="157603" cy="0"/>
          </a:xfrm>
          <a:prstGeom prst="line">
            <a:avLst/>
          </a:prstGeom>
          <a:ln w="22225">
            <a:solidFill>
              <a:srgbClr val="2F6B4F"/>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095847" y="2354580"/>
            <a:ext cx="0" cy="1280160"/>
          </a:xfrm>
          <a:prstGeom prst="line">
            <a:avLst/>
          </a:prstGeom>
          <a:ln w="22225">
            <a:solidFill>
              <a:srgbClr val="2F6B4F"/>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095847" y="2994660"/>
            <a:ext cx="157603" cy="0"/>
          </a:xfrm>
          <a:prstGeom prst="line">
            <a:avLst/>
          </a:prstGeom>
          <a:ln w="22225">
            <a:solidFill>
              <a:srgbClr val="2F6B4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7387306" y="2994660"/>
            <a:ext cx="315207" cy="0"/>
          </a:xfrm>
          <a:prstGeom prst="line">
            <a:avLst/>
          </a:prstGeom>
          <a:ln w="22225">
            <a:solidFill>
              <a:srgbClr val="2F6B4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8836369" y="2994660"/>
            <a:ext cx="315207" cy="0"/>
          </a:xfrm>
          <a:prstGeom prst="line">
            <a:avLst/>
          </a:prstGeom>
          <a:ln w="22225">
            <a:solidFill>
              <a:srgbClr val="2F6B4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10285432" y="2994660"/>
            <a:ext cx="315207" cy="0"/>
          </a:xfrm>
          <a:prstGeom prst="line">
            <a:avLst/>
          </a:prstGeom>
          <a:ln w="22225">
            <a:solidFill>
              <a:srgbClr val="2F6B4F"/>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1167567" y="3429000"/>
            <a:ext cx="0" cy="932688"/>
          </a:xfrm>
          <a:prstGeom prst="line">
            <a:avLst/>
          </a:prstGeom>
          <a:ln w="25400">
            <a:solidFill>
              <a:srgbClr val="9A5A0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H="1">
            <a:off x="1024128" y="4361688"/>
            <a:ext cx="10143439" cy="0"/>
          </a:xfrm>
          <a:prstGeom prst="line">
            <a:avLst/>
          </a:prstGeom>
          <a:ln w="25400">
            <a:solidFill>
              <a:srgbClr val="9A5A0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V="1">
            <a:off x="1024128" y="3429000"/>
            <a:ext cx="0" cy="932688"/>
          </a:xfrm>
          <a:prstGeom prst="line">
            <a:avLst/>
          </a:prstGeom>
          <a:ln w="25400">
            <a:solidFill>
              <a:srgbClr val="9A5A0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3355325" y="4407408"/>
            <a:ext cx="5796250" cy="274320"/>
          </a:xfrm>
          <a:prstGeom prst="rect">
            <a:avLst/>
          </a:prstGeom>
          <a:noFill/>
        </p:spPr>
        <p:txBody>
          <a:bodyPr wrap="square" anchor="t" lIns="0" rIns="0" tIns="0" bIns="0">
            <a:spAutoFit/>
          </a:bodyPr>
          <a:lstStyle/>
          <a:p>
            <a:pPr algn="ctr">
              <a:spcAft>
                <a:spcPts val="400"/>
              </a:spcAft>
            </a:pPr>
            <a:r>
              <a:rPr sz="1200" b="1" i="0">
                <a:solidFill>
                  <a:srgbClr val="9A5A06"/>
                </a:solidFill>
                <a:latin typeface="Calibri"/>
              </a:rPr>
              <a:t>nouveaux labels → boucle d'entraînement</a:t>
            </a:r>
          </a:p>
        </p:txBody>
      </p:sp>
      <p:cxnSp>
        <p:nvCxnSpPr>
          <p:cNvPr id="20" name="Connector 19"/>
          <p:cNvCxnSpPr/>
          <p:nvPr/>
        </p:nvCxnSpPr>
        <p:spPr>
          <a:xfrm flipV="1">
            <a:off x="3675365" y="1353312"/>
            <a:ext cx="0" cy="566928"/>
          </a:xfrm>
          <a:prstGeom prst="line">
            <a:avLst/>
          </a:prstGeom>
          <a:ln w="15875">
            <a:solidFill>
              <a:srgbClr val="2F6B4F"/>
            </a:solidFill>
            <a:prstDash val="dash"/>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675365" y="1353312"/>
            <a:ext cx="6043139" cy="0"/>
          </a:xfrm>
          <a:prstGeom prst="line">
            <a:avLst/>
          </a:prstGeom>
          <a:ln w="15875">
            <a:solidFill>
              <a:srgbClr val="2F6B4F"/>
            </a:solidFill>
            <a:prstDash val="dash"/>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9718504" y="1353312"/>
            <a:ext cx="0" cy="1207008"/>
          </a:xfrm>
          <a:prstGeom prst="line">
            <a:avLst/>
          </a:prstGeom>
          <a:ln w="15875">
            <a:solidFill>
              <a:srgbClr val="2F6B4F"/>
            </a:solidFill>
            <a:prstDash val="dash"/>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4178285" y="1645920"/>
            <a:ext cx="0" cy="274320"/>
          </a:xfrm>
          <a:prstGeom prst="line">
            <a:avLst/>
          </a:prstGeom>
          <a:ln w="15875">
            <a:solidFill>
              <a:srgbClr val="2F6B4F"/>
            </a:solidFill>
            <a:prstDash val="dash"/>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4178285" y="1645920"/>
            <a:ext cx="2642093" cy="0"/>
          </a:xfrm>
          <a:prstGeom prst="line">
            <a:avLst/>
          </a:prstGeom>
          <a:ln w="15875">
            <a:solidFill>
              <a:srgbClr val="2F6B4F"/>
            </a:solidFill>
            <a:prstDash val="dash"/>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6820378" y="1645920"/>
            <a:ext cx="0" cy="914400"/>
          </a:xfrm>
          <a:prstGeom prst="line">
            <a:avLst/>
          </a:prstGeom>
          <a:ln w="15875">
            <a:solidFill>
              <a:srgbClr val="2F6B4F"/>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4667228" y="1088136"/>
            <a:ext cx="4206240" cy="237744"/>
          </a:xfrm>
          <a:prstGeom prst="rect">
            <a:avLst/>
          </a:prstGeom>
          <a:noFill/>
        </p:spPr>
        <p:txBody>
          <a:bodyPr wrap="square" anchor="t" lIns="0" rIns="0" tIns="0" bIns="0">
            <a:spAutoFit/>
          </a:bodyPr>
          <a:lstStyle/>
          <a:p>
            <a:pPr algn="l">
              <a:spcAft>
                <a:spcPts val="400"/>
              </a:spcAft>
            </a:pPr>
            <a:r>
              <a:rPr sz="1100" b="0" i="1">
                <a:solidFill>
                  <a:srgbClr val="2F6B4F"/>
                </a:solidFill>
                <a:latin typeface="Calibri"/>
              </a:rPr>
              <a:t>embeddings : recherche par similarité, clustering</a:t>
            </a:r>
          </a:p>
        </p:txBody>
      </p:sp>
      <p:sp>
        <p:nvSpPr>
          <p:cNvPr id="27" name="TextBox 26"/>
          <p:cNvSpPr txBox="1"/>
          <p:nvPr/>
        </p:nvSpPr>
        <p:spPr>
          <a:xfrm>
            <a:off x="4667228" y="1389888"/>
            <a:ext cx="2926080" cy="237744"/>
          </a:xfrm>
          <a:prstGeom prst="rect">
            <a:avLst/>
          </a:prstGeom>
          <a:noFill/>
        </p:spPr>
        <p:txBody>
          <a:bodyPr wrap="square" anchor="t" lIns="0" rIns="0" tIns="0" bIns="0">
            <a:spAutoFit/>
          </a:bodyPr>
          <a:lstStyle/>
          <a:p>
            <a:pPr algn="l">
              <a:spcAft>
                <a:spcPts val="400"/>
              </a:spcAft>
            </a:pPr>
            <a:r>
              <a:rPr sz="1100" b="0" i="1">
                <a:solidFill>
                  <a:srgbClr val="2F6B4F"/>
                </a:solidFill>
                <a:latin typeface="Calibri"/>
              </a:rPr>
              <a:t>logits des congénères (Perch 2.0)</a:t>
            </a:r>
          </a:p>
        </p:txBody>
      </p:sp>
      <p:sp>
        <p:nvSpPr>
          <p:cNvPr id="28" name="Rounded Rectangle 27"/>
          <p:cNvSpPr/>
          <p:nvPr/>
        </p:nvSpPr>
        <p:spPr>
          <a:xfrm>
            <a:off x="457200" y="2560320"/>
            <a:ext cx="1133856" cy="868680"/>
          </a:xfrm>
          <a:prstGeom prst="roundRect">
            <a:avLst>
              <a:gd name="adj" fmla="val 14000"/>
            </a:avLst>
          </a:prstGeom>
          <a:solidFill>
            <a:srgbClr val="17332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200"/>
              </a:spcAft>
            </a:pPr>
            <a:r>
              <a:rPr sz="1350" b="1" i="0">
                <a:solidFill>
                  <a:srgbClr val="FFFFFF"/>
                </a:solidFill>
                <a:latin typeface="Calibri"/>
              </a:rPr>
              <a:t>Corpus + QC</a:t>
            </a:r>
          </a:p>
          <a:p>
            <a:pPr algn="ctr">
              <a:spcAft>
                <a:spcPts val="0"/>
              </a:spcAft>
            </a:pPr>
            <a:r>
              <a:rPr sz="1000" b="0" i="0">
                <a:solidFill>
                  <a:srgbClr val="C9DCCF"/>
                </a:solidFill>
                <a:latin typeface="Calibri"/>
              </a:rPr>
              <a:t>inventaire, contrôle qualité</a:t>
            </a:r>
          </a:p>
        </p:txBody>
      </p:sp>
      <p:sp>
        <p:nvSpPr>
          <p:cNvPr id="29" name="Rounded Rectangle 28"/>
          <p:cNvSpPr/>
          <p:nvPr/>
        </p:nvSpPr>
        <p:spPr>
          <a:xfrm>
            <a:off x="1906262" y="2560320"/>
            <a:ext cx="1133856" cy="868680"/>
          </a:xfrm>
          <a:prstGeom prst="roundRect">
            <a:avLst>
              <a:gd name="adj" fmla="val 14000"/>
            </a:avLst>
          </a:prstGeom>
          <a:solidFill>
            <a:srgbClr val="17332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200"/>
              </a:spcAft>
            </a:pPr>
            <a:r>
              <a:rPr sz="1350" b="1" i="0">
                <a:solidFill>
                  <a:srgbClr val="FFFFFF"/>
                </a:solidFill>
                <a:latin typeface="Calibri"/>
              </a:rPr>
              <a:t>Fenêtrage</a:t>
            </a:r>
          </a:p>
          <a:p>
            <a:pPr algn="ctr">
              <a:spcAft>
                <a:spcPts val="0"/>
              </a:spcAft>
            </a:pPr>
            <a:r>
              <a:rPr sz="1000" b="0" i="0">
                <a:solidFill>
                  <a:srgbClr val="C9DCCF"/>
                </a:solidFill>
                <a:latin typeface="Calibri"/>
              </a:rPr>
              <a:t>découpage en fenêtres</a:t>
            </a:r>
          </a:p>
        </p:txBody>
      </p:sp>
      <p:sp>
        <p:nvSpPr>
          <p:cNvPr id="30" name="Rounded Rectangle 29"/>
          <p:cNvSpPr/>
          <p:nvPr/>
        </p:nvSpPr>
        <p:spPr>
          <a:xfrm>
            <a:off x="3355325" y="1920240"/>
            <a:ext cx="1133856" cy="868680"/>
          </a:xfrm>
          <a:prstGeom prst="roundRect">
            <a:avLst>
              <a:gd name="adj" fmla="val 14000"/>
            </a:avLst>
          </a:prstGeom>
          <a:solidFill>
            <a:srgbClr val="17332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200"/>
              </a:spcAft>
            </a:pPr>
            <a:r>
              <a:rPr sz="1350" b="1" i="0">
                <a:solidFill>
                  <a:srgbClr val="FFFFFF"/>
                </a:solidFill>
                <a:latin typeface="Calibri"/>
              </a:rPr>
              <a:t>Encodeur</a:t>
            </a:r>
          </a:p>
          <a:p>
            <a:pPr algn="ctr">
              <a:spcAft>
                <a:spcPts val="0"/>
              </a:spcAft>
            </a:pPr>
            <a:r>
              <a:rPr sz="1000" b="0" i="0">
                <a:solidFill>
                  <a:srgbClr val="C9DCCF"/>
                </a:solidFill>
                <a:latin typeface="Calibri"/>
              </a:rPr>
              <a:t>audio → embedding</a:t>
            </a:r>
          </a:p>
        </p:txBody>
      </p:sp>
      <p:sp>
        <p:nvSpPr>
          <p:cNvPr id="31" name="Rounded Rectangle 30"/>
          <p:cNvSpPr/>
          <p:nvPr/>
        </p:nvSpPr>
        <p:spPr>
          <a:xfrm>
            <a:off x="4804388" y="1920240"/>
            <a:ext cx="1133856" cy="868680"/>
          </a:xfrm>
          <a:prstGeom prst="roundRect">
            <a:avLst>
              <a:gd name="adj" fmla="val 14000"/>
            </a:avLst>
          </a:prstGeom>
          <a:solidFill>
            <a:srgbClr val="17332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200"/>
              </a:spcAft>
            </a:pPr>
            <a:r>
              <a:rPr sz="1350" b="1" i="0">
                <a:solidFill>
                  <a:srgbClr val="FFFFFF"/>
                </a:solidFill>
                <a:latin typeface="Calibri"/>
              </a:rPr>
              <a:t>Head</a:t>
            </a:r>
          </a:p>
          <a:p>
            <a:pPr algn="ctr">
              <a:spcAft>
                <a:spcPts val="0"/>
              </a:spcAft>
            </a:pPr>
            <a:r>
              <a:rPr sz="1000" b="0" i="0">
                <a:solidFill>
                  <a:srgbClr val="C9DCCF"/>
                </a:solidFill>
                <a:latin typeface="Calibri"/>
              </a:rPr>
              <a:t>embedding → score</a:t>
            </a:r>
          </a:p>
        </p:txBody>
      </p:sp>
      <p:sp>
        <p:nvSpPr>
          <p:cNvPr id="32" name="Rounded Rectangle 31"/>
          <p:cNvSpPr/>
          <p:nvPr/>
        </p:nvSpPr>
        <p:spPr>
          <a:xfrm>
            <a:off x="3355325" y="3200400"/>
            <a:ext cx="2582918" cy="868680"/>
          </a:xfrm>
          <a:prstGeom prst="roundRect">
            <a:avLst>
              <a:gd name="adj" fmla="val 14000"/>
            </a:avLst>
          </a:prstGeom>
          <a:solidFill>
            <a:srgbClr val="17332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200"/>
              </a:spcAft>
            </a:pPr>
            <a:r>
              <a:rPr sz="1350" b="1" i="0">
                <a:solidFill>
                  <a:srgbClr val="FFFFFF"/>
                </a:solidFill>
                <a:latin typeface="Calibri"/>
              </a:rPr>
              <a:t>Module séquentiel</a:t>
            </a:r>
          </a:p>
          <a:p>
            <a:pPr algn="ctr">
              <a:spcAft>
                <a:spcPts val="0"/>
              </a:spcAft>
            </a:pPr>
            <a:r>
              <a:rPr sz="1000" b="0" i="0">
                <a:solidFill>
                  <a:srgbClr val="C9DCCF"/>
                </a:solidFill>
                <a:latin typeface="Calibri"/>
              </a:rPr>
              <a:t>rythme, persistance, solo ou chœur</a:t>
            </a:r>
          </a:p>
        </p:txBody>
      </p:sp>
      <p:sp>
        <p:nvSpPr>
          <p:cNvPr id="33" name="Rounded Rectangle 32"/>
          <p:cNvSpPr/>
          <p:nvPr/>
        </p:nvSpPr>
        <p:spPr>
          <a:xfrm>
            <a:off x="6253450" y="2560320"/>
            <a:ext cx="1133856" cy="868680"/>
          </a:xfrm>
          <a:prstGeom prst="roundRect">
            <a:avLst>
              <a:gd name="adj" fmla="val 14000"/>
            </a:avLst>
          </a:prstGeom>
          <a:solidFill>
            <a:srgbClr val="17332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200"/>
              </a:spcAft>
            </a:pPr>
            <a:r>
              <a:rPr sz="1350" b="1" i="0">
                <a:solidFill>
                  <a:srgbClr val="FFFFFF"/>
                </a:solidFill>
                <a:latin typeface="Calibri"/>
              </a:rPr>
              <a:t>Fusion</a:t>
            </a:r>
          </a:p>
          <a:p>
            <a:pPr algn="ctr">
              <a:spcAft>
                <a:spcPts val="0"/>
              </a:spcAft>
            </a:pPr>
            <a:r>
              <a:rPr sz="1000" b="0" i="0">
                <a:solidFill>
                  <a:srgbClr val="C9DCCF"/>
                </a:solidFill>
                <a:latin typeface="Calibri"/>
              </a:rPr>
              <a:t>combine les deux branches</a:t>
            </a:r>
          </a:p>
        </p:txBody>
      </p:sp>
      <p:sp>
        <p:nvSpPr>
          <p:cNvPr id="34" name="Rounded Rectangle 33"/>
          <p:cNvSpPr/>
          <p:nvPr/>
        </p:nvSpPr>
        <p:spPr>
          <a:xfrm>
            <a:off x="7702513" y="2560320"/>
            <a:ext cx="1133856" cy="868680"/>
          </a:xfrm>
          <a:prstGeom prst="roundRect">
            <a:avLst>
              <a:gd name="adj" fmla="val 14000"/>
            </a:avLst>
          </a:prstGeom>
          <a:solidFill>
            <a:srgbClr val="17332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200"/>
              </a:spcAft>
            </a:pPr>
            <a:r>
              <a:rPr sz="1350" b="1" i="0">
                <a:solidFill>
                  <a:srgbClr val="FFFFFF"/>
                </a:solidFill>
                <a:latin typeface="Calibri"/>
              </a:rPr>
              <a:t>Agrégation</a:t>
            </a:r>
          </a:p>
          <a:p>
            <a:pPr algn="ctr">
              <a:spcAft>
                <a:spcPts val="0"/>
              </a:spcAft>
            </a:pPr>
            <a:r>
              <a:rPr sz="1000" b="0" i="0">
                <a:solidFill>
                  <a:srgbClr val="C9DCCF"/>
                </a:solidFill>
                <a:latin typeface="Calibri"/>
              </a:rPr>
              <a:t>fenêtre → enregistrement → point</a:t>
            </a:r>
          </a:p>
        </p:txBody>
      </p:sp>
      <p:sp>
        <p:nvSpPr>
          <p:cNvPr id="35" name="Rounded Rectangle 34"/>
          <p:cNvSpPr/>
          <p:nvPr/>
        </p:nvSpPr>
        <p:spPr>
          <a:xfrm>
            <a:off x="9151576" y="2560320"/>
            <a:ext cx="1133856" cy="868680"/>
          </a:xfrm>
          <a:prstGeom prst="roundRect">
            <a:avLst>
              <a:gd name="adj" fmla="val 14000"/>
            </a:avLst>
          </a:prstGeom>
          <a:solidFill>
            <a:srgbClr val="17332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200"/>
              </a:spcAft>
            </a:pPr>
            <a:r>
              <a:rPr sz="1350" b="1" i="0">
                <a:solidFill>
                  <a:srgbClr val="FFFFFF"/>
                </a:solidFill>
                <a:latin typeface="Calibri"/>
              </a:rPr>
              <a:t>Sélection</a:t>
            </a:r>
          </a:p>
          <a:p>
            <a:pPr algn="ctr">
              <a:spcAft>
                <a:spcPts val="0"/>
              </a:spcAft>
            </a:pPr>
            <a:r>
              <a:rPr sz="1000" b="0" i="0">
                <a:solidFill>
                  <a:srgbClr val="C9DCCF"/>
                </a:solidFill>
                <a:latin typeface="Calibri"/>
              </a:rPr>
              <a:t>quoi faire écouter ?</a:t>
            </a:r>
          </a:p>
        </p:txBody>
      </p:sp>
      <p:sp>
        <p:nvSpPr>
          <p:cNvPr id="36" name="Rounded Rectangle 35"/>
          <p:cNvSpPr/>
          <p:nvPr/>
        </p:nvSpPr>
        <p:spPr>
          <a:xfrm>
            <a:off x="10600639" y="2560320"/>
            <a:ext cx="1133856" cy="868680"/>
          </a:xfrm>
          <a:prstGeom prst="roundRect">
            <a:avLst>
              <a:gd name="adj" fmla="val 14000"/>
            </a:avLst>
          </a:prstGeom>
          <a:solidFill>
            <a:srgbClr val="17332A"/>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200"/>
              </a:spcAft>
            </a:pPr>
            <a:r>
              <a:rPr sz="1350" b="1" i="0">
                <a:solidFill>
                  <a:srgbClr val="FFFFFF"/>
                </a:solidFill>
                <a:latin typeface="Calibri"/>
              </a:rPr>
              <a:t>Annotation</a:t>
            </a:r>
          </a:p>
          <a:p>
            <a:pPr algn="ctr">
              <a:spcAft>
                <a:spcPts val="0"/>
              </a:spcAft>
            </a:pPr>
            <a:r>
              <a:rPr sz="1000" b="0" i="0">
                <a:solidFill>
                  <a:srgbClr val="C9DCCF"/>
                </a:solidFill>
                <a:latin typeface="Calibri"/>
              </a:rPr>
              <a:t>labels, réentraînement</a:t>
            </a:r>
          </a:p>
        </p:txBody>
      </p:sp>
      <p:sp>
        <p:nvSpPr>
          <p:cNvPr id="37" name="Rounded Rectangle 36"/>
          <p:cNvSpPr/>
          <p:nvPr/>
        </p:nvSpPr>
        <p:spPr>
          <a:xfrm>
            <a:off x="457200" y="4818888"/>
            <a:ext cx="11277295" cy="457200"/>
          </a:xfrm>
          <a:prstGeom prst="roundRect">
            <a:avLst>
              <a:gd name="adj" fmla="val 30000"/>
            </a:avLst>
          </a:prstGeom>
          <a:solidFill>
            <a:srgbClr val="E6EFE8"/>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rIns="137160" tIns="137160" bIns="137160" wrap="square"/>
          <a:lstStyle/>
          <a:p>
            <a:pPr algn="ctr">
              <a:spcAft>
                <a:spcPts val="400"/>
              </a:spcAft>
            </a:pPr>
            <a:r>
              <a:rPr sz="1300" b="1" i="0">
                <a:solidFill>
                  <a:srgbClr val="17332A"/>
                </a:solidFill>
                <a:latin typeface="Calibri"/>
              </a:rPr>
              <a:t>Évaluation (transverse)</a:t>
            </a:r>
            <a:r>
              <a:rPr sz="1300" b="0" i="0">
                <a:solidFill>
                  <a:srgbClr val="17332A"/>
                </a:solidFill>
                <a:latin typeface="Calibri"/>
              </a:rPr>
              <a:t> · jeu gelé · plis par micro · nouveaux sites · courbes 2023</a:t>
            </a:r>
          </a:p>
        </p:txBody>
      </p:sp>
      <p:sp>
        <p:nvSpPr>
          <p:cNvPr id="38" name="Rounded Rectangle 37"/>
          <p:cNvSpPr/>
          <p:nvPr/>
        </p:nvSpPr>
        <p:spPr>
          <a:xfrm>
            <a:off x="457200" y="5989320"/>
            <a:ext cx="960120" cy="237744"/>
          </a:xfrm>
          <a:prstGeom prst="roundRect">
            <a:avLst>
              <a:gd name="adj" fmla="val 50000"/>
            </a:avLst>
          </a:prstGeom>
          <a:solidFill>
            <a:srgbClr val="2F8F5B"/>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18288" bIns="18288" wrap="square"/>
          <a:lstStyle/>
          <a:p>
            <a:pPr algn="ctr">
              <a:spcAft>
                <a:spcPts val="400"/>
              </a:spcAft>
            </a:pPr>
            <a:r>
              <a:rPr sz="950" b="1" i="0">
                <a:solidFill>
                  <a:srgbClr val="FFFFFF"/>
                </a:solidFill>
                <a:latin typeface="Calibri"/>
              </a:rPr>
              <a:t>Retenu</a:t>
            </a:r>
          </a:p>
        </p:txBody>
      </p:sp>
      <p:sp>
        <p:nvSpPr>
          <p:cNvPr id="39" name="TextBox 38"/>
          <p:cNvSpPr txBox="1"/>
          <p:nvPr/>
        </p:nvSpPr>
        <p:spPr>
          <a:xfrm>
            <a:off x="1481328" y="5989320"/>
            <a:ext cx="1325880" cy="256032"/>
          </a:xfrm>
          <a:prstGeom prst="rect">
            <a:avLst/>
          </a:prstGeom>
          <a:noFill/>
        </p:spPr>
        <p:txBody>
          <a:bodyPr wrap="square" anchor="ctr" lIns="0" rIns="0" tIns="0" bIns="0">
            <a:spAutoFit/>
          </a:bodyPr>
          <a:lstStyle/>
          <a:p>
            <a:pPr algn="l">
              <a:spcAft>
                <a:spcPts val="400"/>
              </a:spcAft>
            </a:pPr>
            <a:r>
              <a:rPr sz="1050" b="0" i="0">
                <a:solidFill>
                  <a:srgbClr val="5E6E66"/>
                </a:solidFill>
                <a:latin typeface="Calibri"/>
              </a:rPr>
              <a:t>choix fait</a:t>
            </a:r>
          </a:p>
        </p:txBody>
      </p:sp>
      <p:sp>
        <p:nvSpPr>
          <p:cNvPr id="40" name="Rounded Rectangle 39"/>
          <p:cNvSpPr/>
          <p:nvPr/>
        </p:nvSpPr>
        <p:spPr>
          <a:xfrm>
            <a:off x="2743200" y="5989320"/>
            <a:ext cx="960120" cy="237744"/>
          </a:xfrm>
          <a:prstGeom prst="roundRect">
            <a:avLst>
              <a:gd name="adj" fmla="val 50000"/>
            </a:avLst>
          </a:prstGeom>
          <a:solidFill>
            <a:srgbClr val="C9780E"/>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18288" bIns="18288" wrap="square"/>
          <a:lstStyle/>
          <a:p>
            <a:pPr algn="ctr">
              <a:spcAft>
                <a:spcPts val="400"/>
              </a:spcAft>
            </a:pPr>
            <a:r>
              <a:rPr sz="950" b="1" i="0">
                <a:solidFill>
                  <a:srgbClr val="FFFFFF"/>
                </a:solidFill>
                <a:latin typeface="Calibri"/>
              </a:rPr>
              <a:t>À comparer</a:t>
            </a:r>
          </a:p>
        </p:txBody>
      </p:sp>
      <p:sp>
        <p:nvSpPr>
          <p:cNvPr id="41" name="TextBox 40"/>
          <p:cNvSpPr txBox="1"/>
          <p:nvPr/>
        </p:nvSpPr>
        <p:spPr>
          <a:xfrm>
            <a:off x="3767328" y="5989320"/>
            <a:ext cx="1325880" cy="256032"/>
          </a:xfrm>
          <a:prstGeom prst="rect">
            <a:avLst/>
          </a:prstGeom>
          <a:noFill/>
        </p:spPr>
        <p:txBody>
          <a:bodyPr wrap="square" anchor="ctr" lIns="0" rIns="0" tIns="0" bIns="0">
            <a:spAutoFit/>
          </a:bodyPr>
          <a:lstStyle/>
          <a:p>
            <a:pPr algn="l">
              <a:spcAft>
                <a:spcPts val="400"/>
              </a:spcAft>
            </a:pPr>
            <a:r>
              <a:rPr sz="1050" b="0" i="0">
                <a:solidFill>
                  <a:srgbClr val="5E6E66"/>
                </a:solidFill>
                <a:latin typeface="Calibri"/>
              </a:rPr>
              <a:t>via le benchmark</a:t>
            </a:r>
          </a:p>
        </p:txBody>
      </p:sp>
      <p:sp>
        <p:nvSpPr>
          <p:cNvPr id="42" name="Rounded Rectangle 41"/>
          <p:cNvSpPr/>
          <p:nvPr/>
        </p:nvSpPr>
        <p:spPr>
          <a:xfrm>
            <a:off x="5029200" y="5989320"/>
            <a:ext cx="960120" cy="237744"/>
          </a:xfrm>
          <a:prstGeom prst="roundRect">
            <a:avLst>
              <a:gd name="adj" fmla="val 50000"/>
            </a:avLst>
          </a:prstGeom>
          <a:solidFill>
            <a:srgbClr val="C0492F"/>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18288" bIns="18288" wrap="square"/>
          <a:lstStyle/>
          <a:p>
            <a:pPr algn="ctr">
              <a:spcAft>
                <a:spcPts val="400"/>
              </a:spcAft>
            </a:pPr>
            <a:r>
              <a:rPr sz="950" b="1" i="0">
                <a:solidFill>
                  <a:srgbClr val="FFFFFF"/>
                </a:solidFill>
                <a:latin typeface="Calibri"/>
              </a:rPr>
              <a:t>À trancher</a:t>
            </a:r>
          </a:p>
        </p:txBody>
      </p:sp>
      <p:sp>
        <p:nvSpPr>
          <p:cNvPr id="43" name="TextBox 42"/>
          <p:cNvSpPr txBox="1"/>
          <p:nvPr/>
        </p:nvSpPr>
        <p:spPr>
          <a:xfrm>
            <a:off x="6053328" y="5989320"/>
            <a:ext cx="1325880" cy="256032"/>
          </a:xfrm>
          <a:prstGeom prst="rect">
            <a:avLst/>
          </a:prstGeom>
          <a:noFill/>
        </p:spPr>
        <p:txBody>
          <a:bodyPr wrap="square" anchor="ctr" lIns="0" rIns="0" tIns="0" bIns="0">
            <a:spAutoFit/>
          </a:bodyPr>
          <a:lstStyle/>
          <a:p>
            <a:pPr algn="l">
              <a:spcAft>
                <a:spcPts val="400"/>
              </a:spcAft>
            </a:pPr>
            <a:r>
              <a:rPr sz="1050" b="0" i="0">
                <a:solidFill>
                  <a:srgbClr val="5E6E66"/>
                </a:solidFill>
                <a:latin typeface="Calibri"/>
              </a:rPr>
              <a:t>à discuter</a:t>
            </a:r>
          </a:p>
        </p:txBody>
      </p:sp>
      <p:sp>
        <p:nvSpPr>
          <p:cNvPr id="44" name="Rounded Rectangle 43"/>
          <p:cNvSpPr/>
          <p:nvPr/>
        </p:nvSpPr>
        <p:spPr>
          <a:xfrm>
            <a:off x="7315200" y="5989320"/>
            <a:ext cx="960120" cy="237744"/>
          </a:xfrm>
          <a:prstGeom prst="roundRect">
            <a:avLst>
              <a:gd name="adj" fmla="val 50000"/>
            </a:avLst>
          </a:prstGeom>
          <a:solidFill>
            <a:srgbClr val="3E7CB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18288" bIns="18288" wrap="square"/>
          <a:lstStyle/>
          <a:p>
            <a:pPr algn="ctr">
              <a:spcAft>
                <a:spcPts val="400"/>
              </a:spcAft>
            </a:pPr>
            <a:r>
              <a:rPr sz="950" b="1" i="0">
                <a:solidFill>
                  <a:srgbClr val="FFFFFF"/>
                </a:solidFill>
                <a:latin typeface="Calibri"/>
              </a:rPr>
              <a:t>À essayer</a:t>
            </a:r>
          </a:p>
        </p:txBody>
      </p:sp>
      <p:sp>
        <p:nvSpPr>
          <p:cNvPr id="45" name="TextBox 44"/>
          <p:cNvSpPr txBox="1"/>
          <p:nvPr/>
        </p:nvSpPr>
        <p:spPr>
          <a:xfrm>
            <a:off x="8339328" y="5989320"/>
            <a:ext cx="1325880" cy="256032"/>
          </a:xfrm>
          <a:prstGeom prst="rect">
            <a:avLst/>
          </a:prstGeom>
          <a:noFill/>
        </p:spPr>
        <p:txBody>
          <a:bodyPr wrap="square" anchor="ctr" lIns="0" rIns="0" tIns="0" bIns="0">
            <a:spAutoFit/>
          </a:bodyPr>
          <a:lstStyle/>
          <a:p>
            <a:pPr algn="l">
              <a:spcAft>
                <a:spcPts val="400"/>
              </a:spcAft>
            </a:pPr>
            <a:r>
              <a:rPr sz="1050" b="0" i="0">
                <a:solidFill>
                  <a:srgbClr val="5E6E66"/>
                </a:solidFill>
                <a:latin typeface="Calibri"/>
              </a:rPr>
              <a:t>outil à évaluer</a:t>
            </a:r>
          </a:p>
        </p:txBody>
      </p:sp>
      <p:sp>
        <p:nvSpPr>
          <p:cNvPr id="46" name="Rounded Rectangle 45"/>
          <p:cNvSpPr/>
          <p:nvPr/>
        </p:nvSpPr>
        <p:spPr>
          <a:xfrm>
            <a:off x="9601200" y="5989320"/>
            <a:ext cx="960120" cy="237744"/>
          </a:xfrm>
          <a:prstGeom prst="roundRect">
            <a:avLst>
              <a:gd name="adj" fmla="val 50000"/>
            </a:avLst>
          </a:prstGeom>
          <a:solidFill>
            <a:srgbClr val="7D8983"/>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18288" bIns="18288" wrap="square"/>
          <a:lstStyle/>
          <a:p>
            <a:pPr algn="ctr">
              <a:spcAft>
                <a:spcPts val="400"/>
              </a:spcAft>
            </a:pPr>
            <a:r>
              <a:rPr sz="950" b="1" i="0">
                <a:solidFill>
                  <a:srgbClr val="FFFFFF"/>
                </a:solidFill>
                <a:latin typeface="Calibri"/>
              </a:rPr>
              <a:t>Plus tard</a:t>
            </a:r>
          </a:p>
        </p:txBody>
      </p:sp>
      <p:sp>
        <p:nvSpPr>
          <p:cNvPr id="47" name="TextBox 46"/>
          <p:cNvSpPr txBox="1"/>
          <p:nvPr/>
        </p:nvSpPr>
        <p:spPr>
          <a:xfrm>
            <a:off x="10625328" y="5989320"/>
            <a:ext cx="1325880" cy="256032"/>
          </a:xfrm>
          <a:prstGeom prst="rect">
            <a:avLst/>
          </a:prstGeom>
          <a:noFill/>
        </p:spPr>
        <p:txBody>
          <a:bodyPr wrap="square" anchor="ctr" lIns="0" rIns="0" tIns="0" bIns="0">
            <a:spAutoFit/>
          </a:bodyPr>
          <a:lstStyle/>
          <a:p>
            <a:pPr algn="l">
              <a:spcAft>
                <a:spcPts val="400"/>
              </a:spcAft>
            </a:pPr>
            <a:r>
              <a:rPr sz="1050" b="0" i="0">
                <a:solidFill>
                  <a:srgbClr val="5E6E66"/>
                </a:solidFill>
                <a:latin typeface="Calibri"/>
              </a:rPr>
              <a:t>après l'encodeur</a:t>
            </a:r>
          </a:p>
        </p:txBody>
      </p:sp>
      <p:sp>
        <p:nvSpPr>
          <p:cNvPr id="48" name="TextBox 47"/>
          <p:cNvSpPr txBox="1"/>
          <p:nvPr/>
        </p:nvSpPr>
        <p:spPr>
          <a:xfrm>
            <a:off x="11277295" y="6473952"/>
            <a:ext cx="457200" cy="228600"/>
          </a:xfrm>
          <a:prstGeom prst="rect">
            <a:avLst/>
          </a:prstGeom>
          <a:noFill/>
        </p:spPr>
        <p:txBody>
          <a:bodyPr wrap="square" anchor="t" lIns="0" rIns="0" tIns="0" bIns="0">
            <a:spAutoFit/>
          </a:bodyPr>
          <a:lstStyle/>
          <a:p>
            <a:pPr algn="r">
              <a:spcAft>
                <a:spcPts val="400"/>
              </a:spcAft>
            </a:pPr>
            <a:r>
              <a:rPr sz="1000" b="0" i="0">
                <a:solidFill>
                  <a:srgbClr val="5E6E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8229600" cy="256032"/>
          </a:xfrm>
          <a:prstGeom prst="rect">
            <a:avLst/>
          </a:prstGeom>
          <a:noFill/>
        </p:spPr>
        <p:txBody>
          <a:bodyPr wrap="square" anchor="t" lIns="0" rIns="0" tIns="0" bIns="0">
            <a:spAutoFit/>
          </a:bodyPr>
          <a:lstStyle/>
          <a:p>
            <a:pPr algn="l">
              <a:spcAft>
                <a:spcPts val="400"/>
              </a:spcAft>
            </a:pPr>
            <a:r>
              <a:rPr sz="1100" b="1" i="0">
                <a:solidFill>
                  <a:srgbClr val="9A5A06"/>
                </a:solidFill>
                <a:latin typeface="Calibri"/>
              </a:rPr>
              <a:t>PIPELINE · ÉTAPE 1</a:t>
            </a:r>
          </a:p>
        </p:txBody>
      </p:sp>
      <p:sp>
        <p:nvSpPr>
          <p:cNvPr id="3" name="TextBox 2"/>
          <p:cNvSpPr txBox="1"/>
          <p:nvPr/>
        </p:nvSpPr>
        <p:spPr>
          <a:xfrm>
            <a:off x="457200" y="493776"/>
            <a:ext cx="11274552" cy="548640"/>
          </a:xfrm>
          <a:prstGeom prst="rect">
            <a:avLst/>
          </a:prstGeom>
          <a:noFill/>
        </p:spPr>
        <p:txBody>
          <a:bodyPr wrap="square" anchor="t" lIns="0" rIns="0" tIns="0" bIns="0">
            <a:spAutoFit/>
          </a:bodyPr>
          <a:lstStyle/>
          <a:p>
            <a:pPr algn="l">
              <a:spcAft>
                <a:spcPts val="400"/>
              </a:spcAft>
            </a:pPr>
            <a:r>
              <a:rPr sz="2600" b="1" i="0">
                <a:solidFill>
                  <a:srgbClr val="17332A"/>
                </a:solidFill>
                <a:latin typeface="Cambria"/>
              </a:rPr>
              <a:t>Corpus et contrôle qualité</a:t>
            </a:r>
          </a:p>
        </p:txBody>
      </p:sp>
      <p:cxnSp>
        <p:nvCxnSpPr>
          <p:cNvPr id="4" name="Connector 3"/>
          <p:cNvCxnSpPr/>
          <p:nvPr/>
        </p:nvCxnSpPr>
        <p:spPr>
          <a:xfrm>
            <a:off x="1591056" y="1472184"/>
            <a:ext cx="315206" cy="0"/>
          </a:xfrm>
          <a:prstGeom prst="line">
            <a:avLst/>
          </a:prstGeom>
          <a:ln w="15875">
            <a:solidFill>
              <a:srgbClr val="9DB3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3040118" y="1472184"/>
            <a:ext cx="157604" cy="0"/>
          </a:xfrm>
          <a:prstGeom prst="line">
            <a:avLst/>
          </a:prstGeom>
          <a:ln w="15875">
            <a:solidFill>
              <a:srgbClr val="9DB3A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197722" y="1271016"/>
            <a:ext cx="0" cy="402336"/>
          </a:xfrm>
          <a:prstGeom prst="line">
            <a:avLst/>
          </a:prstGeom>
          <a:ln w="15875">
            <a:solidFill>
              <a:srgbClr val="9DB3A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3197722" y="1271016"/>
            <a:ext cx="157603" cy="0"/>
          </a:xfrm>
          <a:prstGeom prst="line">
            <a:avLst/>
          </a:prstGeom>
          <a:ln w="15875">
            <a:solidFill>
              <a:srgbClr val="9DB3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3197722" y="1673352"/>
            <a:ext cx="157603" cy="0"/>
          </a:xfrm>
          <a:prstGeom prst="line">
            <a:avLst/>
          </a:prstGeom>
          <a:ln w="15875">
            <a:solidFill>
              <a:srgbClr val="9DB3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489181" y="1271016"/>
            <a:ext cx="315207" cy="0"/>
          </a:xfrm>
          <a:prstGeom prst="line">
            <a:avLst/>
          </a:prstGeom>
          <a:ln w="15875">
            <a:solidFill>
              <a:srgbClr val="9DB3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938244" y="1271016"/>
            <a:ext cx="157603" cy="0"/>
          </a:xfrm>
          <a:prstGeom prst="line">
            <a:avLst/>
          </a:prstGeom>
          <a:ln w="15875">
            <a:solidFill>
              <a:srgbClr val="9DB3A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5938244" y="1673352"/>
            <a:ext cx="157603" cy="0"/>
          </a:xfrm>
          <a:prstGeom prst="line">
            <a:avLst/>
          </a:prstGeom>
          <a:ln w="15875">
            <a:solidFill>
              <a:srgbClr val="9DB3A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095847" y="1271016"/>
            <a:ext cx="0" cy="402336"/>
          </a:xfrm>
          <a:prstGeom prst="line">
            <a:avLst/>
          </a:prstGeom>
          <a:ln w="15875">
            <a:solidFill>
              <a:srgbClr val="9DB3A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6095847" y="1472184"/>
            <a:ext cx="157603" cy="0"/>
          </a:xfrm>
          <a:prstGeom prst="line">
            <a:avLst/>
          </a:prstGeom>
          <a:ln w="15875">
            <a:solidFill>
              <a:srgbClr val="9DB3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7387306" y="1472184"/>
            <a:ext cx="315207" cy="0"/>
          </a:xfrm>
          <a:prstGeom prst="line">
            <a:avLst/>
          </a:prstGeom>
          <a:ln w="15875">
            <a:solidFill>
              <a:srgbClr val="9DB3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836369" y="1472184"/>
            <a:ext cx="315207" cy="0"/>
          </a:xfrm>
          <a:prstGeom prst="line">
            <a:avLst/>
          </a:prstGeom>
          <a:ln w="15875">
            <a:solidFill>
              <a:srgbClr val="9DB3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0285432" y="1472184"/>
            <a:ext cx="315207" cy="0"/>
          </a:xfrm>
          <a:prstGeom prst="line">
            <a:avLst/>
          </a:prstGeom>
          <a:ln w="15875">
            <a:solidFill>
              <a:srgbClr val="9DB3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1167567" y="1627632"/>
            <a:ext cx="0" cy="292608"/>
          </a:xfrm>
          <a:prstGeom prst="line">
            <a:avLst/>
          </a:prstGeom>
          <a:ln w="19050">
            <a:solidFill>
              <a:srgbClr val="9DB3A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H="1">
            <a:off x="1024128" y="1920240"/>
            <a:ext cx="10143439" cy="0"/>
          </a:xfrm>
          <a:prstGeom prst="line">
            <a:avLst/>
          </a:prstGeom>
          <a:ln w="19050">
            <a:solidFill>
              <a:srgbClr val="9DB3A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1024128" y="1627632"/>
            <a:ext cx="0" cy="292608"/>
          </a:xfrm>
          <a:prstGeom prst="line">
            <a:avLst/>
          </a:prstGeom>
          <a:ln w="19050">
            <a:solidFill>
              <a:srgbClr val="9DB3A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457200" y="1316736"/>
            <a:ext cx="1133856" cy="310896"/>
          </a:xfrm>
          <a:prstGeom prst="roundRect">
            <a:avLst>
              <a:gd name="adj" fmla="val 14000"/>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0"/>
              </a:spcAft>
            </a:pPr>
            <a:r>
              <a:rPr sz="950" b="1" i="0">
                <a:solidFill>
                  <a:srgbClr val="1C2B24"/>
                </a:solidFill>
                <a:latin typeface="Calibri"/>
              </a:rPr>
              <a:t>Corpus + QC</a:t>
            </a:r>
          </a:p>
        </p:txBody>
      </p:sp>
      <p:sp>
        <p:nvSpPr>
          <p:cNvPr id="21" name="Rounded Rectangle 20"/>
          <p:cNvSpPr/>
          <p:nvPr/>
        </p:nvSpPr>
        <p:spPr>
          <a:xfrm>
            <a:off x="1906262" y="1316736"/>
            <a:ext cx="1133856" cy="310896"/>
          </a:xfrm>
          <a:prstGeom prst="roundRect">
            <a:avLst>
              <a:gd name="adj" fmla="val 14000"/>
            </a:avLst>
          </a:prstGeom>
          <a:solidFill>
            <a:srgbClr val="E6EF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0"/>
              </a:spcAft>
            </a:pPr>
            <a:r>
              <a:rPr sz="950" b="0" i="0">
                <a:solidFill>
                  <a:srgbClr val="5E6E66"/>
                </a:solidFill>
                <a:latin typeface="Calibri"/>
              </a:rPr>
              <a:t>Fenêtrage</a:t>
            </a:r>
          </a:p>
        </p:txBody>
      </p:sp>
      <p:sp>
        <p:nvSpPr>
          <p:cNvPr id="22" name="Rounded Rectangle 21"/>
          <p:cNvSpPr/>
          <p:nvPr/>
        </p:nvSpPr>
        <p:spPr>
          <a:xfrm>
            <a:off x="3355325" y="1115568"/>
            <a:ext cx="1133856" cy="310896"/>
          </a:xfrm>
          <a:prstGeom prst="roundRect">
            <a:avLst>
              <a:gd name="adj" fmla="val 14000"/>
            </a:avLst>
          </a:prstGeom>
          <a:solidFill>
            <a:srgbClr val="E6EF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0"/>
              </a:spcAft>
            </a:pPr>
            <a:r>
              <a:rPr sz="950" b="0" i="0">
                <a:solidFill>
                  <a:srgbClr val="5E6E66"/>
                </a:solidFill>
                <a:latin typeface="Calibri"/>
              </a:rPr>
              <a:t>Encodeur</a:t>
            </a:r>
          </a:p>
        </p:txBody>
      </p:sp>
      <p:sp>
        <p:nvSpPr>
          <p:cNvPr id="23" name="Rounded Rectangle 22"/>
          <p:cNvSpPr/>
          <p:nvPr/>
        </p:nvSpPr>
        <p:spPr>
          <a:xfrm>
            <a:off x="4804388" y="1115568"/>
            <a:ext cx="1133856" cy="310896"/>
          </a:xfrm>
          <a:prstGeom prst="roundRect">
            <a:avLst>
              <a:gd name="adj" fmla="val 14000"/>
            </a:avLst>
          </a:prstGeom>
          <a:solidFill>
            <a:srgbClr val="E6EF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0"/>
              </a:spcAft>
            </a:pPr>
            <a:r>
              <a:rPr sz="950" b="0" i="0">
                <a:solidFill>
                  <a:srgbClr val="5E6E66"/>
                </a:solidFill>
                <a:latin typeface="Calibri"/>
              </a:rPr>
              <a:t>Head</a:t>
            </a:r>
          </a:p>
        </p:txBody>
      </p:sp>
      <p:sp>
        <p:nvSpPr>
          <p:cNvPr id="24" name="Rounded Rectangle 23"/>
          <p:cNvSpPr/>
          <p:nvPr/>
        </p:nvSpPr>
        <p:spPr>
          <a:xfrm>
            <a:off x="3355325" y="1517904"/>
            <a:ext cx="2582918" cy="310896"/>
          </a:xfrm>
          <a:prstGeom prst="roundRect">
            <a:avLst>
              <a:gd name="adj" fmla="val 14000"/>
            </a:avLst>
          </a:prstGeom>
          <a:solidFill>
            <a:srgbClr val="E6EF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0"/>
              </a:spcAft>
            </a:pPr>
            <a:r>
              <a:rPr sz="950" b="0" i="0">
                <a:solidFill>
                  <a:srgbClr val="5E6E66"/>
                </a:solidFill>
                <a:latin typeface="Calibri"/>
              </a:rPr>
              <a:t>Module séquentiel</a:t>
            </a:r>
          </a:p>
        </p:txBody>
      </p:sp>
      <p:sp>
        <p:nvSpPr>
          <p:cNvPr id="25" name="Rounded Rectangle 24"/>
          <p:cNvSpPr/>
          <p:nvPr/>
        </p:nvSpPr>
        <p:spPr>
          <a:xfrm>
            <a:off x="6253450" y="1316736"/>
            <a:ext cx="1133856" cy="310896"/>
          </a:xfrm>
          <a:prstGeom prst="roundRect">
            <a:avLst>
              <a:gd name="adj" fmla="val 14000"/>
            </a:avLst>
          </a:prstGeom>
          <a:solidFill>
            <a:srgbClr val="E6EF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0"/>
              </a:spcAft>
            </a:pPr>
            <a:r>
              <a:rPr sz="950" b="0" i="0">
                <a:solidFill>
                  <a:srgbClr val="5E6E66"/>
                </a:solidFill>
                <a:latin typeface="Calibri"/>
              </a:rPr>
              <a:t>Fusion</a:t>
            </a:r>
          </a:p>
        </p:txBody>
      </p:sp>
      <p:sp>
        <p:nvSpPr>
          <p:cNvPr id="26" name="Rounded Rectangle 25"/>
          <p:cNvSpPr/>
          <p:nvPr/>
        </p:nvSpPr>
        <p:spPr>
          <a:xfrm>
            <a:off x="7702513" y="1316736"/>
            <a:ext cx="1133856" cy="310896"/>
          </a:xfrm>
          <a:prstGeom prst="roundRect">
            <a:avLst>
              <a:gd name="adj" fmla="val 14000"/>
            </a:avLst>
          </a:prstGeom>
          <a:solidFill>
            <a:srgbClr val="E6EF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0"/>
              </a:spcAft>
            </a:pPr>
            <a:r>
              <a:rPr sz="950" b="0" i="0">
                <a:solidFill>
                  <a:srgbClr val="5E6E66"/>
                </a:solidFill>
                <a:latin typeface="Calibri"/>
              </a:rPr>
              <a:t>Agrégation</a:t>
            </a:r>
          </a:p>
        </p:txBody>
      </p:sp>
      <p:sp>
        <p:nvSpPr>
          <p:cNvPr id="27" name="Rounded Rectangle 26"/>
          <p:cNvSpPr/>
          <p:nvPr/>
        </p:nvSpPr>
        <p:spPr>
          <a:xfrm>
            <a:off x="9151576" y="1316736"/>
            <a:ext cx="1133856" cy="310896"/>
          </a:xfrm>
          <a:prstGeom prst="roundRect">
            <a:avLst>
              <a:gd name="adj" fmla="val 14000"/>
            </a:avLst>
          </a:prstGeom>
          <a:solidFill>
            <a:srgbClr val="E6EF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0"/>
              </a:spcAft>
            </a:pPr>
            <a:r>
              <a:rPr sz="950" b="0" i="0">
                <a:solidFill>
                  <a:srgbClr val="5E6E66"/>
                </a:solidFill>
                <a:latin typeface="Calibri"/>
              </a:rPr>
              <a:t>Sélection</a:t>
            </a:r>
          </a:p>
        </p:txBody>
      </p:sp>
      <p:sp>
        <p:nvSpPr>
          <p:cNvPr id="28" name="Rounded Rectangle 27"/>
          <p:cNvSpPr/>
          <p:nvPr/>
        </p:nvSpPr>
        <p:spPr>
          <a:xfrm>
            <a:off x="10600639" y="1316736"/>
            <a:ext cx="1133856" cy="310896"/>
          </a:xfrm>
          <a:prstGeom prst="roundRect">
            <a:avLst>
              <a:gd name="adj" fmla="val 14000"/>
            </a:avLst>
          </a:prstGeom>
          <a:solidFill>
            <a:srgbClr val="E6EF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0"/>
              </a:spcAft>
            </a:pPr>
            <a:r>
              <a:rPr sz="950" b="0" i="0">
                <a:solidFill>
                  <a:srgbClr val="5E6E66"/>
                </a:solidFill>
                <a:latin typeface="Calibri"/>
              </a:rPr>
              <a:t>Annotation</a:t>
            </a:r>
          </a:p>
        </p:txBody>
      </p:sp>
      <p:sp>
        <p:nvSpPr>
          <p:cNvPr id="29" name="Rounded Rectangle 28"/>
          <p:cNvSpPr/>
          <p:nvPr/>
        </p:nvSpPr>
        <p:spPr>
          <a:xfrm>
            <a:off x="457200" y="1993392"/>
            <a:ext cx="11277295" cy="182880"/>
          </a:xfrm>
          <a:prstGeom prst="roundRect">
            <a:avLst>
              <a:gd name="adj" fmla="val 50000"/>
            </a:avLst>
          </a:prstGeom>
          <a:solidFill>
            <a:srgbClr val="F4F8F5"/>
          </a:solidFill>
          <a:ln>
            <a:noFill/>
          </a:ln>
          <a:effectLst/>
        </p:spPr>
        <p:style>
          <a:lnRef idx="1">
            <a:schemeClr val="accent1"/>
          </a:lnRef>
          <a:fillRef idx="3">
            <a:schemeClr val="accent1"/>
          </a:fillRef>
          <a:effectRef idx="2">
            <a:schemeClr val="accent1"/>
          </a:effectRef>
          <a:fontRef idx="minor">
            <a:schemeClr val="lt1"/>
          </a:fontRef>
        </p:style>
        <p:txBody>
          <a:bodyPr rtlCol="0" anchor="ctr" lIns="9144" rIns="9144" tIns="9144" bIns="9144" wrap="square"/>
          <a:lstStyle/>
          <a:p>
            <a:pPr algn="ctr">
              <a:spcAft>
                <a:spcPts val="400"/>
              </a:spcAft>
            </a:pPr>
            <a:r>
              <a:rPr sz="850" b="0" i="0">
                <a:solidFill>
                  <a:srgbClr val="5E6E66"/>
                </a:solidFill>
                <a:latin typeface="Calibri"/>
              </a:rPr>
              <a:t>Évaluation (transverse)</a:t>
            </a:r>
          </a:p>
        </p:txBody>
      </p:sp>
      <p:sp>
        <p:nvSpPr>
          <p:cNvPr id="30" name="TextBox 29"/>
          <p:cNvSpPr txBox="1"/>
          <p:nvPr/>
        </p:nvSpPr>
        <p:spPr>
          <a:xfrm>
            <a:off x="11277295" y="6473952"/>
            <a:ext cx="457200" cy="228600"/>
          </a:xfrm>
          <a:prstGeom prst="rect">
            <a:avLst/>
          </a:prstGeom>
          <a:noFill/>
        </p:spPr>
        <p:txBody>
          <a:bodyPr wrap="square" anchor="t" lIns="0" rIns="0" tIns="0" bIns="0">
            <a:spAutoFit/>
          </a:bodyPr>
          <a:lstStyle/>
          <a:p>
            <a:pPr algn="r">
              <a:spcAft>
                <a:spcPts val="400"/>
              </a:spcAft>
            </a:pPr>
            <a:r>
              <a:rPr sz="1000" b="0" i="0">
                <a:solidFill>
                  <a:srgbClr val="5E6E66"/>
                </a:solidFill>
                <a:latin typeface="Calibri"/>
              </a:rPr>
              <a:t>4</a:t>
            </a:r>
          </a:p>
        </p:txBody>
      </p:sp>
      <p:graphicFrame>
        <p:nvGraphicFramePr>
          <p:cNvPr id="31" name="Table 30"/>
          <p:cNvGraphicFramePr>
            <a:graphicFrameLocks noGrp="1"/>
          </p:cNvGraphicFramePr>
          <p:nvPr/>
        </p:nvGraphicFramePr>
        <p:xfrm>
          <a:off x="457200" y="2395728"/>
          <a:ext cx="11274552" cy="3621024"/>
        </p:xfrm>
        <a:graphic>
          <a:graphicData uri="http://schemas.openxmlformats.org/drawingml/2006/table">
            <a:tbl>
              <a:tblPr firstRow="1">
                <a:tableStyleId>{5C22544A-7EE6-4342-B048-85BDC9FD1C3A}</a:tableStyleId>
              </a:tblPr>
              <a:tblGrid>
                <a:gridCol w="2514600"/>
                <a:gridCol w="3840480"/>
                <a:gridCol w="3657600"/>
                <a:gridCol w="1261872"/>
              </a:tblGrid>
              <a:tr h="402336">
                <a:tc>
                  <a:txBody>
                    <a:bodyPr wrap="square"/>
                    <a:lstStyle/>
                    <a:p>
                      <a:pPr algn="l">
                        <a:spcAft>
                          <a:spcPts val="0"/>
                        </a:spcAft>
                      </a:pPr>
                      <a:r>
                        <a:rPr sz="1150" b="1" i="0">
                          <a:solidFill>
                            <a:srgbClr val="FFFFFF"/>
                          </a:solidFill>
                          <a:latin typeface="Calibri"/>
                        </a:rPr>
                        <a:t>Élément</a:t>
                      </a:r>
                    </a:p>
                  </a:txBody>
                  <a:tcPr marL="73152" marR="73152" marT="36576" marB="36576" anchor="ctr">
                    <a:solidFill>
                      <a:srgbClr val="17332A"/>
                    </a:solidFill>
                  </a:tcPr>
                </a:tc>
                <a:tc>
                  <a:txBody>
                    <a:bodyPr wrap="square"/>
                    <a:lstStyle/>
                    <a:p>
                      <a:pPr algn="l">
                        <a:spcAft>
                          <a:spcPts val="0"/>
                        </a:spcAft>
                      </a:pPr>
                      <a:r>
                        <a:rPr sz="1150" b="1" i="0">
                          <a:solidFill>
                            <a:srgbClr val="FFFFFF"/>
                          </a:solidFill>
                          <a:latin typeface="Calibri"/>
                        </a:rPr>
                        <a:t>Rôle</a:t>
                      </a:r>
                    </a:p>
                  </a:txBody>
                  <a:tcPr marL="73152" marR="73152" marT="36576" marB="36576" anchor="ctr">
                    <a:solidFill>
                      <a:srgbClr val="17332A"/>
                    </a:solidFill>
                  </a:tcPr>
                </a:tc>
                <a:tc>
                  <a:txBody>
                    <a:bodyPr wrap="square"/>
                    <a:lstStyle/>
                    <a:p>
                      <a:pPr algn="l">
                        <a:spcAft>
                          <a:spcPts val="0"/>
                        </a:spcAft>
                      </a:pPr>
                      <a:r>
                        <a:rPr sz="1150" b="1" i="0">
                          <a:solidFill>
                            <a:srgbClr val="FFFFFF"/>
                          </a:solidFill>
                          <a:latin typeface="Calibri"/>
                        </a:rPr>
                        <a:t>Limite ou question</a:t>
                      </a:r>
                    </a:p>
                  </a:txBody>
                  <a:tcPr marL="73152" marR="73152" marT="36576" marB="36576" anchor="ctr">
                    <a:solidFill>
                      <a:srgbClr val="17332A"/>
                    </a:solidFill>
                  </a:tcPr>
                </a:tc>
                <a:tc>
                  <a:txBody>
                    <a:bodyPr wrap="square"/>
                    <a:lstStyle/>
                    <a:p>
                      <a:pPr algn="l">
                        <a:spcAft>
                          <a:spcPts val="0"/>
                        </a:spcAft>
                      </a:pPr>
                      <a:r>
                        <a:rPr sz="1150" b="1" i="0">
                          <a:solidFill>
                            <a:srgbClr val="FFFFFF"/>
                          </a:solidFill>
                          <a:latin typeface="Calibri"/>
                        </a:rPr>
                        <a:t>Statut</a:t>
                      </a:r>
                    </a:p>
                  </a:txBody>
                  <a:tcPr marL="73152" marR="73152" marT="36576" marB="36576" anchor="ctr">
                    <a:solidFill>
                      <a:srgbClr val="17332A"/>
                    </a:solidFill>
                  </a:tcPr>
                </a:tc>
              </a:tr>
              <a:tr h="402336">
                <a:tc>
                  <a:txBody>
                    <a:bodyPr wrap="square"/>
                    <a:lstStyle/>
                    <a:p>
                      <a:pPr algn="l">
                        <a:spcAft>
                          <a:spcPts val="0"/>
                        </a:spcAft>
                      </a:pPr>
                      <a:r>
                        <a:rPr sz="1150" b="1" i="0">
                          <a:solidFill>
                            <a:srgbClr val="17332A"/>
                          </a:solidFill>
                          <a:latin typeface="Calibri"/>
                        </a:rPr>
                        <a:t>Campagne 2026 : Mataroni, Kaw, Trésor</a:t>
                      </a:r>
                    </a:p>
                  </a:txBody>
                  <a:tcPr marL="73152" marR="73152" marT="36576" marB="36576" anchor="ctr">
                    <a:solidFill>
                      <a:srgbClr val="F4F8F5"/>
                    </a:solidFill>
                  </a:tcPr>
                </a:tc>
                <a:tc>
                  <a:txBody>
                    <a:bodyPr wrap="square"/>
                    <a:lstStyle/>
                    <a:p>
                      <a:pPr algn="l">
                        <a:spcAft>
                          <a:spcPts val="0"/>
                        </a:spcAft>
                      </a:pPr>
                      <a:r>
                        <a:rPr sz="1150" b="0" i="0">
                          <a:solidFill>
                            <a:srgbClr val="1C2B24"/>
                          </a:solidFill>
                          <a:latin typeface="Calibri"/>
                        </a:rPr>
                        <a:t>Entraînement (Mataroni) ; nouveaux sites (Kaw, Trésor)</a:t>
                      </a:r>
                    </a:p>
                  </a:txBody>
                  <a:tcPr marL="73152" marR="73152" marT="36576" marB="36576" anchor="ctr">
                    <a:solidFill>
                      <a:srgbClr val="F4F8F5"/>
                    </a:solidFill>
                  </a:tcPr>
                </a:tc>
                <a:tc>
                  <a:txBody>
                    <a:bodyPr wrap="square"/>
                    <a:lstStyle/>
                    <a:p>
                      <a:pPr algn="l">
                        <a:spcAft>
                          <a:spcPts val="0"/>
                        </a:spcAft>
                      </a:pPr>
                      <a:r>
                        <a:rPr sz="1150" b="0" i="0">
                          <a:solidFill>
                            <a:srgbClr val="1C2B24"/>
                          </a:solidFill>
                          <a:latin typeface="Calibri"/>
                        </a:rPr>
                        <a:t>Positifs seulement à Mataroni pour l'instant</a:t>
                      </a:r>
                    </a:p>
                  </a:txBody>
                  <a:tcPr marL="73152" marR="73152" marT="36576" marB="36576" anchor="ctr">
                    <a:solidFill>
                      <a:srgbClr val="F4F8F5"/>
                    </a:solidFill>
                  </a:tcPr>
                </a:tc>
                <a:tc>
                  <a:txBody>
                    <a:bodyPr wrap="square"/>
                    <a:lstStyle/>
                    <a:p>
                      <a:pPr algn="l">
                        <a:spcAft>
                          <a:spcPts val="0"/>
                        </a:spcAft>
                      </a:pPr>
                      <a:r>
                        <a:rPr sz="1150" b="1" i="0">
                          <a:solidFill>
                            <a:srgbClr val="2F8F5B"/>
                          </a:solidFill>
                          <a:latin typeface="Calibri"/>
                        </a:rPr>
                        <a:t>● Retenu</a:t>
                      </a:r>
                    </a:p>
                  </a:txBody>
                  <a:tcPr marL="73152" marR="73152" marT="36576" marB="36576" anchor="ctr">
                    <a:solidFill>
                      <a:srgbClr val="F4F8F5"/>
                    </a:solidFill>
                  </a:tcPr>
                </a:tc>
              </a:tr>
              <a:tr h="402336">
                <a:tc>
                  <a:txBody>
                    <a:bodyPr wrap="square"/>
                    <a:lstStyle/>
                    <a:p>
                      <a:pPr algn="l">
                        <a:spcAft>
                          <a:spcPts val="0"/>
                        </a:spcAft>
                      </a:pPr>
                      <a:r>
                        <a:rPr sz="1150" b="1" i="0">
                          <a:solidFill>
                            <a:srgbClr val="17332A"/>
                          </a:solidFill>
                          <a:latin typeface="Calibri"/>
                        </a:rPr>
                        <a:t>Phénologie 2023-2024 : 3 sites, un an</a:t>
                      </a:r>
                    </a:p>
                  </a:txBody>
                  <a:tcPr marL="73152" marR="73152" marT="36576" marB="36576" anchor="ctr">
                    <a:solidFill>
                      <a:srgbClr val="FFFFFF"/>
                    </a:solidFill>
                  </a:tcPr>
                </a:tc>
                <a:tc>
                  <a:txBody>
                    <a:bodyPr wrap="square"/>
                    <a:lstStyle/>
                    <a:p>
                      <a:pPr algn="l">
                        <a:spcAft>
                          <a:spcPts val="0"/>
                        </a:spcAft>
                      </a:pPr>
                      <a:r>
                        <a:rPr sz="1150" b="0" i="0">
                          <a:solidFill>
                            <a:srgbClr val="1C2B24"/>
                          </a:solidFill>
                          <a:latin typeface="Calibri"/>
                        </a:rPr>
                        <a:t>Validation sans labels : retrouver les courbes publiées</a:t>
                      </a:r>
                    </a:p>
                  </a:txBody>
                  <a:tcPr marL="73152" marR="73152" marT="36576" marB="36576" anchor="ctr">
                    <a:solidFill>
                      <a:srgbClr val="FFFFFF"/>
                    </a:solidFill>
                  </a:tcPr>
                </a:tc>
                <a:tc>
                  <a:txBody>
                    <a:bodyPr wrap="square"/>
                    <a:lstStyle/>
                    <a:p>
                      <a:pPr algn="l">
                        <a:spcAft>
                          <a:spcPts val="0"/>
                        </a:spcAft>
                      </a:pPr>
                      <a:r>
                        <a:rPr sz="1150" b="0" i="0">
                          <a:solidFill>
                            <a:srgbClr val="1C2B24"/>
                          </a:solidFill>
                          <a:latin typeface="Calibri"/>
                        </a:rPr>
                        <a:t>Autre année, autre génération d'enregistreurs</a:t>
                      </a:r>
                    </a:p>
                  </a:txBody>
                  <a:tcPr marL="73152" marR="73152" marT="36576" marB="36576" anchor="ctr">
                    <a:solidFill>
                      <a:srgbClr val="FFFFFF"/>
                    </a:solidFill>
                  </a:tcPr>
                </a:tc>
                <a:tc>
                  <a:txBody>
                    <a:bodyPr wrap="square"/>
                    <a:lstStyle/>
                    <a:p>
                      <a:pPr algn="l">
                        <a:spcAft>
                          <a:spcPts val="0"/>
                        </a:spcAft>
                      </a:pPr>
                      <a:r>
                        <a:rPr sz="1150" b="1" i="0">
                          <a:solidFill>
                            <a:srgbClr val="2F8F5B"/>
                          </a:solidFill>
                          <a:latin typeface="Calibri"/>
                        </a:rPr>
                        <a:t>● Retenu</a:t>
                      </a:r>
                    </a:p>
                  </a:txBody>
                  <a:tcPr marL="73152" marR="73152" marT="36576" marB="36576" anchor="ctr">
                    <a:solidFill>
                      <a:srgbClr val="FFFFFF"/>
                    </a:solidFill>
                  </a:tcPr>
                </a:tc>
              </a:tr>
              <a:tr h="402336">
                <a:tc>
                  <a:txBody>
                    <a:bodyPr wrap="square"/>
                    <a:lstStyle/>
                    <a:p>
                      <a:pPr algn="l">
                        <a:spcAft>
                          <a:spcPts val="0"/>
                        </a:spcAft>
                      </a:pPr>
                      <a:r>
                        <a:rPr sz="1150" b="1" i="0">
                          <a:solidFill>
                            <a:srgbClr val="17332A"/>
                          </a:solidFill>
                          <a:latin typeface="Calibri"/>
                        </a:rPr>
                        <a:t>AnuraSet</a:t>
                      </a:r>
                    </a:p>
                  </a:txBody>
                  <a:tcPr marL="73152" marR="73152" marT="36576" marB="36576" anchor="ctr">
                    <a:solidFill>
                      <a:srgbClr val="F4F8F5"/>
                    </a:solidFill>
                  </a:tcPr>
                </a:tc>
                <a:tc>
                  <a:txBody>
                    <a:bodyPr wrap="square"/>
                    <a:lstStyle/>
                    <a:p>
                      <a:pPr algn="l">
                        <a:spcAft>
                          <a:spcPts val="0"/>
                        </a:spcAft>
                      </a:pPr>
                      <a:r>
                        <a:rPr sz="1150" b="0" i="0">
                          <a:solidFill>
                            <a:srgbClr val="1C2B24"/>
                          </a:solidFill>
                          <a:latin typeface="Calibri"/>
                        </a:rPr>
                        <a:t>Pré-classement des encodeurs sur des milliers d'anoures annotés</a:t>
                      </a:r>
                    </a:p>
                  </a:txBody>
                  <a:tcPr marL="73152" marR="73152" marT="36576" marB="36576" anchor="ctr">
                    <a:solidFill>
                      <a:srgbClr val="F4F8F5"/>
                    </a:solidFill>
                  </a:tcPr>
                </a:tc>
                <a:tc>
                  <a:txBody>
                    <a:bodyPr wrap="square"/>
                    <a:lstStyle/>
                    <a:p>
                      <a:pPr algn="l">
                        <a:spcAft>
                          <a:spcPts val="0"/>
                        </a:spcAft>
                      </a:pPr>
                      <a:r>
                        <a:rPr sz="1150" b="0" i="0">
                          <a:solidFill>
                            <a:srgbClr val="1C2B24"/>
                          </a:solidFill>
                          <a:latin typeface="Calibri"/>
                        </a:rPr>
                        <a:t>Aucune espèce ne ressemble parfaitement à </a:t>
                      </a:r>
                      <a:r>
                        <a:rPr sz="1150" b="0" i="1">
                          <a:solidFill>
                            <a:srgbClr val="1C2B24"/>
                          </a:solidFill>
                          <a:latin typeface="Calibri"/>
                        </a:rPr>
                        <a:t>A. blanci</a:t>
                      </a:r>
                    </a:p>
                  </a:txBody>
                  <a:tcPr marL="73152" marR="73152" marT="36576" marB="36576" anchor="ctr">
                    <a:solidFill>
                      <a:srgbClr val="F4F8F5"/>
                    </a:solidFill>
                  </a:tcPr>
                </a:tc>
                <a:tc>
                  <a:txBody>
                    <a:bodyPr wrap="square"/>
                    <a:lstStyle/>
                    <a:p>
                      <a:pPr algn="l">
                        <a:spcAft>
                          <a:spcPts val="0"/>
                        </a:spcAft>
                      </a:pPr>
                      <a:r>
                        <a:rPr sz="1150" b="1" i="0">
                          <a:solidFill>
                            <a:srgbClr val="C0492F"/>
                          </a:solidFill>
                          <a:latin typeface="Calibri"/>
                        </a:rPr>
                        <a:t>● À trancher</a:t>
                      </a:r>
                    </a:p>
                  </a:txBody>
                  <a:tcPr marL="73152" marR="73152" marT="36576" marB="36576" anchor="ctr">
                    <a:solidFill>
                      <a:srgbClr val="F4F8F5"/>
                    </a:solidFill>
                  </a:tcPr>
                </a:tc>
              </a:tr>
              <a:tr h="402336">
                <a:tc>
                  <a:txBody>
                    <a:bodyPr wrap="square"/>
                    <a:lstStyle/>
                    <a:p>
                      <a:pPr algn="l">
                        <a:spcAft>
                          <a:spcPts val="0"/>
                        </a:spcAft>
                      </a:pPr>
                      <a:r>
                        <a:rPr sz="1150" b="1" i="0">
                          <a:solidFill>
                            <a:srgbClr val="17332A"/>
                          </a:solidFill>
                          <a:latin typeface="Calibri"/>
                        </a:rPr>
                        <a:t>Positifs et faux amis vérifiés</a:t>
                      </a:r>
                    </a:p>
                  </a:txBody>
                  <a:tcPr marL="73152" marR="73152" marT="36576" marB="36576" anchor="ctr">
                    <a:solidFill>
                      <a:srgbClr val="FFFFFF"/>
                    </a:solidFill>
                  </a:tcPr>
                </a:tc>
                <a:tc>
                  <a:txBody>
                    <a:bodyPr wrap="square"/>
                    <a:lstStyle/>
                    <a:p>
                      <a:pPr algn="l">
                        <a:spcAft>
                          <a:spcPts val="0"/>
                        </a:spcAft>
                      </a:pPr>
                      <a:r>
                        <a:rPr sz="1150" b="0" i="0">
                          <a:solidFill>
                            <a:srgbClr val="1C2B24"/>
                          </a:solidFill>
                          <a:latin typeface="Calibri"/>
                        </a:rPr>
                        <a:t>Exemples de l'expert, qualité A/B/C, commentaire gardé</a:t>
                      </a:r>
                    </a:p>
                  </a:txBody>
                  <a:tcPr marL="73152" marR="73152" marT="36576" marB="36576" anchor="ctr">
                    <a:solidFill>
                      <a:srgbClr val="FFFFFF"/>
                    </a:solidFill>
                  </a:tcPr>
                </a:tc>
                <a:tc>
                  <a:txBody>
                    <a:bodyPr wrap="square"/>
                    <a:lstStyle/>
                    <a:p>
                      <a:pPr algn="l">
                        <a:spcAft>
                          <a:spcPts val="0"/>
                        </a:spcAft>
                      </a:pPr>
                      <a:r>
                        <a:rPr sz="1150" b="0" i="0">
                          <a:solidFill>
                            <a:srgbClr val="1C2B24"/>
                          </a:solidFill>
                          <a:latin typeface="Calibri"/>
                        </a:rPr>
                        <a:t>Biais de sélection Blancinet</a:t>
                      </a:r>
                    </a:p>
                  </a:txBody>
                  <a:tcPr marL="73152" marR="73152" marT="36576" marB="36576" anchor="ctr">
                    <a:solidFill>
                      <a:srgbClr val="FFFFFF"/>
                    </a:solidFill>
                  </a:tcPr>
                </a:tc>
                <a:tc>
                  <a:txBody>
                    <a:bodyPr wrap="square"/>
                    <a:lstStyle/>
                    <a:p>
                      <a:pPr algn="l">
                        <a:spcAft>
                          <a:spcPts val="0"/>
                        </a:spcAft>
                      </a:pPr>
                      <a:r>
                        <a:rPr sz="1150" b="1" i="0">
                          <a:solidFill>
                            <a:srgbClr val="2F8F5B"/>
                          </a:solidFill>
                          <a:latin typeface="Calibri"/>
                        </a:rPr>
                        <a:t>● Retenu</a:t>
                      </a:r>
                    </a:p>
                  </a:txBody>
                  <a:tcPr marL="73152" marR="73152" marT="36576" marB="36576" anchor="ctr">
                    <a:solidFill>
                      <a:srgbClr val="FFFFFF"/>
                    </a:solidFill>
                  </a:tcPr>
                </a:tc>
              </a:tr>
              <a:tr h="402336">
                <a:tc>
                  <a:txBody>
                    <a:bodyPr wrap="square"/>
                    <a:lstStyle/>
                    <a:p>
                      <a:pPr algn="l">
                        <a:spcAft>
                          <a:spcPts val="0"/>
                        </a:spcAft>
                      </a:pPr>
                      <a:r>
                        <a:rPr sz="1150" b="1" i="0">
                          <a:solidFill>
                            <a:srgbClr val="17332A"/>
                          </a:solidFill>
                          <a:latin typeface="Calibri"/>
                        </a:rPr>
                        <a:t>Négatifs appariés présumés</a:t>
                      </a:r>
                    </a:p>
                  </a:txBody>
                  <a:tcPr marL="73152" marR="73152" marT="36576" marB="36576" anchor="ctr">
                    <a:solidFill>
                      <a:srgbClr val="F4F8F5"/>
                    </a:solidFill>
                  </a:tcPr>
                </a:tc>
                <a:tc>
                  <a:txBody>
                    <a:bodyPr wrap="square"/>
                    <a:lstStyle/>
                    <a:p>
                      <a:pPr algn="l">
                        <a:spcAft>
                          <a:spcPts val="0"/>
                        </a:spcAft>
                      </a:pPr>
                      <a:r>
                        <a:rPr sz="1150" b="0" i="0">
                          <a:solidFill>
                            <a:srgbClr val="1C2B24"/>
                          </a:solidFill>
                          <a:latin typeface="Calibri"/>
                        </a:rPr>
                        <a:t>Mêmes micros, mêmes heures, non écoutés</a:t>
                      </a:r>
                    </a:p>
                  </a:txBody>
                  <a:tcPr marL="73152" marR="73152" marT="36576" marB="36576" anchor="ctr">
                    <a:solidFill>
                      <a:srgbClr val="F4F8F5"/>
                    </a:solidFill>
                  </a:tcPr>
                </a:tc>
                <a:tc>
                  <a:txBody>
                    <a:bodyPr wrap="square"/>
                    <a:lstStyle/>
                    <a:p>
                      <a:pPr algn="l">
                        <a:spcAft>
                          <a:spcPts val="0"/>
                        </a:spcAft>
                      </a:pPr>
                      <a:r>
                        <a:rPr sz="1150" b="0" i="0">
                          <a:solidFill>
                            <a:srgbClr val="1C2B24"/>
                          </a:solidFill>
                          <a:latin typeface="Calibri"/>
                        </a:rPr>
                        <a:t>Peuvent contenir </a:t>
                      </a:r>
                      <a:r>
                        <a:rPr sz="1150" b="0" i="1">
                          <a:solidFill>
                            <a:srgbClr val="1C2B24"/>
                          </a:solidFill>
                          <a:latin typeface="Calibri"/>
                        </a:rPr>
                        <a:t>A. blanci</a:t>
                      </a:r>
                      <a:r>
                        <a:rPr sz="1150" b="0" i="0">
                          <a:solidFill>
                            <a:srgbClr val="1C2B24"/>
                          </a:solidFill>
                          <a:latin typeface="Calibri"/>
                        </a:rPr>
                        <a:t> : biais assumé</a:t>
                      </a:r>
                    </a:p>
                  </a:txBody>
                  <a:tcPr marL="73152" marR="73152" marT="36576" marB="36576" anchor="ctr">
                    <a:solidFill>
                      <a:srgbClr val="F4F8F5"/>
                    </a:solidFill>
                  </a:tcPr>
                </a:tc>
                <a:tc>
                  <a:txBody>
                    <a:bodyPr wrap="square"/>
                    <a:lstStyle/>
                    <a:p>
                      <a:pPr algn="l">
                        <a:spcAft>
                          <a:spcPts val="0"/>
                        </a:spcAft>
                      </a:pPr>
                      <a:r>
                        <a:rPr sz="1150" b="1" i="0">
                          <a:solidFill>
                            <a:srgbClr val="2F8F5B"/>
                          </a:solidFill>
                          <a:latin typeface="Calibri"/>
                        </a:rPr>
                        <a:t>● Retenu</a:t>
                      </a:r>
                    </a:p>
                  </a:txBody>
                  <a:tcPr marL="73152" marR="73152" marT="36576" marB="36576" anchor="ctr">
                    <a:solidFill>
                      <a:srgbClr val="F4F8F5"/>
                    </a:solidFill>
                  </a:tcPr>
                </a:tc>
              </a:tr>
              <a:tr h="402336">
                <a:tc>
                  <a:txBody>
                    <a:bodyPr wrap="square"/>
                    <a:lstStyle/>
                    <a:p>
                      <a:pPr algn="l">
                        <a:spcAft>
                          <a:spcPts val="0"/>
                        </a:spcAft>
                      </a:pPr>
                      <a:r>
                        <a:rPr sz="1150" b="1" i="0">
                          <a:solidFill>
                            <a:srgbClr val="17332A"/>
                          </a:solidFill>
                          <a:latin typeface="Calibri"/>
                        </a:rPr>
                        <a:t>Negative mining</a:t>
                      </a:r>
                    </a:p>
                  </a:txBody>
                  <a:tcPr marL="73152" marR="73152" marT="36576" marB="36576" anchor="ctr">
                    <a:solidFill>
                      <a:srgbClr val="FFFFFF"/>
                    </a:solidFill>
                  </a:tcPr>
                </a:tc>
                <a:tc>
                  <a:txBody>
                    <a:bodyPr wrap="square"/>
                    <a:lstStyle/>
                    <a:p>
                      <a:pPr algn="l">
                        <a:spcAft>
                          <a:spcPts val="0"/>
                        </a:spcAft>
                      </a:pPr>
                      <a:r>
                        <a:rPr sz="1150" b="0" i="0">
                          <a:solidFill>
                            <a:srgbClr val="1C2B24"/>
                          </a:solidFill>
                          <a:latin typeface="Calibri"/>
                        </a:rPr>
                        <a:t>Faux amis identifiés, puis négatifs durs remontés par la boucle</a:t>
                      </a:r>
                    </a:p>
                  </a:txBody>
                  <a:tcPr marL="73152" marR="73152" marT="36576" marB="36576" anchor="ctr">
                    <a:solidFill>
                      <a:srgbClr val="FFFFFF"/>
                    </a:solidFill>
                  </a:tcPr>
                </a:tc>
                <a:tc>
                  <a:txBody>
                    <a:bodyPr wrap="square"/>
                    <a:lstStyle/>
                    <a:p>
                      <a:pPr algn="l">
                        <a:spcAft>
                          <a:spcPts val="0"/>
                        </a:spcAft>
                      </a:pPr>
                      <a:r>
                        <a:rPr sz="1150" b="0" i="0">
                          <a:solidFill>
                            <a:srgbClr val="1C2B24"/>
                          </a:solidFill>
                          <a:latin typeface="Calibri"/>
                        </a:rPr>
                        <a:t>Apprend les confusions fréquentes</a:t>
                      </a:r>
                    </a:p>
                  </a:txBody>
                  <a:tcPr marL="73152" marR="73152" marT="36576" marB="36576" anchor="ctr">
                    <a:solidFill>
                      <a:srgbClr val="FFFFFF"/>
                    </a:solidFill>
                  </a:tcPr>
                </a:tc>
                <a:tc>
                  <a:txBody>
                    <a:bodyPr wrap="square"/>
                    <a:lstStyle/>
                    <a:p>
                      <a:pPr algn="l">
                        <a:spcAft>
                          <a:spcPts val="0"/>
                        </a:spcAft>
                      </a:pPr>
                      <a:r>
                        <a:rPr sz="1150" b="1" i="0">
                          <a:solidFill>
                            <a:srgbClr val="2F8F5B"/>
                          </a:solidFill>
                          <a:latin typeface="Calibri"/>
                        </a:rPr>
                        <a:t>● Retenu</a:t>
                      </a:r>
                    </a:p>
                  </a:txBody>
                  <a:tcPr marL="73152" marR="73152" marT="36576" marB="36576" anchor="ctr">
                    <a:solidFill>
                      <a:srgbClr val="FFFFFF"/>
                    </a:solidFill>
                  </a:tcPr>
                </a:tc>
              </a:tr>
              <a:tr h="402336">
                <a:tc>
                  <a:txBody>
                    <a:bodyPr wrap="square"/>
                    <a:lstStyle/>
                    <a:p>
                      <a:pPr algn="l">
                        <a:spcAft>
                          <a:spcPts val="0"/>
                        </a:spcAft>
                      </a:pPr>
                      <a:r>
                        <a:rPr sz="1150" b="1" i="0">
                          <a:solidFill>
                            <a:srgbClr val="17332A"/>
                          </a:solidFill>
                          <a:latin typeface="Calibri"/>
                        </a:rPr>
                        <a:t>Drapeaux de qualité</a:t>
                      </a:r>
                    </a:p>
                  </a:txBody>
                  <a:tcPr marL="73152" marR="73152" marT="36576" marB="36576" anchor="ctr">
                    <a:solidFill>
                      <a:srgbClr val="F4F8F5"/>
                    </a:solidFill>
                  </a:tcPr>
                </a:tc>
                <a:tc>
                  <a:txBody>
                    <a:bodyPr wrap="square"/>
                    <a:lstStyle/>
                    <a:p>
                      <a:pPr algn="l">
                        <a:spcAft>
                          <a:spcPts val="0"/>
                        </a:spcAft>
                      </a:pPr>
                      <a:r>
                        <a:rPr sz="1150" b="0" i="0">
                          <a:solidFill>
                            <a:srgbClr val="1C2B24"/>
                          </a:solidFill>
                          <a:latin typeface="Calibri"/>
                        </a:rPr>
                        <a:t>Exclus : silencieux, micro dans sac, hors relevé</a:t>
                      </a:r>
                    </a:p>
                  </a:txBody>
                  <a:tcPr marL="73152" marR="73152" marT="36576" marB="36576" anchor="ctr">
                    <a:solidFill>
                      <a:srgbClr val="F4F8F5"/>
                    </a:solidFill>
                  </a:tcPr>
                </a:tc>
                <a:tc>
                  <a:txBody>
                    <a:bodyPr wrap="square"/>
                    <a:lstStyle/>
                    <a:p>
                      <a:pPr algn="l">
                        <a:spcAft>
                          <a:spcPts val="0"/>
                        </a:spcAft>
                      </a:pPr>
                      <a:r>
                        <a:rPr sz="1150" b="0" i="0">
                          <a:solidFill>
                            <a:srgbClr val="1C2B24"/>
                          </a:solidFill>
                          <a:latin typeface="Calibri"/>
                        </a:rPr>
                        <a:t>Pluie et saturation gardées : le corpus reste réaliste</a:t>
                      </a:r>
                    </a:p>
                  </a:txBody>
                  <a:tcPr marL="73152" marR="73152" marT="36576" marB="36576" anchor="ctr">
                    <a:solidFill>
                      <a:srgbClr val="F4F8F5"/>
                    </a:solidFill>
                  </a:tcPr>
                </a:tc>
                <a:tc>
                  <a:txBody>
                    <a:bodyPr wrap="square"/>
                    <a:lstStyle/>
                    <a:p>
                      <a:pPr algn="l">
                        <a:spcAft>
                          <a:spcPts val="0"/>
                        </a:spcAft>
                      </a:pPr>
                      <a:r>
                        <a:rPr sz="1150" b="1" i="0">
                          <a:solidFill>
                            <a:srgbClr val="2F8F5B"/>
                          </a:solidFill>
                          <a:latin typeface="Calibri"/>
                        </a:rPr>
                        <a:t>● Retenu</a:t>
                      </a:r>
                    </a:p>
                  </a:txBody>
                  <a:tcPr marL="73152" marR="73152" marT="36576" marB="36576" anchor="ctr">
                    <a:solidFill>
                      <a:srgbClr val="F4F8F5"/>
                    </a:solidFill>
                  </a:tcPr>
                </a:tc>
              </a:tr>
              <a:tr h="402336">
                <a:tc>
                  <a:txBody>
                    <a:bodyPr wrap="square"/>
                    <a:lstStyle/>
                    <a:p>
                      <a:pPr algn="l">
                        <a:spcAft>
                          <a:spcPts val="0"/>
                        </a:spcAft>
                      </a:pPr>
                      <a:r>
                        <a:rPr sz="1150" b="1" i="0">
                          <a:solidFill>
                            <a:srgbClr val="17332A"/>
                          </a:solidFill>
                          <a:latin typeface="Calibri"/>
                        </a:rPr>
                        <a:t>Canal stéréo (deux gains)</a:t>
                      </a:r>
                    </a:p>
                  </a:txBody>
                  <a:tcPr marL="73152" marR="73152" marT="36576" marB="36576" anchor="ctr">
                    <a:solidFill>
                      <a:srgbClr val="FFFFFF"/>
                    </a:solidFill>
                  </a:tcPr>
                </a:tc>
                <a:tc>
                  <a:txBody>
                    <a:bodyPr wrap="square"/>
                    <a:lstStyle/>
                    <a:p>
                      <a:pPr algn="l">
                        <a:spcAft>
                          <a:spcPts val="0"/>
                        </a:spcAft>
                      </a:pPr>
                      <a:r>
                        <a:rPr sz="1150" b="0" i="0">
                          <a:solidFill>
                            <a:srgbClr val="1C2B24"/>
                          </a:solidFill>
                          <a:latin typeface="Calibri"/>
                        </a:rPr>
                        <a:t>Un canal, l'autre, ou leur moyenne</a:t>
                      </a:r>
                    </a:p>
                  </a:txBody>
                  <a:tcPr marL="73152" marR="73152" marT="36576" marB="36576" anchor="ctr">
                    <a:solidFill>
                      <a:srgbClr val="FFFFFF"/>
                    </a:solidFill>
                  </a:tcPr>
                </a:tc>
                <a:tc>
                  <a:txBody>
                    <a:bodyPr wrap="square"/>
                    <a:lstStyle/>
                    <a:p>
                      <a:pPr algn="l">
                        <a:spcAft>
                          <a:spcPts val="0"/>
                        </a:spcAft>
                      </a:pPr>
                      <a:r>
                        <a:rPr sz="1150" b="0" i="0">
                          <a:solidFill>
                            <a:srgbClr val="1C2B24"/>
                          </a:solidFill>
                          <a:latin typeface="Calibri"/>
                        </a:rPr>
                        <a:t>Le canal à fort gain sature parfois</a:t>
                      </a:r>
                    </a:p>
                  </a:txBody>
                  <a:tcPr marL="73152" marR="73152" marT="36576" marB="36576" anchor="ctr">
                    <a:solidFill>
                      <a:srgbClr val="FFFFFF"/>
                    </a:solidFill>
                  </a:tcPr>
                </a:tc>
                <a:tc>
                  <a:txBody>
                    <a:bodyPr wrap="square"/>
                    <a:lstStyle/>
                    <a:p>
                      <a:pPr algn="l">
                        <a:spcAft>
                          <a:spcPts val="0"/>
                        </a:spcAft>
                      </a:pPr>
                      <a:r>
                        <a:rPr sz="1150" b="1" i="0">
                          <a:solidFill>
                            <a:srgbClr val="C9780E"/>
                          </a:solidFill>
                          <a:latin typeface="Calibri"/>
                        </a:rPr>
                        <a:t>● À comparer</a:t>
                      </a:r>
                    </a:p>
                  </a:txBody>
                  <a:tcPr marL="73152" marR="73152" marT="36576" marB="36576" anchor="ctr">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8229600" cy="256032"/>
          </a:xfrm>
          <a:prstGeom prst="rect">
            <a:avLst/>
          </a:prstGeom>
          <a:noFill/>
        </p:spPr>
        <p:txBody>
          <a:bodyPr wrap="square" anchor="t" lIns="0" rIns="0" tIns="0" bIns="0">
            <a:spAutoFit/>
          </a:bodyPr>
          <a:lstStyle/>
          <a:p>
            <a:pPr algn="l">
              <a:spcAft>
                <a:spcPts val="400"/>
              </a:spcAft>
            </a:pPr>
            <a:r>
              <a:rPr sz="1100" b="1" i="0">
                <a:solidFill>
                  <a:srgbClr val="9A5A06"/>
                </a:solidFill>
                <a:latin typeface="Calibri"/>
              </a:rPr>
              <a:t>PIPELINE · ÉTAPE 2</a:t>
            </a:r>
          </a:p>
        </p:txBody>
      </p:sp>
      <p:sp>
        <p:nvSpPr>
          <p:cNvPr id="3" name="TextBox 2"/>
          <p:cNvSpPr txBox="1"/>
          <p:nvPr/>
        </p:nvSpPr>
        <p:spPr>
          <a:xfrm>
            <a:off x="457200" y="493776"/>
            <a:ext cx="11274552" cy="548640"/>
          </a:xfrm>
          <a:prstGeom prst="rect">
            <a:avLst/>
          </a:prstGeom>
          <a:noFill/>
        </p:spPr>
        <p:txBody>
          <a:bodyPr wrap="square" anchor="t" lIns="0" rIns="0" tIns="0" bIns="0">
            <a:spAutoFit/>
          </a:bodyPr>
          <a:lstStyle/>
          <a:p>
            <a:pPr algn="l">
              <a:spcAft>
                <a:spcPts val="400"/>
              </a:spcAft>
            </a:pPr>
            <a:r>
              <a:rPr sz="2600" b="1" i="0">
                <a:solidFill>
                  <a:srgbClr val="17332A"/>
                </a:solidFill>
                <a:latin typeface="Cambria"/>
              </a:rPr>
              <a:t>Fenêtrage : quelle unité d'écoute pour la machine ?</a:t>
            </a:r>
          </a:p>
        </p:txBody>
      </p:sp>
      <p:cxnSp>
        <p:nvCxnSpPr>
          <p:cNvPr id="4" name="Connector 3"/>
          <p:cNvCxnSpPr/>
          <p:nvPr/>
        </p:nvCxnSpPr>
        <p:spPr>
          <a:xfrm>
            <a:off x="1591056" y="1472184"/>
            <a:ext cx="315206" cy="0"/>
          </a:xfrm>
          <a:prstGeom prst="line">
            <a:avLst/>
          </a:prstGeom>
          <a:ln w="15875">
            <a:solidFill>
              <a:srgbClr val="9DB3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3040118" y="1472184"/>
            <a:ext cx="157604" cy="0"/>
          </a:xfrm>
          <a:prstGeom prst="line">
            <a:avLst/>
          </a:prstGeom>
          <a:ln w="15875">
            <a:solidFill>
              <a:srgbClr val="9DB3A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197722" y="1271016"/>
            <a:ext cx="0" cy="402336"/>
          </a:xfrm>
          <a:prstGeom prst="line">
            <a:avLst/>
          </a:prstGeom>
          <a:ln w="15875">
            <a:solidFill>
              <a:srgbClr val="9DB3A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3197722" y="1271016"/>
            <a:ext cx="157603" cy="0"/>
          </a:xfrm>
          <a:prstGeom prst="line">
            <a:avLst/>
          </a:prstGeom>
          <a:ln w="15875">
            <a:solidFill>
              <a:srgbClr val="9DB3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3197722" y="1673352"/>
            <a:ext cx="157603" cy="0"/>
          </a:xfrm>
          <a:prstGeom prst="line">
            <a:avLst/>
          </a:prstGeom>
          <a:ln w="15875">
            <a:solidFill>
              <a:srgbClr val="9DB3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489181" y="1271016"/>
            <a:ext cx="315207" cy="0"/>
          </a:xfrm>
          <a:prstGeom prst="line">
            <a:avLst/>
          </a:prstGeom>
          <a:ln w="15875">
            <a:solidFill>
              <a:srgbClr val="9DB3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938244" y="1271016"/>
            <a:ext cx="157603" cy="0"/>
          </a:xfrm>
          <a:prstGeom prst="line">
            <a:avLst/>
          </a:prstGeom>
          <a:ln w="15875">
            <a:solidFill>
              <a:srgbClr val="9DB3A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5938244" y="1673352"/>
            <a:ext cx="157603" cy="0"/>
          </a:xfrm>
          <a:prstGeom prst="line">
            <a:avLst/>
          </a:prstGeom>
          <a:ln w="15875">
            <a:solidFill>
              <a:srgbClr val="9DB3A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095847" y="1271016"/>
            <a:ext cx="0" cy="402336"/>
          </a:xfrm>
          <a:prstGeom prst="line">
            <a:avLst/>
          </a:prstGeom>
          <a:ln w="15875">
            <a:solidFill>
              <a:srgbClr val="9DB3A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6095847" y="1472184"/>
            <a:ext cx="157603" cy="0"/>
          </a:xfrm>
          <a:prstGeom prst="line">
            <a:avLst/>
          </a:prstGeom>
          <a:ln w="15875">
            <a:solidFill>
              <a:srgbClr val="9DB3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7387306" y="1472184"/>
            <a:ext cx="315207" cy="0"/>
          </a:xfrm>
          <a:prstGeom prst="line">
            <a:avLst/>
          </a:prstGeom>
          <a:ln w="15875">
            <a:solidFill>
              <a:srgbClr val="9DB3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836369" y="1472184"/>
            <a:ext cx="315207" cy="0"/>
          </a:xfrm>
          <a:prstGeom prst="line">
            <a:avLst/>
          </a:prstGeom>
          <a:ln w="15875">
            <a:solidFill>
              <a:srgbClr val="9DB3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0285432" y="1472184"/>
            <a:ext cx="315207" cy="0"/>
          </a:xfrm>
          <a:prstGeom prst="line">
            <a:avLst/>
          </a:prstGeom>
          <a:ln w="15875">
            <a:solidFill>
              <a:srgbClr val="9DB3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1167567" y="1627632"/>
            <a:ext cx="0" cy="292608"/>
          </a:xfrm>
          <a:prstGeom prst="line">
            <a:avLst/>
          </a:prstGeom>
          <a:ln w="19050">
            <a:solidFill>
              <a:srgbClr val="9DB3A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H="1">
            <a:off x="1024128" y="1920240"/>
            <a:ext cx="10143439" cy="0"/>
          </a:xfrm>
          <a:prstGeom prst="line">
            <a:avLst/>
          </a:prstGeom>
          <a:ln w="19050">
            <a:solidFill>
              <a:srgbClr val="9DB3A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1024128" y="1627632"/>
            <a:ext cx="0" cy="292608"/>
          </a:xfrm>
          <a:prstGeom prst="line">
            <a:avLst/>
          </a:prstGeom>
          <a:ln w="19050">
            <a:solidFill>
              <a:srgbClr val="9DB3A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457200" y="1316736"/>
            <a:ext cx="1133856" cy="310896"/>
          </a:xfrm>
          <a:prstGeom prst="roundRect">
            <a:avLst>
              <a:gd name="adj" fmla="val 14000"/>
            </a:avLst>
          </a:prstGeom>
          <a:solidFill>
            <a:srgbClr val="E6EF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0"/>
              </a:spcAft>
            </a:pPr>
            <a:r>
              <a:rPr sz="950" b="0" i="0">
                <a:solidFill>
                  <a:srgbClr val="5E6E66"/>
                </a:solidFill>
                <a:latin typeface="Calibri"/>
              </a:rPr>
              <a:t>Corpus + QC</a:t>
            </a:r>
          </a:p>
        </p:txBody>
      </p:sp>
      <p:sp>
        <p:nvSpPr>
          <p:cNvPr id="21" name="Rounded Rectangle 20"/>
          <p:cNvSpPr/>
          <p:nvPr/>
        </p:nvSpPr>
        <p:spPr>
          <a:xfrm>
            <a:off x="1906262" y="1316736"/>
            <a:ext cx="1133856" cy="310896"/>
          </a:xfrm>
          <a:prstGeom prst="roundRect">
            <a:avLst>
              <a:gd name="adj" fmla="val 14000"/>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0"/>
              </a:spcAft>
            </a:pPr>
            <a:r>
              <a:rPr sz="950" b="1" i="0">
                <a:solidFill>
                  <a:srgbClr val="1C2B24"/>
                </a:solidFill>
                <a:latin typeface="Calibri"/>
              </a:rPr>
              <a:t>Fenêtrage</a:t>
            </a:r>
          </a:p>
        </p:txBody>
      </p:sp>
      <p:sp>
        <p:nvSpPr>
          <p:cNvPr id="22" name="Rounded Rectangle 21"/>
          <p:cNvSpPr/>
          <p:nvPr/>
        </p:nvSpPr>
        <p:spPr>
          <a:xfrm>
            <a:off x="3355325" y="1115568"/>
            <a:ext cx="1133856" cy="310896"/>
          </a:xfrm>
          <a:prstGeom prst="roundRect">
            <a:avLst>
              <a:gd name="adj" fmla="val 14000"/>
            </a:avLst>
          </a:prstGeom>
          <a:solidFill>
            <a:srgbClr val="E6EF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0"/>
              </a:spcAft>
            </a:pPr>
            <a:r>
              <a:rPr sz="950" b="0" i="0">
                <a:solidFill>
                  <a:srgbClr val="5E6E66"/>
                </a:solidFill>
                <a:latin typeface="Calibri"/>
              </a:rPr>
              <a:t>Encodeur</a:t>
            </a:r>
          </a:p>
        </p:txBody>
      </p:sp>
      <p:sp>
        <p:nvSpPr>
          <p:cNvPr id="23" name="Rounded Rectangle 22"/>
          <p:cNvSpPr/>
          <p:nvPr/>
        </p:nvSpPr>
        <p:spPr>
          <a:xfrm>
            <a:off x="4804388" y="1115568"/>
            <a:ext cx="1133856" cy="310896"/>
          </a:xfrm>
          <a:prstGeom prst="roundRect">
            <a:avLst>
              <a:gd name="adj" fmla="val 14000"/>
            </a:avLst>
          </a:prstGeom>
          <a:solidFill>
            <a:srgbClr val="E6EF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0"/>
              </a:spcAft>
            </a:pPr>
            <a:r>
              <a:rPr sz="950" b="0" i="0">
                <a:solidFill>
                  <a:srgbClr val="5E6E66"/>
                </a:solidFill>
                <a:latin typeface="Calibri"/>
              </a:rPr>
              <a:t>Head</a:t>
            </a:r>
          </a:p>
        </p:txBody>
      </p:sp>
      <p:sp>
        <p:nvSpPr>
          <p:cNvPr id="24" name="Rounded Rectangle 23"/>
          <p:cNvSpPr/>
          <p:nvPr/>
        </p:nvSpPr>
        <p:spPr>
          <a:xfrm>
            <a:off x="3355325" y="1517904"/>
            <a:ext cx="2582918" cy="310896"/>
          </a:xfrm>
          <a:prstGeom prst="roundRect">
            <a:avLst>
              <a:gd name="adj" fmla="val 14000"/>
            </a:avLst>
          </a:prstGeom>
          <a:solidFill>
            <a:srgbClr val="E6EF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0"/>
              </a:spcAft>
            </a:pPr>
            <a:r>
              <a:rPr sz="950" b="0" i="0">
                <a:solidFill>
                  <a:srgbClr val="5E6E66"/>
                </a:solidFill>
                <a:latin typeface="Calibri"/>
              </a:rPr>
              <a:t>Module séquentiel</a:t>
            </a:r>
          </a:p>
        </p:txBody>
      </p:sp>
      <p:sp>
        <p:nvSpPr>
          <p:cNvPr id="25" name="Rounded Rectangle 24"/>
          <p:cNvSpPr/>
          <p:nvPr/>
        </p:nvSpPr>
        <p:spPr>
          <a:xfrm>
            <a:off x="6253450" y="1316736"/>
            <a:ext cx="1133856" cy="310896"/>
          </a:xfrm>
          <a:prstGeom prst="roundRect">
            <a:avLst>
              <a:gd name="adj" fmla="val 14000"/>
            </a:avLst>
          </a:prstGeom>
          <a:solidFill>
            <a:srgbClr val="E6EF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0"/>
              </a:spcAft>
            </a:pPr>
            <a:r>
              <a:rPr sz="950" b="0" i="0">
                <a:solidFill>
                  <a:srgbClr val="5E6E66"/>
                </a:solidFill>
                <a:latin typeface="Calibri"/>
              </a:rPr>
              <a:t>Fusion</a:t>
            </a:r>
          </a:p>
        </p:txBody>
      </p:sp>
      <p:sp>
        <p:nvSpPr>
          <p:cNvPr id="26" name="Rounded Rectangle 25"/>
          <p:cNvSpPr/>
          <p:nvPr/>
        </p:nvSpPr>
        <p:spPr>
          <a:xfrm>
            <a:off x="7702513" y="1316736"/>
            <a:ext cx="1133856" cy="310896"/>
          </a:xfrm>
          <a:prstGeom prst="roundRect">
            <a:avLst>
              <a:gd name="adj" fmla="val 14000"/>
            </a:avLst>
          </a:prstGeom>
          <a:solidFill>
            <a:srgbClr val="E6EF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0"/>
              </a:spcAft>
            </a:pPr>
            <a:r>
              <a:rPr sz="950" b="0" i="0">
                <a:solidFill>
                  <a:srgbClr val="5E6E66"/>
                </a:solidFill>
                <a:latin typeface="Calibri"/>
              </a:rPr>
              <a:t>Agrégation</a:t>
            </a:r>
          </a:p>
        </p:txBody>
      </p:sp>
      <p:sp>
        <p:nvSpPr>
          <p:cNvPr id="27" name="Rounded Rectangle 26"/>
          <p:cNvSpPr/>
          <p:nvPr/>
        </p:nvSpPr>
        <p:spPr>
          <a:xfrm>
            <a:off x="9151576" y="1316736"/>
            <a:ext cx="1133856" cy="310896"/>
          </a:xfrm>
          <a:prstGeom prst="roundRect">
            <a:avLst>
              <a:gd name="adj" fmla="val 14000"/>
            </a:avLst>
          </a:prstGeom>
          <a:solidFill>
            <a:srgbClr val="E6EF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0"/>
              </a:spcAft>
            </a:pPr>
            <a:r>
              <a:rPr sz="950" b="0" i="0">
                <a:solidFill>
                  <a:srgbClr val="5E6E66"/>
                </a:solidFill>
                <a:latin typeface="Calibri"/>
              </a:rPr>
              <a:t>Sélection</a:t>
            </a:r>
          </a:p>
        </p:txBody>
      </p:sp>
      <p:sp>
        <p:nvSpPr>
          <p:cNvPr id="28" name="Rounded Rectangle 27"/>
          <p:cNvSpPr/>
          <p:nvPr/>
        </p:nvSpPr>
        <p:spPr>
          <a:xfrm>
            <a:off x="10600639" y="1316736"/>
            <a:ext cx="1133856" cy="310896"/>
          </a:xfrm>
          <a:prstGeom prst="roundRect">
            <a:avLst>
              <a:gd name="adj" fmla="val 14000"/>
            </a:avLst>
          </a:prstGeom>
          <a:solidFill>
            <a:srgbClr val="E6EF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0"/>
              </a:spcAft>
            </a:pPr>
            <a:r>
              <a:rPr sz="950" b="0" i="0">
                <a:solidFill>
                  <a:srgbClr val="5E6E66"/>
                </a:solidFill>
                <a:latin typeface="Calibri"/>
              </a:rPr>
              <a:t>Annotation</a:t>
            </a:r>
          </a:p>
        </p:txBody>
      </p:sp>
      <p:sp>
        <p:nvSpPr>
          <p:cNvPr id="29" name="Rounded Rectangle 28"/>
          <p:cNvSpPr/>
          <p:nvPr/>
        </p:nvSpPr>
        <p:spPr>
          <a:xfrm>
            <a:off x="457200" y="1993392"/>
            <a:ext cx="11277295" cy="182880"/>
          </a:xfrm>
          <a:prstGeom prst="roundRect">
            <a:avLst>
              <a:gd name="adj" fmla="val 50000"/>
            </a:avLst>
          </a:prstGeom>
          <a:solidFill>
            <a:srgbClr val="F4F8F5"/>
          </a:solidFill>
          <a:ln>
            <a:noFill/>
          </a:ln>
          <a:effectLst/>
        </p:spPr>
        <p:style>
          <a:lnRef idx="1">
            <a:schemeClr val="accent1"/>
          </a:lnRef>
          <a:fillRef idx="3">
            <a:schemeClr val="accent1"/>
          </a:fillRef>
          <a:effectRef idx="2">
            <a:schemeClr val="accent1"/>
          </a:effectRef>
          <a:fontRef idx="minor">
            <a:schemeClr val="lt1"/>
          </a:fontRef>
        </p:style>
        <p:txBody>
          <a:bodyPr rtlCol="0" anchor="ctr" lIns="9144" rIns="9144" tIns="9144" bIns="9144" wrap="square"/>
          <a:lstStyle/>
          <a:p>
            <a:pPr algn="ctr">
              <a:spcAft>
                <a:spcPts val="400"/>
              </a:spcAft>
            </a:pPr>
            <a:r>
              <a:rPr sz="850" b="0" i="0">
                <a:solidFill>
                  <a:srgbClr val="5E6E66"/>
                </a:solidFill>
                <a:latin typeface="Calibri"/>
              </a:rPr>
              <a:t>Évaluation (transverse)</a:t>
            </a:r>
          </a:p>
        </p:txBody>
      </p:sp>
      <p:sp>
        <p:nvSpPr>
          <p:cNvPr id="30" name="TextBox 29"/>
          <p:cNvSpPr txBox="1"/>
          <p:nvPr/>
        </p:nvSpPr>
        <p:spPr>
          <a:xfrm>
            <a:off x="11277295" y="6473952"/>
            <a:ext cx="457200" cy="228600"/>
          </a:xfrm>
          <a:prstGeom prst="rect">
            <a:avLst/>
          </a:prstGeom>
          <a:noFill/>
        </p:spPr>
        <p:txBody>
          <a:bodyPr wrap="square" anchor="t" lIns="0" rIns="0" tIns="0" bIns="0">
            <a:spAutoFit/>
          </a:bodyPr>
          <a:lstStyle/>
          <a:p>
            <a:pPr algn="r">
              <a:spcAft>
                <a:spcPts val="400"/>
              </a:spcAft>
            </a:pPr>
            <a:r>
              <a:rPr sz="1000" b="0" i="0">
                <a:solidFill>
                  <a:srgbClr val="5E6E66"/>
                </a:solidFill>
                <a:latin typeface="Calibri"/>
              </a:rPr>
              <a:t>5</a:t>
            </a:r>
          </a:p>
        </p:txBody>
      </p:sp>
      <p:sp>
        <p:nvSpPr>
          <p:cNvPr id="31" name="TextBox 30"/>
          <p:cNvSpPr txBox="1"/>
          <p:nvPr/>
        </p:nvSpPr>
        <p:spPr>
          <a:xfrm>
            <a:off x="457200" y="2395728"/>
            <a:ext cx="5303520" cy="274320"/>
          </a:xfrm>
          <a:prstGeom prst="rect">
            <a:avLst/>
          </a:prstGeom>
          <a:noFill/>
        </p:spPr>
        <p:txBody>
          <a:bodyPr wrap="square" anchor="t" lIns="0" rIns="0" tIns="0" bIns="0">
            <a:spAutoFit/>
          </a:bodyPr>
          <a:lstStyle/>
          <a:p>
            <a:pPr algn="l">
              <a:spcAft>
                <a:spcPts val="400"/>
              </a:spcAft>
            </a:pPr>
            <a:r>
              <a:rPr sz="1200" b="1" i="0">
                <a:solidFill>
                  <a:srgbClr val="17332A"/>
                </a:solidFill>
                <a:latin typeface="Calibri"/>
              </a:rPr>
              <a:t>Un extrait d'enregistrement, grille de 3 s au pas de 1,5 s</a:t>
            </a:r>
          </a:p>
        </p:txBody>
      </p:sp>
      <p:cxnSp>
        <p:nvCxnSpPr>
          <p:cNvPr id="32" name="Connector 31"/>
          <p:cNvCxnSpPr/>
          <p:nvPr/>
        </p:nvCxnSpPr>
        <p:spPr>
          <a:xfrm>
            <a:off x="457200" y="3566160"/>
            <a:ext cx="5120640" cy="0"/>
          </a:xfrm>
          <a:prstGeom prst="line">
            <a:avLst/>
          </a:prstGeom>
          <a:ln w="12700">
            <a:solidFill>
              <a:srgbClr val="9DB3A6"/>
            </a:solidFill>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741680" y="3429000"/>
            <a:ext cx="54864" cy="274320"/>
          </a:xfrm>
          <a:prstGeom prst="roundRect">
            <a:avLst>
              <a:gd name="adj" fmla="val 50000"/>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a:lstStyle/>
          <a:p>
            <a:pPr algn="ctr"/>
          </a:p>
        </p:txBody>
      </p:sp>
      <p:sp>
        <p:nvSpPr>
          <p:cNvPr id="34" name="Rounded Rectangle 33"/>
          <p:cNvSpPr/>
          <p:nvPr/>
        </p:nvSpPr>
        <p:spPr>
          <a:xfrm>
            <a:off x="1546189" y="3429000"/>
            <a:ext cx="54864" cy="274320"/>
          </a:xfrm>
          <a:prstGeom prst="roundRect">
            <a:avLst>
              <a:gd name="adj" fmla="val 50000"/>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a:lstStyle/>
          <a:p>
            <a:pPr algn="ctr"/>
          </a:p>
        </p:txBody>
      </p:sp>
      <p:sp>
        <p:nvSpPr>
          <p:cNvPr id="35" name="Rounded Rectangle 34"/>
          <p:cNvSpPr/>
          <p:nvPr/>
        </p:nvSpPr>
        <p:spPr>
          <a:xfrm>
            <a:off x="2350698" y="3429000"/>
            <a:ext cx="54864" cy="274320"/>
          </a:xfrm>
          <a:prstGeom prst="roundRect">
            <a:avLst>
              <a:gd name="adj" fmla="val 50000"/>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a:lstStyle/>
          <a:p>
            <a:pPr algn="ctr"/>
          </a:p>
        </p:txBody>
      </p:sp>
      <p:sp>
        <p:nvSpPr>
          <p:cNvPr id="36" name="Rounded Rectangle 35"/>
          <p:cNvSpPr/>
          <p:nvPr/>
        </p:nvSpPr>
        <p:spPr>
          <a:xfrm>
            <a:off x="3155208" y="3429000"/>
            <a:ext cx="54864" cy="274320"/>
          </a:xfrm>
          <a:prstGeom prst="roundRect">
            <a:avLst>
              <a:gd name="adj" fmla="val 50000"/>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a:lstStyle/>
          <a:p>
            <a:pPr algn="ctr"/>
          </a:p>
        </p:txBody>
      </p:sp>
      <p:sp>
        <p:nvSpPr>
          <p:cNvPr id="37" name="Rounded Rectangle 36"/>
          <p:cNvSpPr/>
          <p:nvPr/>
        </p:nvSpPr>
        <p:spPr>
          <a:xfrm>
            <a:off x="3959717" y="3429000"/>
            <a:ext cx="54864" cy="274320"/>
          </a:xfrm>
          <a:prstGeom prst="roundRect">
            <a:avLst>
              <a:gd name="adj" fmla="val 50000"/>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a:lstStyle/>
          <a:p>
            <a:pPr algn="ctr"/>
          </a:p>
        </p:txBody>
      </p:sp>
      <p:sp>
        <p:nvSpPr>
          <p:cNvPr id="38" name="Rounded Rectangle 37"/>
          <p:cNvSpPr/>
          <p:nvPr/>
        </p:nvSpPr>
        <p:spPr>
          <a:xfrm>
            <a:off x="4764227" y="3429000"/>
            <a:ext cx="54864" cy="274320"/>
          </a:xfrm>
          <a:prstGeom prst="roundRect">
            <a:avLst>
              <a:gd name="adj" fmla="val 50000"/>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a:lstStyle/>
          <a:p>
            <a:pPr algn="ctr"/>
          </a:p>
        </p:txBody>
      </p:sp>
      <p:sp>
        <p:nvSpPr>
          <p:cNvPr id="39" name="Rounded Rectangle 38"/>
          <p:cNvSpPr/>
          <p:nvPr/>
        </p:nvSpPr>
        <p:spPr>
          <a:xfrm>
            <a:off x="5568736" y="3429000"/>
            <a:ext cx="54864" cy="274320"/>
          </a:xfrm>
          <a:prstGeom prst="roundRect">
            <a:avLst>
              <a:gd name="adj" fmla="val 50000"/>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a:lstStyle/>
          <a:p>
            <a:pPr algn="ctr"/>
          </a:p>
        </p:txBody>
      </p:sp>
      <p:sp>
        <p:nvSpPr>
          <p:cNvPr id="40" name="Rounded Rectangle 39"/>
          <p:cNvSpPr/>
          <p:nvPr/>
        </p:nvSpPr>
        <p:spPr>
          <a:xfrm>
            <a:off x="457200" y="3017520"/>
            <a:ext cx="1706880" cy="45720"/>
          </a:xfrm>
          <a:prstGeom prst="roundRect">
            <a:avLst>
              <a:gd name="adj" fmla="val 50000"/>
            </a:avLst>
          </a:prstGeom>
          <a:solidFill>
            <a:srgbClr val="2F6B4F"/>
          </a:solidFill>
          <a:ln>
            <a:no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a:lstStyle/>
          <a:p>
            <a:pPr algn="ctr"/>
          </a:p>
        </p:txBody>
      </p:sp>
      <p:sp>
        <p:nvSpPr>
          <p:cNvPr id="41" name="Rounded Rectangle 40"/>
          <p:cNvSpPr/>
          <p:nvPr/>
        </p:nvSpPr>
        <p:spPr>
          <a:xfrm>
            <a:off x="1310640" y="3127248"/>
            <a:ext cx="1706880" cy="45720"/>
          </a:xfrm>
          <a:prstGeom prst="roundRect">
            <a:avLst>
              <a:gd name="adj" fmla="val 50000"/>
            </a:avLst>
          </a:prstGeom>
          <a:solidFill>
            <a:srgbClr val="9DB3A6"/>
          </a:solidFill>
          <a:ln>
            <a:no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a:lstStyle/>
          <a:p>
            <a:pPr algn="ctr"/>
          </a:p>
        </p:txBody>
      </p:sp>
      <p:sp>
        <p:nvSpPr>
          <p:cNvPr id="42" name="Rounded Rectangle 41"/>
          <p:cNvSpPr/>
          <p:nvPr/>
        </p:nvSpPr>
        <p:spPr>
          <a:xfrm>
            <a:off x="2164080" y="3017520"/>
            <a:ext cx="1706880" cy="45720"/>
          </a:xfrm>
          <a:prstGeom prst="roundRect">
            <a:avLst>
              <a:gd name="adj" fmla="val 50000"/>
            </a:avLst>
          </a:prstGeom>
          <a:solidFill>
            <a:srgbClr val="2F6B4F"/>
          </a:solidFill>
          <a:ln>
            <a:no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a:lstStyle/>
          <a:p>
            <a:pPr algn="ctr"/>
          </a:p>
        </p:txBody>
      </p:sp>
      <p:sp>
        <p:nvSpPr>
          <p:cNvPr id="43" name="Rounded Rectangle 42"/>
          <p:cNvSpPr/>
          <p:nvPr/>
        </p:nvSpPr>
        <p:spPr>
          <a:xfrm>
            <a:off x="3017520" y="3127248"/>
            <a:ext cx="1706880" cy="45720"/>
          </a:xfrm>
          <a:prstGeom prst="roundRect">
            <a:avLst>
              <a:gd name="adj" fmla="val 50000"/>
            </a:avLst>
          </a:prstGeom>
          <a:solidFill>
            <a:srgbClr val="9DB3A6"/>
          </a:solidFill>
          <a:ln>
            <a:no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a:lstStyle/>
          <a:p>
            <a:pPr algn="ctr"/>
          </a:p>
        </p:txBody>
      </p:sp>
      <p:sp>
        <p:nvSpPr>
          <p:cNvPr id="44" name="Rounded Rectangle 43"/>
          <p:cNvSpPr/>
          <p:nvPr/>
        </p:nvSpPr>
        <p:spPr>
          <a:xfrm>
            <a:off x="3870960" y="3017520"/>
            <a:ext cx="1706880" cy="45720"/>
          </a:xfrm>
          <a:prstGeom prst="roundRect">
            <a:avLst>
              <a:gd name="adj" fmla="val 50000"/>
            </a:avLst>
          </a:prstGeom>
          <a:solidFill>
            <a:srgbClr val="2F6B4F"/>
          </a:solidFill>
          <a:ln>
            <a:no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a:lstStyle/>
          <a:p>
            <a:pPr algn="ctr"/>
          </a:p>
        </p:txBody>
      </p:sp>
      <p:sp>
        <p:nvSpPr>
          <p:cNvPr id="45" name="TextBox 44"/>
          <p:cNvSpPr txBox="1"/>
          <p:nvPr/>
        </p:nvSpPr>
        <p:spPr>
          <a:xfrm>
            <a:off x="457200" y="3794760"/>
            <a:ext cx="5303520" cy="274320"/>
          </a:xfrm>
          <a:prstGeom prst="rect">
            <a:avLst/>
          </a:prstGeom>
          <a:noFill/>
        </p:spPr>
        <p:txBody>
          <a:bodyPr wrap="square" anchor="t" lIns="0" rIns="0" tIns="0" bIns="0">
            <a:spAutoFit/>
          </a:bodyPr>
          <a:lstStyle/>
          <a:p>
            <a:pPr algn="l">
              <a:spcAft>
                <a:spcPts val="400"/>
              </a:spcAft>
            </a:pPr>
            <a:r>
              <a:rPr sz="1100" b="0" i="1">
                <a:solidFill>
                  <a:srgbClr val="5E6E66"/>
                </a:solidFill>
                <a:latin typeface="Calibri"/>
              </a:rPr>
              <a:t>chaque instant est vu par deux fenêtres</a:t>
            </a:r>
          </a:p>
        </p:txBody>
      </p:sp>
      <p:sp>
        <p:nvSpPr>
          <p:cNvPr id="46" name="TextBox 45"/>
          <p:cNvSpPr txBox="1"/>
          <p:nvPr/>
        </p:nvSpPr>
        <p:spPr>
          <a:xfrm>
            <a:off x="457200" y="4251960"/>
            <a:ext cx="5303520" cy="2103120"/>
          </a:xfrm>
          <a:prstGeom prst="rect">
            <a:avLst/>
          </a:prstGeom>
          <a:noFill/>
        </p:spPr>
        <p:txBody>
          <a:bodyPr wrap="square" anchor="t" lIns="0" rIns="0" tIns="0" bIns="0">
            <a:spAutoFit/>
          </a:bodyPr>
          <a:lstStyle/>
          <a:p>
            <a:pPr algn="l" marL="164592" indent="-164592">
              <a:spcAft>
                <a:spcPts val="600"/>
              </a:spcAft>
              <a:buClr>
                <a:srgbClr val="2F6B4F"/>
              </a:buClr>
              <a:buFont typeface="Arial"/>
              <a:buChar char="•"/>
            </a:pPr>
            <a:r>
              <a:rPr sz="1350" b="0" i="0">
                <a:solidFill>
                  <a:srgbClr val="1C2B24"/>
                </a:solidFill>
                <a:latin typeface="Calibri"/>
              </a:rPr>
              <a:t>Chaque encodeur impose sa fenêtre : 3 s (BirdNET) ou 5–6 s (les autres).</a:t>
            </a:r>
          </a:p>
          <a:p>
            <a:pPr algn="l" marL="164592" indent="-164592">
              <a:spcAft>
                <a:spcPts val="600"/>
              </a:spcAft>
              <a:buClr>
                <a:srgbClr val="2F6B4F"/>
              </a:buClr>
              <a:buFont typeface="Arial"/>
              <a:buChar char="•"/>
            </a:pPr>
            <a:r>
              <a:rPr sz="1350" b="0" i="0">
                <a:solidFill>
                  <a:srgbClr val="1C2B24"/>
                </a:solidFill>
                <a:latin typeface="Calibri"/>
              </a:rPr>
              <a:t>Pas d'une demi-fenêtre.</a:t>
            </a:r>
          </a:p>
          <a:p>
            <a:pPr algn="l" marL="164592" indent="-164592">
              <a:spcAft>
                <a:spcPts val="600"/>
              </a:spcAft>
              <a:buClr>
                <a:srgbClr val="2F6B4F"/>
              </a:buClr>
              <a:buFont typeface="Arial"/>
              <a:buChar char="•"/>
            </a:pPr>
            <a:r>
              <a:rPr sz="1350" b="0" i="0">
                <a:solidFill>
                  <a:srgbClr val="1C2B24"/>
                </a:solidFill>
                <a:latin typeface="Calibri"/>
              </a:rPr>
              <a:t>Les annotations (fenêtres de 3 s) sont reportées sur la grille de chaque encodeur.</a:t>
            </a:r>
          </a:p>
          <a:p>
            <a:pPr algn="l" marL="164592" indent="-164592">
              <a:spcAft>
                <a:spcPts val="600"/>
              </a:spcAft>
              <a:buClr>
                <a:srgbClr val="2F6B4F"/>
              </a:buClr>
              <a:buFont typeface="Arial"/>
              <a:buChar char="•"/>
            </a:pPr>
            <a:r>
              <a:rPr sz="1350" b="0" i="0">
                <a:solidFill>
                  <a:srgbClr val="1C2B24"/>
                </a:solidFill>
                <a:latin typeface="Calibri"/>
              </a:rPr>
              <a:t>Une note de 0,09 s n'occupe que 2 à 3 % d'une fenêtre : tout le problème de l'échelle.</a:t>
            </a:r>
          </a:p>
        </p:txBody>
      </p:sp>
      <p:graphicFrame>
        <p:nvGraphicFramePr>
          <p:cNvPr id="47" name="Table 46"/>
          <p:cNvGraphicFramePr>
            <a:graphicFrameLocks noGrp="1"/>
          </p:cNvGraphicFramePr>
          <p:nvPr/>
        </p:nvGraphicFramePr>
        <p:xfrm>
          <a:off x="6126480" y="2395728"/>
          <a:ext cx="5605272" cy="2743200"/>
        </p:xfrm>
        <a:graphic>
          <a:graphicData uri="http://schemas.openxmlformats.org/drawingml/2006/table">
            <a:tbl>
              <a:tblPr firstRow="1">
                <a:tableStyleId>{5C22544A-7EE6-4342-B048-85BDC9FD1C3A}</a:tableStyleId>
              </a:tblPr>
              <a:tblGrid>
                <a:gridCol w="1554480"/>
                <a:gridCol w="2834640"/>
                <a:gridCol w="1216152"/>
              </a:tblGrid>
              <a:tr h="457200">
                <a:tc>
                  <a:txBody>
                    <a:bodyPr wrap="square"/>
                    <a:lstStyle/>
                    <a:p>
                      <a:pPr algn="l">
                        <a:spcAft>
                          <a:spcPts val="0"/>
                        </a:spcAft>
                      </a:pPr>
                      <a:r>
                        <a:rPr sz="1150" b="1" i="0">
                          <a:solidFill>
                            <a:srgbClr val="FFFFFF"/>
                          </a:solidFill>
                          <a:latin typeface="Calibri"/>
                        </a:rPr>
                        <a:t>Protocole</a:t>
                      </a:r>
                    </a:p>
                  </a:txBody>
                  <a:tcPr marL="73152" marR="73152" marT="36576" marB="36576" anchor="ctr">
                    <a:solidFill>
                      <a:srgbClr val="17332A"/>
                    </a:solidFill>
                  </a:tcPr>
                </a:tc>
                <a:tc>
                  <a:txBody>
                    <a:bodyPr wrap="square"/>
                    <a:lstStyle/>
                    <a:p>
                      <a:pPr algn="l">
                        <a:spcAft>
                          <a:spcPts val="0"/>
                        </a:spcAft>
                      </a:pPr>
                      <a:r>
                        <a:rPr sz="1150" b="1" i="0">
                          <a:solidFill>
                            <a:srgbClr val="FFFFFF"/>
                          </a:solidFill>
                          <a:latin typeface="Calibri"/>
                        </a:rPr>
                        <a:t>Principe</a:t>
                      </a:r>
                    </a:p>
                  </a:txBody>
                  <a:tcPr marL="73152" marR="73152" marT="36576" marB="36576" anchor="ctr">
                    <a:solidFill>
                      <a:srgbClr val="17332A"/>
                    </a:solidFill>
                  </a:tcPr>
                </a:tc>
                <a:tc>
                  <a:txBody>
                    <a:bodyPr wrap="square"/>
                    <a:lstStyle/>
                    <a:p>
                      <a:pPr algn="l">
                        <a:spcAft>
                          <a:spcPts val="0"/>
                        </a:spcAft>
                      </a:pPr>
                      <a:r>
                        <a:rPr sz="1150" b="1" i="0">
                          <a:solidFill>
                            <a:srgbClr val="FFFFFF"/>
                          </a:solidFill>
                          <a:latin typeface="Calibri"/>
                        </a:rPr>
                        <a:t>Statut</a:t>
                      </a:r>
                    </a:p>
                  </a:txBody>
                  <a:tcPr marL="73152" marR="73152" marT="36576" marB="36576" anchor="ctr">
                    <a:solidFill>
                      <a:srgbClr val="17332A"/>
                    </a:solidFill>
                  </a:tcPr>
                </a:tc>
              </a:tr>
              <a:tr h="457200">
                <a:tc>
                  <a:txBody>
                    <a:bodyPr wrap="square"/>
                    <a:lstStyle/>
                    <a:p>
                      <a:pPr algn="l">
                        <a:spcAft>
                          <a:spcPts val="0"/>
                        </a:spcAft>
                      </a:pPr>
                      <a:r>
                        <a:rPr sz="1150" b="1" i="0">
                          <a:solidFill>
                            <a:srgbClr val="17332A"/>
                          </a:solidFill>
                          <a:latin typeface="Calibri"/>
                        </a:rPr>
                        <a:t>A · grille standard</a:t>
                      </a:r>
                    </a:p>
                  </a:txBody>
                  <a:tcPr marL="73152" marR="73152" marT="36576" marB="36576" anchor="ctr">
                    <a:solidFill>
                      <a:srgbClr val="F4F8F5"/>
                    </a:solidFill>
                  </a:tcPr>
                </a:tc>
                <a:tc>
                  <a:txBody>
                    <a:bodyPr wrap="square"/>
                    <a:lstStyle/>
                    <a:p>
                      <a:pPr algn="l">
                        <a:spcAft>
                          <a:spcPts val="0"/>
                        </a:spcAft>
                      </a:pPr>
                      <a:r>
                        <a:rPr sz="1150" b="0" i="0">
                          <a:solidFill>
                            <a:srgbClr val="1C2B24"/>
                          </a:solidFill>
                          <a:latin typeface="Calibri"/>
                        </a:rPr>
                        <a:t>Fenêtres régulières, pas d'une demi-fenêtre</a:t>
                      </a:r>
                    </a:p>
                  </a:txBody>
                  <a:tcPr marL="73152" marR="73152" marT="36576" marB="36576" anchor="ctr">
                    <a:solidFill>
                      <a:srgbClr val="F4F8F5"/>
                    </a:solidFill>
                  </a:tcPr>
                </a:tc>
                <a:tc>
                  <a:txBody>
                    <a:bodyPr wrap="square"/>
                    <a:lstStyle/>
                    <a:p>
                      <a:pPr algn="l">
                        <a:spcAft>
                          <a:spcPts val="0"/>
                        </a:spcAft>
                      </a:pPr>
                      <a:r>
                        <a:rPr sz="1150" b="1" i="0">
                          <a:solidFill>
                            <a:srgbClr val="2F8F5B"/>
                          </a:solidFill>
                          <a:latin typeface="Calibri"/>
                        </a:rPr>
                        <a:t>● Retenu</a:t>
                      </a:r>
                    </a:p>
                  </a:txBody>
                  <a:tcPr marL="73152" marR="73152" marT="36576" marB="36576" anchor="ctr">
                    <a:solidFill>
                      <a:srgbClr val="F4F8F5"/>
                    </a:solidFill>
                  </a:tcPr>
                </a:tc>
              </a:tr>
              <a:tr h="457200">
                <a:tc>
                  <a:txBody>
                    <a:bodyPr wrap="square"/>
                    <a:lstStyle/>
                    <a:p>
                      <a:pPr algn="l">
                        <a:spcAft>
                          <a:spcPts val="0"/>
                        </a:spcAft>
                      </a:pPr>
                      <a:r>
                        <a:rPr sz="1150" b="1" i="0">
                          <a:solidFill>
                            <a:srgbClr val="17332A"/>
                          </a:solidFill>
                          <a:latin typeface="Calibri"/>
                        </a:rPr>
                        <a:t>B · pas resserré</a:t>
                      </a:r>
                    </a:p>
                  </a:txBody>
                  <a:tcPr marL="73152" marR="73152" marT="36576" marB="36576" anchor="ctr">
                    <a:solidFill>
                      <a:srgbClr val="FFFFFF"/>
                    </a:solidFill>
                  </a:tcPr>
                </a:tc>
                <a:tc>
                  <a:txBody>
                    <a:bodyPr wrap="square"/>
                    <a:lstStyle/>
                    <a:p>
                      <a:pPr algn="l">
                        <a:spcAft>
                          <a:spcPts val="0"/>
                        </a:spcAft>
                      </a:pPr>
                      <a:r>
                        <a:rPr sz="1150" b="0" i="0">
                          <a:solidFill>
                            <a:srgbClr val="1C2B24"/>
                          </a:solidFill>
                          <a:latin typeface="Calibri"/>
                        </a:rPr>
                        <a:t>Plus de fenêtres, la note tombe mieux au centre</a:t>
                      </a:r>
                    </a:p>
                  </a:txBody>
                  <a:tcPr marL="73152" marR="73152" marT="36576" marB="36576" anchor="ctr">
                    <a:solidFill>
                      <a:srgbClr val="FFFFFF"/>
                    </a:solidFill>
                  </a:tcPr>
                </a:tc>
                <a:tc>
                  <a:txBody>
                    <a:bodyPr wrap="square"/>
                    <a:lstStyle/>
                    <a:p>
                      <a:pPr algn="l">
                        <a:spcAft>
                          <a:spcPts val="0"/>
                        </a:spcAft>
                      </a:pPr>
                      <a:r>
                        <a:rPr sz="1150" b="1" i="0">
                          <a:solidFill>
                            <a:srgbClr val="C9780E"/>
                          </a:solidFill>
                          <a:latin typeface="Calibri"/>
                        </a:rPr>
                        <a:t>● À comparer</a:t>
                      </a:r>
                    </a:p>
                  </a:txBody>
                  <a:tcPr marL="73152" marR="73152" marT="36576" marB="36576" anchor="ctr">
                    <a:solidFill>
                      <a:srgbClr val="FFFFFF"/>
                    </a:solidFill>
                  </a:tcPr>
                </a:tc>
              </a:tr>
              <a:tr h="457200">
                <a:tc>
                  <a:txBody>
                    <a:bodyPr wrap="square"/>
                    <a:lstStyle/>
                    <a:p>
                      <a:pPr algn="l">
                        <a:spcAft>
                          <a:spcPts val="0"/>
                        </a:spcAft>
                      </a:pPr>
                      <a:r>
                        <a:rPr sz="1150" b="1" i="0">
                          <a:solidFill>
                            <a:srgbClr val="17332A"/>
                          </a:solidFill>
                          <a:latin typeface="Calibri"/>
                        </a:rPr>
                        <a:t>C · centrées sur les notes</a:t>
                      </a:r>
                    </a:p>
                  </a:txBody>
                  <a:tcPr marL="73152" marR="73152" marT="36576" marB="36576" anchor="ctr">
                    <a:solidFill>
                      <a:srgbClr val="F4F8F5"/>
                    </a:solidFill>
                  </a:tcPr>
                </a:tc>
                <a:tc>
                  <a:txBody>
                    <a:bodyPr wrap="square"/>
                    <a:lstStyle/>
                    <a:p>
                      <a:pPr algn="l">
                        <a:spcAft>
                          <a:spcPts val="0"/>
                        </a:spcAft>
                      </a:pPr>
                      <a:r>
                        <a:rPr sz="1150" b="0" i="0">
                          <a:solidFill>
                            <a:srgbClr val="1C2B24"/>
                          </a:solidFill>
                          <a:latin typeface="Calibri"/>
                        </a:rPr>
                        <a:t>Fenêtres placées sur les débuts de notes détectés</a:t>
                      </a:r>
                    </a:p>
                  </a:txBody>
                  <a:tcPr marL="73152" marR="73152" marT="36576" marB="36576" anchor="ctr">
                    <a:solidFill>
                      <a:srgbClr val="F4F8F5"/>
                    </a:solidFill>
                  </a:tcPr>
                </a:tc>
                <a:tc>
                  <a:txBody>
                    <a:bodyPr wrap="square"/>
                    <a:lstStyle/>
                    <a:p>
                      <a:pPr algn="l">
                        <a:spcAft>
                          <a:spcPts val="0"/>
                        </a:spcAft>
                      </a:pPr>
                      <a:r>
                        <a:rPr sz="1150" b="1" i="0">
                          <a:solidFill>
                            <a:srgbClr val="C9780E"/>
                          </a:solidFill>
                          <a:latin typeface="Calibri"/>
                        </a:rPr>
                        <a:t>● À comparer</a:t>
                      </a:r>
                    </a:p>
                  </a:txBody>
                  <a:tcPr marL="73152" marR="73152" marT="36576" marB="36576" anchor="ctr">
                    <a:solidFill>
                      <a:srgbClr val="F4F8F5"/>
                    </a:solidFill>
                  </a:tcPr>
                </a:tc>
              </a:tr>
              <a:tr h="457200">
                <a:tc>
                  <a:txBody>
                    <a:bodyPr wrap="square"/>
                    <a:lstStyle/>
                    <a:p>
                      <a:pPr algn="l">
                        <a:spcAft>
                          <a:spcPts val="0"/>
                        </a:spcAft>
                      </a:pPr>
                      <a:r>
                        <a:rPr sz="1150" b="1" i="0">
                          <a:solidFill>
                            <a:srgbClr val="17332A"/>
                          </a:solidFill>
                          <a:latin typeface="Calibri"/>
                        </a:rPr>
                        <a:t>E · agrégation des tokens</a:t>
                      </a:r>
                    </a:p>
                  </a:txBody>
                  <a:tcPr marL="73152" marR="73152" marT="36576" marB="36576" anchor="ctr">
                    <a:solidFill>
                      <a:srgbClr val="FFFFFF"/>
                    </a:solidFill>
                  </a:tcPr>
                </a:tc>
                <a:tc>
                  <a:txBody>
                    <a:bodyPr wrap="square"/>
                    <a:lstStyle/>
                    <a:p>
                      <a:pPr algn="l">
                        <a:spcAft>
                          <a:spcPts val="0"/>
                        </a:spcAft>
                      </a:pPr>
                      <a:r>
                        <a:rPr sz="1150" b="0" i="0">
                          <a:solidFill>
                            <a:srgbClr val="1C2B24"/>
                          </a:solidFill>
                          <a:latin typeface="Calibri"/>
                        </a:rPr>
                        <a:t>Moyenne, maximum ou attention sur les tokens</a:t>
                      </a:r>
                    </a:p>
                  </a:txBody>
                  <a:tcPr marL="73152" marR="73152" marT="36576" marB="36576" anchor="ctr">
                    <a:solidFill>
                      <a:srgbClr val="FFFFFF"/>
                    </a:solidFill>
                  </a:tcPr>
                </a:tc>
                <a:tc>
                  <a:txBody>
                    <a:bodyPr wrap="square"/>
                    <a:lstStyle/>
                    <a:p>
                      <a:pPr algn="l">
                        <a:spcAft>
                          <a:spcPts val="0"/>
                        </a:spcAft>
                      </a:pPr>
                      <a:r>
                        <a:rPr sz="1150" b="1" i="0">
                          <a:solidFill>
                            <a:srgbClr val="C9780E"/>
                          </a:solidFill>
                          <a:latin typeface="Calibri"/>
                        </a:rPr>
                        <a:t>● À comparer</a:t>
                      </a:r>
                    </a:p>
                  </a:txBody>
                  <a:tcPr marL="73152" marR="73152" marT="36576" marB="36576" anchor="ctr">
                    <a:solidFill>
                      <a:srgbClr val="FFFFFF"/>
                    </a:solidFill>
                  </a:tcPr>
                </a:tc>
              </a:tr>
              <a:tr h="457200">
                <a:tc>
                  <a:txBody>
                    <a:bodyPr wrap="square"/>
                    <a:lstStyle/>
                    <a:p>
                      <a:pPr algn="l">
                        <a:spcAft>
                          <a:spcPts val="0"/>
                        </a:spcAft>
                      </a:pPr>
                      <a:r>
                        <a:rPr sz="1150" b="1" i="0">
                          <a:solidFill>
                            <a:srgbClr val="17332A"/>
                          </a:solidFill>
                          <a:latin typeface="Calibri"/>
                        </a:rPr>
                        <a:t>Seuillage spectral en amont</a:t>
                      </a:r>
                    </a:p>
                  </a:txBody>
                  <a:tcPr marL="73152" marR="73152" marT="36576" marB="36576" anchor="ctr">
                    <a:solidFill>
                      <a:srgbClr val="F4F8F5"/>
                    </a:solidFill>
                  </a:tcPr>
                </a:tc>
                <a:tc>
                  <a:txBody>
                    <a:bodyPr wrap="square"/>
                    <a:lstStyle/>
                    <a:p>
                      <a:pPr algn="l">
                        <a:spcAft>
                          <a:spcPts val="0"/>
                        </a:spcAft>
                      </a:pPr>
                      <a:r>
                        <a:rPr sz="1150" b="0" i="0">
                          <a:solidFill>
                            <a:srgbClr val="1C2B24"/>
                          </a:solidFill>
                          <a:latin typeface="Calibri"/>
                        </a:rPr>
                        <a:t>Filtre en bande avant l'encodeur ; aujourd'hui limité aux débuts de notes</a:t>
                      </a:r>
                    </a:p>
                  </a:txBody>
                  <a:tcPr marL="73152" marR="73152" marT="36576" marB="36576" anchor="ctr">
                    <a:solidFill>
                      <a:srgbClr val="F4F8F5"/>
                    </a:solidFill>
                  </a:tcPr>
                </a:tc>
                <a:tc>
                  <a:txBody>
                    <a:bodyPr wrap="square"/>
                    <a:lstStyle/>
                    <a:p>
                      <a:pPr algn="l">
                        <a:spcAft>
                          <a:spcPts val="0"/>
                        </a:spcAft>
                      </a:pPr>
                      <a:r>
                        <a:rPr sz="1150" b="1" i="0">
                          <a:solidFill>
                            <a:srgbClr val="3E7CB1"/>
                          </a:solidFill>
                          <a:latin typeface="Calibri"/>
                        </a:rPr>
                        <a:t>● À essayer</a:t>
                      </a:r>
                    </a:p>
                  </a:txBody>
                  <a:tcPr marL="73152" marR="73152" marT="36576" marB="36576" anchor="ctr">
                    <a:solidFill>
                      <a:srgbClr val="F4F8F5"/>
                    </a:solidFill>
                  </a:tcPr>
                </a:tc>
              </a:tr>
            </a:tbl>
          </a:graphicData>
        </a:graphic>
      </p:graphicFrame>
      <p:sp>
        <p:nvSpPr>
          <p:cNvPr id="48" name="TextBox 47"/>
          <p:cNvSpPr txBox="1"/>
          <p:nvPr/>
        </p:nvSpPr>
        <p:spPr>
          <a:xfrm>
            <a:off x="6126480" y="5349240"/>
            <a:ext cx="5577840" cy="457200"/>
          </a:xfrm>
          <a:prstGeom prst="rect">
            <a:avLst/>
          </a:prstGeom>
          <a:noFill/>
        </p:spPr>
        <p:txBody>
          <a:bodyPr wrap="square" anchor="t" lIns="0" rIns="0" tIns="0" bIns="0">
            <a:spAutoFit/>
          </a:bodyPr>
          <a:lstStyle/>
          <a:p>
            <a:pPr algn="l">
              <a:spcAft>
                <a:spcPts val="400"/>
              </a:spcAft>
            </a:pPr>
            <a:r>
              <a:rPr sz="1150" b="0" i="1">
                <a:solidFill>
                  <a:srgbClr val="5E6E66"/>
                </a:solidFill>
                <a:latin typeface="Calibri"/>
              </a:rPr>
              <a:t>C n'est adopté que s'il fait nettement mieux que A et B, au-delà de l'incertitude.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8229600" cy="256032"/>
          </a:xfrm>
          <a:prstGeom prst="rect">
            <a:avLst/>
          </a:prstGeom>
          <a:noFill/>
        </p:spPr>
        <p:txBody>
          <a:bodyPr wrap="square" anchor="t" lIns="0" rIns="0" tIns="0" bIns="0">
            <a:spAutoFit/>
          </a:bodyPr>
          <a:lstStyle/>
          <a:p>
            <a:pPr algn="l">
              <a:spcAft>
                <a:spcPts val="400"/>
              </a:spcAft>
            </a:pPr>
            <a:r>
              <a:rPr sz="1100" b="1" i="0">
                <a:solidFill>
                  <a:srgbClr val="9A5A06"/>
                </a:solidFill>
                <a:latin typeface="Calibri"/>
              </a:rPr>
              <a:t>PIPELINE · ÉTAPE 3</a:t>
            </a:r>
          </a:p>
        </p:txBody>
      </p:sp>
      <p:sp>
        <p:nvSpPr>
          <p:cNvPr id="3" name="TextBox 2"/>
          <p:cNvSpPr txBox="1"/>
          <p:nvPr/>
        </p:nvSpPr>
        <p:spPr>
          <a:xfrm>
            <a:off x="457200" y="493776"/>
            <a:ext cx="11274552" cy="548640"/>
          </a:xfrm>
          <a:prstGeom prst="rect">
            <a:avLst/>
          </a:prstGeom>
          <a:noFill/>
        </p:spPr>
        <p:txBody>
          <a:bodyPr wrap="square" anchor="t" lIns="0" rIns="0" tIns="0" bIns="0">
            <a:spAutoFit/>
          </a:bodyPr>
          <a:lstStyle/>
          <a:p>
            <a:pPr algn="l">
              <a:spcAft>
                <a:spcPts val="400"/>
              </a:spcAft>
            </a:pPr>
            <a:r>
              <a:rPr sz="2600" b="1" i="0">
                <a:solidFill>
                  <a:srgbClr val="17332A"/>
                </a:solidFill>
                <a:latin typeface="Cambria"/>
              </a:rPr>
              <a:t>Encodeurs : quel modèle de fondation ?</a:t>
            </a:r>
          </a:p>
        </p:txBody>
      </p:sp>
      <p:cxnSp>
        <p:nvCxnSpPr>
          <p:cNvPr id="4" name="Connector 3"/>
          <p:cNvCxnSpPr/>
          <p:nvPr/>
        </p:nvCxnSpPr>
        <p:spPr>
          <a:xfrm>
            <a:off x="1591056" y="1472184"/>
            <a:ext cx="315206" cy="0"/>
          </a:xfrm>
          <a:prstGeom prst="line">
            <a:avLst/>
          </a:prstGeom>
          <a:ln w="15875">
            <a:solidFill>
              <a:srgbClr val="9DB3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3040118" y="1472184"/>
            <a:ext cx="157604" cy="0"/>
          </a:xfrm>
          <a:prstGeom prst="line">
            <a:avLst/>
          </a:prstGeom>
          <a:ln w="15875">
            <a:solidFill>
              <a:srgbClr val="9DB3A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197722" y="1271016"/>
            <a:ext cx="0" cy="402336"/>
          </a:xfrm>
          <a:prstGeom prst="line">
            <a:avLst/>
          </a:prstGeom>
          <a:ln w="15875">
            <a:solidFill>
              <a:srgbClr val="9DB3A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3197722" y="1271016"/>
            <a:ext cx="157603" cy="0"/>
          </a:xfrm>
          <a:prstGeom prst="line">
            <a:avLst/>
          </a:prstGeom>
          <a:ln w="15875">
            <a:solidFill>
              <a:srgbClr val="9DB3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3197722" y="1673352"/>
            <a:ext cx="157603" cy="0"/>
          </a:xfrm>
          <a:prstGeom prst="line">
            <a:avLst/>
          </a:prstGeom>
          <a:ln w="15875">
            <a:solidFill>
              <a:srgbClr val="9DB3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489181" y="1271016"/>
            <a:ext cx="315207" cy="0"/>
          </a:xfrm>
          <a:prstGeom prst="line">
            <a:avLst/>
          </a:prstGeom>
          <a:ln w="15875">
            <a:solidFill>
              <a:srgbClr val="9DB3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938244" y="1271016"/>
            <a:ext cx="157603" cy="0"/>
          </a:xfrm>
          <a:prstGeom prst="line">
            <a:avLst/>
          </a:prstGeom>
          <a:ln w="15875">
            <a:solidFill>
              <a:srgbClr val="9DB3A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5938244" y="1673352"/>
            <a:ext cx="157603" cy="0"/>
          </a:xfrm>
          <a:prstGeom prst="line">
            <a:avLst/>
          </a:prstGeom>
          <a:ln w="15875">
            <a:solidFill>
              <a:srgbClr val="9DB3A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095847" y="1271016"/>
            <a:ext cx="0" cy="402336"/>
          </a:xfrm>
          <a:prstGeom prst="line">
            <a:avLst/>
          </a:prstGeom>
          <a:ln w="15875">
            <a:solidFill>
              <a:srgbClr val="9DB3A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6095847" y="1472184"/>
            <a:ext cx="157603" cy="0"/>
          </a:xfrm>
          <a:prstGeom prst="line">
            <a:avLst/>
          </a:prstGeom>
          <a:ln w="15875">
            <a:solidFill>
              <a:srgbClr val="9DB3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7387306" y="1472184"/>
            <a:ext cx="315207" cy="0"/>
          </a:xfrm>
          <a:prstGeom prst="line">
            <a:avLst/>
          </a:prstGeom>
          <a:ln w="15875">
            <a:solidFill>
              <a:srgbClr val="9DB3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836369" y="1472184"/>
            <a:ext cx="315207" cy="0"/>
          </a:xfrm>
          <a:prstGeom prst="line">
            <a:avLst/>
          </a:prstGeom>
          <a:ln w="15875">
            <a:solidFill>
              <a:srgbClr val="9DB3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0285432" y="1472184"/>
            <a:ext cx="315207" cy="0"/>
          </a:xfrm>
          <a:prstGeom prst="line">
            <a:avLst/>
          </a:prstGeom>
          <a:ln w="15875">
            <a:solidFill>
              <a:srgbClr val="9DB3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1167567" y="1627632"/>
            <a:ext cx="0" cy="292608"/>
          </a:xfrm>
          <a:prstGeom prst="line">
            <a:avLst/>
          </a:prstGeom>
          <a:ln w="19050">
            <a:solidFill>
              <a:srgbClr val="9DB3A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H="1">
            <a:off x="1024128" y="1920240"/>
            <a:ext cx="10143439" cy="0"/>
          </a:xfrm>
          <a:prstGeom prst="line">
            <a:avLst/>
          </a:prstGeom>
          <a:ln w="19050">
            <a:solidFill>
              <a:srgbClr val="9DB3A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1024128" y="1627632"/>
            <a:ext cx="0" cy="292608"/>
          </a:xfrm>
          <a:prstGeom prst="line">
            <a:avLst/>
          </a:prstGeom>
          <a:ln w="19050">
            <a:solidFill>
              <a:srgbClr val="9DB3A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457200" y="1316736"/>
            <a:ext cx="1133856" cy="310896"/>
          </a:xfrm>
          <a:prstGeom prst="roundRect">
            <a:avLst>
              <a:gd name="adj" fmla="val 14000"/>
            </a:avLst>
          </a:prstGeom>
          <a:solidFill>
            <a:srgbClr val="E6EF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0"/>
              </a:spcAft>
            </a:pPr>
            <a:r>
              <a:rPr sz="950" b="0" i="0">
                <a:solidFill>
                  <a:srgbClr val="5E6E66"/>
                </a:solidFill>
                <a:latin typeface="Calibri"/>
              </a:rPr>
              <a:t>Corpus + QC</a:t>
            </a:r>
          </a:p>
        </p:txBody>
      </p:sp>
      <p:sp>
        <p:nvSpPr>
          <p:cNvPr id="21" name="Rounded Rectangle 20"/>
          <p:cNvSpPr/>
          <p:nvPr/>
        </p:nvSpPr>
        <p:spPr>
          <a:xfrm>
            <a:off x="1906262" y="1316736"/>
            <a:ext cx="1133856" cy="310896"/>
          </a:xfrm>
          <a:prstGeom prst="roundRect">
            <a:avLst>
              <a:gd name="adj" fmla="val 14000"/>
            </a:avLst>
          </a:prstGeom>
          <a:solidFill>
            <a:srgbClr val="E6EF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0"/>
              </a:spcAft>
            </a:pPr>
            <a:r>
              <a:rPr sz="950" b="0" i="0">
                <a:solidFill>
                  <a:srgbClr val="5E6E66"/>
                </a:solidFill>
                <a:latin typeface="Calibri"/>
              </a:rPr>
              <a:t>Fenêtrage</a:t>
            </a:r>
          </a:p>
        </p:txBody>
      </p:sp>
      <p:sp>
        <p:nvSpPr>
          <p:cNvPr id="22" name="Rounded Rectangle 21"/>
          <p:cNvSpPr/>
          <p:nvPr/>
        </p:nvSpPr>
        <p:spPr>
          <a:xfrm>
            <a:off x="3355325" y="1115568"/>
            <a:ext cx="1133856" cy="310896"/>
          </a:xfrm>
          <a:prstGeom prst="roundRect">
            <a:avLst>
              <a:gd name="adj" fmla="val 14000"/>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0"/>
              </a:spcAft>
            </a:pPr>
            <a:r>
              <a:rPr sz="950" b="1" i="0">
                <a:solidFill>
                  <a:srgbClr val="1C2B24"/>
                </a:solidFill>
                <a:latin typeface="Calibri"/>
              </a:rPr>
              <a:t>Encodeur</a:t>
            </a:r>
          </a:p>
        </p:txBody>
      </p:sp>
      <p:sp>
        <p:nvSpPr>
          <p:cNvPr id="23" name="Rounded Rectangle 22"/>
          <p:cNvSpPr/>
          <p:nvPr/>
        </p:nvSpPr>
        <p:spPr>
          <a:xfrm>
            <a:off x="4804388" y="1115568"/>
            <a:ext cx="1133856" cy="310896"/>
          </a:xfrm>
          <a:prstGeom prst="roundRect">
            <a:avLst>
              <a:gd name="adj" fmla="val 14000"/>
            </a:avLst>
          </a:prstGeom>
          <a:solidFill>
            <a:srgbClr val="E6EF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0"/>
              </a:spcAft>
            </a:pPr>
            <a:r>
              <a:rPr sz="950" b="0" i="0">
                <a:solidFill>
                  <a:srgbClr val="5E6E66"/>
                </a:solidFill>
                <a:latin typeface="Calibri"/>
              </a:rPr>
              <a:t>Head</a:t>
            </a:r>
          </a:p>
        </p:txBody>
      </p:sp>
      <p:sp>
        <p:nvSpPr>
          <p:cNvPr id="24" name="Rounded Rectangle 23"/>
          <p:cNvSpPr/>
          <p:nvPr/>
        </p:nvSpPr>
        <p:spPr>
          <a:xfrm>
            <a:off x="3355325" y="1517904"/>
            <a:ext cx="2582918" cy="310896"/>
          </a:xfrm>
          <a:prstGeom prst="roundRect">
            <a:avLst>
              <a:gd name="adj" fmla="val 14000"/>
            </a:avLst>
          </a:prstGeom>
          <a:solidFill>
            <a:srgbClr val="E6EF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0"/>
              </a:spcAft>
            </a:pPr>
            <a:r>
              <a:rPr sz="950" b="0" i="0">
                <a:solidFill>
                  <a:srgbClr val="5E6E66"/>
                </a:solidFill>
                <a:latin typeface="Calibri"/>
              </a:rPr>
              <a:t>Module séquentiel</a:t>
            </a:r>
          </a:p>
        </p:txBody>
      </p:sp>
      <p:sp>
        <p:nvSpPr>
          <p:cNvPr id="25" name="Rounded Rectangle 24"/>
          <p:cNvSpPr/>
          <p:nvPr/>
        </p:nvSpPr>
        <p:spPr>
          <a:xfrm>
            <a:off x="6253450" y="1316736"/>
            <a:ext cx="1133856" cy="310896"/>
          </a:xfrm>
          <a:prstGeom prst="roundRect">
            <a:avLst>
              <a:gd name="adj" fmla="val 14000"/>
            </a:avLst>
          </a:prstGeom>
          <a:solidFill>
            <a:srgbClr val="E6EF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0"/>
              </a:spcAft>
            </a:pPr>
            <a:r>
              <a:rPr sz="950" b="0" i="0">
                <a:solidFill>
                  <a:srgbClr val="5E6E66"/>
                </a:solidFill>
                <a:latin typeface="Calibri"/>
              </a:rPr>
              <a:t>Fusion</a:t>
            </a:r>
          </a:p>
        </p:txBody>
      </p:sp>
      <p:sp>
        <p:nvSpPr>
          <p:cNvPr id="26" name="Rounded Rectangle 25"/>
          <p:cNvSpPr/>
          <p:nvPr/>
        </p:nvSpPr>
        <p:spPr>
          <a:xfrm>
            <a:off x="7702513" y="1316736"/>
            <a:ext cx="1133856" cy="310896"/>
          </a:xfrm>
          <a:prstGeom prst="roundRect">
            <a:avLst>
              <a:gd name="adj" fmla="val 14000"/>
            </a:avLst>
          </a:prstGeom>
          <a:solidFill>
            <a:srgbClr val="E6EF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0"/>
              </a:spcAft>
            </a:pPr>
            <a:r>
              <a:rPr sz="950" b="0" i="0">
                <a:solidFill>
                  <a:srgbClr val="5E6E66"/>
                </a:solidFill>
                <a:latin typeface="Calibri"/>
              </a:rPr>
              <a:t>Agrégation</a:t>
            </a:r>
          </a:p>
        </p:txBody>
      </p:sp>
      <p:sp>
        <p:nvSpPr>
          <p:cNvPr id="27" name="Rounded Rectangle 26"/>
          <p:cNvSpPr/>
          <p:nvPr/>
        </p:nvSpPr>
        <p:spPr>
          <a:xfrm>
            <a:off x="9151576" y="1316736"/>
            <a:ext cx="1133856" cy="310896"/>
          </a:xfrm>
          <a:prstGeom prst="roundRect">
            <a:avLst>
              <a:gd name="adj" fmla="val 14000"/>
            </a:avLst>
          </a:prstGeom>
          <a:solidFill>
            <a:srgbClr val="E6EF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0"/>
              </a:spcAft>
            </a:pPr>
            <a:r>
              <a:rPr sz="950" b="0" i="0">
                <a:solidFill>
                  <a:srgbClr val="5E6E66"/>
                </a:solidFill>
                <a:latin typeface="Calibri"/>
              </a:rPr>
              <a:t>Sélection</a:t>
            </a:r>
          </a:p>
        </p:txBody>
      </p:sp>
      <p:sp>
        <p:nvSpPr>
          <p:cNvPr id="28" name="Rounded Rectangle 27"/>
          <p:cNvSpPr/>
          <p:nvPr/>
        </p:nvSpPr>
        <p:spPr>
          <a:xfrm>
            <a:off x="10600639" y="1316736"/>
            <a:ext cx="1133856" cy="310896"/>
          </a:xfrm>
          <a:prstGeom prst="roundRect">
            <a:avLst>
              <a:gd name="adj" fmla="val 14000"/>
            </a:avLst>
          </a:prstGeom>
          <a:solidFill>
            <a:srgbClr val="E6EF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0"/>
              </a:spcAft>
            </a:pPr>
            <a:r>
              <a:rPr sz="950" b="0" i="0">
                <a:solidFill>
                  <a:srgbClr val="5E6E66"/>
                </a:solidFill>
                <a:latin typeface="Calibri"/>
              </a:rPr>
              <a:t>Annotation</a:t>
            </a:r>
          </a:p>
        </p:txBody>
      </p:sp>
      <p:sp>
        <p:nvSpPr>
          <p:cNvPr id="29" name="Rounded Rectangle 28"/>
          <p:cNvSpPr/>
          <p:nvPr/>
        </p:nvSpPr>
        <p:spPr>
          <a:xfrm>
            <a:off x="457200" y="1993392"/>
            <a:ext cx="11277295" cy="182880"/>
          </a:xfrm>
          <a:prstGeom prst="roundRect">
            <a:avLst>
              <a:gd name="adj" fmla="val 50000"/>
            </a:avLst>
          </a:prstGeom>
          <a:solidFill>
            <a:srgbClr val="F4F8F5"/>
          </a:solidFill>
          <a:ln>
            <a:noFill/>
          </a:ln>
          <a:effectLst/>
        </p:spPr>
        <p:style>
          <a:lnRef idx="1">
            <a:schemeClr val="accent1"/>
          </a:lnRef>
          <a:fillRef idx="3">
            <a:schemeClr val="accent1"/>
          </a:fillRef>
          <a:effectRef idx="2">
            <a:schemeClr val="accent1"/>
          </a:effectRef>
          <a:fontRef idx="minor">
            <a:schemeClr val="lt1"/>
          </a:fontRef>
        </p:style>
        <p:txBody>
          <a:bodyPr rtlCol="0" anchor="ctr" lIns="9144" rIns="9144" tIns="9144" bIns="9144" wrap="square"/>
          <a:lstStyle/>
          <a:p>
            <a:pPr algn="ctr">
              <a:spcAft>
                <a:spcPts val="400"/>
              </a:spcAft>
            </a:pPr>
            <a:r>
              <a:rPr sz="850" b="0" i="0">
                <a:solidFill>
                  <a:srgbClr val="5E6E66"/>
                </a:solidFill>
                <a:latin typeface="Calibri"/>
              </a:rPr>
              <a:t>Évaluation (transverse)</a:t>
            </a:r>
          </a:p>
        </p:txBody>
      </p:sp>
      <p:sp>
        <p:nvSpPr>
          <p:cNvPr id="30" name="TextBox 29"/>
          <p:cNvSpPr txBox="1"/>
          <p:nvPr/>
        </p:nvSpPr>
        <p:spPr>
          <a:xfrm>
            <a:off x="11277295" y="6473952"/>
            <a:ext cx="457200" cy="228600"/>
          </a:xfrm>
          <a:prstGeom prst="rect">
            <a:avLst/>
          </a:prstGeom>
          <a:noFill/>
        </p:spPr>
        <p:txBody>
          <a:bodyPr wrap="square" anchor="t" lIns="0" rIns="0" tIns="0" bIns="0">
            <a:spAutoFit/>
          </a:bodyPr>
          <a:lstStyle/>
          <a:p>
            <a:pPr algn="r">
              <a:spcAft>
                <a:spcPts val="400"/>
              </a:spcAft>
            </a:pPr>
            <a:r>
              <a:rPr sz="1000" b="0" i="0">
                <a:solidFill>
                  <a:srgbClr val="5E6E66"/>
                </a:solidFill>
                <a:latin typeface="Calibri"/>
              </a:rPr>
              <a:t>6</a:t>
            </a:r>
          </a:p>
        </p:txBody>
      </p:sp>
      <p:graphicFrame>
        <p:nvGraphicFramePr>
          <p:cNvPr id="31" name="Table 30"/>
          <p:cNvGraphicFramePr>
            <a:graphicFrameLocks noGrp="1"/>
          </p:cNvGraphicFramePr>
          <p:nvPr/>
        </p:nvGraphicFramePr>
        <p:xfrm>
          <a:off x="457200" y="2395728"/>
          <a:ext cx="11274552" cy="2944368"/>
        </p:xfrm>
        <a:graphic>
          <a:graphicData uri="http://schemas.openxmlformats.org/drawingml/2006/table">
            <a:tbl>
              <a:tblPr firstRow="1">
                <a:tableStyleId>{5C22544A-7EE6-4342-B048-85BDC9FD1C3A}</a:tableStyleId>
              </a:tblPr>
              <a:tblGrid>
                <a:gridCol w="2240280"/>
                <a:gridCol w="1325880"/>
                <a:gridCol w="3063240"/>
                <a:gridCol w="3383280"/>
                <a:gridCol w="1261872"/>
              </a:tblGrid>
              <a:tr h="420624">
                <a:tc>
                  <a:txBody>
                    <a:bodyPr wrap="square"/>
                    <a:lstStyle/>
                    <a:p>
                      <a:pPr algn="l">
                        <a:spcAft>
                          <a:spcPts val="0"/>
                        </a:spcAft>
                      </a:pPr>
                      <a:r>
                        <a:rPr sz="1150" b="1" i="0">
                          <a:solidFill>
                            <a:srgbClr val="FFFFFF"/>
                          </a:solidFill>
                          <a:latin typeface="Calibri"/>
                        </a:rPr>
                        <a:t>Encodeur</a:t>
                      </a:r>
                    </a:p>
                  </a:txBody>
                  <a:tcPr marL="73152" marR="73152" marT="36576" marB="36576" anchor="ctr">
                    <a:solidFill>
                      <a:srgbClr val="17332A"/>
                    </a:solidFill>
                  </a:tcPr>
                </a:tc>
                <a:tc>
                  <a:txBody>
                    <a:bodyPr wrap="square"/>
                    <a:lstStyle/>
                    <a:p>
                      <a:pPr algn="l">
                        <a:spcAft>
                          <a:spcPts val="0"/>
                        </a:spcAft>
                      </a:pPr>
                      <a:r>
                        <a:rPr sz="1150" b="1" i="0">
                          <a:solidFill>
                            <a:srgbClr val="FFFFFF"/>
                          </a:solidFill>
                          <a:latin typeface="Calibri"/>
                        </a:rPr>
                        <a:t>Entrée</a:t>
                      </a:r>
                    </a:p>
                  </a:txBody>
                  <a:tcPr marL="73152" marR="73152" marT="36576" marB="36576" anchor="ctr">
                    <a:solidFill>
                      <a:srgbClr val="17332A"/>
                    </a:solidFill>
                  </a:tcPr>
                </a:tc>
                <a:tc>
                  <a:txBody>
                    <a:bodyPr wrap="square"/>
                    <a:lstStyle/>
                    <a:p>
                      <a:pPr algn="l">
                        <a:spcAft>
                          <a:spcPts val="0"/>
                        </a:spcAft>
                      </a:pPr>
                      <a:r>
                        <a:rPr sz="1150" b="1" i="0">
                          <a:solidFill>
                            <a:srgbClr val="FFFFFF"/>
                          </a:solidFill>
                          <a:latin typeface="Calibri"/>
                        </a:rPr>
                        <a:t>Pour</a:t>
                      </a:r>
                    </a:p>
                  </a:txBody>
                  <a:tcPr marL="73152" marR="73152" marT="36576" marB="36576" anchor="ctr">
                    <a:solidFill>
                      <a:srgbClr val="17332A"/>
                    </a:solidFill>
                  </a:tcPr>
                </a:tc>
                <a:tc>
                  <a:txBody>
                    <a:bodyPr wrap="square"/>
                    <a:lstStyle/>
                    <a:p>
                      <a:pPr algn="l">
                        <a:spcAft>
                          <a:spcPts val="0"/>
                        </a:spcAft>
                      </a:pPr>
                      <a:r>
                        <a:rPr sz="1150" b="1" i="0">
                          <a:solidFill>
                            <a:srgbClr val="FFFFFF"/>
                          </a:solidFill>
                          <a:latin typeface="Calibri"/>
                        </a:rPr>
                        <a:t>Contre ou question</a:t>
                      </a:r>
                    </a:p>
                  </a:txBody>
                  <a:tcPr marL="73152" marR="73152" marT="36576" marB="36576" anchor="ctr">
                    <a:solidFill>
                      <a:srgbClr val="17332A"/>
                    </a:solidFill>
                  </a:tcPr>
                </a:tc>
                <a:tc>
                  <a:txBody>
                    <a:bodyPr wrap="square"/>
                    <a:lstStyle/>
                    <a:p>
                      <a:pPr algn="l">
                        <a:spcAft>
                          <a:spcPts val="0"/>
                        </a:spcAft>
                      </a:pPr>
                      <a:r>
                        <a:rPr sz="1150" b="1" i="0">
                          <a:solidFill>
                            <a:srgbClr val="FFFFFF"/>
                          </a:solidFill>
                          <a:latin typeface="Calibri"/>
                        </a:rPr>
                        <a:t>Statut</a:t>
                      </a:r>
                    </a:p>
                  </a:txBody>
                  <a:tcPr marL="73152" marR="73152" marT="36576" marB="36576" anchor="ctr">
                    <a:solidFill>
                      <a:srgbClr val="17332A"/>
                    </a:solidFill>
                  </a:tcPr>
                </a:tc>
              </a:tr>
              <a:tr h="420624">
                <a:tc>
                  <a:txBody>
                    <a:bodyPr wrap="square"/>
                    <a:lstStyle/>
                    <a:p>
                      <a:pPr algn="l">
                        <a:spcAft>
                          <a:spcPts val="0"/>
                        </a:spcAft>
                      </a:pPr>
                      <a:r>
                        <a:rPr sz="1150" b="1" i="0">
                          <a:solidFill>
                            <a:srgbClr val="17332A"/>
                          </a:solidFill>
                          <a:latin typeface="Calibri"/>
                        </a:rPr>
                        <a:t>BirdNET</a:t>
                      </a:r>
                    </a:p>
                  </a:txBody>
                  <a:tcPr marL="73152" marR="73152" marT="36576" marB="36576" anchor="ctr">
                    <a:solidFill>
                      <a:srgbClr val="F4F8F5"/>
                    </a:solidFill>
                  </a:tcPr>
                </a:tc>
                <a:tc>
                  <a:txBody>
                    <a:bodyPr wrap="square"/>
                    <a:lstStyle/>
                    <a:p>
                      <a:pPr algn="l">
                        <a:spcAft>
                          <a:spcPts val="0"/>
                        </a:spcAft>
                      </a:pPr>
                      <a:r>
                        <a:rPr sz="1150" b="0" i="0">
                          <a:solidFill>
                            <a:srgbClr val="1C2B24"/>
                          </a:solidFill>
                          <a:latin typeface="Calibri"/>
                        </a:rPr>
                        <a:t>48 kHz · 3 s</a:t>
                      </a:r>
                    </a:p>
                  </a:txBody>
                  <a:tcPr marL="73152" marR="73152" marT="36576" marB="36576" anchor="ctr">
                    <a:solidFill>
                      <a:srgbClr val="F4F8F5"/>
                    </a:solidFill>
                  </a:tcPr>
                </a:tc>
                <a:tc>
                  <a:txBody>
                    <a:bodyPr wrap="square"/>
                    <a:lstStyle/>
                    <a:p>
                      <a:pPr algn="l">
                        <a:spcAft>
                          <a:spcPts val="0"/>
                        </a:spcAft>
                      </a:pPr>
                      <a:r>
                        <a:rPr sz="1150" b="0" i="0">
                          <a:solidFill>
                            <a:srgbClr val="1C2B24"/>
                          </a:solidFill>
                          <a:latin typeface="Calibri"/>
                        </a:rPr>
                        <a:t>Référence connue, rapide</a:t>
                      </a:r>
                    </a:p>
                  </a:txBody>
                  <a:tcPr marL="73152" marR="73152" marT="36576" marB="36576" anchor="ctr">
                    <a:solidFill>
                      <a:srgbClr val="F4F8F5"/>
                    </a:solidFill>
                  </a:tcPr>
                </a:tc>
                <a:tc>
                  <a:txBody>
                    <a:bodyPr wrap="square"/>
                    <a:lstStyle/>
                    <a:p>
                      <a:pPr algn="l">
                        <a:spcAft>
                          <a:spcPts val="0"/>
                        </a:spcAft>
                      </a:pPr>
                      <a:r>
                        <a:rPr sz="1150" b="0" i="0">
                          <a:solidFill>
                            <a:srgbClr val="1C2B24"/>
                          </a:solidFill>
                          <a:latin typeface="Calibri"/>
                        </a:rPr>
                        <a:t>Licence non commerciale, TensorFlow ; déconseillé par l'encadrant</a:t>
                      </a:r>
                    </a:p>
                  </a:txBody>
                  <a:tcPr marL="73152" marR="73152" marT="36576" marB="36576" anchor="ctr">
                    <a:solidFill>
                      <a:srgbClr val="F4F8F5"/>
                    </a:solidFill>
                  </a:tcPr>
                </a:tc>
                <a:tc>
                  <a:txBody>
                    <a:bodyPr wrap="square"/>
                    <a:lstStyle/>
                    <a:p>
                      <a:pPr algn="l">
                        <a:spcAft>
                          <a:spcPts val="0"/>
                        </a:spcAft>
                      </a:pPr>
                      <a:r>
                        <a:rPr sz="1150" b="1" i="0">
                          <a:solidFill>
                            <a:srgbClr val="C9780E"/>
                          </a:solidFill>
                          <a:latin typeface="Calibri"/>
                        </a:rPr>
                        <a:t>● À comparer</a:t>
                      </a:r>
                    </a:p>
                  </a:txBody>
                  <a:tcPr marL="73152" marR="73152" marT="36576" marB="36576" anchor="ctr">
                    <a:solidFill>
                      <a:srgbClr val="F4F8F5"/>
                    </a:solidFill>
                  </a:tcPr>
                </a:tc>
              </a:tr>
              <a:tr h="420624">
                <a:tc>
                  <a:txBody>
                    <a:bodyPr wrap="square"/>
                    <a:lstStyle/>
                    <a:p>
                      <a:pPr algn="l">
                        <a:spcAft>
                          <a:spcPts val="0"/>
                        </a:spcAft>
                      </a:pPr>
                      <a:r>
                        <a:rPr sz="1150" b="1" i="0">
                          <a:solidFill>
                            <a:srgbClr val="17332A"/>
                          </a:solidFill>
                          <a:latin typeface="Calibri"/>
                        </a:rPr>
                        <a:t>Perch 2.0</a:t>
                      </a:r>
                    </a:p>
                  </a:txBody>
                  <a:tcPr marL="73152" marR="73152" marT="36576" marB="36576" anchor="ctr">
                    <a:solidFill>
                      <a:srgbClr val="FFFFFF"/>
                    </a:solidFill>
                  </a:tcPr>
                </a:tc>
                <a:tc>
                  <a:txBody>
                    <a:bodyPr wrap="square"/>
                    <a:lstStyle/>
                    <a:p>
                      <a:pPr algn="l">
                        <a:spcAft>
                          <a:spcPts val="0"/>
                        </a:spcAft>
                      </a:pPr>
                      <a:r>
                        <a:rPr sz="1150" b="0" i="0">
                          <a:solidFill>
                            <a:srgbClr val="1C2B24"/>
                          </a:solidFill>
                          <a:latin typeface="Calibri"/>
                        </a:rPr>
                        <a:t>32 kHz · 5 s</a:t>
                      </a:r>
                    </a:p>
                  </a:txBody>
                  <a:tcPr marL="73152" marR="73152" marT="36576" marB="36576" anchor="ctr">
                    <a:solidFill>
                      <a:srgbClr val="FFFFFF"/>
                    </a:solidFill>
                  </a:tcPr>
                </a:tc>
                <a:tc>
                  <a:txBody>
                    <a:bodyPr wrap="square"/>
                    <a:lstStyle/>
                    <a:p>
                      <a:pPr algn="l">
                        <a:spcAft>
                          <a:spcPts val="0"/>
                        </a:spcAft>
                      </a:pPr>
                      <a:r>
                        <a:rPr sz="1150" b="0" i="0">
                          <a:solidFill>
                            <a:srgbClr val="1C2B24"/>
                          </a:solidFill>
                          <a:latin typeface="Calibri"/>
                        </a:rPr>
                        <a:t>Licence ouverte ; connaît 3 congénères d'</a:t>
                      </a:r>
                      <a:r>
                        <a:rPr sz="1150" b="0" i="1">
                          <a:solidFill>
                            <a:srgbClr val="1C2B24"/>
                          </a:solidFill>
                          <a:latin typeface="Calibri"/>
                        </a:rPr>
                        <a:t>A. blanci</a:t>
                      </a:r>
                    </a:p>
                  </a:txBody>
                  <a:tcPr marL="73152" marR="73152" marT="36576" marB="36576" anchor="ctr">
                    <a:solidFill>
                      <a:srgbClr val="FFFFFF"/>
                    </a:solidFill>
                  </a:tcPr>
                </a:tc>
                <a:tc>
                  <a:txBody>
                    <a:bodyPr wrap="square"/>
                    <a:lstStyle/>
                    <a:p>
                      <a:pPr algn="l">
                        <a:spcAft>
                          <a:spcPts val="0"/>
                        </a:spcAft>
                      </a:pPr>
                      <a:r>
                        <a:rPr sz="1150" b="0" i="0">
                          <a:solidFill>
                            <a:srgbClr val="1C2B24"/>
                          </a:solidFill>
                          <a:latin typeface="Calibri"/>
                        </a:rPr>
                        <a:t>Version CPU à valider</a:t>
                      </a:r>
                    </a:p>
                  </a:txBody>
                  <a:tcPr marL="73152" marR="73152" marT="36576" marB="36576" anchor="ctr">
                    <a:solidFill>
                      <a:srgbClr val="FFFFFF"/>
                    </a:solidFill>
                  </a:tcPr>
                </a:tc>
                <a:tc>
                  <a:txBody>
                    <a:bodyPr wrap="square"/>
                    <a:lstStyle/>
                    <a:p>
                      <a:pPr algn="l">
                        <a:spcAft>
                          <a:spcPts val="0"/>
                        </a:spcAft>
                      </a:pPr>
                      <a:r>
                        <a:rPr sz="1150" b="1" i="0">
                          <a:solidFill>
                            <a:srgbClr val="C9780E"/>
                          </a:solidFill>
                          <a:latin typeface="Calibri"/>
                        </a:rPr>
                        <a:t>● À comparer</a:t>
                      </a:r>
                    </a:p>
                  </a:txBody>
                  <a:tcPr marL="73152" marR="73152" marT="36576" marB="36576" anchor="ctr">
                    <a:solidFill>
                      <a:srgbClr val="FFFFFF"/>
                    </a:solidFill>
                  </a:tcPr>
                </a:tc>
              </a:tr>
              <a:tr h="420624">
                <a:tc>
                  <a:txBody>
                    <a:bodyPr wrap="square"/>
                    <a:lstStyle/>
                    <a:p>
                      <a:pPr algn="l">
                        <a:spcAft>
                          <a:spcPts val="0"/>
                        </a:spcAft>
                      </a:pPr>
                      <a:r>
                        <a:rPr sz="1150" b="1" i="0">
                          <a:solidFill>
                            <a:srgbClr val="17332A"/>
                          </a:solidFill>
                          <a:latin typeface="Calibri"/>
                        </a:rPr>
                        <a:t>Bird-MAE (Huge ou Base)</a:t>
                      </a:r>
                    </a:p>
                  </a:txBody>
                  <a:tcPr marL="73152" marR="73152" marT="36576" marB="36576" anchor="ctr">
                    <a:solidFill>
                      <a:srgbClr val="F4F8F5"/>
                    </a:solidFill>
                  </a:tcPr>
                </a:tc>
                <a:tc>
                  <a:txBody>
                    <a:bodyPr wrap="square"/>
                    <a:lstStyle/>
                    <a:p>
                      <a:pPr algn="l">
                        <a:spcAft>
                          <a:spcPts val="0"/>
                        </a:spcAft>
                      </a:pPr>
                      <a:r>
                        <a:rPr sz="1150" b="0" i="0">
                          <a:solidFill>
                            <a:srgbClr val="1C2B24"/>
                          </a:solidFill>
                          <a:latin typeface="Calibri"/>
                        </a:rPr>
                        <a:t>32 kHz · 5 s</a:t>
                      </a:r>
                    </a:p>
                  </a:txBody>
                  <a:tcPr marL="73152" marR="73152" marT="36576" marB="36576" anchor="ctr">
                    <a:solidFill>
                      <a:srgbClr val="F4F8F5"/>
                    </a:solidFill>
                  </a:tcPr>
                </a:tc>
                <a:tc>
                  <a:txBody>
                    <a:bodyPr wrap="square"/>
                    <a:lstStyle/>
                    <a:p>
                      <a:pPr algn="l">
                        <a:spcAft>
                          <a:spcPts val="0"/>
                        </a:spcAft>
                      </a:pPr>
                      <a:r>
                        <a:rPr sz="1150" b="0" i="0">
                          <a:solidFill>
                            <a:srgbClr val="1C2B24"/>
                          </a:solidFill>
                          <a:latin typeface="Calibri"/>
                        </a:rPr>
                        <a:t>Au-dessus du lot selon une revue récente</a:t>
                      </a:r>
                    </a:p>
                  </a:txBody>
                  <a:tcPr marL="73152" marR="73152" marT="36576" marB="36576" anchor="ctr">
                    <a:solidFill>
                      <a:srgbClr val="F4F8F5"/>
                    </a:solidFill>
                  </a:tcPr>
                </a:tc>
                <a:tc>
                  <a:txBody>
                    <a:bodyPr wrap="square"/>
                    <a:lstStyle/>
                    <a:p>
                      <a:pPr algn="l">
                        <a:spcAft>
                          <a:spcPts val="0"/>
                        </a:spcAft>
                      </a:pPr>
                      <a:r>
                        <a:rPr sz="1150" b="0" i="0">
                          <a:solidFill>
                            <a:srgbClr val="1C2B24"/>
                          </a:solidFill>
                          <a:latin typeface="Calibri"/>
                        </a:rPr>
                        <a:t>Huge probablement trop lourd pour l'i5 ; Base fait-il aussi bien ?</a:t>
                      </a:r>
                    </a:p>
                  </a:txBody>
                  <a:tcPr marL="73152" marR="73152" marT="36576" marB="36576" anchor="ctr">
                    <a:solidFill>
                      <a:srgbClr val="F4F8F5"/>
                    </a:solidFill>
                  </a:tcPr>
                </a:tc>
                <a:tc>
                  <a:txBody>
                    <a:bodyPr wrap="square"/>
                    <a:lstStyle/>
                    <a:p>
                      <a:pPr algn="l">
                        <a:spcAft>
                          <a:spcPts val="0"/>
                        </a:spcAft>
                      </a:pPr>
                      <a:r>
                        <a:rPr sz="1150" b="1" i="0">
                          <a:solidFill>
                            <a:srgbClr val="C9780E"/>
                          </a:solidFill>
                          <a:latin typeface="Calibri"/>
                        </a:rPr>
                        <a:t>● À comparer</a:t>
                      </a:r>
                    </a:p>
                  </a:txBody>
                  <a:tcPr marL="73152" marR="73152" marT="36576" marB="36576" anchor="ctr">
                    <a:solidFill>
                      <a:srgbClr val="F4F8F5"/>
                    </a:solidFill>
                  </a:tcPr>
                </a:tc>
              </a:tr>
              <a:tr h="420624">
                <a:tc>
                  <a:txBody>
                    <a:bodyPr wrap="square"/>
                    <a:lstStyle/>
                    <a:p>
                      <a:pPr algn="l">
                        <a:spcAft>
                          <a:spcPts val="0"/>
                        </a:spcAft>
                      </a:pPr>
                      <a:r>
                        <a:rPr sz="1150" b="1" i="0">
                          <a:solidFill>
                            <a:srgbClr val="17332A"/>
                          </a:solidFill>
                          <a:latin typeface="Calibri"/>
                        </a:rPr>
                        <a:t>BEATs / NatureBEATs</a:t>
                      </a:r>
                    </a:p>
                  </a:txBody>
                  <a:tcPr marL="73152" marR="73152" marT="36576" marB="36576" anchor="ctr">
                    <a:solidFill>
                      <a:srgbClr val="FFFFFF"/>
                    </a:solidFill>
                  </a:tcPr>
                </a:tc>
                <a:tc>
                  <a:txBody>
                    <a:bodyPr wrap="square"/>
                    <a:lstStyle/>
                    <a:p>
                      <a:pPr algn="l">
                        <a:spcAft>
                          <a:spcPts val="0"/>
                        </a:spcAft>
                      </a:pPr>
                      <a:r>
                        <a:rPr sz="1150" b="0" i="0">
                          <a:solidFill>
                            <a:srgbClr val="1C2B24"/>
                          </a:solidFill>
                          <a:latin typeface="Calibri"/>
                        </a:rPr>
                        <a:t>16 kHz · 5 s</a:t>
                      </a:r>
                    </a:p>
                  </a:txBody>
                  <a:tcPr marL="73152" marR="73152" marT="36576" marB="36576" anchor="ctr">
                    <a:solidFill>
                      <a:srgbClr val="FFFFFF"/>
                    </a:solidFill>
                  </a:tcPr>
                </a:tc>
                <a:tc>
                  <a:txBody>
                    <a:bodyPr wrap="square"/>
                    <a:lstStyle/>
                    <a:p>
                      <a:pPr algn="l">
                        <a:spcAft>
                          <a:spcPts val="0"/>
                        </a:spcAft>
                      </a:pPr>
                      <a:r>
                        <a:rPr sz="1150" b="0" i="0">
                          <a:solidFill>
                            <a:srgbClr val="1C2B24"/>
                          </a:solidFill>
                          <a:latin typeface="Calibri"/>
                        </a:rPr>
                        <a:t>Au-dessus du lot selon une revue récente</a:t>
                      </a:r>
                    </a:p>
                  </a:txBody>
                  <a:tcPr marL="73152" marR="73152" marT="36576" marB="36576" anchor="ctr">
                    <a:solidFill>
                      <a:srgbClr val="FFFFFF"/>
                    </a:solidFill>
                  </a:tcPr>
                </a:tc>
                <a:tc>
                  <a:txBody>
                    <a:bodyPr wrap="square"/>
                    <a:lstStyle/>
                    <a:p>
                      <a:pPr algn="l">
                        <a:spcAft>
                          <a:spcPts val="0"/>
                        </a:spcAft>
                      </a:pPr>
                      <a:r>
                        <a:rPr sz="1150" b="0" i="0">
                          <a:solidFill>
                            <a:srgbClr val="1C2B24"/>
                          </a:solidFill>
                          <a:latin typeface="Calibri"/>
                        </a:rPr>
                        <a:t>16 kHz limite pour un paysage sonore ? contrôle : Bird-MAE filtré à 8 kHz</a:t>
                      </a:r>
                    </a:p>
                  </a:txBody>
                  <a:tcPr marL="73152" marR="73152" marT="36576" marB="36576" anchor="ctr">
                    <a:solidFill>
                      <a:srgbClr val="FFFFFF"/>
                    </a:solidFill>
                  </a:tcPr>
                </a:tc>
                <a:tc>
                  <a:txBody>
                    <a:bodyPr wrap="square"/>
                    <a:lstStyle/>
                    <a:p>
                      <a:pPr algn="l">
                        <a:spcAft>
                          <a:spcPts val="0"/>
                        </a:spcAft>
                      </a:pPr>
                      <a:r>
                        <a:rPr sz="1150" b="1" i="0">
                          <a:solidFill>
                            <a:srgbClr val="C9780E"/>
                          </a:solidFill>
                          <a:latin typeface="Calibri"/>
                        </a:rPr>
                        <a:t>● À comparer</a:t>
                      </a:r>
                    </a:p>
                  </a:txBody>
                  <a:tcPr marL="73152" marR="73152" marT="36576" marB="36576" anchor="ctr">
                    <a:solidFill>
                      <a:srgbClr val="FFFFFF"/>
                    </a:solidFill>
                  </a:tcPr>
                </a:tc>
              </a:tr>
              <a:tr h="420624">
                <a:tc>
                  <a:txBody>
                    <a:bodyPr wrap="square"/>
                    <a:lstStyle/>
                    <a:p>
                      <a:pPr algn="l">
                        <a:spcAft>
                          <a:spcPts val="0"/>
                        </a:spcAft>
                      </a:pPr>
                      <a:r>
                        <a:rPr sz="1150" b="1" i="0">
                          <a:solidFill>
                            <a:srgbClr val="17332A"/>
                          </a:solidFill>
                          <a:latin typeface="Calibri"/>
                        </a:rPr>
                        <a:t>ProtoCLR, Perch bird, ConvNeXt BirdSet</a:t>
                      </a:r>
                    </a:p>
                  </a:txBody>
                  <a:tcPr marL="73152" marR="73152" marT="36576" marB="36576" anchor="ctr">
                    <a:solidFill>
                      <a:srgbClr val="F4F8F5"/>
                    </a:solidFill>
                  </a:tcPr>
                </a:tc>
                <a:tc>
                  <a:txBody>
                    <a:bodyPr wrap="square"/>
                    <a:lstStyle/>
                    <a:p>
                      <a:pPr algn="l">
                        <a:spcAft>
                          <a:spcPts val="0"/>
                        </a:spcAft>
                      </a:pPr>
                      <a:r>
                        <a:rPr sz="1150" b="0" i="0">
                          <a:solidFill>
                            <a:srgbClr val="1C2B24"/>
                          </a:solidFill>
                          <a:latin typeface="Calibri"/>
                        </a:rPr>
                        <a:t>16–32 kHz · 5–6 s</a:t>
                      </a:r>
                    </a:p>
                  </a:txBody>
                  <a:tcPr marL="73152" marR="73152" marT="36576" marB="36576" anchor="ctr">
                    <a:solidFill>
                      <a:srgbClr val="F4F8F5"/>
                    </a:solidFill>
                  </a:tcPr>
                </a:tc>
                <a:tc>
                  <a:txBody>
                    <a:bodyPr wrap="square"/>
                    <a:lstStyle/>
                    <a:p>
                      <a:pPr algn="l">
                        <a:spcAft>
                          <a:spcPts val="0"/>
                        </a:spcAft>
                      </a:pPr>
                      <a:r>
                        <a:rPr sz="1150" b="0" i="0">
                          <a:solidFill>
                            <a:srgbClr val="1C2B24"/>
                          </a:solidFill>
                          <a:latin typeface="Calibri"/>
                        </a:rPr>
                        <a:t>Élargissent la comparaison</a:t>
                      </a:r>
                    </a:p>
                  </a:txBody>
                  <a:tcPr marL="73152" marR="73152" marT="36576" marB="36576" anchor="ctr">
                    <a:solidFill>
                      <a:srgbClr val="F4F8F5"/>
                    </a:solidFill>
                  </a:tcPr>
                </a:tc>
                <a:tc>
                  <a:txBody>
                    <a:bodyPr wrap="square"/>
                    <a:lstStyle/>
                    <a:p>
                      <a:pPr algn="l">
                        <a:spcAft>
                          <a:spcPts val="0"/>
                        </a:spcAft>
                      </a:pPr>
                      <a:r>
                        <a:rPr sz="1150" b="0" i="0">
                          <a:solidFill>
                            <a:srgbClr val="1C2B24"/>
                          </a:solidFill>
                          <a:latin typeface="Calibri"/>
                        </a:rPr>
                        <a:t>Moins faciles à réutiliser ; si c'est sans effort</a:t>
                      </a:r>
                    </a:p>
                  </a:txBody>
                  <a:tcPr marL="73152" marR="73152" marT="36576" marB="36576" anchor="ctr">
                    <a:solidFill>
                      <a:srgbClr val="F4F8F5"/>
                    </a:solidFill>
                  </a:tcPr>
                </a:tc>
                <a:tc>
                  <a:txBody>
                    <a:bodyPr wrap="square"/>
                    <a:lstStyle/>
                    <a:p>
                      <a:pPr algn="l">
                        <a:spcAft>
                          <a:spcPts val="0"/>
                        </a:spcAft>
                      </a:pPr>
                      <a:r>
                        <a:rPr sz="1150" b="1" i="0">
                          <a:solidFill>
                            <a:srgbClr val="C9780E"/>
                          </a:solidFill>
                          <a:latin typeface="Calibri"/>
                        </a:rPr>
                        <a:t>● À comparer</a:t>
                      </a:r>
                    </a:p>
                  </a:txBody>
                  <a:tcPr marL="73152" marR="73152" marT="36576" marB="36576" anchor="ctr">
                    <a:solidFill>
                      <a:srgbClr val="F4F8F5"/>
                    </a:solidFill>
                  </a:tcPr>
                </a:tc>
              </a:tr>
              <a:tr h="420624">
                <a:tc>
                  <a:txBody>
                    <a:bodyPr wrap="square"/>
                    <a:lstStyle/>
                    <a:p>
                      <a:pPr algn="l">
                        <a:spcAft>
                          <a:spcPts val="0"/>
                        </a:spcAft>
                      </a:pPr>
                      <a:r>
                        <a:rPr sz="1150" b="1" i="0">
                          <a:solidFill>
                            <a:srgbClr val="17332A"/>
                          </a:solidFill>
                          <a:latin typeface="Calibri"/>
                        </a:rPr>
                        <a:t>Sans encodeur</a:t>
                      </a:r>
                    </a:p>
                  </a:txBody>
                  <a:tcPr marL="73152" marR="73152" marT="36576" marB="36576" anchor="ctr">
                    <a:solidFill>
                      <a:srgbClr val="FFFFFF"/>
                    </a:solidFill>
                  </a:tcPr>
                </a:tc>
                <a:tc>
                  <a:txBody>
                    <a:bodyPr wrap="square"/>
                    <a:lstStyle/>
                    <a:p>
                      <a:pPr algn="l">
                        <a:spcAft>
                          <a:spcPts val="0"/>
                        </a:spcAft>
                      </a:pPr>
                      <a:r>
                        <a:rPr sz="1150" b="0" i="0">
                          <a:solidFill>
                            <a:srgbClr val="1C2B24"/>
                          </a:solidFill>
                          <a:latin typeface="Calibri"/>
                        </a:rPr>
                        <a:t>audio natif</a:t>
                      </a:r>
                    </a:p>
                  </a:txBody>
                  <a:tcPr marL="73152" marR="73152" marT="36576" marB="36576" anchor="ctr">
                    <a:solidFill>
                      <a:srgbClr val="FFFFFF"/>
                    </a:solidFill>
                  </a:tcPr>
                </a:tc>
                <a:tc>
                  <a:txBody>
                    <a:bodyPr wrap="square"/>
                    <a:lstStyle/>
                    <a:p>
                      <a:pPr algn="l">
                        <a:spcAft>
                          <a:spcPts val="0"/>
                        </a:spcAft>
                      </a:pPr>
                      <a:r>
                        <a:rPr sz="1150" b="0" i="0">
                          <a:solidFill>
                            <a:srgbClr val="1C2B24"/>
                          </a:solidFill>
                          <a:latin typeface="Calibri"/>
                        </a:rPr>
                        <a:t>Plancher : énergie en bande, contraste, template matching</a:t>
                      </a:r>
                    </a:p>
                  </a:txBody>
                  <a:tcPr marL="73152" marR="73152" marT="36576" marB="36576" anchor="ctr">
                    <a:solidFill>
                      <a:srgbClr val="FFFFFF"/>
                    </a:solidFill>
                  </a:tcPr>
                </a:tc>
                <a:tc>
                  <a:txBody>
                    <a:bodyPr wrap="square"/>
                    <a:lstStyle/>
                    <a:p>
                      <a:pPr algn="l">
                        <a:spcAft>
                          <a:spcPts val="0"/>
                        </a:spcAft>
                      </a:pPr>
                      <a:r>
                        <a:rPr sz="1150" b="0" i="0">
                          <a:solidFill>
                            <a:srgbClr val="1C2B24"/>
                          </a:solidFill>
                          <a:latin typeface="Calibri"/>
                        </a:rPr>
                        <a:t>Ne sépare pas le chant du fond sonore</a:t>
                      </a:r>
                    </a:p>
                  </a:txBody>
                  <a:tcPr marL="73152" marR="73152" marT="36576" marB="36576" anchor="ctr">
                    <a:solidFill>
                      <a:srgbClr val="FFFFFF"/>
                    </a:solidFill>
                  </a:tcPr>
                </a:tc>
                <a:tc>
                  <a:txBody>
                    <a:bodyPr wrap="square"/>
                    <a:lstStyle/>
                    <a:p>
                      <a:pPr algn="l">
                        <a:spcAft>
                          <a:spcPts val="0"/>
                        </a:spcAft>
                      </a:pPr>
                      <a:r>
                        <a:rPr sz="1150" b="1" i="0">
                          <a:solidFill>
                            <a:srgbClr val="2F8F5B"/>
                          </a:solidFill>
                          <a:latin typeface="Calibri"/>
                        </a:rPr>
                        <a:t>● Retenu</a:t>
                      </a:r>
                    </a:p>
                  </a:txBody>
                  <a:tcPr marL="73152" marR="73152" marT="36576" marB="36576" anchor="ctr">
                    <a:solidFill>
                      <a:srgbClr val="FFFFFF"/>
                    </a:solidFill>
                  </a:tcPr>
                </a:tc>
              </a:tr>
            </a:tbl>
          </a:graphicData>
        </a:graphic>
      </p:graphicFrame>
      <p:sp>
        <p:nvSpPr>
          <p:cNvPr id="32" name="Rounded Rectangle 31"/>
          <p:cNvSpPr/>
          <p:nvPr/>
        </p:nvSpPr>
        <p:spPr>
          <a:xfrm>
            <a:off x="457200" y="5532120"/>
            <a:ext cx="11274552" cy="685800"/>
          </a:xfrm>
          <a:prstGeom prst="roundRect">
            <a:avLst>
              <a:gd name="adj" fmla="val 8000"/>
            </a:avLst>
          </a:prstGeom>
          <a:solidFill>
            <a:srgbClr val="E6EFE8"/>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400"/>
              </a:spcAft>
            </a:pPr>
            <a:r>
              <a:rPr sz="1250" b="1" i="0">
                <a:solidFill>
                  <a:srgbClr val="1C2B24"/>
                </a:solidFill>
                <a:latin typeface="Calibri"/>
              </a:rPr>
              <a:t>Critères</a:t>
            </a:r>
            <a:r>
              <a:rPr sz="1250" b="0" i="0">
                <a:solidFill>
                  <a:srgbClr val="1C2B24"/>
                </a:solidFill>
                <a:latin typeface="Calibri"/>
              </a:rPr>
              <a:t> : AP et rappel · vitesse sur l'i5 · licence · prise en main · accès aux tokens.   </a:t>
            </a:r>
            <a:r>
              <a:rPr sz="1250" b="1" i="0">
                <a:solidFill>
                  <a:srgbClr val="1C2B24"/>
                </a:solidFill>
                <a:latin typeface="Calibri"/>
              </a:rPr>
              <a:t>AnuraSet</a:t>
            </a:r>
            <a:r>
              <a:rPr sz="1250" b="0" i="0">
                <a:solidFill>
                  <a:srgbClr val="1C2B24"/>
                </a:solidFill>
                <a:latin typeface="Calibri"/>
              </a:rPr>
              <a:t> : un indicateur, pas une garantie.   </a:t>
            </a:r>
            <a:r>
              <a:rPr sz="1250" b="1" i="0">
                <a:solidFill>
                  <a:srgbClr val="1C2B24"/>
                </a:solidFill>
                <a:latin typeface="Calibri"/>
              </a:rPr>
              <a:t>Combiner deux encodeurs</a:t>
            </a:r>
            <a:r>
              <a:rPr sz="1250" b="0" i="0">
                <a:solidFill>
                  <a:srgbClr val="1C2B24"/>
                </a:solidFill>
                <a:latin typeface="Calibri"/>
              </a:rPr>
              <a:t> : possible, mais double le calcul.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8229600" cy="256032"/>
          </a:xfrm>
          <a:prstGeom prst="rect">
            <a:avLst/>
          </a:prstGeom>
          <a:noFill/>
        </p:spPr>
        <p:txBody>
          <a:bodyPr wrap="square" anchor="t" lIns="0" rIns="0" tIns="0" bIns="0">
            <a:spAutoFit/>
          </a:bodyPr>
          <a:lstStyle/>
          <a:p>
            <a:pPr algn="l">
              <a:spcAft>
                <a:spcPts val="400"/>
              </a:spcAft>
            </a:pPr>
            <a:r>
              <a:rPr sz="1100" b="1" i="0">
                <a:solidFill>
                  <a:srgbClr val="9A5A06"/>
                </a:solidFill>
                <a:latin typeface="Calibri"/>
              </a:rPr>
              <a:t>PIPELINE · ÉTAPE 4</a:t>
            </a:r>
          </a:p>
        </p:txBody>
      </p:sp>
      <p:sp>
        <p:nvSpPr>
          <p:cNvPr id="3" name="TextBox 2"/>
          <p:cNvSpPr txBox="1"/>
          <p:nvPr/>
        </p:nvSpPr>
        <p:spPr>
          <a:xfrm>
            <a:off x="457200" y="493776"/>
            <a:ext cx="11274552" cy="548640"/>
          </a:xfrm>
          <a:prstGeom prst="rect">
            <a:avLst/>
          </a:prstGeom>
          <a:noFill/>
        </p:spPr>
        <p:txBody>
          <a:bodyPr wrap="square" anchor="t" lIns="0" rIns="0" tIns="0" bIns="0">
            <a:spAutoFit/>
          </a:bodyPr>
          <a:lstStyle/>
          <a:p>
            <a:pPr algn="l">
              <a:spcAft>
                <a:spcPts val="400"/>
              </a:spcAft>
            </a:pPr>
            <a:r>
              <a:rPr sz="2600" b="1" i="0">
                <a:solidFill>
                  <a:srgbClr val="17332A"/>
                </a:solidFill>
                <a:latin typeface="Cambria"/>
              </a:rPr>
              <a:t>Head : comment choisir la direction w ?</a:t>
            </a:r>
          </a:p>
        </p:txBody>
      </p:sp>
      <p:cxnSp>
        <p:nvCxnSpPr>
          <p:cNvPr id="4" name="Connector 3"/>
          <p:cNvCxnSpPr/>
          <p:nvPr/>
        </p:nvCxnSpPr>
        <p:spPr>
          <a:xfrm>
            <a:off x="1591056" y="1472184"/>
            <a:ext cx="315206" cy="0"/>
          </a:xfrm>
          <a:prstGeom prst="line">
            <a:avLst/>
          </a:prstGeom>
          <a:ln w="15875">
            <a:solidFill>
              <a:srgbClr val="9DB3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3040118" y="1472184"/>
            <a:ext cx="157604" cy="0"/>
          </a:xfrm>
          <a:prstGeom prst="line">
            <a:avLst/>
          </a:prstGeom>
          <a:ln w="15875">
            <a:solidFill>
              <a:srgbClr val="9DB3A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197722" y="1271016"/>
            <a:ext cx="0" cy="402336"/>
          </a:xfrm>
          <a:prstGeom prst="line">
            <a:avLst/>
          </a:prstGeom>
          <a:ln w="15875">
            <a:solidFill>
              <a:srgbClr val="9DB3A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3197722" y="1271016"/>
            <a:ext cx="157603" cy="0"/>
          </a:xfrm>
          <a:prstGeom prst="line">
            <a:avLst/>
          </a:prstGeom>
          <a:ln w="15875">
            <a:solidFill>
              <a:srgbClr val="9DB3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3197722" y="1673352"/>
            <a:ext cx="157603" cy="0"/>
          </a:xfrm>
          <a:prstGeom prst="line">
            <a:avLst/>
          </a:prstGeom>
          <a:ln w="15875">
            <a:solidFill>
              <a:srgbClr val="9DB3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489181" y="1271016"/>
            <a:ext cx="315207" cy="0"/>
          </a:xfrm>
          <a:prstGeom prst="line">
            <a:avLst/>
          </a:prstGeom>
          <a:ln w="15875">
            <a:solidFill>
              <a:srgbClr val="9DB3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938244" y="1271016"/>
            <a:ext cx="157603" cy="0"/>
          </a:xfrm>
          <a:prstGeom prst="line">
            <a:avLst/>
          </a:prstGeom>
          <a:ln w="15875">
            <a:solidFill>
              <a:srgbClr val="9DB3A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5938244" y="1673352"/>
            <a:ext cx="157603" cy="0"/>
          </a:xfrm>
          <a:prstGeom prst="line">
            <a:avLst/>
          </a:prstGeom>
          <a:ln w="15875">
            <a:solidFill>
              <a:srgbClr val="9DB3A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095847" y="1271016"/>
            <a:ext cx="0" cy="402336"/>
          </a:xfrm>
          <a:prstGeom prst="line">
            <a:avLst/>
          </a:prstGeom>
          <a:ln w="15875">
            <a:solidFill>
              <a:srgbClr val="9DB3A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6095847" y="1472184"/>
            <a:ext cx="157603" cy="0"/>
          </a:xfrm>
          <a:prstGeom prst="line">
            <a:avLst/>
          </a:prstGeom>
          <a:ln w="15875">
            <a:solidFill>
              <a:srgbClr val="9DB3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7387306" y="1472184"/>
            <a:ext cx="315207" cy="0"/>
          </a:xfrm>
          <a:prstGeom prst="line">
            <a:avLst/>
          </a:prstGeom>
          <a:ln w="15875">
            <a:solidFill>
              <a:srgbClr val="9DB3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836369" y="1472184"/>
            <a:ext cx="315207" cy="0"/>
          </a:xfrm>
          <a:prstGeom prst="line">
            <a:avLst/>
          </a:prstGeom>
          <a:ln w="15875">
            <a:solidFill>
              <a:srgbClr val="9DB3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0285432" y="1472184"/>
            <a:ext cx="315207" cy="0"/>
          </a:xfrm>
          <a:prstGeom prst="line">
            <a:avLst/>
          </a:prstGeom>
          <a:ln w="15875">
            <a:solidFill>
              <a:srgbClr val="9DB3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1167567" y="1627632"/>
            <a:ext cx="0" cy="292608"/>
          </a:xfrm>
          <a:prstGeom prst="line">
            <a:avLst/>
          </a:prstGeom>
          <a:ln w="19050">
            <a:solidFill>
              <a:srgbClr val="9DB3A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H="1">
            <a:off x="1024128" y="1920240"/>
            <a:ext cx="10143439" cy="0"/>
          </a:xfrm>
          <a:prstGeom prst="line">
            <a:avLst/>
          </a:prstGeom>
          <a:ln w="19050">
            <a:solidFill>
              <a:srgbClr val="9DB3A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1024128" y="1627632"/>
            <a:ext cx="0" cy="292608"/>
          </a:xfrm>
          <a:prstGeom prst="line">
            <a:avLst/>
          </a:prstGeom>
          <a:ln w="19050">
            <a:solidFill>
              <a:srgbClr val="9DB3A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457200" y="1316736"/>
            <a:ext cx="1133856" cy="310896"/>
          </a:xfrm>
          <a:prstGeom prst="roundRect">
            <a:avLst>
              <a:gd name="adj" fmla="val 14000"/>
            </a:avLst>
          </a:prstGeom>
          <a:solidFill>
            <a:srgbClr val="E6EF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0"/>
              </a:spcAft>
            </a:pPr>
            <a:r>
              <a:rPr sz="950" b="0" i="0">
                <a:solidFill>
                  <a:srgbClr val="5E6E66"/>
                </a:solidFill>
                <a:latin typeface="Calibri"/>
              </a:rPr>
              <a:t>Corpus + QC</a:t>
            </a:r>
          </a:p>
        </p:txBody>
      </p:sp>
      <p:sp>
        <p:nvSpPr>
          <p:cNvPr id="21" name="Rounded Rectangle 20"/>
          <p:cNvSpPr/>
          <p:nvPr/>
        </p:nvSpPr>
        <p:spPr>
          <a:xfrm>
            <a:off x="1906262" y="1316736"/>
            <a:ext cx="1133856" cy="310896"/>
          </a:xfrm>
          <a:prstGeom prst="roundRect">
            <a:avLst>
              <a:gd name="adj" fmla="val 14000"/>
            </a:avLst>
          </a:prstGeom>
          <a:solidFill>
            <a:srgbClr val="E6EF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0"/>
              </a:spcAft>
            </a:pPr>
            <a:r>
              <a:rPr sz="950" b="0" i="0">
                <a:solidFill>
                  <a:srgbClr val="5E6E66"/>
                </a:solidFill>
                <a:latin typeface="Calibri"/>
              </a:rPr>
              <a:t>Fenêtrage</a:t>
            </a:r>
          </a:p>
        </p:txBody>
      </p:sp>
      <p:sp>
        <p:nvSpPr>
          <p:cNvPr id="22" name="Rounded Rectangle 21"/>
          <p:cNvSpPr/>
          <p:nvPr/>
        </p:nvSpPr>
        <p:spPr>
          <a:xfrm>
            <a:off x="3355325" y="1115568"/>
            <a:ext cx="1133856" cy="310896"/>
          </a:xfrm>
          <a:prstGeom prst="roundRect">
            <a:avLst>
              <a:gd name="adj" fmla="val 14000"/>
            </a:avLst>
          </a:prstGeom>
          <a:solidFill>
            <a:srgbClr val="E6EF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0"/>
              </a:spcAft>
            </a:pPr>
            <a:r>
              <a:rPr sz="950" b="0" i="0">
                <a:solidFill>
                  <a:srgbClr val="5E6E66"/>
                </a:solidFill>
                <a:latin typeface="Calibri"/>
              </a:rPr>
              <a:t>Encodeur</a:t>
            </a:r>
          </a:p>
        </p:txBody>
      </p:sp>
      <p:sp>
        <p:nvSpPr>
          <p:cNvPr id="23" name="Rounded Rectangle 22"/>
          <p:cNvSpPr/>
          <p:nvPr/>
        </p:nvSpPr>
        <p:spPr>
          <a:xfrm>
            <a:off x="4804388" y="1115568"/>
            <a:ext cx="1133856" cy="310896"/>
          </a:xfrm>
          <a:prstGeom prst="roundRect">
            <a:avLst>
              <a:gd name="adj" fmla="val 14000"/>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0"/>
              </a:spcAft>
            </a:pPr>
            <a:r>
              <a:rPr sz="950" b="1" i="0">
                <a:solidFill>
                  <a:srgbClr val="1C2B24"/>
                </a:solidFill>
                <a:latin typeface="Calibri"/>
              </a:rPr>
              <a:t>Head</a:t>
            </a:r>
          </a:p>
        </p:txBody>
      </p:sp>
      <p:sp>
        <p:nvSpPr>
          <p:cNvPr id="24" name="Rounded Rectangle 23"/>
          <p:cNvSpPr/>
          <p:nvPr/>
        </p:nvSpPr>
        <p:spPr>
          <a:xfrm>
            <a:off x="3355325" y="1517904"/>
            <a:ext cx="2582918" cy="310896"/>
          </a:xfrm>
          <a:prstGeom prst="roundRect">
            <a:avLst>
              <a:gd name="adj" fmla="val 14000"/>
            </a:avLst>
          </a:prstGeom>
          <a:solidFill>
            <a:srgbClr val="E6EF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0"/>
              </a:spcAft>
            </a:pPr>
            <a:r>
              <a:rPr sz="950" b="0" i="0">
                <a:solidFill>
                  <a:srgbClr val="5E6E66"/>
                </a:solidFill>
                <a:latin typeface="Calibri"/>
              </a:rPr>
              <a:t>Module séquentiel</a:t>
            </a:r>
          </a:p>
        </p:txBody>
      </p:sp>
      <p:sp>
        <p:nvSpPr>
          <p:cNvPr id="25" name="Rounded Rectangle 24"/>
          <p:cNvSpPr/>
          <p:nvPr/>
        </p:nvSpPr>
        <p:spPr>
          <a:xfrm>
            <a:off x="6253450" y="1316736"/>
            <a:ext cx="1133856" cy="310896"/>
          </a:xfrm>
          <a:prstGeom prst="roundRect">
            <a:avLst>
              <a:gd name="adj" fmla="val 14000"/>
            </a:avLst>
          </a:prstGeom>
          <a:solidFill>
            <a:srgbClr val="E6EF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0"/>
              </a:spcAft>
            </a:pPr>
            <a:r>
              <a:rPr sz="950" b="0" i="0">
                <a:solidFill>
                  <a:srgbClr val="5E6E66"/>
                </a:solidFill>
                <a:latin typeface="Calibri"/>
              </a:rPr>
              <a:t>Fusion</a:t>
            </a:r>
          </a:p>
        </p:txBody>
      </p:sp>
      <p:sp>
        <p:nvSpPr>
          <p:cNvPr id="26" name="Rounded Rectangle 25"/>
          <p:cNvSpPr/>
          <p:nvPr/>
        </p:nvSpPr>
        <p:spPr>
          <a:xfrm>
            <a:off x="7702513" y="1316736"/>
            <a:ext cx="1133856" cy="310896"/>
          </a:xfrm>
          <a:prstGeom prst="roundRect">
            <a:avLst>
              <a:gd name="adj" fmla="val 14000"/>
            </a:avLst>
          </a:prstGeom>
          <a:solidFill>
            <a:srgbClr val="E6EF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0"/>
              </a:spcAft>
            </a:pPr>
            <a:r>
              <a:rPr sz="950" b="0" i="0">
                <a:solidFill>
                  <a:srgbClr val="5E6E66"/>
                </a:solidFill>
                <a:latin typeface="Calibri"/>
              </a:rPr>
              <a:t>Agrégation</a:t>
            </a:r>
          </a:p>
        </p:txBody>
      </p:sp>
      <p:sp>
        <p:nvSpPr>
          <p:cNvPr id="27" name="Rounded Rectangle 26"/>
          <p:cNvSpPr/>
          <p:nvPr/>
        </p:nvSpPr>
        <p:spPr>
          <a:xfrm>
            <a:off x="9151576" y="1316736"/>
            <a:ext cx="1133856" cy="310896"/>
          </a:xfrm>
          <a:prstGeom prst="roundRect">
            <a:avLst>
              <a:gd name="adj" fmla="val 14000"/>
            </a:avLst>
          </a:prstGeom>
          <a:solidFill>
            <a:srgbClr val="E6EF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0"/>
              </a:spcAft>
            </a:pPr>
            <a:r>
              <a:rPr sz="950" b="0" i="0">
                <a:solidFill>
                  <a:srgbClr val="5E6E66"/>
                </a:solidFill>
                <a:latin typeface="Calibri"/>
              </a:rPr>
              <a:t>Sélection</a:t>
            </a:r>
          </a:p>
        </p:txBody>
      </p:sp>
      <p:sp>
        <p:nvSpPr>
          <p:cNvPr id="28" name="Rounded Rectangle 27"/>
          <p:cNvSpPr/>
          <p:nvPr/>
        </p:nvSpPr>
        <p:spPr>
          <a:xfrm>
            <a:off x="10600639" y="1316736"/>
            <a:ext cx="1133856" cy="310896"/>
          </a:xfrm>
          <a:prstGeom prst="roundRect">
            <a:avLst>
              <a:gd name="adj" fmla="val 14000"/>
            </a:avLst>
          </a:prstGeom>
          <a:solidFill>
            <a:srgbClr val="E6EF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0"/>
              </a:spcAft>
            </a:pPr>
            <a:r>
              <a:rPr sz="950" b="0" i="0">
                <a:solidFill>
                  <a:srgbClr val="5E6E66"/>
                </a:solidFill>
                <a:latin typeface="Calibri"/>
              </a:rPr>
              <a:t>Annotation</a:t>
            </a:r>
          </a:p>
        </p:txBody>
      </p:sp>
      <p:sp>
        <p:nvSpPr>
          <p:cNvPr id="29" name="Rounded Rectangle 28"/>
          <p:cNvSpPr/>
          <p:nvPr/>
        </p:nvSpPr>
        <p:spPr>
          <a:xfrm>
            <a:off x="457200" y="1993392"/>
            <a:ext cx="11277295" cy="182880"/>
          </a:xfrm>
          <a:prstGeom prst="roundRect">
            <a:avLst>
              <a:gd name="adj" fmla="val 50000"/>
            </a:avLst>
          </a:prstGeom>
          <a:solidFill>
            <a:srgbClr val="F4F8F5"/>
          </a:solidFill>
          <a:ln>
            <a:noFill/>
          </a:ln>
          <a:effectLst/>
        </p:spPr>
        <p:style>
          <a:lnRef idx="1">
            <a:schemeClr val="accent1"/>
          </a:lnRef>
          <a:fillRef idx="3">
            <a:schemeClr val="accent1"/>
          </a:fillRef>
          <a:effectRef idx="2">
            <a:schemeClr val="accent1"/>
          </a:effectRef>
          <a:fontRef idx="minor">
            <a:schemeClr val="lt1"/>
          </a:fontRef>
        </p:style>
        <p:txBody>
          <a:bodyPr rtlCol="0" anchor="ctr" lIns="9144" rIns="9144" tIns="9144" bIns="9144" wrap="square"/>
          <a:lstStyle/>
          <a:p>
            <a:pPr algn="ctr">
              <a:spcAft>
                <a:spcPts val="400"/>
              </a:spcAft>
            </a:pPr>
            <a:r>
              <a:rPr sz="850" b="0" i="0">
                <a:solidFill>
                  <a:srgbClr val="5E6E66"/>
                </a:solidFill>
                <a:latin typeface="Calibri"/>
              </a:rPr>
              <a:t>Évaluation (transverse)</a:t>
            </a:r>
          </a:p>
        </p:txBody>
      </p:sp>
      <p:sp>
        <p:nvSpPr>
          <p:cNvPr id="30" name="TextBox 29"/>
          <p:cNvSpPr txBox="1"/>
          <p:nvPr/>
        </p:nvSpPr>
        <p:spPr>
          <a:xfrm>
            <a:off x="11277295" y="6473952"/>
            <a:ext cx="457200" cy="228600"/>
          </a:xfrm>
          <a:prstGeom prst="rect">
            <a:avLst/>
          </a:prstGeom>
          <a:noFill/>
        </p:spPr>
        <p:txBody>
          <a:bodyPr wrap="square" anchor="t" lIns="0" rIns="0" tIns="0" bIns="0">
            <a:spAutoFit/>
          </a:bodyPr>
          <a:lstStyle/>
          <a:p>
            <a:pPr algn="r">
              <a:spcAft>
                <a:spcPts val="400"/>
              </a:spcAft>
            </a:pPr>
            <a:r>
              <a:rPr sz="1000" b="0" i="0">
                <a:solidFill>
                  <a:srgbClr val="5E6E66"/>
                </a:solidFill>
                <a:latin typeface="Calibri"/>
              </a:rPr>
              <a:t>7</a:t>
            </a:r>
          </a:p>
        </p:txBody>
      </p:sp>
      <p:graphicFrame>
        <p:nvGraphicFramePr>
          <p:cNvPr id="31" name="Table 30"/>
          <p:cNvGraphicFramePr>
            <a:graphicFrameLocks noGrp="1"/>
          </p:cNvGraphicFramePr>
          <p:nvPr/>
        </p:nvGraphicFramePr>
        <p:xfrm>
          <a:off x="457200" y="2395728"/>
          <a:ext cx="11274552" cy="3822192"/>
        </p:xfrm>
        <a:graphic>
          <a:graphicData uri="http://schemas.openxmlformats.org/drawingml/2006/table">
            <a:tbl>
              <a:tblPr firstRow="1">
                <a:tableStyleId>{5C22544A-7EE6-4342-B048-85BDC9FD1C3A}</a:tableStyleId>
              </a:tblPr>
              <a:tblGrid>
                <a:gridCol w="2103120"/>
                <a:gridCol w="3246120"/>
                <a:gridCol w="4663440"/>
                <a:gridCol w="1261872"/>
              </a:tblGrid>
              <a:tr h="347472">
                <a:tc>
                  <a:txBody>
                    <a:bodyPr wrap="square"/>
                    <a:lstStyle/>
                    <a:p>
                      <a:pPr algn="l">
                        <a:spcAft>
                          <a:spcPts val="0"/>
                        </a:spcAft>
                      </a:pPr>
                      <a:r>
                        <a:rPr sz="1150" b="1" i="0">
                          <a:solidFill>
                            <a:srgbClr val="FFFFFF"/>
                          </a:solidFill>
                          <a:latin typeface="Calibri"/>
                        </a:rPr>
                        <a:t>Méthode</a:t>
                      </a:r>
                    </a:p>
                  </a:txBody>
                  <a:tcPr marL="73152" marR="73152" marT="36576" marB="36576" anchor="ctr">
                    <a:solidFill>
                      <a:srgbClr val="17332A"/>
                    </a:solidFill>
                  </a:tcPr>
                </a:tc>
                <a:tc>
                  <a:txBody>
                    <a:bodyPr wrap="square"/>
                    <a:lstStyle/>
                    <a:p>
                      <a:pPr algn="l">
                        <a:spcAft>
                          <a:spcPts val="0"/>
                        </a:spcAft>
                      </a:pPr>
                      <a:r>
                        <a:rPr sz="1150" b="1" i="0">
                          <a:solidFill>
                            <a:srgbClr val="FFFFFF"/>
                          </a:solidFill>
                          <a:latin typeface="Calibri"/>
                        </a:rPr>
                        <a:t>Choix de w</a:t>
                      </a:r>
                    </a:p>
                  </a:txBody>
                  <a:tcPr marL="73152" marR="73152" marT="36576" marB="36576" anchor="ctr">
                    <a:solidFill>
                      <a:srgbClr val="17332A"/>
                    </a:solidFill>
                  </a:tcPr>
                </a:tc>
                <a:tc>
                  <a:txBody>
                    <a:bodyPr wrap="square"/>
                    <a:lstStyle/>
                    <a:p>
                      <a:pPr algn="l">
                        <a:spcAft>
                          <a:spcPts val="0"/>
                        </a:spcAft>
                      </a:pPr>
                      <a:r>
                        <a:rPr sz="1150" b="1" i="0">
                          <a:solidFill>
                            <a:srgbClr val="FFFFFF"/>
                          </a:solidFill>
                          <a:latin typeface="Calibri"/>
                        </a:rPr>
                        <a:t>Intérêt ou limite</a:t>
                      </a:r>
                    </a:p>
                  </a:txBody>
                  <a:tcPr marL="73152" marR="73152" marT="36576" marB="36576" anchor="ctr">
                    <a:solidFill>
                      <a:srgbClr val="17332A"/>
                    </a:solidFill>
                  </a:tcPr>
                </a:tc>
                <a:tc>
                  <a:txBody>
                    <a:bodyPr wrap="square"/>
                    <a:lstStyle/>
                    <a:p>
                      <a:pPr algn="l">
                        <a:spcAft>
                          <a:spcPts val="0"/>
                        </a:spcAft>
                      </a:pPr>
                      <a:r>
                        <a:rPr sz="1150" b="1" i="0">
                          <a:solidFill>
                            <a:srgbClr val="FFFFFF"/>
                          </a:solidFill>
                          <a:latin typeface="Calibri"/>
                        </a:rPr>
                        <a:t>Statut</a:t>
                      </a:r>
                    </a:p>
                  </a:txBody>
                  <a:tcPr marL="73152" marR="73152" marT="36576" marB="36576" anchor="ctr">
                    <a:solidFill>
                      <a:srgbClr val="17332A"/>
                    </a:solidFill>
                  </a:tcPr>
                </a:tc>
              </a:tr>
              <a:tr h="347472">
                <a:tc>
                  <a:txBody>
                    <a:bodyPr wrap="square"/>
                    <a:lstStyle/>
                    <a:p>
                      <a:pPr algn="l">
                        <a:spcAft>
                          <a:spcPts val="0"/>
                        </a:spcAft>
                      </a:pPr>
                      <a:r>
                        <a:rPr sz="1100" b="1" i="0">
                          <a:solidFill>
                            <a:srgbClr val="17332A"/>
                          </a:solidFill>
                          <a:latin typeface="Calibri"/>
                        </a:rPr>
                        <a:t>Recherche par l'exemple</a:t>
                      </a:r>
                    </a:p>
                  </a:txBody>
                  <a:tcPr marL="73152" marR="73152" marT="36576" marB="36576" anchor="ctr">
                    <a:solidFill>
                      <a:srgbClr val="F4F8F5"/>
                    </a:solidFill>
                  </a:tcPr>
                </a:tc>
                <a:tc>
                  <a:txBody>
                    <a:bodyPr wrap="square"/>
                    <a:lstStyle/>
                    <a:p>
                      <a:pPr algn="l">
                        <a:spcAft>
                          <a:spcPts val="0"/>
                        </a:spcAft>
                      </a:pPr>
                      <a:r>
                        <a:rPr sz="1100" b="0" i="0">
                          <a:solidFill>
                            <a:srgbClr val="1C2B24"/>
                          </a:solidFill>
                          <a:latin typeface="Calibri"/>
                        </a:rPr>
                        <a:t>Embedding d'une fenêtre de référence (kNN)</a:t>
                      </a:r>
                    </a:p>
                  </a:txBody>
                  <a:tcPr marL="73152" marR="73152" marT="36576" marB="36576" anchor="ctr">
                    <a:solidFill>
                      <a:srgbClr val="F4F8F5"/>
                    </a:solidFill>
                  </a:tcPr>
                </a:tc>
                <a:tc>
                  <a:txBody>
                    <a:bodyPr wrap="square"/>
                    <a:lstStyle/>
                    <a:p>
                      <a:pPr algn="l">
                        <a:spcAft>
                          <a:spcPts val="0"/>
                        </a:spcAft>
                      </a:pPr>
                      <a:r>
                        <a:rPr sz="1100" b="0" i="0">
                          <a:solidFill>
                            <a:srgbClr val="1C2B24"/>
                          </a:solidFill>
                          <a:latin typeface="Calibri"/>
                        </a:rPr>
                        <a:t>Aucun entraînement ; amorce un nouveau site</a:t>
                      </a:r>
                    </a:p>
                  </a:txBody>
                  <a:tcPr marL="73152" marR="73152" marT="36576" marB="36576" anchor="ctr">
                    <a:solidFill>
                      <a:srgbClr val="F4F8F5"/>
                    </a:solidFill>
                  </a:tcPr>
                </a:tc>
                <a:tc>
                  <a:txBody>
                    <a:bodyPr wrap="square"/>
                    <a:lstStyle/>
                    <a:p>
                      <a:pPr algn="l">
                        <a:spcAft>
                          <a:spcPts val="0"/>
                        </a:spcAft>
                      </a:pPr>
                      <a:r>
                        <a:rPr sz="1100" b="1" i="0">
                          <a:solidFill>
                            <a:srgbClr val="C9780E"/>
                          </a:solidFill>
                          <a:latin typeface="Calibri"/>
                        </a:rPr>
                        <a:t>● À comparer</a:t>
                      </a:r>
                    </a:p>
                  </a:txBody>
                  <a:tcPr marL="73152" marR="73152" marT="36576" marB="36576" anchor="ctr">
                    <a:solidFill>
                      <a:srgbClr val="F4F8F5"/>
                    </a:solidFill>
                  </a:tcPr>
                </a:tc>
              </a:tr>
              <a:tr h="347472">
                <a:tc>
                  <a:txBody>
                    <a:bodyPr wrap="square"/>
                    <a:lstStyle/>
                    <a:p>
                      <a:pPr algn="l">
                        <a:spcAft>
                          <a:spcPts val="0"/>
                        </a:spcAft>
                      </a:pPr>
                      <a:r>
                        <a:rPr sz="1100" b="1" i="0">
                          <a:solidFill>
                            <a:srgbClr val="17332A"/>
                          </a:solidFill>
                          <a:latin typeface="Calibri"/>
                        </a:rPr>
                        <a:t>Prototype simple</a:t>
                      </a:r>
                    </a:p>
                  </a:txBody>
                  <a:tcPr marL="73152" marR="73152" marT="36576" marB="36576" anchor="ctr">
                    <a:solidFill>
                      <a:srgbClr val="FFFFFF"/>
                    </a:solidFill>
                  </a:tcPr>
                </a:tc>
                <a:tc>
                  <a:txBody>
                    <a:bodyPr wrap="square"/>
                    <a:lstStyle/>
                    <a:p>
                      <a:pPr algn="l">
                        <a:spcAft>
                          <a:spcPts val="0"/>
                        </a:spcAft>
                      </a:pPr>
                      <a:r>
                        <a:rPr sz="1100" b="0" i="0">
                          <a:solidFill>
                            <a:srgbClr val="1C2B24"/>
                          </a:solidFill>
                          <a:latin typeface="Calibri"/>
                        </a:rPr>
                        <a:t>w = μ₊, moyenne des positifs</a:t>
                      </a:r>
                    </a:p>
                  </a:txBody>
                  <a:tcPr marL="73152" marR="73152" marT="36576" marB="36576" anchor="ctr">
                    <a:solidFill>
                      <a:srgbClr val="FFFFFF"/>
                    </a:solidFill>
                  </a:tcPr>
                </a:tc>
                <a:tc>
                  <a:txBody>
                    <a:bodyPr wrap="square"/>
                    <a:lstStyle/>
                    <a:p>
                      <a:pPr algn="l">
                        <a:spcAft>
                          <a:spcPts val="0"/>
                        </a:spcAft>
                      </a:pPr>
                      <a:r>
                        <a:rPr sz="1100" b="0" i="0">
                          <a:solidFill>
                            <a:srgbClr val="1C2B24"/>
                          </a:solidFill>
                          <a:latin typeface="Calibri"/>
                        </a:rPr>
                        <a:t>Baseline de similarité</a:t>
                      </a:r>
                    </a:p>
                  </a:txBody>
                  <a:tcPr marL="73152" marR="73152" marT="36576" marB="36576" anchor="ctr">
                    <a:solidFill>
                      <a:srgbClr val="FFFFFF"/>
                    </a:solidFill>
                  </a:tcPr>
                </a:tc>
                <a:tc>
                  <a:txBody>
                    <a:bodyPr wrap="square"/>
                    <a:lstStyle/>
                    <a:p>
                      <a:pPr algn="l">
                        <a:spcAft>
                          <a:spcPts val="0"/>
                        </a:spcAft>
                      </a:pPr>
                      <a:r>
                        <a:rPr sz="1100" b="1" i="0">
                          <a:solidFill>
                            <a:srgbClr val="2F8F5B"/>
                          </a:solidFill>
                          <a:latin typeface="Calibri"/>
                        </a:rPr>
                        <a:t>● Retenu</a:t>
                      </a:r>
                    </a:p>
                  </a:txBody>
                  <a:tcPr marL="73152" marR="73152" marT="36576" marB="36576" anchor="ctr">
                    <a:solidFill>
                      <a:srgbClr val="FFFFFF"/>
                    </a:solidFill>
                  </a:tcPr>
                </a:tc>
              </a:tr>
              <a:tr h="347472">
                <a:tc>
                  <a:txBody>
                    <a:bodyPr wrap="square"/>
                    <a:lstStyle/>
                    <a:p>
                      <a:pPr algn="l">
                        <a:spcAft>
                          <a:spcPts val="0"/>
                        </a:spcAft>
                      </a:pPr>
                      <a:r>
                        <a:rPr sz="1100" b="1" i="0">
                          <a:solidFill>
                            <a:srgbClr val="17332A"/>
                          </a:solidFill>
                          <a:latin typeface="Calibri"/>
                        </a:rPr>
                        <a:t>Prototype différentiel</a:t>
                      </a:r>
                    </a:p>
                  </a:txBody>
                  <a:tcPr marL="73152" marR="73152" marT="36576" marB="36576" anchor="ctr">
                    <a:solidFill>
                      <a:srgbClr val="F4F8F5"/>
                    </a:solidFill>
                  </a:tcPr>
                </a:tc>
                <a:tc>
                  <a:txBody>
                    <a:bodyPr wrap="square"/>
                    <a:lstStyle/>
                    <a:p>
                      <a:pPr algn="l">
                        <a:spcAft>
                          <a:spcPts val="0"/>
                        </a:spcAft>
                      </a:pPr>
                      <a:r>
                        <a:rPr sz="1100" b="0" i="0">
                          <a:solidFill>
                            <a:srgbClr val="1C2B24"/>
                          </a:solidFill>
                          <a:latin typeface="Calibri"/>
                        </a:rPr>
                        <a:t>w = μ₊ − μ₋, négatifs appariés</a:t>
                      </a:r>
                    </a:p>
                  </a:txBody>
                  <a:tcPr marL="73152" marR="73152" marT="36576" marB="36576" anchor="ctr">
                    <a:solidFill>
                      <a:srgbClr val="F4F8F5"/>
                    </a:solidFill>
                  </a:tcPr>
                </a:tc>
                <a:tc>
                  <a:txBody>
                    <a:bodyPr wrap="square"/>
                    <a:lstStyle/>
                    <a:p>
                      <a:pPr algn="l">
                        <a:spcAft>
                          <a:spcPts val="0"/>
                        </a:spcAft>
                      </a:pPr>
                      <a:r>
                        <a:rPr sz="1100" b="0" i="0">
                          <a:solidFill>
                            <a:srgbClr val="1C2B24"/>
                          </a:solidFill>
                          <a:latin typeface="Calibri"/>
                        </a:rPr>
                        <a:t>Retire le fond du site ; son écart au prototype simple mesure le fond capté</a:t>
                      </a:r>
                    </a:p>
                  </a:txBody>
                  <a:tcPr marL="73152" marR="73152" marT="36576" marB="36576" anchor="ctr">
                    <a:solidFill>
                      <a:srgbClr val="F4F8F5"/>
                    </a:solidFill>
                  </a:tcPr>
                </a:tc>
                <a:tc>
                  <a:txBody>
                    <a:bodyPr wrap="square"/>
                    <a:lstStyle/>
                    <a:p>
                      <a:pPr algn="l">
                        <a:spcAft>
                          <a:spcPts val="0"/>
                        </a:spcAft>
                      </a:pPr>
                      <a:r>
                        <a:rPr sz="1100" b="1" i="0">
                          <a:solidFill>
                            <a:srgbClr val="2F8F5B"/>
                          </a:solidFill>
                          <a:latin typeface="Calibri"/>
                        </a:rPr>
                        <a:t>● Retenu</a:t>
                      </a:r>
                    </a:p>
                  </a:txBody>
                  <a:tcPr marL="73152" marR="73152" marT="36576" marB="36576" anchor="ctr">
                    <a:solidFill>
                      <a:srgbClr val="F4F8F5"/>
                    </a:solidFill>
                  </a:tcPr>
                </a:tc>
              </a:tr>
              <a:tr h="347472">
                <a:tc>
                  <a:txBody>
                    <a:bodyPr wrap="square"/>
                    <a:lstStyle/>
                    <a:p>
                      <a:pPr algn="l">
                        <a:spcAft>
                          <a:spcPts val="0"/>
                        </a:spcAft>
                      </a:pPr>
                      <a:r>
                        <a:rPr sz="1100" b="1" i="0">
                          <a:solidFill>
                            <a:srgbClr val="17332A"/>
                          </a:solidFill>
                          <a:latin typeface="Calibri"/>
                        </a:rPr>
                        <a:t>Linear probe</a:t>
                      </a:r>
                    </a:p>
                  </a:txBody>
                  <a:tcPr marL="73152" marR="73152" marT="36576" marB="36576" anchor="ctr">
                    <a:solidFill>
                      <a:srgbClr val="FFFFFF"/>
                    </a:solidFill>
                  </a:tcPr>
                </a:tc>
                <a:tc>
                  <a:txBody>
                    <a:bodyPr wrap="square"/>
                    <a:lstStyle/>
                    <a:p>
                      <a:pPr algn="l">
                        <a:spcAft>
                          <a:spcPts val="0"/>
                        </a:spcAft>
                      </a:pPr>
                      <a:r>
                        <a:rPr sz="1100" b="0" i="0">
                          <a:solidFill>
                            <a:srgbClr val="1C2B24"/>
                          </a:solidFill>
                          <a:latin typeface="Calibri"/>
                        </a:rPr>
                        <a:t>Appris (régression logistique) ; pooling moyenne, max ou mixte</a:t>
                      </a:r>
                    </a:p>
                  </a:txBody>
                  <a:tcPr marL="73152" marR="73152" marT="36576" marB="36576" anchor="ctr">
                    <a:solidFill>
                      <a:srgbClr val="FFFFFF"/>
                    </a:solidFill>
                  </a:tcPr>
                </a:tc>
                <a:tc>
                  <a:txBody>
                    <a:bodyPr wrap="square"/>
                    <a:lstStyle/>
                    <a:p>
                      <a:pPr algn="l">
                        <a:spcAft>
                          <a:spcPts val="0"/>
                        </a:spcAft>
                      </a:pPr>
                      <a:r>
                        <a:rPr sz="1100" b="0" i="0">
                          <a:solidFill>
                            <a:srgbClr val="1C2B24"/>
                          </a:solidFill>
                          <a:latin typeface="Calibri"/>
                        </a:rPr>
                        <a:t>Tient compte de la covariance ; risque de coller au site</a:t>
                      </a:r>
                    </a:p>
                  </a:txBody>
                  <a:tcPr marL="73152" marR="73152" marT="36576" marB="36576" anchor="ctr">
                    <a:solidFill>
                      <a:srgbClr val="FFFFFF"/>
                    </a:solidFill>
                  </a:tcPr>
                </a:tc>
                <a:tc>
                  <a:txBody>
                    <a:bodyPr wrap="square"/>
                    <a:lstStyle/>
                    <a:p>
                      <a:pPr algn="l">
                        <a:spcAft>
                          <a:spcPts val="0"/>
                        </a:spcAft>
                      </a:pPr>
                      <a:r>
                        <a:rPr sz="1100" b="1" i="0">
                          <a:solidFill>
                            <a:srgbClr val="C9780E"/>
                          </a:solidFill>
                          <a:latin typeface="Calibri"/>
                        </a:rPr>
                        <a:t>● À comparer</a:t>
                      </a:r>
                    </a:p>
                  </a:txBody>
                  <a:tcPr marL="73152" marR="73152" marT="36576" marB="36576" anchor="ctr">
                    <a:solidFill>
                      <a:srgbClr val="FFFFFF"/>
                    </a:solidFill>
                  </a:tcPr>
                </a:tc>
              </a:tr>
              <a:tr h="347472">
                <a:tc>
                  <a:txBody>
                    <a:bodyPr wrap="square"/>
                    <a:lstStyle/>
                    <a:p>
                      <a:pPr algn="l">
                        <a:spcAft>
                          <a:spcPts val="0"/>
                        </a:spcAft>
                      </a:pPr>
                      <a:r>
                        <a:rPr sz="1100" b="1" i="0">
                          <a:solidFill>
                            <a:srgbClr val="17332A"/>
                          </a:solidFill>
                          <a:latin typeface="Calibri"/>
                        </a:rPr>
                        <a:t>Attentive probe</a:t>
                      </a:r>
                    </a:p>
                  </a:txBody>
                  <a:tcPr marL="73152" marR="73152" marT="36576" marB="36576" anchor="ctr">
                    <a:solidFill>
                      <a:srgbClr val="F4F8F5"/>
                    </a:solidFill>
                  </a:tcPr>
                </a:tc>
                <a:tc>
                  <a:txBody>
                    <a:bodyPr wrap="square"/>
                    <a:lstStyle/>
                    <a:p>
                      <a:pPr algn="l">
                        <a:spcAft>
                          <a:spcPts val="0"/>
                        </a:spcAft>
                      </a:pPr>
                      <a:r>
                        <a:rPr sz="1100" b="0" i="0">
                          <a:solidFill>
                            <a:srgbClr val="1C2B24"/>
                          </a:solidFill>
                          <a:latin typeface="Calibri"/>
                        </a:rPr>
                        <a:t>Appris sur les tokens</a:t>
                      </a:r>
                    </a:p>
                  </a:txBody>
                  <a:tcPr marL="73152" marR="73152" marT="36576" marB="36576" anchor="ctr">
                    <a:solidFill>
                      <a:srgbClr val="F4F8F5"/>
                    </a:solidFill>
                  </a:tcPr>
                </a:tc>
                <a:tc>
                  <a:txBody>
                    <a:bodyPr wrap="square"/>
                    <a:lstStyle/>
                    <a:p>
                      <a:pPr algn="l">
                        <a:spcAft>
                          <a:spcPts val="0"/>
                        </a:spcAft>
                      </a:pPr>
                      <a:r>
                        <a:rPr sz="1100" b="0" i="0">
                          <a:solidFill>
                            <a:srgbClr val="1C2B24"/>
                          </a:solidFill>
                          <a:latin typeface="Calibri"/>
                        </a:rPr>
                        <a:t>Coûteux en mémoire ; seulement si les tokens sont accessibles</a:t>
                      </a:r>
                    </a:p>
                  </a:txBody>
                  <a:tcPr marL="73152" marR="73152" marT="36576" marB="36576" anchor="ctr">
                    <a:solidFill>
                      <a:srgbClr val="F4F8F5"/>
                    </a:solidFill>
                  </a:tcPr>
                </a:tc>
                <a:tc>
                  <a:txBody>
                    <a:bodyPr wrap="square"/>
                    <a:lstStyle/>
                    <a:p>
                      <a:pPr algn="l">
                        <a:spcAft>
                          <a:spcPts val="0"/>
                        </a:spcAft>
                      </a:pPr>
                      <a:r>
                        <a:rPr sz="1100" b="1" i="0">
                          <a:solidFill>
                            <a:srgbClr val="C9780E"/>
                          </a:solidFill>
                          <a:latin typeface="Calibri"/>
                        </a:rPr>
                        <a:t>● À comparer</a:t>
                      </a:r>
                    </a:p>
                  </a:txBody>
                  <a:tcPr marL="73152" marR="73152" marT="36576" marB="36576" anchor="ctr">
                    <a:solidFill>
                      <a:srgbClr val="F4F8F5"/>
                    </a:solidFill>
                  </a:tcPr>
                </a:tc>
              </a:tr>
              <a:tr h="347472">
                <a:tc>
                  <a:txBody>
                    <a:bodyPr wrap="square"/>
                    <a:lstStyle/>
                    <a:p>
                      <a:pPr algn="l">
                        <a:spcAft>
                          <a:spcPts val="0"/>
                        </a:spcAft>
                      </a:pPr>
                      <a:r>
                        <a:rPr sz="1100" b="1" i="0">
                          <a:solidFill>
                            <a:srgbClr val="17332A"/>
                          </a:solidFill>
                          <a:latin typeface="Calibri"/>
                        </a:rPr>
                        <a:t>Cascade</a:t>
                      </a:r>
                    </a:p>
                  </a:txBody>
                  <a:tcPr marL="73152" marR="73152" marT="36576" marB="36576" anchor="ctr">
                    <a:solidFill>
                      <a:srgbClr val="FFFFFF"/>
                    </a:solidFill>
                  </a:tcPr>
                </a:tc>
                <a:tc>
                  <a:txBody>
                    <a:bodyPr wrap="square"/>
                    <a:lstStyle/>
                    <a:p>
                      <a:pPr algn="l">
                        <a:spcAft>
                          <a:spcPts val="0"/>
                        </a:spcAft>
                      </a:pPr>
                      <a:r>
                        <a:rPr sz="1100" b="0" i="0">
                          <a:solidFill>
                            <a:srgbClr val="1C2B24"/>
                          </a:solidFill>
                          <a:latin typeface="Calibri"/>
                        </a:rPr>
                        <a:t>Linear probe, puis attentive sur les candidats</a:t>
                      </a:r>
                    </a:p>
                  </a:txBody>
                  <a:tcPr marL="73152" marR="73152" marT="36576" marB="36576" anchor="ctr">
                    <a:solidFill>
                      <a:srgbClr val="FFFFFF"/>
                    </a:solidFill>
                  </a:tcPr>
                </a:tc>
                <a:tc>
                  <a:txBody>
                    <a:bodyPr wrap="square"/>
                    <a:lstStyle/>
                    <a:p>
                      <a:pPr algn="l">
                        <a:spcAft>
                          <a:spcPts val="0"/>
                        </a:spcAft>
                      </a:pPr>
                      <a:r>
                        <a:rPr sz="1100" b="0" i="0">
                          <a:solidFill>
                            <a:srgbClr val="1C2B24"/>
                          </a:solidFill>
                          <a:latin typeface="Calibri"/>
                        </a:rPr>
                        <a:t>Contourne le coût mémoire</a:t>
                      </a:r>
                    </a:p>
                  </a:txBody>
                  <a:tcPr marL="73152" marR="73152" marT="36576" marB="36576" anchor="ctr">
                    <a:solidFill>
                      <a:srgbClr val="FFFFFF"/>
                    </a:solidFill>
                  </a:tcPr>
                </a:tc>
                <a:tc>
                  <a:txBody>
                    <a:bodyPr wrap="square"/>
                    <a:lstStyle/>
                    <a:p>
                      <a:pPr algn="l">
                        <a:spcAft>
                          <a:spcPts val="0"/>
                        </a:spcAft>
                      </a:pPr>
                      <a:r>
                        <a:rPr sz="1100" b="1" i="0">
                          <a:solidFill>
                            <a:srgbClr val="C9780E"/>
                          </a:solidFill>
                          <a:latin typeface="Calibri"/>
                        </a:rPr>
                        <a:t>● À comparer</a:t>
                      </a:r>
                    </a:p>
                  </a:txBody>
                  <a:tcPr marL="73152" marR="73152" marT="36576" marB="36576" anchor="ctr">
                    <a:solidFill>
                      <a:srgbClr val="FFFFFF"/>
                    </a:solidFill>
                  </a:tcPr>
                </a:tc>
              </a:tr>
              <a:tr h="347472">
                <a:tc>
                  <a:txBody>
                    <a:bodyPr wrap="square"/>
                    <a:lstStyle/>
                    <a:p>
                      <a:pPr algn="l">
                        <a:spcAft>
                          <a:spcPts val="0"/>
                        </a:spcAft>
                      </a:pPr>
                      <a:r>
                        <a:rPr sz="1100" b="1" i="0">
                          <a:solidFill>
                            <a:srgbClr val="17332A"/>
                          </a:solidFill>
                          <a:latin typeface="Calibri"/>
                        </a:rPr>
                        <a:t>Mécanisme propre au modèle</a:t>
                      </a:r>
                    </a:p>
                  </a:txBody>
                  <a:tcPr marL="73152" marR="73152" marT="36576" marB="36576" anchor="ctr">
                    <a:solidFill>
                      <a:srgbClr val="F4F8F5"/>
                    </a:solidFill>
                  </a:tcPr>
                </a:tc>
                <a:tc>
                  <a:txBody>
                    <a:bodyPr wrap="square"/>
                    <a:lstStyle/>
                    <a:p>
                      <a:pPr algn="l">
                        <a:spcAft>
                          <a:spcPts val="0"/>
                        </a:spcAft>
                      </a:pPr>
                      <a:r>
                        <a:rPr sz="1100" b="0" i="0">
                          <a:solidFill>
                            <a:srgbClr val="1C2B24"/>
                          </a:solidFill>
                          <a:latin typeface="Calibri"/>
                        </a:rPr>
                        <a:t>Attention ou pooling interne du modèle</a:t>
                      </a:r>
                    </a:p>
                  </a:txBody>
                  <a:tcPr marL="73152" marR="73152" marT="36576" marB="36576" anchor="ctr">
                    <a:solidFill>
                      <a:srgbClr val="F4F8F5"/>
                    </a:solidFill>
                  </a:tcPr>
                </a:tc>
                <a:tc>
                  <a:txBody>
                    <a:bodyPr wrap="square"/>
                    <a:lstStyle/>
                    <a:p>
                      <a:pPr algn="l">
                        <a:spcAft>
                          <a:spcPts val="0"/>
                        </a:spcAft>
                      </a:pPr>
                      <a:r>
                        <a:rPr sz="1100" b="0" i="0">
                          <a:solidFill>
                            <a:srgbClr val="1C2B24"/>
                          </a:solidFill>
                          <a:latin typeface="Calibri"/>
                        </a:rPr>
                        <a:t>Garder une tête au-dessus, ou prendre les tokens avant ? (diapo suivante)</a:t>
                      </a:r>
                    </a:p>
                  </a:txBody>
                  <a:tcPr marL="73152" marR="73152" marT="36576" marB="36576" anchor="ctr">
                    <a:solidFill>
                      <a:srgbClr val="F4F8F5"/>
                    </a:solidFill>
                  </a:tcPr>
                </a:tc>
                <a:tc>
                  <a:txBody>
                    <a:bodyPr wrap="square"/>
                    <a:lstStyle/>
                    <a:p>
                      <a:pPr algn="l">
                        <a:spcAft>
                          <a:spcPts val="0"/>
                        </a:spcAft>
                      </a:pPr>
                      <a:r>
                        <a:rPr sz="1100" b="1" i="0">
                          <a:solidFill>
                            <a:srgbClr val="C0492F"/>
                          </a:solidFill>
                          <a:latin typeface="Calibri"/>
                        </a:rPr>
                        <a:t>● À trancher</a:t>
                      </a:r>
                    </a:p>
                  </a:txBody>
                  <a:tcPr marL="73152" marR="73152" marT="36576" marB="36576" anchor="ctr">
                    <a:solidFill>
                      <a:srgbClr val="F4F8F5"/>
                    </a:solidFill>
                  </a:tcPr>
                </a:tc>
              </a:tr>
              <a:tr h="347472">
                <a:tc>
                  <a:txBody>
                    <a:bodyPr wrap="square"/>
                    <a:lstStyle/>
                    <a:p>
                      <a:pPr algn="l">
                        <a:spcAft>
                          <a:spcPts val="0"/>
                        </a:spcAft>
                      </a:pPr>
                      <a:r>
                        <a:rPr sz="1100" b="1" i="0">
                          <a:solidFill>
                            <a:srgbClr val="17332A"/>
                          </a:solidFill>
                          <a:latin typeface="Calibri"/>
                        </a:rPr>
                        <a:t>Wrapper bacpipe</a:t>
                      </a:r>
                    </a:p>
                  </a:txBody>
                  <a:tcPr marL="73152" marR="73152" marT="36576" marB="36576" anchor="ctr">
                    <a:solidFill>
                      <a:srgbClr val="FFFFFF"/>
                    </a:solidFill>
                  </a:tcPr>
                </a:tc>
                <a:tc>
                  <a:txBody>
                    <a:bodyPr wrap="square"/>
                    <a:lstStyle/>
                    <a:p>
                      <a:pPr algn="l">
                        <a:spcAft>
                          <a:spcPts val="0"/>
                        </a:spcAft>
                      </a:pPr>
                      <a:r>
                        <a:rPr sz="1100" b="0" i="0">
                          <a:solidFill>
                            <a:srgbClr val="1C2B24"/>
                          </a:solidFill>
                          <a:latin typeface="Calibri"/>
                        </a:rPr>
                        <a:t>Outil de bacpipe</a:t>
                      </a:r>
                    </a:p>
                  </a:txBody>
                  <a:tcPr marL="73152" marR="73152" marT="36576" marB="36576" anchor="ctr">
                    <a:solidFill>
                      <a:srgbClr val="FFFFFF"/>
                    </a:solidFill>
                  </a:tcPr>
                </a:tc>
                <a:tc>
                  <a:txBody>
                    <a:bodyPr wrap="square"/>
                    <a:lstStyle/>
                    <a:p>
                      <a:pPr algn="l">
                        <a:spcAft>
                          <a:spcPts val="0"/>
                        </a:spcAft>
                      </a:pPr>
                      <a:r>
                        <a:rPr sz="1100" b="0" i="0">
                          <a:solidFill>
                            <a:srgbClr val="1C2B24"/>
                          </a:solidFill>
                          <a:latin typeface="Calibri"/>
                        </a:rPr>
                        <a:t>À explorer</a:t>
                      </a:r>
                    </a:p>
                  </a:txBody>
                  <a:tcPr marL="73152" marR="73152" marT="36576" marB="36576" anchor="ctr">
                    <a:solidFill>
                      <a:srgbClr val="FFFFFF"/>
                    </a:solidFill>
                  </a:tcPr>
                </a:tc>
                <a:tc>
                  <a:txBody>
                    <a:bodyPr wrap="square"/>
                    <a:lstStyle/>
                    <a:p>
                      <a:pPr algn="l">
                        <a:spcAft>
                          <a:spcPts val="0"/>
                        </a:spcAft>
                      </a:pPr>
                      <a:r>
                        <a:rPr sz="1100" b="1" i="0">
                          <a:solidFill>
                            <a:srgbClr val="3E7CB1"/>
                          </a:solidFill>
                          <a:latin typeface="Calibri"/>
                        </a:rPr>
                        <a:t>● À essayer</a:t>
                      </a:r>
                    </a:p>
                  </a:txBody>
                  <a:tcPr marL="73152" marR="73152" marT="36576" marB="36576" anchor="ctr">
                    <a:solidFill>
                      <a:srgbClr val="FFFFFF"/>
                    </a:solidFill>
                  </a:tcPr>
                </a:tc>
              </a:tr>
              <a:tr h="347472">
                <a:tc>
                  <a:txBody>
                    <a:bodyPr wrap="square"/>
                    <a:lstStyle/>
                    <a:p>
                      <a:pPr algn="l">
                        <a:spcAft>
                          <a:spcPts val="0"/>
                        </a:spcAft>
                      </a:pPr>
                      <a:r>
                        <a:rPr sz="1100" b="1" i="0">
                          <a:solidFill>
                            <a:srgbClr val="17332A"/>
                          </a:solidFill>
                          <a:latin typeface="Calibri"/>
                        </a:rPr>
                        <a:t>LoRA / fine-tuning</a:t>
                      </a:r>
                    </a:p>
                  </a:txBody>
                  <a:tcPr marL="73152" marR="73152" marT="36576" marB="36576" anchor="ctr">
                    <a:solidFill>
                      <a:srgbClr val="F4F8F5"/>
                    </a:solidFill>
                  </a:tcPr>
                </a:tc>
                <a:tc>
                  <a:txBody>
                    <a:bodyPr wrap="square"/>
                    <a:lstStyle/>
                    <a:p>
                      <a:pPr algn="l">
                        <a:spcAft>
                          <a:spcPts val="0"/>
                        </a:spcAft>
                      </a:pPr>
                      <a:r>
                        <a:rPr sz="1100" b="0" i="0">
                          <a:solidFill>
                            <a:srgbClr val="1C2B24"/>
                          </a:solidFill>
                          <a:latin typeface="Calibri"/>
                        </a:rPr>
                        <a:t>Adapter l'encodeur lui-même</a:t>
                      </a:r>
                    </a:p>
                  </a:txBody>
                  <a:tcPr marL="73152" marR="73152" marT="36576" marB="36576" anchor="ctr">
                    <a:solidFill>
                      <a:srgbClr val="F4F8F5"/>
                    </a:solidFill>
                  </a:tcPr>
                </a:tc>
                <a:tc>
                  <a:txBody>
                    <a:bodyPr wrap="square"/>
                    <a:lstStyle/>
                    <a:p>
                      <a:pPr algn="l">
                        <a:spcAft>
                          <a:spcPts val="0"/>
                        </a:spcAft>
                      </a:pPr>
                      <a:r>
                        <a:rPr sz="1100" b="0" i="0">
                          <a:solidFill>
                            <a:srgbClr val="1C2B24"/>
                          </a:solidFill>
                          <a:latin typeface="Calibri"/>
                        </a:rPr>
                        <a:t>Demande beaucoup de labels ; risque de sur-apprentissage au site</a:t>
                      </a:r>
                    </a:p>
                  </a:txBody>
                  <a:tcPr marL="73152" marR="73152" marT="36576" marB="36576" anchor="ctr">
                    <a:solidFill>
                      <a:srgbClr val="F4F8F5"/>
                    </a:solidFill>
                  </a:tcPr>
                </a:tc>
                <a:tc>
                  <a:txBody>
                    <a:bodyPr wrap="square"/>
                    <a:lstStyle/>
                    <a:p>
                      <a:pPr algn="l">
                        <a:spcAft>
                          <a:spcPts val="0"/>
                        </a:spcAft>
                      </a:pPr>
                      <a:r>
                        <a:rPr sz="1100" b="1" i="0">
                          <a:solidFill>
                            <a:srgbClr val="7D8983"/>
                          </a:solidFill>
                          <a:latin typeface="Calibri"/>
                        </a:rPr>
                        <a:t>● Plus tard</a:t>
                      </a:r>
                    </a:p>
                  </a:txBody>
                  <a:tcPr marL="73152" marR="73152" marT="36576" marB="36576" anchor="ctr">
                    <a:solidFill>
                      <a:srgbClr val="F4F8F5"/>
                    </a:solidFill>
                  </a:tcPr>
                </a:tc>
              </a:tr>
              <a:tr h="347472">
                <a:tc>
                  <a:txBody>
                    <a:bodyPr wrap="square"/>
                    <a:lstStyle/>
                    <a:p>
                      <a:pPr algn="l">
                        <a:spcAft>
                          <a:spcPts val="0"/>
                        </a:spcAft>
                      </a:pPr>
                      <a:r>
                        <a:rPr sz="1100" b="1" i="0">
                          <a:solidFill>
                            <a:srgbClr val="17332A"/>
                          </a:solidFill>
                          <a:latin typeface="Calibri"/>
                        </a:rPr>
                        <a:t>Distillation</a:t>
                      </a:r>
                    </a:p>
                  </a:txBody>
                  <a:tcPr marL="73152" marR="73152" marT="36576" marB="36576" anchor="ctr">
                    <a:solidFill>
                      <a:srgbClr val="FFFFFF"/>
                    </a:solidFill>
                  </a:tcPr>
                </a:tc>
                <a:tc>
                  <a:txBody>
                    <a:bodyPr wrap="square"/>
                    <a:lstStyle/>
                    <a:p>
                      <a:pPr algn="l">
                        <a:spcAft>
                          <a:spcPts val="0"/>
                        </a:spcAft>
                      </a:pPr>
                      <a:r>
                        <a:rPr sz="1100" b="0" i="0">
                          <a:solidFill>
                            <a:srgbClr val="1C2B24"/>
                          </a:solidFill>
                          <a:latin typeface="Calibri"/>
                        </a:rPr>
                        <a:t>Petit réseau qui imite le pipeline</a:t>
                      </a:r>
                    </a:p>
                  </a:txBody>
                  <a:tcPr marL="73152" marR="73152" marT="36576" marB="36576" anchor="ctr">
                    <a:solidFill>
                      <a:srgbClr val="FFFFFF"/>
                    </a:solidFill>
                  </a:tcPr>
                </a:tc>
                <a:tc>
                  <a:txBody>
                    <a:bodyPr wrap="square"/>
                    <a:lstStyle/>
                    <a:p>
                      <a:pPr algn="l">
                        <a:spcAft>
                          <a:spcPts val="0"/>
                        </a:spcAft>
                      </a:pPr>
                      <a:r>
                        <a:rPr sz="1100" b="0" i="0">
                          <a:solidFill>
                            <a:srgbClr val="1C2B24"/>
                          </a:solidFill>
                          <a:latin typeface="Calibri"/>
                        </a:rPr>
                        <a:t>Livrable léger pour l'i5</a:t>
                      </a:r>
                    </a:p>
                  </a:txBody>
                  <a:tcPr marL="73152" marR="73152" marT="36576" marB="36576" anchor="ctr">
                    <a:solidFill>
                      <a:srgbClr val="FFFFFF"/>
                    </a:solidFill>
                  </a:tcPr>
                </a:tc>
                <a:tc>
                  <a:txBody>
                    <a:bodyPr wrap="square"/>
                    <a:lstStyle/>
                    <a:p>
                      <a:pPr algn="l">
                        <a:spcAft>
                          <a:spcPts val="0"/>
                        </a:spcAft>
                      </a:pPr>
                      <a:r>
                        <a:rPr sz="1100" b="1" i="0">
                          <a:solidFill>
                            <a:srgbClr val="7D8983"/>
                          </a:solidFill>
                          <a:latin typeface="Calibri"/>
                        </a:rPr>
                        <a:t>● Plus tard</a:t>
                      </a:r>
                    </a:p>
                  </a:txBody>
                  <a:tcPr marL="73152" marR="73152" marT="36576" marB="36576" anchor="ctr">
                    <a:solidFill>
                      <a:srgbClr val="FFFFFF"/>
                    </a:solidFill>
                  </a:tcPr>
                </a:tc>
              </a:tr>
            </a:tbl>
          </a:graphicData>
        </a:graphic>
      </p:graphicFrame>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8229600" cy="256032"/>
          </a:xfrm>
          <a:prstGeom prst="rect">
            <a:avLst/>
          </a:prstGeom>
          <a:noFill/>
        </p:spPr>
        <p:txBody>
          <a:bodyPr wrap="square" anchor="t" lIns="0" rIns="0" tIns="0" bIns="0">
            <a:spAutoFit/>
          </a:bodyPr>
          <a:lstStyle/>
          <a:p>
            <a:pPr algn="l">
              <a:spcAft>
                <a:spcPts val="400"/>
              </a:spcAft>
            </a:pPr>
            <a:r>
              <a:rPr sz="1100" b="1" i="0">
                <a:solidFill>
                  <a:srgbClr val="9A5A06"/>
                </a:solidFill>
                <a:latin typeface="Calibri"/>
              </a:rPr>
              <a:t>PIPELINE · ÉTAPE 4</a:t>
            </a:r>
          </a:p>
        </p:txBody>
      </p:sp>
      <p:sp>
        <p:nvSpPr>
          <p:cNvPr id="3" name="TextBox 2"/>
          <p:cNvSpPr txBox="1"/>
          <p:nvPr/>
        </p:nvSpPr>
        <p:spPr>
          <a:xfrm>
            <a:off x="457200" y="493776"/>
            <a:ext cx="11274552" cy="548640"/>
          </a:xfrm>
          <a:prstGeom prst="rect">
            <a:avLst/>
          </a:prstGeom>
          <a:noFill/>
        </p:spPr>
        <p:txBody>
          <a:bodyPr wrap="square" anchor="t" lIns="0" rIns="0" tIns="0" bIns="0">
            <a:spAutoFit/>
          </a:bodyPr>
          <a:lstStyle/>
          <a:p>
            <a:pPr algn="l">
              <a:spcAft>
                <a:spcPts val="400"/>
              </a:spcAft>
            </a:pPr>
            <a:r>
              <a:rPr sz="2600" b="1" i="0">
                <a:solidFill>
                  <a:srgbClr val="17332A"/>
                </a:solidFill>
                <a:latin typeface="Cambria"/>
              </a:rPr>
              <a:t>Head : ce que le benchmark doit nous dire</a:t>
            </a:r>
          </a:p>
        </p:txBody>
      </p:sp>
      <p:cxnSp>
        <p:nvCxnSpPr>
          <p:cNvPr id="4" name="Connector 3"/>
          <p:cNvCxnSpPr/>
          <p:nvPr/>
        </p:nvCxnSpPr>
        <p:spPr>
          <a:xfrm>
            <a:off x="1591056" y="1472184"/>
            <a:ext cx="315206" cy="0"/>
          </a:xfrm>
          <a:prstGeom prst="line">
            <a:avLst/>
          </a:prstGeom>
          <a:ln w="15875">
            <a:solidFill>
              <a:srgbClr val="9DB3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3040118" y="1472184"/>
            <a:ext cx="157604" cy="0"/>
          </a:xfrm>
          <a:prstGeom prst="line">
            <a:avLst/>
          </a:prstGeom>
          <a:ln w="15875">
            <a:solidFill>
              <a:srgbClr val="9DB3A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197722" y="1271016"/>
            <a:ext cx="0" cy="402336"/>
          </a:xfrm>
          <a:prstGeom prst="line">
            <a:avLst/>
          </a:prstGeom>
          <a:ln w="15875">
            <a:solidFill>
              <a:srgbClr val="9DB3A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3197722" y="1271016"/>
            <a:ext cx="157603" cy="0"/>
          </a:xfrm>
          <a:prstGeom prst="line">
            <a:avLst/>
          </a:prstGeom>
          <a:ln w="15875">
            <a:solidFill>
              <a:srgbClr val="9DB3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3197722" y="1673352"/>
            <a:ext cx="157603" cy="0"/>
          </a:xfrm>
          <a:prstGeom prst="line">
            <a:avLst/>
          </a:prstGeom>
          <a:ln w="15875">
            <a:solidFill>
              <a:srgbClr val="9DB3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489181" y="1271016"/>
            <a:ext cx="315207" cy="0"/>
          </a:xfrm>
          <a:prstGeom prst="line">
            <a:avLst/>
          </a:prstGeom>
          <a:ln w="15875">
            <a:solidFill>
              <a:srgbClr val="9DB3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938244" y="1271016"/>
            <a:ext cx="157603" cy="0"/>
          </a:xfrm>
          <a:prstGeom prst="line">
            <a:avLst/>
          </a:prstGeom>
          <a:ln w="15875">
            <a:solidFill>
              <a:srgbClr val="9DB3A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5938244" y="1673352"/>
            <a:ext cx="157603" cy="0"/>
          </a:xfrm>
          <a:prstGeom prst="line">
            <a:avLst/>
          </a:prstGeom>
          <a:ln w="15875">
            <a:solidFill>
              <a:srgbClr val="9DB3A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095847" y="1271016"/>
            <a:ext cx="0" cy="402336"/>
          </a:xfrm>
          <a:prstGeom prst="line">
            <a:avLst/>
          </a:prstGeom>
          <a:ln w="15875">
            <a:solidFill>
              <a:srgbClr val="9DB3A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6095847" y="1472184"/>
            <a:ext cx="157603" cy="0"/>
          </a:xfrm>
          <a:prstGeom prst="line">
            <a:avLst/>
          </a:prstGeom>
          <a:ln w="15875">
            <a:solidFill>
              <a:srgbClr val="9DB3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7387306" y="1472184"/>
            <a:ext cx="315207" cy="0"/>
          </a:xfrm>
          <a:prstGeom prst="line">
            <a:avLst/>
          </a:prstGeom>
          <a:ln w="15875">
            <a:solidFill>
              <a:srgbClr val="9DB3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836369" y="1472184"/>
            <a:ext cx="315207" cy="0"/>
          </a:xfrm>
          <a:prstGeom prst="line">
            <a:avLst/>
          </a:prstGeom>
          <a:ln w="15875">
            <a:solidFill>
              <a:srgbClr val="9DB3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0285432" y="1472184"/>
            <a:ext cx="315207" cy="0"/>
          </a:xfrm>
          <a:prstGeom prst="line">
            <a:avLst/>
          </a:prstGeom>
          <a:ln w="15875">
            <a:solidFill>
              <a:srgbClr val="9DB3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1167567" y="1627632"/>
            <a:ext cx="0" cy="292608"/>
          </a:xfrm>
          <a:prstGeom prst="line">
            <a:avLst/>
          </a:prstGeom>
          <a:ln w="19050">
            <a:solidFill>
              <a:srgbClr val="9DB3A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H="1">
            <a:off x="1024128" y="1920240"/>
            <a:ext cx="10143439" cy="0"/>
          </a:xfrm>
          <a:prstGeom prst="line">
            <a:avLst/>
          </a:prstGeom>
          <a:ln w="19050">
            <a:solidFill>
              <a:srgbClr val="9DB3A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1024128" y="1627632"/>
            <a:ext cx="0" cy="292608"/>
          </a:xfrm>
          <a:prstGeom prst="line">
            <a:avLst/>
          </a:prstGeom>
          <a:ln w="19050">
            <a:solidFill>
              <a:srgbClr val="9DB3A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457200" y="1316736"/>
            <a:ext cx="1133856" cy="310896"/>
          </a:xfrm>
          <a:prstGeom prst="roundRect">
            <a:avLst>
              <a:gd name="adj" fmla="val 14000"/>
            </a:avLst>
          </a:prstGeom>
          <a:solidFill>
            <a:srgbClr val="E6EF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0"/>
              </a:spcAft>
            </a:pPr>
            <a:r>
              <a:rPr sz="950" b="0" i="0">
                <a:solidFill>
                  <a:srgbClr val="5E6E66"/>
                </a:solidFill>
                <a:latin typeface="Calibri"/>
              </a:rPr>
              <a:t>Corpus + QC</a:t>
            </a:r>
          </a:p>
        </p:txBody>
      </p:sp>
      <p:sp>
        <p:nvSpPr>
          <p:cNvPr id="21" name="Rounded Rectangle 20"/>
          <p:cNvSpPr/>
          <p:nvPr/>
        </p:nvSpPr>
        <p:spPr>
          <a:xfrm>
            <a:off x="1906262" y="1316736"/>
            <a:ext cx="1133856" cy="310896"/>
          </a:xfrm>
          <a:prstGeom prst="roundRect">
            <a:avLst>
              <a:gd name="adj" fmla="val 14000"/>
            </a:avLst>
          </a:prstGeom>
          <a:solidFill>
            <a:srgbClr val="E6EF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0"/>
              </a:spcAft>
            </a:pPr>
            <a:r>
              <a:rPr sz="950" b="0" i="0">
                <a:solidFill>
                  <a:srgbClr val="5E6E66"/>
                </a:solidFill>
                <a:latin typeface="Calibri"/>
              </a:rPr>
              <a:t>Fenêtrage</a:t>
            </a:r>
          </a:p>
        </p:txBody>
      </p:sp>
      <p:sp>
        <p:nvSpPr>
          <p:cNvPr id="22" name="Rounded Rectangle 21"/>
          <p:cNvSpPr/>
          <p:nvPr/>
        </p:nvSpPr>
        <p:spPr>
          <a:xfrm>
            <a:off x="3355325" y="1115568"/>
            <a:ext cx="1133856" cy="310896"/>
          </a:xfrm>
          <a:prstGeom prst="roundRect">
            <a:avLst>
              <a:gd name="adj" fmla="val 14000"/>
            </a:avLst>
          </a:prstGeom>
          <a:solidFill>
            <a:srgbClr val="E6EF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0"/>
              </a:spcAft>
            </a:pPr>
            <a:r>
              <a:rPr sz="950" b="0" i="0">
                <a:solidFill>
                  <a:srgbClr val="5E6E66"/>
                </a:solidFill>
                <a:latin typeface="Calibri"/>
              </a:rPr>
              <a:t>Encodeur</a:t>
            </a:r>
          </a:p>
        </p:txBody>
      </p:sp>
      <p:sp>
        <p:nvSpPr>
          <p:cNvPr id="23" name="Rounded Rectangle 22"/>
          <p:cNvSpPr/>
          <p:nvPr/>
        </p:nvSpPr>
        <p:spPr>
          <a:xfrm>
            <a:off x="4804388" y="1115568"/>
            <a:ext cx="1133856" cy="310896"/>
          </a:xfrm>
          <a:prstGeom prst="roundRect">
            <a:avLst>
              <a:gd name="adj" fmla="val 14000"/>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0"/>
              </a:spcAft>
            </a:pPr>
            <a:r>
              <a:rPr sz="950" b="1" i="0">
                <a:solidFill>
                  <a:srgbClr val="1C2B24"/>
                </a:solidFill>
                <a:latin typeface="Calibri"/>
              </a:rPr>
              <a:t>Head</a:t>
            </a:r>
          </a:p>
        </p:txBody>
      </p:sp>
      <p:sp>
        <p:nvSpPr>
          <p:cNvPr id="24" name="Rounded Rectangle 23"/>
          <p:cNvSpPr/>
          <p:nvPr/>
        </p:nvSpPr>
        <p:spPr>
          <a:xfrm>
            <a:off x="3355325" y="1517904"/>
            <a:ext cx="2582918" cy="310896"/>
          </a:xfrm>
          <a:prstGeom prst="roundRect">
            <a:avLst>
              <a:gd name="adj" fmla="val 14000"/>
            </a:avLst>
          </a:prstGeom>
          <a:solidFill>
            <a:srgbClr val="E6EF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0"/>
              </a:spcAft>
            </a:pPr>
            <a:r>
              <a:rPr sz="950" b="0" i="0">
                <a:solidFill>
                  <a:srgbClr val="5E6E66"/>
                </a:solidFill>
                <a:latin typeface="Calibri"/>
              </a:rPr>
              <a:t>Module séquentiel</a:t>
            </a:r>
          </a:p>
        </p:txBody>
      </p:sp>
      <p:sp>
        <p:nvSpPr>
          <p:cNvPr id="25" name="Rounded Rectangle 24"/>
          <p:cNvSpPr/>
          <p:nvPr/>
        </p:nvSpPr>
        <p:spPr>
          <a:xfrm>
            <a:off x="6253450" y="1316736"/>
            <a:ext cx="1133856" cy="310896"/>
          </a:xfrm>
          <a:prstGeom prst="roundRect">
            <a:avLst>
              <a:gd name="adj" fmla="val 14000"/>
            </a:avLst>
          </a:prstGeom>
          <a:solidFill>
            <a:srgbClr val="E6EF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0"/>
              </a:spcAft>
            </a:pPr>
            <a:r>
              <a:rPr sz="950" b="0" i="0">
                <a:solidFill>
                  <a:srgbClr val="5E6E66"/>
                </a:solidFill>
                <a:latin typeface="Calibri"/>
              </a:rPr>
              <a:t>Fusion</a:t>
            </a:r>
          </a:p>
        </p:txBody>
      </p:sp>
      <p:sp>
        <p:nvSpPr>
          <p:cNvPr id="26" name="Rounded Rectangle 25"/>
          <p:cNvSpPr/>
          <p:nvPr/>
        </p:nvSpPr>
        <p:spPr>
          <a:xfrm>
            <a:off x="7702513" y="1316736"/>
            <a:ext cx="1133856" cy="310896"/>
          </a:xfrm>
          <a:prstGeom prst="roundRect">
            <a:avLst>
              <a:gd name="adj" fmla="val 14000"/>
            </a:avLst>
          </a:prstGeom>
          <a:solidFill>
            <a:srgbClr val="E6EF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0"/>
              </a:spcAft>
            </a:pPr>
            <a:r>
              <a:rPr sz="950" b="0" i="0">
                <a:solidFill>
                  <a:srgbClr val="5E6E66"/>
                </a:solidFill>
                <a:latin typeface="Calibri"/>
              </a:rPr>
              <a:t>Agrégation</a:t>
            </a:r>
          </a:p>
        </p:txBody>
      </p:sp>
      <p:sp>
        <p:nvSpPr>
          <p:cNvPr id="27" name="Rounded Rectangle 26"/>
          <p:cNvSpPr/>
          <p:nvPr/>
        </p:nvSpPr>
        <p:spPr>
          <a:xfrm>
            <a:off x="9151576" y="1316736"/>
            <a:ext cx="1133856" cy="310896"/>
          </a:xfrm>
          <a:prstGeom prst="roundRect">
            <a:avLst>
              <a:gd name="adj" fmla="val 14000"/>
            </a:avLst>
          </a:prstGeom>
          <a:solidFill>
            <a:srgbClr val="E6EF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0"/>
              </a:spcAft>
            </a:pPr>
            <a:r>
              <a:rPr sz="950" b="0" i="0">
                <a:solidFill>
                  <a:srgbClr val="5E6E66"/>
                </a:solidFill>
                <a:latin typeface="Calibri"/>
              </a:rPr>
              <a:t>Sélection</a:t>
            </a:r>
          </a:p>
        </p:txBody>
      </p:sp>
      <p:sp>
        <p:nvSpPr>
          <p:cNvPr id="28" name="Rounded Rectangle 27"/>
          <p:cNvSpPr/>
          <p:nvPr/>
        </p:nvSpPr>
        <p:spPr>
          <a:xfrm>
            <a:off x="10600639" y="1316736"/>
            <a:ext cx="1133856" cy="310896"/>
          </a:xfrm>
          <a:prstGeom prst="roundRect">
            <a:avLst>
              <a:gd name="adj" fmla="val 14000"/>
            </a:avLst>
          </a:prstGeom>
          <a:solidFill>
            <a:srgbClr val="E6EF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0"/>
              </a:spcAft>
            </a:pPr>
            <a:r>
              <a:rPr sz="950" b="0" i="0">
                <a:solidFill>
                  <a:srgbClr val="5E6E66"/>
                </a:solidFill>
                <a:latin typeface="Calibri"/>
              </a:rPr>
              <a:t>Annotation</a:t>
            </a:r>
          </a:p>
        </p:txBody>
      </p:sp>
      <p:sp>
        <p:nvSpPr>
          <p:cNvPr id="29" name="Rounded Rectangle 28"/>
          <p:cNvSpPr/>
          <p:nvPr/>
        </p:nvSpPr>
        <p:spPr>
          <a:xfrm>
            <a:off x="457200" y="1993392"/>
            <a:ext cx="11277295" cy="182880"/>
          </a:xfrm>
          <a:prstGeom prst="roundRect">
            <a:avLst>
              <a:gd name="adj" fmla="val 50000"/>
            </a:avLst>
          </a:prstGeom>
          <a:solidFill>
            <a:srgbClr val="F4F8F5"/>
          </a:solidFill>
          <a:ln>
            <a:noFill/>
          </a:ln>
          <a:effectLst/>
        </p:spPr>
        <p:style>
          <a:lnRef idx="1">
            <a:schemeClr val="accent1"/>
          </a:lnRef>
          <a:fillRef idx="3">
            <a:schemeClr val="accent1"/>
          </a:fillRef>
          <a:effectRef idx="2">
            <a:schemeClr val="accent1"/>
          </a:effectRef>
          <a:fontRef idx="minor">
            <a:schemeClr val="lt1"/>
          </a:fontRef>
        </p:style>
        <p:txBody>
          <a:bodyPr rtlCol="0" anchor="ctr" lIns="9144" rIns="9144" tIns="9144" bIns="9144" wrap="square"/>
          <a:lstStyle/>
          <a:p>
            <a:pPr algn="ctr">
              <a:spcAft>
                <a:spcPts val="400"/>
              </a:spcAft>
            </a:pPr>
            <a:r>
              <a:rPr sz="850" b="0" i="0">
                <a:solidFill>
                  <a:srgbClr val="5E6E66"/>
                </a:solidFill>
                <a:latin typeface="Calibri"/>
              </a:rPr>
              <a:t>Évaluation (transverse)</a:t>
            </a:r>
          </a:p>
        </p:txBody>
      </p:sp>
      <p:sp>
        <p:nvSpPr>
          <p:cNvPr id="30" name="TextBox 29"/>
          <p:cNvSpPr txBox="1"/>
          <p:nvPr/>
        </p:nvSpPr>
        <p:spPr>
          <a:xfrm>
            <a:off x="11277295" y="6473952"/>
            <a:ext cx="457200" cy="228600"/>
          </a:xfrm>
          <a:prstGeom prst="rect">
            <a:avLst/>
          </a:prstGeom>
          <a:noFill/>
        </p:spPr>
        <p:txBody>
          <a:bodyPr wrap="square" anchor="t" lIns="0" rIns="0" tIns="0" bIns="0">
            <a:spAutoFit/>
          </a:bodyPr>
          <a:lstStyle/>
          <a:p>
            <a:pPr algn="r">
              <a:spcAft>
                <a:spcPts val="400"/>
              </a:spcAft>
            </a:pPr>
            <a:r>
              <a:rPr sz="1000" b="0" i="0">
                <a:solidFill>
                  <a:srgbClr val="5E6E66"/>
                </a:solidFill>
                <a:latin typeface="Calibri"/>
              </a:rPr>
              <a:t>8</a:t>
            </a:r>
          </a:p>
        </p:txBody>
      </p:sp>
      <p:sp>
        <p:nvSpPr>
          <p:cNvPr id="31" name="Rounded Rectangle 30"/>
          <p:cNvSpPr/>
          <p:nvPr/>
        </p:nvSpPr>
        <p:spPr>
          <a:xfrm>
            <a:off x="457200" y="2468880"/>
            <a:ext cx="5500116" cy="1691640"/>
          </a:xfrm>
          <a:prstGeom prst="roundRect">
            <a:avLst>
              <a:gd name="adj" fmla="val 8000"/>
            </a:avLst>
          </a:prstGeom>
          <a:solidFill>
            <a:srgbClr val="F4F8F5"/>
          </a:solidFill>
          <a:ln w="12700">
            <a:solidFill>
              <a:srgbClr val="E6EFE8"/>
            </a:solid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a:lstStyle/>
          <a:p>
            <a:pPr algn="ctr"/>
          </a:p>
        </p:txBody>
      </p:sp>
      <p:sp>
        <p:nvSpPr>
          <p:cNvPr id="32" name="TextBox 31"/>
          <p:cNvSpPr txBox="1"/>
          <p:nvPr/>
        </p:nvSpPr>
        <p:spPr>
          <a:xfrm>
            <a:off x="685800" y="2633472"/>
            <a:ext cx="4037075" cy="320040"/>
          </a:xfrm>
          <a:prstGeom prst="rect">
            <a:avLst/>
          </a:prstGeom>
          <a:noFill/>
        </p:spPr>
        <p:txBody>
          <a:bodyPr wrap="square" anchor="t" lIns="0" rIns="0" tIns="0" bIns="0">
            <a:spAutoFit/>
          </a:bodyPr>
          <a:lstStyle/>
          <a:p>
            <a:pPr algn="l">
              <a:spcAft>
                <a:spcPts val="400"/>
              </a:spcAft>
            </a:pPr>
            <a:r>
              <a:rPr sz="1500" b="1" i="0">
                <a:solidFill>
                  <a:srgbClr val="17332A"/>
                </a:solidFill>
                <a:latin typeface="Calibri"/>
              </a:rPr>
              <a:t>Différentiel ou linear probe entre sites ?</a:t>
            </a:r>
          </a:p>
        </p:txBody>
      </p:sp>
      <p:sp>
        <p:nvSpPr>
          <p:cNvPr id="33" name="Rounded Rectangle 32"/>
          <p:cNvSpPr/>
          <p:nvPr/>
        </p:nvSpPr>
        <p:spPr>
          <a:xfrm>
            <a:off x="4768596" y="2651760"/>
            <a:ext cx="960120" cy="237744"/>
          </a:xfrm>
          <a:prstGeom prst="roundRect">
            <a:avLst>
              <a:gd name="adj" fmla="val 50000"/>
            </a:avLst>
          </a:prstGeom>
          <a:solidFill>
            <a:srgbClr val="C9780E"/>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18288" bIns="18288" wrap="square"/>
          <a:lstStyle/>
          <a:p>
            <a:pPr algn="ctr">
              <a:spcAft>
                <a:spcPts val="400"/>
              </a:spcAft>
            </a:pPr>
            <a:r>
              <a:rPr sz="950" b="1" i="0">
                <a:solidFill>
                  <a:srgbClr val="FFFFFF"/>
                </a:solidFill>
                <a:latin typeface="Calibri"/>
              </a:rPr>
              <a:t>À comparer</a:t>
            </a:r>
          </a:p>
        </p:txBody>
      </p:sp>
      <p:sp>
        <p:nvSpPr>
          <p:cNvPr id="34" name="TextBox 33"/>
          <p:cNvSpPr txBox="1"/>
          <p:nvPr/>
        </p:nvSpPr>
        <p:spPr>
          <a:xfrm>
            <a:off x="685800" y="3035808"/>
            <a:ext cx="5042916" cy="1097280"/>
          </a:xfrm>
          <a:prstGeom prst="rect">
            <a:avLst/>
          </a:prstGeom>
          <a:noFill/>
        </p:spPr>
        <p:txBody>
          <a:bodyPr wrap="square" anchor="t" lIns="0" rIns="0" tIns="0" bIns="0">
            <a:spAutoFit/>
          </a:bodyPr>
          <a:lstStyle/>
          <a:p>
            <a:pPr algn="l">
              <a:spcAft>
                <a:spcPts val="400"/>
              </a:spcAft>
            </a:pPr>
            <a:r>
              <a:rPr sz="1350" b="0" i="0">
                <a:solidFill>
                  <a:srgbClr val="1C2B24"/>
                </a:solidFill>
                <a:latin typeface="Calibri"/>
              </a:rPr>
              <a:t>Le linear probe apprend mieux un site, mais risque de moins bien passer d'un site à l'autre. Le différentiel annule la moyenne du site : il pourrait mieux généraliser tant qu'on n'a pas de positifs multi-sites. </a:t>
            </a:r>
            <a:r>
              <a:rPr sz="1350" b="1" i="0">
                <a:solidFill>
                  <a:srgbClr val="1C2B24"/>
                </a:solidFill>
                <a:latin typeface="Calibri"/>
              </a:rPr>
              <a:t>Hypothèse à tester.</a:t>
            </a:r>
          </a:p>
        </p:txBody>
      </p:sp>
      <p:sp>
        <p:nvSpPr>
          <p:cNvPr id="35" name="Rounded Rectangle 34"/>
          <p:cNvSpPr/>
          <p:nvPr/>
        </p:nvSpPr>
        <p:spPr>
          <a:xfrm>
            <a:off x="6231636" y="2468880"/>
            <a:ext cx="5500116" cy="1691640"/>
          </a:xfrm>
          <a:prstGeom prst="roundRect">
            <a:avLst>
              <a:gd name="adj" fmla="val 8000"/>
            </a:avLst>
          </a:prstGeom>
          <a:solidFill>
            <a:srgbClr val="F4F8F5"/>
          </a:solidFill>
          <a:ln w="12700">
            <a:solidFill>
              <a:srgbClr val="E6EFE8"/>
            </a:solid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a:lstStyle/>
          <a:p>
            <a:pPr algn="ctr"/>
          </a:p>
        </p:txBody>
      </p:sp>
      <p:sp>
        <p:nvSpPr>
          <p:cNvPr id="36" name="TextBox 35"/>
          <p:cNvSpPr txBox="1"/>
          <p:nvPr/>
        </p:nvSpPr>
        <p:spPr>
          <a:xfrm>
            <a:off x="6460236" y="2633472"/>
            <a:ext cx="4037075" cy="320040"/>
          </a:xfrm>
          <a:prstGeom prst="rect">
            <a:avLst/>
          </a:prstGeom>
          <a:noFill/>
        </p:spPr>
        <p:txBody>
          <a:bodyPr wrap="square" anchor="t" lIns="0" rIns="0" tIns="0" bIns="0">
            <a:spAutoFit/>
          </a:bodyPr>
          <a:lstStyle/>
          <a:p>
            <a:pPr algn="l">
              <a:spcAft>
                <a:spcPts val="400"/>
              </a:spcAft>
            </a:pPr>
            <a:r>
              <a:rPr sz="1500" b="1" i="0">
                <a:solidFill>
                  <a:srgbClr val="17332A"/>
                </a:solidFill>
                <a:latin typeface="Calibri"/>
              </a:rPr>
              <a:t>Le fond sonore pollue-t-il l'embedding ?</a:t>
            </a:r>
          </a:p>
        </p:txBody>
      </p:sp>
      <p:sp>
        <p:nvSpPr>
          <p:cNvPr id="37" name="Rounded Rectangle 36"/>
          <p:cNvSpPr/>
          <p:nvPr/>
        </p:nvSpPr>
        <p:spPr>
          <a:xfrm>
            <a:off x="10543031" y="2651760"/>
            <a:ext cx="960120" cy="237744"/>
          </a:xfrm>
          <a:prstGeom prst="roundRect">
            <a:avLst>
              <a:gd name="adj" fmla="val 50000"/>
            </a:avLst>
          </a:prstGeom>
          <a:solidFill>
            <a:srgbClr val="C9780E"/>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18288" bIns="18288" wrap="square"/>
          <a:lstStyle/>
          <a:p>
            <a:pPr algn="ctr">
              <a:spcAft>
                <a:spcPts val="400"/>
              </a:spcAft>
            </a:pPr>
            <a:r>
              <a:rPr sz="950" b="1" i="0">
                <a:solidFill>
                  <a:srgbClr val="FFFFFF"/>
                </a:solidFill>
                <a:latin typeface="Calibri"/>
              </a:rPr>
              <a:t>À comparer</a:t>
            </a:r>
          </a:p>
        </p:txBody>
      </p:sp>
      <p:sp>
        <p:nvSpPr>
          <p:cNvPr id="38" name="TextBox 37"/>
          <p:cNvSpPr txBox="1"/>
          <p:nvPr/>
        </p:nvSpPr>
        <p:spPr>
          <a:xfrm>
            <a:off x="6460236" y="3035808"/>
            <a:ext cx="5042916" cy="1097280"/>
          </a:xfrm>
          <a:prstGeom prst="rect">
            <a:avLst/>
          </a:prstGeom>
          <a:noFill/>
        </p:spPr>
        <p:txBody>
          <a:bodyPr wrap="square" anchor="t" lIns="0" rIns="0" tIns="0" bIns="0">
            <a:spAutoFit/>
          </a:bodyPr>
          <a:lstStyle/>
          <a:p>
            <a:pPr algn="l">
              <a:spcAft>
                <a:spcPts val="400"/>
              </a:spcAft>
            </a:pPr>
            <a:r>
              <a:rPr sz="1350" b="0" i="0">
                <a:solidFill>
                  <a:srgbClr val="1C2B24"/>
                </a:solidFill>
                <a:latin typeface="Calibri"/>
              </a:rPr>
              <a:t>Si prototype simple et différentiel classent pareil, l'ambiance de Mataroni ne pollue pas. Si le différentiel fait nettement mieux, elle pollue, et on le sait avant tout entraînement.</a:t>
            </a:r>
          </a:p>
        </p:txBody>
      </p:sp>
      <p:sp>
        <p:nvSpPr>
          <p:cNvPr id="39" name="Rounded Rectangle 38"/>
          <p:cNvSpPr/>
          <p:nvPr/>
        </p:nvSpPr>
        <p:spPr>
          <a:xfrm>
            <a:off x="457200" y="4434840"/>
            <a:ext cx="5500116" cy="1691640"/>
          </a:xfrm>
          <a:prstGeom prst="roundRect">
            <a:avLst>
              <a:gd name="adj" fmla="val 8000"/>
            </a:avLst>
          </a:prstGeom>
          <a:solidFill>
            <a:srgbClr val="F4F8F5"/>
          </a:solidFill>
          <a:ln w="12700">
            <a:solidFill>
              <a:srgbClr val="E6EFE8"/>
            </a:solid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a:lstStyle/>
          <a:p>
            <a:pPr algn="ctr"/>
          </a:p>
        </p:txBody>
      </p:sp>
      <p:sp>
        <p:nvSpPr>
          <p:cNvPr id="40" name="TextBox 39"/>
          <p:cNvSpPr txBox="1"/>
          <p:nvPr/>
        </p:nvSpPr>
        <p:spPr>
          <a:xfrm>
            <a:off x="685800" y="4599431"/>
            <a:ext cx="4037075" cy="320040"/>
          </a:xfrm>
          <a:prstGeom prst="rect">
            <a:avLst/>
          </a:prstGeom>
          <a:noFill/>
        </p:spPr>
        <p:txBody>
          <a:bodyPr wrap="square" anchor="t" lIns="0" rIns="0" tIns="0" bIns="0">
            <a:spAutoFit/>
          </a:bodyPr>
          <a:lstStyle/>
          <a:p>
            <a:pPr algn="l">
              <a:spcAft>
                <a:spcPts val="400"/>
              </a:spcAft>
            </a:pPr>
            <a:r>
              <a:rPr sz="1500" b="1" i="0">
                <a:solidFill>
                  <a:srgbClr val="17332A"/>
                </a:solidFill>
                <a:latin typeface="Calibri"/>
              </a:rPr>
              <a:t>Quel pooling pour le linear probe ?</a:t>
            </a:r>
          </a:p>
        </p:txBody>
      </p:sp>
      <p:sp>
        <p:nvSpPr>
          <p:cNvPr id="41" name="Rounded Rectangle 40"/>
          <p:cNvSpPr/>
          <p:nvPr/>
        </p:nvSpPr>
        <p:spPr>
          <a:xfrm>
            <a:off x="4768596" y="4617720"/>
            <a:ext cx="960120" cy="237744"/>
          </a:xfrm>
          <a:prstGeom prst="roundRect">
            <a:avLst>
              <a:gd name="adj" fmla="val 50000"/>
            </a:avLst>
          </a:prstGeom>
          <a:solidFill>
            <a:srgbClr val="C9780E"/>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18288" bIns="18288" wrap="square"/>
          <a:lstStyle/>
          <a:p>
            <a:pPr algn="ctr">
              <a:spcAft>
                <a:spcPts val="400"/>
              </a:spcAft>
            </a:pPr>
            <a:r>
              <a:rPr sz="950" b="1" i="0">
                <a:solidFill>
                  <a:srgbClr val="FFFFFF"/>
                </a:solidFill>
                <a:latin typeface="Calibri"/>
              </a:rPr>
              <a:t>À comparer</a:t>
            </a:r>
          </a:p>
        </p:txBody>
      </p:sp>
      <p:sp>
        <p:nvSpPr>
          <p:cNvPr id="42" name="TextBox 41"/>
          <p:cNvSpPr txBox="1"/>
          <p:nvPr/>
        </p:nvSpPr>
        <p:spPr>
          <a:xfrm>
            <a:off x="685800" y="5001768"/>
            <a:ext cx="5042916" cy="1097280"/>
          </a:xfrm>
          <a:prstGeom prst="rect">
            <a:avLst/>
          </a:prstGeom>
          <a:noFill/>
        </p:spPr>
        <p:txBody>
          <a:bodyPr wrap="square" anchor="t" lIns="0" rIns="0" tIns="0" bIns="0">
            <a:spAutoFit/>
          </a:bodyPr>
          <a:lstStyle/>
          <a:p>
            <a:pPr algn="l">
              <a:spcAft>
                <a:spcPts val="400"/>
              </a:spcAft>
            </a:pPr>
            <a:r>
              <a:rPr sz="1350" b="0" i="0">
                <a:solidFill>
                  <a:srgbClr val="1C2B24"/>
                </a:solidFill>
                <a:latin typeface="Calibri"/>
              </a:rPr>
              <a:t>Moyenne, maximum, les deux, ou moyenne en fréquence et maximum en temps. Une note de 0,09 s se noie dans une moyenne sur 5 s ; le maximum la garde.</a:t>
            </a:r>
          </a:p>
        </p:txBody>
      </p:sp>
      <p:sp>
        <p:nvSpPr>
          <p:cNvPr id="43" name="Rounded Rectangle 42"/>
          <p:cNvSpPr/>
          <p:nvPr/>
        </p:nvSpPr>
        <p:spPr>
          <a:xfrm>
            <a:off x="6231636" y="4434840"/>
            <a:ext cx="5500116" cy="1691640"/>
          </a:xfrm>
          <a:prstGeom prst="roundRect">
            <a:avLst>
              <a:gd name="adj" fmla="val 8000"/>
            </a:avLst>
          </a:prstGeom>
          <a:solidFill>
            <a:srgbClr val="F4F8F5"/>
          </a:solidFill>
          <a:ln w="12700">
            <a:solidFill>
              <a:srgbClr val="E6EFE8"/>
            </a:solid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a:lstStyle/>
          <a:p>
            <a:pPr algn="ctr"/>
          </a:p>
        </p:txBody>
      </p:sp>
      <p:sp>
        <p:nvSpPr>
          <p:cNvPr id="44" name="TextBox 43"/>
          <p:cNvSpPr txBox="1"/>
          <p:nvPr/>
        </p:nvSpPr>
        <p:spPr>
          <a:xfrm>
            <a:off x="6460236" y="4599431"/>
            <a:ext cx="4037075" cy="320040"/>
          </a:xfrm>
          <a:prstGeom prst="rect">
            <a:avLst/>
          </a:prstGeom>
          <a:noFill/>
        </p:spPr>
        <p:txBody>
          <a:bodyPr wrap="square" anchor="t" lIns="0" rIns="0" tIns="0" bIns="0">
            <a:spAutoFit/>
          </a:bodyPr>
          <a:lstStyle/>
          <a:p>
            <a:pPr algn="l">
              <a:spcAft>
                <a:spcPts val="400"/>
              </a:spcAft>
            </a:pPr>
            <a:r>
              <a:rPr sz="1500" b="1" i="0">
                <a:solidFill>
                  <a:srgbClr val="17332A"/>
                </a:solidFill>
                <a:latin typeface="Calibri"/>
              </a:rPr>
              <a:t>Et si le modèle a sa propre attention ?</a:t>
            </a:r>
          </a:p>
        </p:txBody>
      </p:sp>
      <p:sp>
        <p:nvSpPr>
          <p:cNvPr id="45" name="Rounded Rectangle 44"/>
          <p:cNvSpPr/>
          <p:nvPr/>
        </p:nvSpPr>
        <p:spPr>
          <a:xfrm>
            <a:off x="10543031" y="4617720"/>
            <a:ext cx="960120" cy="237744"/>
          </a:xfrm>
          <a:prstGeom prst="roundRect">
            <a:avLst>
              <a:gd name="adj" fmla="val 50000"/>
            </a:avLst>
          </a:prstGeom>
          <a:solidFill>
            <a:srgbClr val="C0492F"/>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18288" bIns="18288" wrap="square"/>
          <a:lstStyle/>
          <a:p>
            <a:pPr algn="ctr">
              <a:spcAft>
                <a:spcPts val="400"/>
              </a:spcAft>
            </a:pPr>
            <a:r>
              <a:rPr sz="950" b="1" i="0">
                <a:solidFill>
                  <a:srgbClr val="FFFFFF"/>
                </a:solidFill>
                <a:latin typeface="Calibri"/>
              </a:rPr>
              <a:t>À trancher</a:t>
            </a:r>
          </a:p>
        </p:txBody>
      </p:sp>
      <p:sp>
        <p:nvSpPr>
          <p:cNvPr id="46" name="TextBox 45"/>
          <p:cNvSpPr txBox="1"/>
          <p:nvPr/>
        </p:nvSpPr>
        <p:spPr>
          <a:xfrm>
            <a:off x="6460236" y="5001768"/>
            <a:ext cx="5042916" cy="1097280"/>
          </a:xfrm>
          <a:prstGeom prst="rect">
            <a:avLst/>
          </a:prstGeom>
          <a:noFill/>
        </p:spPr>
        <p:txBody>
          <a:bodyPr wrap="square" anchor="t" lIns="0" rIns="0" tIns="0" bIns="0">
            <a:spAutoFit/>
          </a:bodyPr>
          <a:lstStyle/>
          <a:p>
            <a:pPr algn="l">
              <a:spcAft>
                <a:spcPts val="400"/>
              </a:spcAft>
            </a:pPr>
            <a:r>
              <a:rPr sz="1350" b="0" i="0">
                <a:solidFill>
                  <a:srgbClr val="1C2B24"/>
                </a:solidFill>
                <a:latin typeface="Calibri"/>
              </a:rPr>
              <a:t>Elle produit déjà l'embedding par défaut : on garde une tête au-dessus. Sinon, on prend les tokens avant ce pooling pour notre attentive probe (tokens sur disque ou cascade si la mémoire manque). Les deux se comparent.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8229600" cy="256032"/>
          </a:xfrm>
          <a:prstGeom prst="rect">
            <a:avLst/>
          </a:prstGeom>
          <a:noFill/>
        </p:spPr>
        <p:txBody>
          <a:bodyPr wrap="square" anchor="t" lIns="0" rIns="0" tIns="0" bIns="0">
            <a:spAutoFit/>
          </a:bodyPr>
          <a:lstStyle/>
          <a:p>
            <a:pPr algn="l">
              <a:spcAft>
                <a:spcPts val="400"/>
              </a:spcAft>
            </a:pPr>
            <a:r>
              <a:rPr sz="1100" b="1" i="0">
                <a:solidFill>
                  <a:srgbClr val="9A5A06"/>
                </a:solidFill>
                <a:latin typeface="Calibri"/>
              </a:rPr>
              <a:t>PIPELINE · ÉTAPE 5</a:t>
            </a:r>
          </a:p>
        </p:txBody>
      </p:sp>
      <p:sp>
        <p:nvSpPr>
          <p:cNvPr id="3" name="TextBox 2"/>
          <p:cNvSpPr txBox="1"/>
          <p:nvPr/>
        </p:nvSpPr>
        <p:spPr>
          <a:xfrm>
            <a:off x="457200" y="493776"/>
            <a:ext cx="11274552" cy="548640"/>
          </a:xfrm>
          <a:prstGeom prst="rect">
            <a:avLst/>
          </a:prstGeom>
          <a:noFill/>
        </p:spPr>
        <p:txBody>
          <a:bodyPr wrap="square" anchor="t" lIns="0" rIns="0" tIns="0" bIns="0">
            <a:spAutoFit/>
          </a:bodyPr>
          <a:lstStyle/>
          <a:p>
            <a:pPr algn="l">
              <a:spcAft>
                <a:spcPts val="400"/>
              </a:spcAft>
            </a:pPr>
            <a:r>
              <a:rPr sz="2600" b="1" i="0">
                <a:solidFill>
                  <a:srgbClr val="17332A"/>
                </a:solidFill>
                <a:latin typeface="Cambria"/>
              </a:rPr>
              <a:t>Module séquentiel : ce que l'encodeur ne voit pas</a:t>
            </a:r>
          </a:p>
        </p:txBody>
      </p:sp>
      <p:cxnSp>
        <p:nvCxnSpPr>
          <p:cNvPr id="4" name="Connector 3"/>
          <p:cNvCxnSpPr/>
          <p:nvPr/>
        </p:nvCxnSpPr>
        <p:spPr>
          <a:xfrm>
            <a:off x="1591056" y="1472184"/>
            <a:ext cx="315206" cy="0"/>
          </a:xfrm>
          <a:prstGeom prst="line">
            <a:avLst/>
          </a:prstGeom>
          <a:ln w="15875">
            <a:solidFill>
              <a:srgbClr val="9DB3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3040118" y="1472184"/>
            <a:ext cx="157604" cy="0"/>
          </a:xfrm>
          <a:prstGeom prst="line">
            <a:avLst/>
          </a:prstGeom>
          <a:ln w="15875">
            <a:solidFill>
              <a:srgbClr val="9DB3A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197722" y="1271016"/>
            <a:ext cx="0" cy="402336"/>
          </a:xfrm>
          <a:prstGeom prst="line">
            <a:avLst/>
          </a:prstGeom>
          <a:ln w="15875">
            <a:solidFill>
              <a:srgbClr val="9DB3A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3197722" y="1271016"/>
            <a:ext cx="157603" cy="0"/>
          </a:xfrm>
          <a:prstGeom prst="line">
            <a:avLst/>
          </a:prstGeom>
          <a:ln w="15875">
            <a:solidFill>
              <a:srgbClr val="9DB3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3197722" y="1673352"/>
            <a:ext cx="157603" cy="0"/>
          </a:xfrm>
          <a:prstGeom prst="line">
            <a:avLst/>
          </a:prstGeom>
          <a:ln w="15875">
            <a:solidFill>
              <a:srgbClr val="9DB3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489181" y="1271016"/>
            <a:ext cx="315207" cy="0"/>
          </a:xfrm>
          <a:prstGeom prst="line">
            <a:avLst/>
          </a:prstGeom>
          <a:ln w="15875">
            <a:solidFill>
              <a:srgbClr val="9DB3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938244" y="1271016"/>
            <a:ext cx="157603" cy="0"/>
          </a:xfrm>
          <a:prstGeom prst="line">
            <a:avLst/>
          </a:prstGeom>
          <a:ln w="15875">
            <a:solidFill>
              <a:srgbClr val="9DB3A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5938244" y="1673352"/>
            <a:ext cx="157603" cy="0"/>
          </a:xfrm>
          <a:prstGeom prst="line">
            <a:avLst/>
          </a:prstGeom>
          <a:ln w="15875">
            <a:solidFill>
              <a:srgbClr val="9DB3A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095847" y="1271016"/>
            <a:ext cx="0" cy="402336"/>
          </a:xfrm>
          <a:prstGeom prst="line">
            <a:avLst/>
          </a:prstGeom>
          <a:ln w="15875">
            <a:solidFill>
              <a:srgbClr val="9DB3A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6095847" y="1472184"/>
            <a:ext cx="157603" cy="0"/>
          </a:xfrm>
          <a:prstGeom prst="line">
            <a:avLst/>
          </a:prstGeom>
          <a:ln w="15875">
            <a:solidFill>
              <a:srgbClr val="9DB3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7387306" y="1472184"/>
            <a:ext cx="315207" cy="0"/>
          </a:xfrm>
          <a:prstGeom prst="line">
            <a:avLst/>
          </a:prstGeom>
          <a:ln w="15875">
            <a:solidFill>
              <a:srgbClr val="9DB3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836369" y="1472184"/>
            <a:ext cx="315207" cy="0"/>
          </a:xfrm>
          <a:prstGeom prst="line">
            <a:avLst/>
          </a:prstGeom>
          <a:ln w="15875">
            <a:solidFill>
              <a:srgbClr val="9DB3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0285432" y="1472184"/>
            <a:ext cx="315207" cy="0"/>
          </a:xfrm>
          <a:prstGeom prst="line">
            <a:avLst/>
          </a:prstGeom>
          <a:ln w="15875">
            <a:solidFill>
              <a:srgbClr val="9DB3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1167567" y="1627632"/>
            <a:ext cx="0" cy="292608"/>
          </a:xfrm>
          <a:prstGeom prst="line">
            <a:avLst/>
          </a:prstGeom>
          <a:ln w="19050">
            <a:solidFill>
              <a:srgbClr val="9DB3A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H="1">
            <a:off x="1024128" y="1920240"/>
            <a:ext cx="10143439" cy="0"/>
          </a:xfrm>
          <a:prstGeom prst="line">
            <a:avLst/>
          </a:prstGeom>
          <a:ln w="19050">
            <a:solidFill>
              <a:srgbClr val="9DB3A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1024128" y="1627632"/>
            <a:ext cx="0" cy="292608"/>
          </a:xfrm>
          <a:prstGeom prst="line">
            <a:avLst/>
          </a:prstGeom>
          <a:ln w="19050">
            <a:solidFill>
              <a:srgbClr val="9DB3A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457200" y="1316736"/>
            <a:ext cx="1133856" cy="310896"/>
          </a:xfrm>
          <a:prstGeom prst="roundRect">
            <a:avLst>
              <a:gd name="adj" fmla="val 14000"/>
            </a:avLst>
          </a:prstGeom>
          <a:solidFill>
            <a:srgbClr val="E6EF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0"/>
              </a:spcAft>
            </a:pPr>
            <a:r>
              <a:rPr sz="950" b="0" i="0">
                <a:solidFill>
                  <a:srgbClr val="5E6E66"/>
                </a:solidFill>
                <a:latin typeface="Calibri"/>
              </a:rPr>
              <a:t>Corpus + QC</a:t>
            </a:r>
          </a:p>
        </p:txBody>
      </p:sp>
      <p:sp>
        <p:nvSpPr>
          <p:cNvPr id="21" name="Rounded Rectangle 20"/>
          <p:cNvSpPr/>
          <p:nvPr/>
        </p:nvSpPr>
        <p:spPr>
          <a:xfrm>
            <a:off x="1906262" y="1316736"/>
            <a:ext cx="1133856" cy="310896"/>
          </a:xfrm>
          <a:prstGeom prst="roundRect">
            <a:avLst>
              <a:gd name="adj" fmla="val 14000"/>
            </a:avLst>
          </a:prstGeom>
          <a:solidFill>
            <a:srgbClr val="E6EF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0"/>
              </a:spcAft>
            </a:pPr>
            <a:r>
              <a:rPr sz="950" b="0" i="0">
                <a:solidFill>
                  <a:srgbClr val="5E6E66"/>
                </a:solidFill>
                <a:latin typeface="Calibri"/>
              </a:rPr>
              <a:t>Fenêtrage</a:t>
            </a:r>
          </a:p>
        </p:txBody>
      </p:sp>
      <p:sp>
        <p:nvSpPr>
          <p:cNvPr id="22" name="Rounded Rectangle 21"/>
          <p:cNvSpPr/>
          <p:nvPr/>
        </p:nvSpPr>
        <p:spPr>
          <a:xfrm>
            <a:off x="3355325" y="1115568"/>
            <a:ext cx="1133856" cy="310896"/>
          </a:xfrm>
          <a:prstGeom prst="roundRect">
            <a:avLst>
              <a:gd name="adj" fmla="val 14000"/>
            </a:avLst>
          </a:prstGeom>
          <a:solidFill>
            <a:srgbClr val="E6EF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0"/>
              </a:spcAft>
            </a:pPr>
            <a:r>
              <a:rPr sz="950" b="0" i="0">
                <a:solidFill>
                  <a:srgbClr val="5E6E66"/>
                </a:solidFill>
                <a:latin typeface="Calibri"/>
              </a:rPr>
              <a:t>Encodeur</a:t>
            </a:r>
          </a:p>
        </p:txBody>
      </p:sp>
      <p:sp>
        <p:nvSpPr>
          <p:cNvPr id="23" name="Rounded Rectangle 22"/>
          <p:cNvSpPr/>
          <p:nvPr/>
        </p:nvSpPr>
        <p:spPr>
          <a:xfrm>
            <a:off x="4804388" y="1115568"/>
            <a:ext cx="1133856" cy="310896"/>
          </a:xfrm>
          <a:prstGeom prst="roundRect">
            <a:avLst>
              <a:gd name="adj" fmla="val 14000"/>
            </a:avLst>
          </a:prstGeom>
          <a:solidFill>
            <a:srgbClr val="E6EF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0"/>
              </a:spcAft>
            </a:pPr>
            <a:r>
              <a:rPr sz="950" b="0" i="0">
                <a:solidFill>
                  <a:srgbClr val="5E6E66"/>
                </a:solidFill>
                <a:latin typeface="Calibri"/>
              </a:rPr>
              <a:t>Head</a:t>
            </a:r>
          </a:p>
        </p:txBody>
      </p:sp>
      <p:sp>
        <p:nvSpPr>
          <p:cNvPr id="24" name="Rounded Rectangle 23"/>
          <p:cNvSpPr/>
          <p:nvPr/>
        </p:nvSpPr>
        <p:spPr>
          <a:xfrm>
            <a:off x="3355325" y="1517904"/>
            <a:ext cx="2582918" cy="310896"/>
          </a:xfrm>
          <a:prstGeom prst="roundRect">
            <a:avLst>
              <a:gd name="adj" fmla="val 14000"/>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0"/>
              </a:spcAft>
            </a:pPr>
            <a:r>
              <a:rPr sz="950" b="1" i="0">
                <a:solidFill>
                  <a:srgbClr val="1C2B24"/>
                </a:solidFill>
                <a:latin typeface="Calibri"/>
              </a:rPr>
              <a:t>Module séquentiel</a:t>
            </a:r>
          </a:p>
        </p:txBody>
      </p:sp>
      <p:sp>
        <p:nvSpPr>
          <p:cNvPr id="25" name="Rounded Rectangle 24"/>
          <p:cNvSpPr/>
          <p:nvPr/>
        </p:nvSpPr>
        <p:spPr>
          <a:xfrm>
            <a:off x="6253450" y="1316736"/>
            <a:ext cx="1133856" cy="310896"/>
          </a:xfrm>
          <a:prstGeom prst="roundRect">
            <a:avLst>
              <a:gd name="adj" fmla="val 14000"/>
            </a:avLst>
          </a:prstGeom>
          <a:solidFill>
            <a:srgbClr val="E6EF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0"/>
              </a:spcAft>
            </a:pPr>
            <a:r>
              <a:rPr sz="950" b="0" i="0">
                <a:solidFill>
                  <a:srgbClr val="5E6E66"/>
                </a:solidFill>
                <a:latin typeface="Calibri"/>
              </a:rPr>
              <a:t>Fusion</a:t>
            </a:r>
          </a:p>
        </p:txBody>
      </p:sp>
      <p:sp>
        <p:nvSpPr>
          <p:cNvPr id="26" name="Rounded Rectangle 25"/>
          <p:cNvSpPr/>
          <p:nvPr/>
        </p:nvSpPr>
        <p:spPr>
          <a:xfrm>
            <a:off x="7702513" y="1316736"/>
            <a:ext cx="1133856" cy="310896"/>
          </a:xfrm>
          <a:prstGeom prst="roundRect">
            <a:avLst>
              <a:gd name="adj" fmla="val 14000"/>
            </a:avLst>
          </a:prstGeom>
          <a:solidFill>
            <a:srgbClr val="E6EF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0"/>
              </a:spcAft>
            </a:pPr>
            <a:r>
              <a:rPr sz="950" b="0" i="0">
                <a:solidFill>
                  <a:srgbClr val="5E6E66"/>
                </a:solidFill>
                <a:latin typeface="Calibri"/>
              </a:rPr>
              <a:t>Agrégation</a:t>
            </a:r>
          </a:p>
        </p:txBody>
      </p:sp>
      <p:sp>
        <p:nvSpPr>
          <p:cNvPr id="27" name="Rounded Rectangle 26"/>
          <p:cNvSpPr/>
          <p:nvPr/>
        </p:nvSpPr>
        <p:spPr>
          <a:xfrm>
            <a:off x="9151576" y="1316736"/>
            <a:ext cx="1133856" cy="310896"/>
          </a:xfrm>
          <a:prstGeom prst="roundRect">
            <a:avLst>
              <a:gd name="adj" fmla="val 14000"/>
            </a:avLst>
          </a:prstGeom>
          <a:solidFill>
            <a:srgbClr val="E6EF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0"/>
              </a:spcAft>
            </a:pPr>
            <a:r>
              <a:rPr sz="950" b="0" i="0">
                <a:solidFill>
                  <a:srgbClr val="5E6E66"/>
                </a:solidFill>
                <a:latin typeface="Calibri"/>
              </a:rPr>
              <a:t>Sélection</a:t>
            </a:r>
          </a:p>
        </p:txBody>
      </p:sp>
      <p:sp>
        <p:nvSpPr>
          <p:cNvPr id="28" name="Rounded Rectangle 27"/>
          <p:cNvSpPr/>
          <p:nvPr/>
        </p:nvSpPr>
        <p:spPr>
          <a:xfrm>
            <a:off x="10600639" y="1316736"/>
            <a:ext cx="1133856" cy="310896"/>
          </a:xfrm>
          <a:prstGeom prst="roundRect">
            <a:avLst>
              <a:gd name="adj" fmla="val 14000"/>
            </a:avLst>
          </a:prstGeom>
          <a:solidFill>
            <a:srgbClr val="E6EF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0"/>
              </a:spcAft>
            </a:pPr>
            <a:r>
              <a:rPr sz="950" b="0" i="0">
                <a:solidFill>
                  <a:srgbClr val="5E6E66"/>
                </a:solidFill>
                <a:latin typeface="Calibri"/>
              </a:rPr>
              <a:t>Annotation</a:t>
            </a:r>
          </a:p>
        </p:txBody>
      </p:sp>
      <p:sp>
        <p:nvSpPr>
          <p:cNvPr id="29" name="Rounded Rectangle 28"/>
          <p:cNvSpPr/>
          <p:nvPr/>
        </p:nvSpPr>
        <p:spPr>
          <a:xfrm>
            <a:off x="457200" y="1993392"/>
            <a:ext cx="11277295" cy="182880"/>
          </a:xfrm>
          <a:prstGeom prst="roundRect">
            <a:avLst>
              <a:gd name="adj" fmla="val 50000"/>
            </a:avLst>
          </a:prstGeom>
          <a:solidFill>
            <a:srgbClr val="F4F8F5"/>
          </a:solidFill>
          <a:ln>
            <a:noFill/>
          </a:ln>
          <a:effectLst/>
        </p:spPr>
        <p:style>
          <a:lnRef idx="1">
            <a:schemeClr val="accent1"/>
          </a:lnRef>
          <a:fillRef idx="3">
            <a:schemeClr val="accent1"/>
          </a:fillRef>
          <a:effectRef idx="2">
            <a:schemeClr val="accent1"/>
          </a:effectRef>
          <a:fontRef idx="minor">
            <a:schemeClr val="lt1"/>
          </a:fontRef>
        </p:style>
        <p:txBody>
          <a:bodyPr rtlCol="0" anchor="ctr" lIns="9144" rIns="9144" tIns="9144" bIns="9144" wrap="square"/>
          <a:lstStyle/>
          <a:p>
            <a:pPr algn="ctr">
              <a:spcAft>
                <a:spcPts val="400"/>
              </a:spcAft>
            </a:pPr>
            <a:r>
              <a:rPr sz="850" b="0" i="0">
                <a:solidFill>
                  <a:srgbClr val="5E6E66"/>
                </a:solidFill>
                <a:latin typeface="Calibri"/>
              </a:rPr>
              <a:t>Évaluation (transverse)</a:t>
            </a:r>
          </a:p>
        </p:txBody>
      </p:sp>
      <p:sp>
        <p:nvSpPr>
          <p:cNvPr id="30" name="TextBox 29"/>
          <p:cNvSpPr txBox="1"/>
          <p:nvPr/>
        </p:nvSpPr>
        <p:spPr>
          <a:xfrm>
            <a:off x="11277295" y="6473952"/>
            <a:ext cx="457200" cy="228600"/>
          </a:xfrm>
          <a:prstGeom prst="rect">
            <a:avLst/>
          </a:prstGeom>
          <a:noFill/>
        </p:spPr>
        <p:txBody>
          <a:bodyPr wrap="square" anchor="t" lIns="0" rIns="0" tIns="0" bIns="0">
            <a:spAutoFit/>
          </a:bodyPr>
          <a:lstStyle/>
          <a:p>
            <a:pPr algn="r">
              <a:spcAft>
                <a:spcPts val="400"/>
              </a:spcAft>
            </a:pPr>
            <a:r>
              <a:rPr sz="1000" b="0" i="0">
                <a:solidFill>
                  <a:srgbClr val="5E6E66"/>
                </a:solidFill>
                <a:latin typeface="Calibri"/>
              </a:rPr>
              <a:t>9</a:t>
            </a:r>
          </a:p>
        </p:txBody>
      </p:sp>
      <p:sp>
        <p:nvSpPr>
          <p:cNvPr id="31" name="Rounded Rectangle 30"/>
          <p:cNvSpPr/>
          <p:nvPr/>
        </p:nvSpPr>
        <p:spPr>
          <a:xfrm>
            <a:off x="457200" y="2423160"/>
            <a:ext cx="2647188" cy="3017520"/>
          </a:xfrm>
          <a:prstGeom prst="roundRect">
            <a:avLst>
              <a:gd name="adj" fmla="val 8000"/>
            </a:avLst>
          </a:prstGeom>
          <a:solidFill>
            <a:srgbClr val="F4F8F5"/>
          </a:solidFill>
          <a:ln w="12700">
            <a:solidFill>
              <a:srgbClr val="E6EFE8"/>
            </a:solid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a:lstStyle/>
          <a:p>
            <a:pPr algn="ctr"/>
          </a:p>
        </p:txBody>
      </p:sp>
      <p:sp>
        <p:nvSpPr>
          <p:cNvPr id="32" name="Oval 31"/>
          <p:cNvSpPr/>
          <p:nvPr/>
        </p:nvSpPr>
        <p:spPr>
          <a:xfrm>
            <a:off x="685800" y="2633472"/>
            <a:ext cx="457200" cy="457200"/>
          </a:xfrm>
          <a:prstGeom prst="ellipse">
            <a:avLst/>
          </a:prstGeom>
          <a:solidFill>
            <a:srgbClr val="1733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600" b="1" i="0">
                <a:solidFill>
                  <a:srgbClr val="FFFFFF"/>
                </a:solidFill>
                <a:latin typeface="Calibri"/>
              </a:rPr>
              <a:t>1</a:t>
            </a:r>
          </a:p>
        </p:txBody>
      </p:sp>
      <p:sp>
        <p:nvSpPr>
          <p:cNvPr id="33" name="TextBox 32"/>
          <p:cNvSpPr txBox="1"/>
          <p:nvPr/>
        </p:nvSpPr>
        <p:spPr>
          <a:xfrm>
            <a:off x="685800" y="3246120"/>
            <a:ext cx="2189988" cy="365760"/>
          </a:xfrm>
          <a:prstGeom prst="rect">
            <a:avLst/>
          </a:prstGeom>
          <a:noFill/>
        </p:spPr>
        <p:txBody>
          <a:bodyPr wrap="square" anchor="t" lIns="0" rIns="0" tIns="0" bIns="0">
            <a:spAutoFit/>
          </a:bodyPr>
          <a:lstStyle/>
          <a:p>
            <a:pPr algn="l">
              <a:spcAft>
                <a:spcPts val="400"/>
              </a:spcAft>
            </a:pPr>
            <a:r>
              <a:rPr sz="1500" b="1" i="0">
                <a:solidFill>
                  <a:srgbClr val="17332A"/>
                </a:solidFill>
                <a:latin typeface="Calibri"/>
              </a:rPr>
              <a:t>Rythme dans la fenêtre</a:t>
            </a:r>
          </a:p>
        </p:txBody>
      </p:sp>
      <p:sp>
        <p:nvSpPr>
          <p:cNvPr id="34" name="TextBox 33"/>
          <p:cNvSpPr txBox="1"/>
          <p:nvPr/>
        </p:nvSpPr>
        <p:spPr>
          <a:xfrm>
            <a:off x="685800" y="3657600"/>
            <a:ext cx="2189988" cy="1371600"/>
          </a:xfrm>
          <a:prstGeom prst="rect">
            <a:avLst/>
          </a:prstGeom>
          <a:noFill/>
        </p:spPr>
        <p:txBody>
          <a:bodyPr wrap="square" anchor="t" lIns="0" rIns="0" tIns="0" bIns="0">
            <a:spAutoFit/>
          </a:bodyPr>
          <a:lstStyle/>
          <a:p>
            <a:pPr algn="l">
              <a:spcAft>
                <a:spcPts val="400"/>
              </a:spcAft>
            </a:pPr>
            <a:r>
              <a:rPr sz="1250" b="0" i="0">
                <a:solidFill>
                  <a:srgbClr val="1C2B24"/>
                </a:solidFill>
                <a:latin typeface="Calibri"/>
              </a:rPr>
              <a:t>Débuts de notes en bande, intervalles entre notes. La structure du chant est connue : une note toutes les ~1,4 s.</a:t>
            </a:r>
          </a:p>
        </p:txBody>
      </p:sp>
      <p:sp>
        <p:nvSpPr>
          <p:cNvPr id="35" name="Rounded Rectangle 34"/>
          <p:cNvSpPr/>
          <p:nvPr/>
        </p:nvSpPr>
        <p:spPr>
          <a:xfrm>
            <a:off x="685800" y="5029200"/>
            <a:ext cx="960120" cy="237744"/>
          </a:xfrm>
          <a:prstGeom prst="roundRect">
            <a:avLst>
              <a:gd name="adj" fmla="val 50000"/>
            </a:avLst>
          </a:prstGeom>
          <a:solidFill>
            <a:srgbClr val="2F8F5B"/>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18288" bIns="18288" wrap="square"/>
          <a:lstStyle/>
          <a:p>
            <a:pPr algn="ctr">
              <a:spcAft>
                <a:spcPts val="400"/>
              </a:spcAft>
            </a:pPr>
            <a:r>
              <a:rPr sz="950" b="1" i="0">
                <a:solidFill>
                  <a:srgbClr val="FFFFFF"/>
                </a:solidFill>
                <a:latin typeface="Calibri"/>
              </a:rPr>
              <a:t>Retenu</a:t>
            </a:r>
          </a:p>
        </p:txBody>
      </p:sp>
      <p:sp>
        <p:nvSpPr>
          <p:cNvPr id="36" name="Rounded Rectangle 35"/>
          <p:cNvSpPr/>
          <p:nvPr/>
        </p:nvSpPr>
        <p:spPr>
          <a:xfrm>
            <a:off x="3332988" y="2423160"/>
            <a:ext cx="2647188" cy="3017520"/>
          </a:xfrm>
          <a:prstGeom prst="roundRect">
            <a:avLst>
              <a:gd name="adj" fmla="val 8000"/>
            </a:avLst>
          </a:prstGeom>
          <a:solidFill>
            <a:srgbClr val="F4F8F5"/>
          </a:solidFill>
          <a:ln w="12700">
            <a:solidFill>
              <a:srgbClr val="E6EFE8"/>
            </a:solid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a:lstStyle/>
          <a:p>
            <a:pPr algn="ctr"/>
          </a:p>
        </p:txBody>
      </p:sp>
      <p:sp>
        <p:nvSpPr>
          <p:cNvPr id="37" name="Oval 36"/>
          <p:cNvSpPr/>
          <p:nvPr/>
        </p:nvSpPr>
        <p:spPr>
          <a:xfrm>
            <a:off x="3561588" y="2633472"/>
            <a:ext cx="457200" cy="457200"/>
          </a:xfrm>
          <a:prstGeom prst="ellipse">
            <a:avLst/>
          </a:prstGeom>
          <a:solidFill>
            <a:srgbClr val="1733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600" b="1" i="0">
                <a:solidFill>
                  <a:srgbClr val="FFFFFF"/>
                </a:solidFill>
                <a:latin typeface="Calibri"/>
              </a:rPr>
              <a:t>2</a:t>
            </a:r>
          </a:p>
        </p:txBody>
      </p:sp>
      <p:sp>
        <p:nvSpPr>
          <p:cNvPr id="38" name="TextBox 37"/>
          <p:cNvSpPr txBox="1"/>
          <p:nvPr/>
        </p:nvSpPr>
        <p:spPr>
          <a:xfrm>
            <a:off x="3561588" y="3246120"/>
            <a:ext cx="2189988" cy="365760"/>
          </a:xfrm>
          <a:prstGeom prst="rect">
            <a:avLst/>
          </a:prstGeom>
          <a:noFill/>
        </p:spPr>
        <p:txBody>
          <a:bodyPr wrap="square" anchor="t" lIns="0" rIns="0" tIns="0" bIns="0">
            <a:spAutoFit/>
          </a:bodyPr>
          <a:lstStyle/>
          <a:p>
            <a:pPr algn="l">
              <a:spcAft>
                <a:spcPts val="400"/>
              </a:spcAft>
            </a:pPr>
            <a:r>
              <a:rPr sz="1500" b="1" i="0">
                <a:solidFill>
                  <a:srgbClr val="17332A"/>
                </a:solidFill>
                <a:latin typeface="Calibri"/>
              </a:rPr>
              <a:t>Persistance</a:t>
            </a:r>
          </a:p>
        </p:txBody>
      </p:sp>
      <p:sp>
        <p:nvSpPr>
          <p:cNvPr id="39" name="TextBox 38"/>
          <p:cNvSpPr txBox="1"/>
          <p:nvPr/>
        </p:nvSpPr>
        <p:spPr>
          <a:xfrm>
            <a:off x="3561588" y="3657600"/>
            <a:ext cx="2189988" cy="1371600"/>
          </a:xfrm>
          <a:prstGeom prst="rect">
            <a:avLst/>
          </a:prstGeom>
          <a:noFill/>
        </p:spPr>
        <p:txBody>
          <a:bodyPr wrap="square" anchor="t" lIns="0" rIns="0" tIns="0" bIns="0">
            <a:spAutoFit/>
          </a:bodyPr>
          <a:lstStyle/>
          <a:p>
            <a:pPr algn="l">
              <a:spcAft>
                <a:spcPts val="400"/>
              </a:spcAft>
            </a:pPr>
            <a:r>
              <a:rPr sz="1250" b="0" i="0">
                <a:solidFill>
                  <a:srgbClr val="1C2B24"/>
                </a:solidFill>
                <a:latin typeface="Calibri"/>
              </a:rPr>
              <a:t>Fraction de fenêtres positives, continuité avec les voisines, créneaux voisins du même micro. Sépare chant continu et chant ponctuel.</a:t>
            </a:r>
          </a:p>
        </p:txBody>
      </p:sp>
      <p:sp>
        <p:nvSpPr>
          <p:cNvPr id="40" name="Rounded Rectangle 39"/>
          <p:cNvSpPr/>
          <p:nvPr/>
        </p:nvSpPr>
        <p:spPr>
          <a:xfrm>
            <a:off x="3561588" y="5029200"/>
            <a:ext cx="960120" cy="237744"/>
          </a:xfrm>
          <a:prstGeom prst="roundRect">
            <a:avLst>
              <a:gd name="adj" fmla="val 50000"/>
            </a:avLst>
          </a:prstGeom>
          <a:solidFill>
            <a:srgbClr val="2F8F5B"/>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18288" bIns="18288" wrap="square"/>
          <a:lstStyle/>
          <a:p>
            <a:pPr algn="ctr">
              <a:spcAft>
                <a:spcPts val="400"/>
              </a:spcAft>
            </a:pPr>
            <a:r>
              <a:rPr sz="950" b="1" i="0">
                <a:solidFill>
                  <a:srgbClr val="FFFFFF"/>
                </a:solidFill>
                <a:latin typeface="Calibri"/>
              </a:rPr>
              <a:t>Retenu</a:t>
            </a:r>
          </a:p>
        </p:txBody>
      </p:sp>
      <p:sp>
        <p:nvSpPr>
          <p:cNvPr id="41" name="Rounded Rectangle 40"/>
          <p:cNvSpPr/>
          <p:nvPr/>
        </p:nvSpPr>
        <p:spPr>
          <a:xfrm>
            <a:off x="6208776" y="2423160"/>
            <a:ext cx="2647188" cy="3017520"/>
          </a:xfrm>
          <a:prstGeom prst="roundRect">
            <a:avLst>
              <a:gd name="adj" fmla="val 8000"/>
            </a:avLst>
          </a:prstGeom>
          <a:solidFill>
            <a:srgbClr val="F4F8F5"/>
          </a:solidFill>
          <a:ln w="12700">
            <a:solidFill>
              <a:srgbClr val="E6EFE8"/>
            </a:solid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a:lstStyle/>
          <a:p>
            <a:pPr algn="ctr"/>
          </a:p>
        </p:txBody>
      </p:sp>
      <p:sp>
        <p:nvSpPr>
          <p:cNvPr id="42" name="Oval 41"/>
          <p:cNvSpPr/>
          <p:nvPr/>
        </p:nvSpPr>
        <p:spPr>
          <a:xfrm>
            <a:off x="6437376" y="2633472"/>
            <a:ext cx="457200" cy="457200"/>
          </a:xfrm>
          <a:prstGeom prst="ellipse">
            <a:avLst/>
          </a:prstGeom>
          <a:solidFill>
            <a:srgbClr val="1733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600" b="1" i="0">
                <a:solidFill>
                  <a:srgbClr val="FFFFFF"/>
                </a:solidFill>
                <a:latin typeface="Calibri"/>
              </a:rPr>
              <a:t>3</a:t>
            </a:r>
          </a:p>
        </p:txBody>
      </p:sp>
      <p:sp>
        <p:nvSpPr>
          <p:cNvPr id="43" name="TextBox 42"/>
          <p:cNvSpPr txBox="1"/>
          <p:nvPr/>
        </p:nvSpPr>
        <p:spPr>
          <a:xfrm>
            <a:off x="6437376" y="3246120"/>
            <a:ext cx="2189988" cy="365760"/>
          </a:xfrm>
          <a:prstGeom prst="rect">
            <a:avLst/>
          </a:prstGeom>
          <a:noFill/>
        </p:spPr>
        <p:txBody>
          <a:bodyPr wrap="square" anchor="t" lIns="0" rIns="0" tIns="0" bIns="0">
            <a:spAutoFit/>
          </a:bodyPr>
          <a:lstStyle/>
          <a:p>
            <a:pPr algn="l">
              <a:spcAft>
                <a:spcPts val="400"/>
              </a:spcAft>
            </a:pPr>
            <a:r>
              <a:rPr sz="1500" b="1" i="0">
                <a:solidFill>
                  <a:srgbClr val="17332A"/>
                </a:solidFill>
                <a:latin typeface="Calibri"/>
              </a:rPr>
              <a:t>Solo ou chœur</a:t>
            </a:r>
          </a:p>
        </p:txBody>
      </p:sp>
      <p:sp>
        <p:nvSpPr>
          <p:cNvPr id="44" name="TextBox 43"/>
          <p:cNvSpPr txBox="1"/>
          <p:nvPr/>
        </p:nvSpPr>
        <p:spPr>
          <a:xfrm>
            <a:off x="6437376" y="3657600"/>
            <a:ext cx="2189988" cy="1371600"/>
          </a:xfrm>
          <a:prstGeom prst="rect">
            <a:avLst/>
          </a:prstGeom>
          <a:noFill/>
        </p:spPr>
        <p:txBody>
          <a:bodyPr wrap="square" anchor="t" lIns="0" rIns="0" tIns="0" bIns="0">
            <a:spAutoFit/>
          </a:bodyPr>
          <a:lstStyle/>
          <a:p>
            <a:pPr algn="l">
              <a:spcAft>
                <a:spcPts val="400"/>
              </a:spcAft>
            </a:pPr>
            <a:r>
              <a:rPr sz="1250" b="0" i="0">
                <a:solidFill>
                  <a:srgbClr val="1C2B24"/>
                </a:solidFill>
                <a:latin typeface="Calibri"/>
              </a:rPr>
              <a:t>Densité de débuts de notes, chevauchements, étalement spectral. Hypothèse : un mâle seul ne sonne pas comme un groupe.</a:t>
            </a:r>
          </a:p>
        </p:txBody>
      </p:sp>
      <p:sp>
        <p:nvSpPr>
          <p:cNvPr id="45" name="Rounded Rectangle 44"/>
          <p:cNvSpPr/>
          <p:nvPr/>
        </p:nvSpPr>
        <p:spPr>
          <a:xfrm>
            <a:off x="6437376" y="5029200"/>
            <a:ext cx="960120" cy="237744"/>
          </a:xfrm>
          <a:prstGeom prst="roundRect">
            <a:avLst>
              <a:gd name="adj" fmla="val 50000"/>
            </a:avLst>
          </a:prstGeom>
          <a:solidFill>
            <a:srgbClr val="C0492F"/>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18288" bIns="18288" wrap="square"/>
          <a:lstStyle/>
          <a:p>
            <a:pPr algn="ctr">
              <a:spcAft>
                <a:spcPts val="400"/>
              </a:spcAft>
            </a:pPr>
            <a:r>
              <a:rPr sz="950" b="1" i="0">
                <a:solidFill>
                  <a:srgbClr val="FFFFFF"/>
                </a:solidFill>
                <a:latin typeface="Calibri"/>
              </a:rPr>
              <a:t>À trancher</a:t>
            </a:r>
          </a:p>
        </p:txBody>
      </p:sp>
      <p:sp>
        <p:nvSpPr>
          <p:cNvPr id="46" name="Rounded Rectangle 45"/>
          <p:cNvSpPr/>
          <p:nvPr/>
        </p:nvSpPr>
        <p:spPr>
          <a:xfrm>
            <a:off x="9084564" y="2423160"/>
            <a:ext cx="2647188" cy="3017520"/>
          </a:xfrm>
          <a:prstGeom prst="roundRect">
            <a:avLst>
              <a:gd name="adj" fmla="val 8000"/>
            </a:avLst>
          </a:prstGeom>
          <a:solidFill>
            <a:srgbClr val="F4F8F5"/>
          </a:solidFill>
          <a:ln w="12700">
            <a:solidFill>
              <a:srgbClr val="E6EFE8"/>
            </a:solid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a:lstStyle/>
          <a:p>
            <a:pPr algn="ctr"/>
          </a:p>
        </p:txBody>
      </p:sp>
      <p:sp>
        <p:nvSpPr>
          <p:cNvPr id="47" name="Oval 46"/>
          <p:cNvSpPr/>
          <p:nvPr/>
        </p:nvSpPr>
        <p:spPr>
          <a:xfrm>
            <a:off x="9313164" y="2633472"/>
            <a:ext cx="457200" cy="457200"/>
          </a:xfrm>
          <a:prstGeom prst="ellipse">
            <a:avLst/>
          </a:prstGeom>
          <a:solidFill>
            <a:srgbClr val="1733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600" b="1" i="0">
                <a:solidFill>
                  <a:srgbClr val="FFFFFF"/>
                </a:solidFill>
                <a:latin typeface="Calibri"/>
              </a:rPr>
              <a:t>4</a:t>
            </a:r>
          </a:p>
        </p:txBody>
      </p:sp>
      <p:sp>
        <p:nvSpPr>
          <p:cNvPr id="48" name="TextBox 47"/>
          <p:cNvSpPr txBox="1"/>
          <p:nvPr/>
        </p:nvSpPr>
        <p:spPr>
          <a:xfrm>
            <a:off x="9313164" y="3246120"/>
            <a:ext cx="2189988" cy="365760"/>
          </a:xfrm>
          <a:prstGeom prst="rect">
            <a:avLst/>
          </a:prstGeom>
          <a:noFill/>
        </p:spPr>
        <p:txBody>
          <a:bodyPr wrap="square" anchor="t" lIns="0" rIns="0" tIns="0" bIns="0">
            <a:spAutoFit/>
          </a:bodyPr>
          <a:lstStyle/>
          <a:p>
            <a:pPr algn="l">
              <a:spcAft>
                <a:spcPts val="400"/>
              </a:spcAft>
            </a:pPr>
            <a:r>
              <a:rPr sz="1500" b="1" i="0">
                <a:solidFill>
                  <a:srgbClr val="17332A"/>
                </a:solidFill>
                <a:latin typeface="Calibri"/>
              </a:rPr>
              <a:t>Heure et saison</a:t>
            </a:r>
          </a:p>
        </p:txBody>
      </p:sp>
      <p:sp>
        <p:nvSpPr>
          <p:cNvPr id="49" name="TextBox 48"/>
          <p:cNvSpPr txBox="1"/>
          <p:nvPr/>
        </p:nvSpPr>
        <p:spPr>
          <a:xfrm>
            <a:off x="9313164" y="3657600"/>
            <a:ext cx="2189988" cy="1371600"/>
          </a:xfrm>
          <a:prstGeom prst="rect">
            <a:avLst/>
          </a:prstGeom>
          <a:noFill/>
        </p:spPr>
        <p:txBody>
          <a:bodyPr wrap="square" anchor="t" lIns="0" rIns="0" tIns="0" bIns="0">
            <a:spAutoFit/>
          </a:bodyPr>
          <a:lstStyle/>
          <a:p>
            <a:pPr algn="l">
              <a:spcAft>
                <a:spcPts val="400"/>
              </a:spcAft>
            </a:pPr>
            <a:r>
              <a:rPr sz="1250" b="0" i="0">
                <a:solidFill>
                  <a:srgbClr val="1C2B24"/>
                </a:solidFill>
                <a:latin typeface="Calibri"/>
              </a:rPr>
              <a:t>Hors du classifieur : il apprendrait la phénologie de Mataroni. Servent de drapeau de plausibilité et à l'échantillonnage.</a:t>
            </a:r>
          </a:p>
        </p:txBody>
      </p:sp>
      <p:sp>
        <p:nvSpPr>
          <p:cNvPr id="50" name="Rounded Rectangle 49"/>
          <p:cNvSpPr/>
          <p:nvPr/>
        </p:nvSpPr>
        <p:spPr>
          <a:xfrm>
            <a:off x="9313164" y="5029200"/>
            <a:ext cx="960120" cy="237744"/>
          </a:xfrm>
          <a:prstGeom prst="roundRect">
            <a:avLst>
              <a:gd name="adj" fmla="val 50000"/>
            </a:avLst>
          </a:prstGeom>
          <a:solidFill>
            <a:srgbClr val="2F8F5B"/>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18288" bIns="18288" wrap="square"/>
          <a:lstStyle/>
          <a:p>
            <a:pPr algn="ctr">
              <a:spcAft>
                <a:spcPts val="400"/>
              </a:spcAft>
            </a:pPr>
            <a:r>
              <a:rPr sz="950" b="1" i="0">
                <a:solidFill>
                  <a:srgbClr val="FFFFFF"/>
                </a:solidFill>
                <a:latin typeface="Calibri"/>
              </a:rPr>
              <a:t>Retenu</a:t>
            </a:r>
          </a:p>
        </p:txBody>
      </p:sp>
      <p:sp>
        <p:nvSpPr>
          <p:cNvPr id="51" name="Rounded Rectangle 50"/>
          <p:cNvSpPr/>
          <p:nvPr/>
        </p:nvSpPr>
        <p:spPr>
          <a:xfrm>
            <a:off x="457200" y="5669280"/>
            <a:ext cx="11274552" cy="566928"/>
          </a:xfrm>
          <a:prstGeom prst="roundRect">
            <a:avLst>
              <a:gd name="adj" fmla="val 8000"/>
            </a:avLst>
          </a:prstGeom>
          <a:solidFill>
            <a:srgbClr val="E6EFE8"/>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400"/>
              </a:spcAft>
            </a:pPr>
            <a:r>
              <a:rPr sz="1300" b="0" i="0">
                <a:solidFill>
                  <a:srgbClr val="1C2B24"/>
                </a:solidFill>
                <a:latin typeface="Calibri"/>
              </a:rPr>
              <a:t>Descripteurs calculés sur l'audio, indépendants de l'encodeur.  </a:t>
            </a:r>
            <a:r>
              <a:rPr sz="1300" b="1" i="0">
                <a:solidFill>
                  <a:srgbClr val="1C2B24"/>
                </a:solidFill>
                <a:latin typeface="Calibri"/>
              </a:rPr>
              <a:t>À demander</a:t>
            </a:r>
            <a:r>
              <a:rPr sz="1300" b="0" i="0">
                <a:solidFill>
                  <a:srgbClr val="1C2B24"/>
                </a:solidFill>
                <a:latin typeface="Calibri"/>
              </a:rPr>
              <a:t> : </a:t>
            </a:r>
            <a:r>
              <a:rPr sz="1300" b="0" i="1">
                <a:solidFill>
                  <a:srgbClr val="1C2B24"/>
                </a:solidFill>
                <a:latin typeface="Calibri"/>
              </a:rPr>
              <a:t>A. blanci</a:t>
            </a:r>
            <a:r>
              <a:rPr sz="1300" b="0" i="0">
                <a:solidFill>
                  <a:srgbClr val="1C2B24"/>
                </a:solidFill>
                <a:latin typeface="Calibri"/>
              </a:rPr>
              <a:t> chante-t-elle parfois de façon ponctuelle ?</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8229600" cy="256032"/>
          </a:xfrm>
          <a:prstGeom prst="rect">
            <a:avLst/>
          </a:prstGeom>
          <a:noFill/>
        </p:spPr>
        <p:txBody>
          <a:bodyPr wrap="square" anchor="t" lIns="0" rIns="0" tIns="0" bIns="0">
            <a:spAutoFit/>
          </a:bodyPr>
          <a:lstStyle/>
          <a:p>
            <a:pPr algn="l">
              <a:spcAft>
                <a:spcPts val="400"/>
              </a:spcAft>
            </a:pPr>
            <a:r>
              <a:rPr sz="1100" b="1" i="0">
                <a:solidFill>
                  <a:srgbClr val="9A5A06"/>
                </a:solidFill>
                <a:latin typeface="Calibri"/>
              </a:rPr>
              <a:t>PIPELINE · ÉTAPE 6</a:t>
            </a:r>
          </a:p>
        </p:txBody>
      </p:sp>
      <p:sp>
        <p:nvSpPr>
          <p:cNvPr id="3" name="TextBox 2"/>
          <p:cNvSpPr txBox="1"/>
          <p:nvPr/>
        </p:nvSpPr>
        <p:spPr>
          <a:xfrm>
            <a:off x="457200" y="493776"/>
            <a:ext cx="11274552" cy="548640"/>
          </a:xfrm>
          <a:prstGeom prst="rect">
            <a:avLst/>
          </a:prstGeom>
          <a:noFill/>
        </p:spPr>
        <p:txBody>
          <a:bodyPr wrap="square" anchor="t" lIns="0" rIns="0" tIns="0" bIns="0">
            <a:spAutoFit/>
          </a:bodyPr>
          <a:lstStyle/>
          <a:p>
            <a:pPr algn="l">
              <a:spcAft>
                <a:spcPts val="400"/>
              </a:spcAft>
            </a:pPr>
            <a:r>
              <a:rPr sz="2600" b="1" i="0">
                <a:solidFill>
                  <a:srgbClr val="17332A"/>
                </a:solidFill>
                <a:latin typeface="Cambria"/>
              </a:rPr>
              <a:t>Fusion : combiner les deux branches</a:t>
            </a:r>
          </a:p>
        </p:txBody>
      </p:sp>
      <p:cxnSp>
        <p:nvCxnSpPr>
          <p:cNvPr id="4" name="Connector 3"/>
          <p:cNvCxnSpPr/>
          <p:nvPr/>
        </p:nvCxnSpPr>
        <p:spPr>
          <a:xfrm>
            <a:off x="1591056" y="1472184"/>
            <a:ext cx="315206" cy="0"/>
          </a:xfrm>
          <a:prstGeom prst="line">
            <a:avLst/>
          </a:prstGeom>
          <a:ln w="15875">
            <a:solidFill>
              <a:srgbClr val="9DB3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3040118" y="1472184"/>
            <a:ext cx="157604" cy="0"/>
          </a:xfrm>
          <a:prstGeom prst="line">
            <a:avLst/>
          </a:prstGeom>
          <a:ln w="15875">
            <a:solidFill>
              <a:srgbClr val="9DB3A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197722" y="1271016"/>
            <a:ext cx="0" cy="402336"/>
          </a:xfrm>
          <a:prstGeom prst="line">
            <a:avLst/>
          </a:prstGeom>
          <a:ln w="15875">
            <a:solidFill>
              <a:srgbClr val="9DB3A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3197722" y="1271016"/>
            <a:ext cx="157603" cy="0"/>
          </a:xfrm>
          <a:prstGeom prst="line">
            <a:avLst/>
          </a:prstGeom>
          <a:ln w="15875">
            <a:solidFill>
              <a:srgbClr val="9DB3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3197722" y="1673352"/>
            <a:ext cx="157603" cy="0"/>
          </a:xfrm>
          <a:prstGeom prst="line">
            <a:avLst/>
          </a:prstGeom>
          <a:ln w="15875">
            <a:solidFill>
              <a:srgbClr val="9DB3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489181" y="1271016"/>
            <a:ext cx="315207" cy="0"/>
          </a:xfrm>
          <a:prstGeom prst="line">
            <a:avLst/>
          </a:prstGeom>
          <a:ln w="15875">
            <a:solidFill>
              <a:srgbClr val="9DB3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938244" y="1271016"/>
            <a:ext cx="157603" cy="0"/>
          </a:xfrm>
          <a:prstGeom prst="line">
            <a:avLst/>
          </a:prstGeom>
          <a:ln w="15875">
            <a:solidFill>
              <a:srgbClr val="9DB3A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5938244" y="1673352"/>
            <a:ext cx="157603" cy="0"/>
          </a:xfrm>
          <a:prstGeom prst="line">
            <a:avLst/>
          </a:prstGeom>
          <a:ln w="15875">
            <a:solidFill>
              <a:srgbClr val="9DB3A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095847" y="1271016"/>
            <a:ext cx="0" cy="402336"/>
          </a:xfrm>
          <a:prstGeom prst="line">
            <a:avLst/>
          </a:prstGeom>
          <a:ln w="15875">
            <a:solidFill>
              <a:srgbClr val="9DB3A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6095847" y="1472184"/>
            <a:ext cx="157603" cy="0"/>
          </a:xfrm>
          <a:prstGeom prst="line">
            <a:avLst/>
          </a:prstGeom>
          <a:ln w="15875">
            <a:solidFill>
              <a:srgbClr val="9DB3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7387306" y="1472184"/>
            <a:ext cx="315207" cy="0"/>
          </a:xfrm>
          <a:prstGeom prst="line">
            <a:avLst/>
          </a:prstGeom>
          <a:ln w="15875">
            <a:solidFill>
              <a:srgbClr val="9DB3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836369" y="1472184"/>
            <a:ext cx="315207" cy="0"/>
          </a:xfrm>
          <a:prstGeom prst="line">
            <a:avLst/>
          </a:prstGeom>
          <a:ln w="15875">
            <a:solidFill>
              <a:srgbClr val="9DB3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0285432" y="1472184"/>
            <a:ext cx="315207" cy="0"/>
          </a:xfrm>
          <a:prstGeom prst="line">
            <a:avLst/>
          </a:prstGeom>
          <a:ln w="15875">
            <a:solidFill>
              <a:srgbClr val="9DB3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1167567" y="1627632"/>
            <a:ext cx="0" cy="292608"/>
          </a:xfrm>
          <a:prstGeom prst="line">
            <a:avLst/>
          </a:prstGeom>
          <a:ln w="19050">
            <a:solidFill>
              <a:srgbClr val="9DB3A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H="1">
            <a:off x="1024128" y="1920240"/>
            <a:ext cx="10143439" cy="0"/>
          </a:xfrm>
          <a:prstGeom prst="line">
            <a:avLst/>
          </a:prstGeom>
          <a:ln w="19050">
            <a:solidFill>
              <a:srgbClr val="9DB3A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1024128" y="1627632"/>
            <a:ext cx="0" cy="292608"/>
          </a:xfrm>
          <a:prstGeom prst="line">
            <a:avLst/>
          </a:prstGeom>
          <a:ln w="19050">
            <a:solidFill>
              <a:srgbClr val="9DB3A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457200" y="1316736"/>
            <a:ext cx="1133856" cy="310896"/>
          </a:xfrm>
          <a:prstGeom prst="roundRect">
            <a:avLst>
              <a:gd name="adj" fmla="val 14000"/>
            </a:avLst>
          </a:prstGeom>
          <a:solidFill>
            <a:srgbClr val="E6EF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0"/>
              </a:spcAft>
            </a:pPr>
            <a:r>
              <a:rPr sz="950" b="0" i="0">
                <a:solidFill>
                  <a:srgbClr val="5E6E66"/>
                </a:solidFill>
                <a:latin typeface="Calibri"/>
              </a:rPr>
              <a:t>Corpus + QC</a:t>
            </a:r>
          </a:p>
        </p:txBody>
      </p:sp>
      <p:sp>
        <p:nvSpPr>
          <p:cNvPr id="21" name="Rounded Rectangle 20"/>
          <p:cNvSpPr/>
          <p:nvPr/>
        </p:nvSpPr>
        <p:spPr>
          <a:xfrm>
            <a:off x="1906262" y="1316736"/>
            <a:ext cx="1133856" cy="310896"/>
          </a:xfrm>
          <a:prstGeom prst="roundRect">
            <a:avLst>
              <a:gd name="adj" fmla="val 14000"/>
            </a:avLst>
          </a:prstGeom>
          <a:solidFill>
            <a:srgbClr val="E6EF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0"/>
              </a:spcAft>
            </a:pPr>
            <a:r>
              <a:rPr sz="950" b="0" i="0">
                <a:solidFill>
                  <a:srgbClr val="5E6E66"/>
                </a:solidFill>
                <a:latin typeface="Calibri"/>
              </a:rPr>
              <a:t>Fenêtrage</a:t>
            </a:r>
          </a:p>
        </p:txBody>
      </p:sp>
      <p:sp>
        <p:nvSpPr>
          <p:cNvPr id="22" name="Rounded Rectangle 21"/>
          <p:cNvSpPr/>
          <p:nvPr/>
        </p:nvSpPr>
        <p:spPr>
          <a:xfrm>
            <a:off x="3355325" y="1115568"/>
            <a:ext cx="1133856" cy="310896"/>
          </a:xfrm>
          <a:prstGeom prst="roundRect">
            <a:avLst>
              <a:gd name="adj" fmla="val 14000"/>
            </a:avLst>
          </a:prstGeom>
          <a:solidFill>
            <a:srgbClr val="E6EF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0"/>
              </a:spcAft>
            </a:pPr>
            <a:r>
              <a:rPr sz="950" b="0" i="0">
                <a:solidFill>
                  <a:srgbClr val="5E6E66"/>
                </a:solidFill>
                <a:latin typeface="Calibri"/>
              </a:rPr>
              <a:t>Encodeur</a:t>
            </a:r>
          </a:p>
        </p:txBody>
      </p:sp>
      <p:sp>
        <p:nvSpPr>
          <p:cNvPr id="23" name="Rounded Rectangle 22"/>
          <p:cNvSpPr/>
          <p:nvPr/>
        </p:nvSpPr>
        <p:spPr>
          <a:xfrm>
            <a:off x="4804388" y="1115568"/>
            <a:ext cx="1133856" cy="310896"/>
          </a:xfrm>
          <a:prstGeom prst="roundRect">
            <a:avLst>
              <a:gd name="adj" fmla="val 14000"/>
            </a:avLst>
          </a:prstGeom>
          <a:solidFill>
            <a:srgbClr val="E6EF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0"/>
              </a:spcAft>
            </a:pPr>
            <a:r>
              <a:rPr sz="950" b="0" i="0">
                <a:solidFill>
                  <a:srgbClr val="5E6E66"/>
                </a:solidFill>
                <a:latin typeface="Calibri"/>
              </a:rPr>
              <a:t>Head</a:t>
            </a:r>
          </a:p>
        </p:txBody>
      </p:sp>
      <p:sp>
        <p:nvSpPr>
          <p:cNvPr id="24" name="Rounded Rectangle 23"/>
          <p:cNvSpPr/>
          <p:nvPr/>
        </p:nvSpPr>
        <p:spPr>
          <a:xfrm>
            <a:off x="3355325" y="1517904"/>
            <a:ext cx="2582918" cy="310896"/>
          </a:xfrm>
          <a:prstGeom prst="roundRect">
            <a:avLst>
              <a:gd name="adj" fmla="val 14000"/>
            </a:avLst>
          </a:prstGeom>
          <a:solidFill>
            <a:srgbClr val="E6EF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0"/>
              </a:spcAft>
            </a:pPr>
            <a:r>
              <a:rPr sz="950" b="0" i="0">
                <a:solidFill>
                  <a:srgbClr val="5E6E66"/>
                </a:solidFill>
                <a:latin typeface="Calibri"/>
              </a:rPr>
              <a:t>Module séquentiel</a:t>
            </a:r>
          </a:p>
        </p:txBody>
      </p:sp>
      <p:sp>
        <p:nvSpPr>
          <p:cNvPr id="25" name="Rounded Rectangle 24"/>
          <p:cNvSpPr/>
          <p:nvPr/>
        </p:nvSpPr>
        <p:spPr>
          <a:xfrm>
            <a:off x="6253450" y="1316736"/>
            <a:ext cx="1133856" cy="310896"/>
          </a:xfrm>
          <a:prstGeom prst="roundRect">
            <a:avLst>
              <a:gd name="adj" fmla="val 14000"/>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0"/>
              </a:spcAft>
            </a:pPr>
            <a:r>
              <a:rPr sz="950" b="1" i="0">
                <a:solidFill>
                  <a:srgbClr val="1C2B24"/>
                </a:solidFill>
                <a:latin typeface="Calibri"/>
              </a:rPr>
              <a:t>Fusion</a:t>
            </a:r>
          </a:p>
        </p:txBody>
      </p:sp>
      <p:sp>
        <p:nvSpPr>
          <p:cNvPr id="26" name="Rounded Rectangle 25"/>
          <p:cNvSpPr/>
          <p:nvPr/>
        </p:nvSpPr>
        <p:spPr>
          <a:xfrm>
            <a:off x="7702513" y="1316736"/>
            <a:ext cx="1133856" cy="310896"/>
          </a:xfrm>
          <a:prstGeom prst="roundRect">
            <a:avLst>
              <a:gd name="adj" fmla="val 14000"/>
            </a:avLst>
          </a:prstGeom>
          <a:solidFill>
            <a:srgbClr val="E6EF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0"/>
              </a:spcAft>
            </a:pPr>
            <a:r>
              <a:rPr sz="950" b="0" i="0">
                <a:solidFill>
                  <a:srgbClr val="5E6E66"/>
                </a:solidFill>
                <a:latin typeface="Calibri"/>
              </a:rPr>
              <a:t>Agrégation</a:t>
            </a:r>
          </a:p>
        </p:txBody>
      </p:sp>
      <p:sp>
        <p:nvSpPr>
          <p:cNvPr id="27" name="Rounded Rectangle 26"/>
          <p:cNvSpPr/>
          <p:nvPr/>
        </p:nvSpPr>
        <p:spPr>
          <a:xfrm>
            <a:off x="9151576" y="1316736"/>
            <a:ext cx="1133856" cy="310896"/>
          </a:xfrm>
          <a:prstGeom prst="roundRect">
            <a:avLst>
              <a:gd name="adj" fmla="val 14000"/>
            </a:avLst>
          </a:prstGeom>
          <a:solidFill>
            <a:srgbClr val="E6EF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0"/>
              </a:spcAft>
            </a:pPr>
            <a:r>
              <a:rPr sz="950" b="0" i="0">
                <a:solidFill>
                  <a:srgbClr val="5E6E66"/>
                </a:solidFill>
                <a:latin typeface="Calibri"/>
              </a:rPr>
              <a:t>Sélection</a:t>
            </a:r>
          </a:p>
        </p:txBody>
      </p:sp>
      <p:sp>
        <p:nvSpPr>
          <p:cNvPr id="28" name="Rounded Rectangle 27"/>
          <p:cNvSpPr/>
          <p:nvPr/>
        </p:nvSpPr>
        <p:spPr>
          <a:xfrm>
            <a:off x="10600639" y="1316736"/>
            <a:ext cx="1133856" cy="310896"/>
          </a:xfrm>
          <a:prstGeom prst="roundRect">
            <a:avLst>
              <a:gd name="adj" fmla="val 14000"/>
            </a:avLst>
          </a:prstGeom>
          <a:solidFill>
            <a:srgbClr val="E6EF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0"/>
              </a:spcAft>
            </a:pPr>
            <a:r>
              <a:rPr sz="950" b="0" i="0">
                <a:solidFill>
                  <a:srgbClr val="5E6E66"/>
                </a:solidFill>
                <a:latin typeface="Calibri"/>
              </a:rPr>
              <a:t>Annotation</a:t>
            </a:r>
          </a:p>
        </p:txBody>
      </p:sp>
      <p:sp>
        <p:nvSpPr>
          <p:cNvPr id="29" name="Rounded Rectangle 28"/>
          <p:cNvSpPr/>
          <p:nvPr/>
        </p:nvSpPr>
        <p:spPr>
          <a:xfrm>
            <a:off x="457200" y="1993392"/>
            <a:ext cx="11277295" cy="182880"/>
          </a:xfrm>
          <a:prstGeom prst="roundRect">
            <a:avLst>
              <a:gd name="adj" fmla="val 50000"/>
            </a:avLst>
          </a:prstGeom>
          <a:solidFill>
            <a:srgbClr val="F4F8F5"/>
          </a:solidFill>
          <a:ln>
            <a:noFill/>
          </a:ln>
          <a:effectLst/>
        </p:spPr>
        <p:style>
          <a:lnRef idx="1">
            <a:schemeClr val="accent1"/>
          </a:lnRef>
          <a:fillRef idx="3">
            <a:schemeClr val="accent1"/>
          </a:fillRef>
          <a:effectRef idx="2">
            <a:schemeClr val="accent1"/>
          </a:effectRef>
          <a:fontRef idx="minor">
            <a:schemeClr val="lt1"/>
          </a:fontRef>
        </p:style>
        <p:txBody>
          <a:bodyPr rtlCol="0" anchor="ctr" lIns="9144" rIns="9144" tIns="9144" bIns="9144" wrap="square"/>
          <a:lstStyle/>
          <a:p>
            <a:pPr algn="ctr">
              <a:spcAft>
                <a:spcPts val="400"/>
              </a:spcAft>
            </a:pPr>
            <a:r>
              <a:rPr sz="850" b="0" i="0">
                <a:solidFill>
                  <a:srgbClr val="5E6E66"/>
                </a:solidFill>
                <a:latin typeface="Calibri"/>
              </a:rPr>
              <a:t>Évaluation (transverse)</a:t>
            </a:r>
          </a:p>
        </p:txBody>
      </p:sp>
      <p:sp>
        <p:nvSpPr>
          <p:cNvPr id="30" name="TextBox 29"/>
          <p:cNvSpPr txBox="1"/>
          <p:nvPr/>
        </p:nvSpPr>
        <p:spPr>
          <a:xfrm>
            <a:off x="11277295" y="6473952"/>
            <a:ext cx="457200" cy="228600"/>
          </a:xfrm>
          <a:prstGeom prst="rect">
            <a:avLst/>
          </a:prstGeom>
          <a:noFill/>
        </p:spPr>
        <p:txBody>
          <a:bodyPr wrap="square" anchor="t" lIns="0" rIns="0" tIns="0" bIns="0">
            <a:spAutoFit/>
          </a:bodyPr>
          <a:lstStyle/>
          <a:p>
            <a:pPr algn="r">
              <a:spcAft>
                <a:spcPts val="400"/>
              </a:spcAft>
            </a:pPr>
            <a:r>
              <a:rPr sz="1000" b="0" i="0">
                <a:solidFill>
                  <a:srgbClr val="5E6E66"/>
                </a:solidFill>
                <a:latin typeface="Calibri"/>
              </a:rPr>
              <a:t>10</a:t>
            </a:r>
          </a:p>
        </p:txBody>
      </p:sp>
      <p:sp>
        <p:nvSpPr>
          <p:cNvPr id="31" name="Rounded Rectangle 30"/>
          <p:cNvSpPr/>
          <p:nvPr/>
        </p:nvSpPr>
        <p:spPr>
          <a:xfrm>
            <a:off x="457200" y="2560320"/>
            <a:ext cx="2651760" cy="640080"/>
          </a:xfrm>
          <a:prstGeom prst="roundRect">
            <a:avLst>
              <a:gd name="adj" fmla="val 8000"/>
            </a:avLst>
          </a:prstGeom>
          <a:solidFill>
            <a:srgbClr val="E6EFE8"/>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rIns="137160" tIns="137160" bIns="137160" wrap="square"/>
          <a:lstStyle/>
          <a:p>
            <a:pPr algn="ctr">
              <a:spcAft>
                <a:spcPts val="400"/>
              </a:spcAft>
            </a:pPr>
            <a:r>
              <a:rPr sz="1250" b="0" i="0">
                <a:solidFill>
                  <a:srgbClr val="1C2B24"/>
                </a:solidFill>
                <a:latin typeface="Calibri"/>
              </a:rPr>
              <a:t>Score hors-pli de la tête</a:t>
            </a:r>
          </a:p>
        </p:txBody>
      </p:sp>
      <p:cxnSp>
        <p:nvCxnSpPr>
          <p:cNvPr id="32" name="Connector 31"/>
          <p:cNvCxnSpPr/>
          <p:nvPr/>
        </p:nvCxnSpPr>
        <p:spPr>
          <a:xfrm>
            <a:off x="3108960" y="2880360"/>
            <a:ext cx="640079" cy="731520"/>
          </a:xfrm>
          <a:prstGeom prst="line">
            <a:avLst/>
          </a:prstGeom>
          <a:ln w="19050">
            <a:solidFill>
              <a:srgbClr val="2F6B4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457200" y="3429000"/>
            <a:ext cx="2651760" cy="640080"/>
          </a:xfrm>
          <a:prstGeom prst="roundRect">
            <a:avLst>
              <a:gd name="adj" fmla="val 8000"/>
            </a:avLst>
          </a:prstGeom>
          <a:solidFill>
            <a:srgbClr val="E6EFE8"/>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rIns="137160" tIns="137160" bIns="137160" wrap="square"/>
          <a:lstStyle/>
          <a:p>
            <a:pPr algn="ctr">
              <a:spcAft>
                <a:spcPts val="400"/>
              </a:spcAft>
            </a:pPr>
            <a:r>
              <a:rPr sz="1250" b="0" i="0">
                <a:solidFill>
                  <a:srgbClr val="1C2B24"/>
                </a:solidFill>
                <a:latin typeface="Calibri"/>
              </a:rPr>
              <a:t>Descripteurs séquentiels (2 à 4)</a:t>
            </a:r>
          </a:p>
        </p:txBody>
      </p:sp>
      <p:cxnSp>
        <p:nvCxnSpPr>
          <p:cNvPr id="34" name="Connector 33"/>
          <p:cNvCxnSpPr/>
          <p:nvPr/>
        </p:nvCxnSpPr>
        <p:spPr>
          <a:xfrm flipV="1">
            <a:off x="3108960" y="3611880"/>
            <a:ext cx="640079" cy="137159"/>
          </a:xfrm>
          <a:prstGeom prst="line">
            <a:avLst/>
          </a:prstGeom>
          <a:ln w="19050">
            <a:solidFill>
              <a:srgbClr val="2F6B4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457200" y="4297679"/>
            <a:ext cx="2651760" cy="640080"/>
          </a:xfrm>
          <a:prstGeom prst="roundRect">
            <a:avLst>
              <a:gd name="adj" fmla="val 8000"/>
            </a:avLst>
          </a:prstGeom>
          <a:solidFill>
            <a:srgbClr val="E6EFE8"/>
          </a:solidFill>
          <a:ln w="12700">
            <a:solidFill>
              <a:srgbClr val="9DB3A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lIns="137160" rIns="137160" tIns="137160" bIns="137160" wrap="square"/>
          <a:lstStyle/>
          <a:p>
            <a:pPr algn="ctr">
              <a:spcAft>
                <a:spcPts val="400"/>
              </a:spcAft>
            </a:pPr>
            <a:r>
              <a:rPr sz="1250" b="0" i="0">
                <a:solidFill>
                  <a:srgbClr val="1C2B24"/>
                </a:solidFill>
                <a:latin typeface="Calibri"/>
              </a:rPr>
              <a:t>Logits des congénères (option)</a:t>
            </a:r>
          </a:p>
        </p:txBody>
      </p:sp>
      <p:cxnSp>
        <p:nvCxnSpPr>
          <p:cNvPr id="36" name="Connector 35"/>
          <p:cNvCxnSpPr/>
          <p:nvPr/>
        </p:nvCxnSpPr>
        <p:spPr>
          <a:xfrm flipV="1">
            <a:off x="3108960" y="3611880"/>
            <a:ext cx="640079" cy="1005839"/>
          </a:xfrm>
          <a:prstGeom prst="line">
            <a:avLst/>
          </a:prstGeom>
          <a:ln w="19050">
            <a:solidFill>
              <a:srgbClr val="2F6B4F"/>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7" name="Rounded Rectangle 36"/>
          <p:cNvSpPr/>
          <p:nvPr/>
        </p:nvSpPr>
        <p:spPr>
          <a:xfrm>
            <a:off x="3749039" y="3154680"/>
            <a:ext cx="2011680" cy="914400"/>
          </a:xfrm>
          <a:prstGeom prst="roundRect">
            <a:avLst>
              <a:gd name="adj" fmla="val 8000"/>
            </a:avLst>
          </a:prstGeom>
          <a:solidFill>
            <a:srgbClr val="17332A"/>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rIns="137160" tIns="137160" bIns="137160" wrap="square"/>
          <a:lstStyle/>
          <a:p>
            <a:pPr algn="ctr">
              <a:spcAft>
                <a:spcPts val="0"/>
              </a:spcAft>
            </a:pPr>
            <a:r>
              <a:rPr sz="1300" b="1" i="0">
                <a:solidFill>
                  <a:srgbClr val="FFFFFF"/>
                </a:solidFill>
                <a:latin typeface="Calibri"/>
              </a:rPr>
              <a:t>Régression logistique</a:t>
            </a:r>
          </a:p>
          <a:p>
            <a:pPr algn="ctr">
              <a:spcAft>
                <a:spcPts val="0"/>
              </a:spcAft>
            </a:pPr>
            <a:r>
              <a:rPr sz="1300" b="0" i="0">
                <a:solidFill>
                  <a:srgbClr val="FFFFFF"/>
                </a:solidFill>
                <a:latin typeface="Calibri"/>
              </a:rPr>
              <a:t>niveau 2</a:t>
            </a:r>
          </a:p>
        </p:txBody>
      </p:sp>
      <p:cxnSp>
        <p:nvCxnSpPr>
          <p:cNvPr id="38" name="Connector 37"/>
          <p:cNvCxnSpPr/>
          <p:nvPr/>
        </p:nvCxnSpPr>
        <p:spPr>
          <a:xfrm>
            <a:off x="5760720" y="3611880"/>
            <a:ext cx="548640" cy="0"/>
          </a:xfrm>
          <a:prstGeom prst="line">
            <a:avLst/>
          </a:prstGeom>
          <a:ln w="22225">
            <a:solidFill>
              <a:srgbClr val="2F6B4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Rounded Rectangle 38"/>
          <p:cNvSpPr/>
          <p:nvPr/>
        </p:nvSpPr>
        <p:spPr>
          <a:xfrm>
            <a:off x="6309360" y="3291840"/>
            <a:ext cx="1097280" cy="640080"/>
          </a:xfrm>
          <a:prstGeom prst="roundRect">
            <a:avLst>
              <a:gd name="adj" fmla="val 8000"/>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400"/>
              </a:spcAft>
            </a:pPr>
            <a:r>
              <a:rPr sz="1250" b="1" i="0">
                <a:solidFill>
                  <a:srgbClr val="1C2B24"/>
                </a:solidFill>
                <a:latin typeface="Calibri"/>
              </a:rPr>
              <a:t>Score final</a:t>
            </a:r>
          </a:p>
        </p:txBody>
      </p:sp>
      <p:sp>
        <p:nvSpPr>
          <p:cNvPr id="40" name="TextBox 39"/>
          <p:cNvSpPr txBox="1"/>
          <p:nvPr/>
        </p:nvSpPr>
        <p:spPr>
          <a:xfrm>
            <a:off x="457200" y="5257800"/>
            <a:ext cx="6949440" cy="1005840"/>
          </a:xfrm>
          <a:prstGeom prst="rect">
            <a:avLst/>
          </a:prstGeom>
          <a:noFill/>
        </p:spPr>
        <p:txBody>
          <a:bodyPr wrap="square" anchor="t" lIns="0" rIns="0" tIns="0" bIns="0">
            <a:spAutoFit/>
          </a:bodyPr>
          <a:lstStyle/>
          <a:p>
            <a:pPr algn="l" marL="164592" indent="-164592">
              <a:spcAft>
                <a:spcPts val="400"/>
              </a:spcAft>
              <a:buClr>
                <a:srgbClr val="2F6B4F"/>
              </a:buClr>
              <a:buFont typeface="Arial"/>
              <a:buChar char="•"/>
            </a:pPr>
            <a:r>
              <a:rPr sz="1250" b="1" i="0">
                <a:solidFill>
                  <a:srgbClr val="1C2B24"/>
                </a:solidFill>
                <a:latin typeface="Calibri"/>
              </a:rPr>
              <a:t>Hors-pli</a:t>
            </a:r>
            <a:r>
              <a:rPr sz="1250" b="0" i="0">
                <a:solidFill>
                  <a:srgbClr val="1C2B24"/>
                </a:solidFill>
                <a:latin typeface="Calibri"/>
              </a:rPr>
              <a:t> : le score de la tête vient d'une version entraînée sans l'exemple concerné, sinon la fusion apprendrait sur des scores trop optimistes.</a:t>
            </a:r>
          </a:p>
          <a:p>
            <a:pPr algn="l" marL="164592" indent="-164592">
              <a:spcAft>
                <a:spcPts val="400"/>
              </a:spcAft>
              <a:buClr>
                <a:srgbClr val="2F6B4F"/>
              </a:buClr>
              <a:buFont typeface="Arial"/>
              <a:buChar char="•"/>
            </a:pPr>
            <a:r>
              <a:rPr sz="1250" b="1" i="0">
                <a:solidFill>
                  <a:srgbClr val="1C2B24"/>
                </a:solidFill>
                <a:latin typeface="Calibri"/>
              </a:rPr>
              <a:t>Le séquentiel module, il n'a jamais de veto.</a:t>
            </a:r>
          </a:p>
        </p:txBody>
      </p:sp>
      <p:graphicFrame>
        <p:nvGraphicFramePr>
          <p:cNvPr id="41" name="Table 40"/>
          <p:cNvGraphicFramePr>
            <a:graphicFrameLocks noGrp="1"/>
          </p:cNvGraphicFramePr>
          <p:nvPr/>
        </p:nvGraphicFramePr>
        <p:xfrm>
          <a:off x="7818120" y="2395728"/>
          <a:ext cx="3913632" cy="2834640"/>
        </p:xfrm>
        <a:graphic>
          <a:graphicData uri="http://schemas.openxmlformats.org/drawingml/2006/table">
            <a:tbl>
              <a:tblPr firstRow="1">
                <a:tableStyleId>{5C22544A-7EE6-4342-B048-85BDC9FD1C3A}</a:tableStyleId>
              </a:tblPr>
              <a:tblGrid>
                <a:gridCol w="2651760"/>
                <a:gridCol w="1261872"/>
              </a:tblGrid>
              <a:tr h="566928">
                <a:tc>
                  <a:txBody>
                    <a:bodyPr wrap="square"/>
                    <a:lstStyle/>
                    <a:p>
                      <a:pPr algn="l">
                        <a:spcAft>
                          <a:spcPts val="0"/>
                        </a:spcAft>
                      </a:pPr>
                      <a:r>
                        <a:rPr sz="1150" b="1" i="0">
                          <a:solidFill>
                            <a:srgbClr val="FFFFFF"/>
                          </a:solidFill>
                          <a:latin typeface="Calibri"/>
                        </a:rPr>
                        <a:t>À décider</a:t>
                      </a:r>
                    </a:p>
                  </a:txBody>
                  <a:tcPr marL="73152" marR="73152" marT="36576" marB="36576" anchor="ctr">
                    <a:solidFill>
                      <a:srgbClr val="17332A"/>
                    </a:solidFill>
                  </a:tcPr>
                </a:tc>
                <a:tc>
                  <a:txBody>
                    <a:bodyPr wrap="square"/>
                    <a:lstStyle/>
                    <a:p>
                      <a:pPr algn="l">
                        <a:spcAft>
                          <a:spcPts val="0"/>
                        </a:spcAft>
                      </a:pPr>
                      <a:r>
                        <a:rPr sz="1150" b="1" i="0">
                          <a:solidFill>
                            <a:srgbClr val="FFFFFF"/>
                          </a:solidFill>
                          <a:latin typeface="Calibri"/>
                        </a:rPr>
                        <a:t>Statut</a:t>
                      </a:r>
                    </a:p>
                  </a:txBody>
                  <a:tcPr marL="73152" marR="73152" marT="36576" marB="36576" anchor="ctr">
                    <a:solidFill>
                      <a:srgbClr val="17332A"/>
                    </a:solidFill>
                  </a:tcPr>
                </a:tc>
              </a:tr>
              <a:tr h="566928">
                <a:tc>
                  <a:txBody>
                    <a:bodyPr wrap="square"/>
                    <a:lstStyle/>
                    <a:p>
                      <a:pPr algn="l">
                        <a:spcAft>
                          <a:spcPts val="0"/>
                        </a:spcAft>
                      </a:pPr>
                      <a:r>
                        <a:rPr sz="1150" b="1" i="0">
                          <a:solidFill>
                            <a:srgbClr val="17332A"/>
                          </a:solidFill>
                          <a:latin typeface="Calibri"/>
                        </a:rPr>
                        <a:t>Stacking par régression logistique</a:t>
                      </a:r>
                    </a:p>
                  </a:txBody>
                  <a:tcPr marL="73152" marR="73152" marT="36576" marB="36576" anchor="ctr">
                    <a:solidFill>
                      <a:srgbClr val="F4F8F5"/>
                    </a:solidFill>
                  </a:tcPr>
                </a:tc>
                <a:tc>
                  <a:txBody>
                    <a:bodyPr wrap="square"/>
                    <a:lstStyle/>
                    <a:p>
                      <a:pPr algn="l">
                        <a:spcAft>
                          <a:spcPts val="0"/>
                        </a:spcAft>
                      </a:pPr>
                      <a:r>
                        <a:rPr sz="1150" b="1" i="0">
                          <a:solidFill>
                            <a:srgbClr val="2F8F5B"/>
                          </a:solidFill>
                          <a:latin typeface="Calibri"/>
                        </a:rPr>
                        <a:t>● Retenu</a:t>
                      </a:r>
                    </a:p>
                  </a:txBody>
                  <a:tcPr marL="73152" marR="73152" marT="36576" marB="36576" anchor="ctr">
                    <a:solidFill>
                      <a:srgbClr val="F4F8F5"/>
                    </a:solidFill>
                  </a:tcPr>
                </a:tc>
              </a:tr>
              <a:tr h="566928">
                <a:tc>
                  <a:txBody>
                    <a:bodyPr wrap="square"/>
                    <a:lstStyle/>
                    <a:p>
                      <a:pPr algn="l">
                        <a:spcAft>
                          <a:spcPts val="0"/>
                        </a:spcAft>
                      </a:pPr>
                      <a:r>
                        <a:rPr sz="1150" b="1" i="0">
                          <a:solidFill>
                            <a:srgbClr val="17332A"/>
                          </a:solidFill>
                          <a:latin typeface="Calibri"/>
                        </a:rPr>
                        <a:t>Pondérer les entrées : quel expert écouter en priorité ?</a:t>
                      </a:r>
                    </a:p>
                  </a:txBody>
                  <a:tcPr marL="73152" marR="73152" marT="36576" marB="36576" anchor="ctr">
                    <a:solidFill>
                      <a:srgbClr val="FFFFFF"/>
                    </a:solidFill>
                  </a:tcPr>
                </a:tc>
                <a:tc>
                  <a:txBody>
                    <a:bodyPr wrap="square"/>
                    <a:lstStyle/>
                    <a:p>
                      <a:pPr algn="l">
                        <a:spcAft>
                          <a:spcPts val="0"/>
                        </a:spcAft>
                      </a:pPr>
                      <a:r>
                        <a:rPr sz="1150" b="1" i="0">
                          <a:solidFill>
                            <a:srgbClr val="C9780E"/>
                          </a:solidFill>
                          <a:latin typeface="Calibri"/>
                        </a:rPr>
                        <a:t>● À comparer</a:t>
                      </a:r>
                    </a:p>
                  </a:txBody>
                  <a:tcPr marL="73152" marR="73152" marT="36576" marB="36576" anchor="ctr">
                    <a:solidFill>
                      <a:srgbClr val="FFFFFF"/>
                    </a:solidFill>
                  </a:tcPr>
                </a:tc>
              </a:tr>
              <a:tr h="566928">
                <a:tc>
                  <a:txBody>
                    <a:bodyPr wrap="square"/>
                    <a:lstStyle/>
                    <a:p>
                      <a:pPr algn="l">
                        <a:spcAft>
                          <a:spcPts val="0"/>
                        </a:spcAft>
                      </a:pPr>
                      <a:r>
                        <a:rPr sz="1150" b="1" i="0">
                          <a:solidFill>
                            <a:srgbClr val="17332A"/>
                          </a:solidFill>
                          <a:latin typeface="Calibri"/>
                        </a:rPr>
                        <a:t>Fusions simples en comparaison : moyenne des scores, règle</a:t>
                      </a:r>
                    </a:p>
                  </a:txBody>
                  <a:tcPr marL="73152" marR="73152" marT="36576" marB="36576" anchor="ctr">
                    <a:solidFill>
                      <a:srgbClr val="F4F8F5"/>
                    </a:solidFill>
                  </a:tcPr>
                </a:tc>
                <a:tc>
                  <a:txBody>
                    <a:bodyPr wrap="square"/>
                    <a:lstStyle/>
                    <a:p>
                      <a:pPr algn="l">
                        <a:spcAft>
                          <a:spcPts val="0"/>
                        </a:spcAft>
                      </a:pPr>
                      <a:r>
                        <a:rPr sz="1150" b="1" i="0">
                          <a:solidFill>
                            <a:srgbClr val="C9780E"/>
                          </a:solidFill>
                          <a:latin typeface="Calibri"/>
                        </a:rPr>
                        <a:t>● À comparer</a:t>
                      </a:r>
                    </a:p>
                  </a:txBody>
                  <a:tcPr marL="73152" marR="73152" marT="36576" marB="36576" anchor="ctr">
                    <a:solidFill>
                      <a:srgbClr val="F4F8F5"/>
                    </a:solidFill>
                  </a:tcPr>
                </a:tc>
              </a:tr>
              <a:tr h="566928">
                <a:tc>
                  <a:txBody>
                    <a:bodyPr wrap="square"/>
                    <a:lstStyle/>
                    <a:p>
                      <a:pPr algn="l">
                        <a:spcAft>
                          <a:spcPts val="0"/>
                        </a:spcAft>
                      </a:pPr>
                      <a:r>
                        <a:rPr sz="1150" b="1" i="0">
                          <a:solidFill>
                            <a:srgbClr val="17332A"/>
                          </a:solidFill>
                          <a:latin typeface="Calibri"/>
                        </a:rPr>
                        <a:t>Concaténer les embeddings de deux encodeurs</a:t>
                      </a:r>
                    </a:p>
                  </a:txBody>
                  <a:tcPr marL="73152" marR="73152" marT="36576" marB="36576" anchor="ctr">
                    <a:solidFill>
                      <a:srgbClr val="FFFFFF"/>
                    </a:solidFill>
                  </a:tcPr>
                </a:tc>
                <a:tc>
                  <a:txBody>
                    <a:bodyPr wrap="square"/>
                    <a:lstStyle/>
                    <a:p>
                      <a:pPr algn="l">
                        <a:spcAft>
                          <a:spcPts val="0"/>
                        </a:spcAft>
                      </a:pPr>
                      <a:r>
                        <a:rPr sz="1150" b="1" i="0">
                          <a:solidFill>
                            <a:srgbClr val="7D8983"/>
                          </a:solidFill>
                          <a:latin typeface="Calibri"/>
                        </a:rPr>
                        <a:t>● Plus tard</a:t>
                      </a:r>
                    </a:p>
                  </a:txBody>
                  <a:tcPr marL="73152" marR="73152" marT="36576" marB="36576" anchor="ctr">
                    <a:solidFill>
                      <a:srgbClr val="FFFFFF"/>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8229600" cy="256032"/>
          </a:xfrm>
          <a:prstGeom prst="rect">
            <a:avLst/>
          </a:prstGeom>
          <a:noFill/>
        </p:spPr>
        <p:txBody>
          <a:bodyPr wrap="square" anchor="t" lIns="0" rIns="0" tIns="0" bIns="0">
            <a:spAutoFit/>
          </a:bodyPr>
          <a:lstStyle/>
          <a:p>
            <a:pPr algn="l">
              <a:spcAft>
                <a:spcPts val="400"/>
              </a:spcAft>
            </a:pPr>
            <a:r>
              <a:rPr sz="1100" b="1" i="0">
                <a:solidFill>
                  <a:srgbClr val="9A5A06"/>
                </a:solidFill>
                <a:latin typeface="Calibri"/>
              </a:rPr>
              <a:t>PIPELINE · ÉTAPE 7</a:t>
            </a:r>
          </a:p>
        </p:txBody>
      </p:sp>
      <p:sp>
        <p:nvSpPr>
          <p:cNvPr id="3" name="TextBox 2"/>
          <p:cNvSpPr txBox="1"/>
          <p:nvPr/>
        </p:nvSpPr>
        <p:spPr>
          <a:xfrm>
            <a:off x="457200" y="493776"/>
            <a:ext cx="11274552" cy="548640"/>
          </a:xfrm>
          <a:prstGeom prst="rect">
            <a:avLst/>
          </a:prstGeom>
          <a:noFill/>
        </p:spPr>
        <p:txBody>
          <a:bodyPr wrap="square" anchor="t" lIns="0" rIns="0" tIns="0" bIns="0">
            <a:spAutoFit/>
          </a:bodyPr>
          <a:lstStyle/>
          <a:p>
            <a:pPr algn="l">
              <a:spcAft>
                <a:spcPts val="400"/>
              </a:spcAft>
            </a:pPr>
            <a:r>
              <a:rPr sz="2600" b="1" i="0">
                <a:solidFill>
                  <a:srgbClr val="17332A"/>
                </a:solidFill>
                <a:latin typeface="Cambria"/>
              </a:rPr>
              <a:t>Agrégation : de la fenêtre au point d'écoute</a:t>
            </a:r>
          </a:p>
        </p:txBody>
      </p:sp>
      <p:cxnSp>
        <p:nvCxnSpPr>
          <p:cNvPr id="4" name="Connector 3"/>
          <p:cNvCxnSpPr/>
          <p:nvPr/>
        </p:nvCxnSpPr>
        <p:spPr>
          <a:xfrm>
            <a:off x="1591056" y="1472184"/>
            <a:ext cx="315206" cy="0"/>
          </a:xfrm>
          <a:prstGeom prst="line">
            <a:avLst/>
          </a:prstGeom>
          <a:ln w="15875">
            <a:solidFill>
              <a:srgbClr val="9DB3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3040118" y="1472184"/>
            <a:ext cx="157604" cy="0"/>
          </a:xfrm>
          <a:prstGeom prst="line">
            <a:avLst/>
          </a:prstGeom>
          <a:ln w="15875">
            <a:solidFill>
              <a:srgbClr val="9DB3A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197722" y="1271016"/>
            <a:ext cx="0" cy="402336"/>
          </a:xfrm>
          <a:prstGeom prst="line">
            <a:avLst/>
          </a:prstGeom>
          <a:ln w="15875">
            <a:solidFill>
              <a:srgbClr val="9DB3A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3197722" y="1271016"/>
            <a:ext cx="157603" cy="0"/>
          </a:xfrm>
          <a:prstGeom prst="line">
            <a:avLst/>
          </a:prstGeom>
          <a:ln w="15875">
            <a:solidFill>
              <a:srgbClr val="9DB3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3197722" y="1673352"/>
            <a:ext cx="157603" cy="0"/>
          </a:xfrm>
          <a:prstGeom prst="line">
            <a:avLst/>
          </a:prstGeom>
          <a:ln w="15875">
            <a:solidFill>
              <a:srgbClr val="9DB3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489181" y="1271016"/>
            <a:ext cx="315207" cy="0"/>
          </a:xfrm>
          <a:prstGeom prst="line">
            <a:avLst/>
          </a:prstGeom>
          <a:ln w="15875">
            <a:solidFill>
              <a:srgbClr val="9DB3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938244" y="1271016"/>
            <a:ext cx="157603" cy="0"/>
          </a:xfrm>
          <a:prstGeom prst="line">
            <a:avLst/>
          </a:prstGeom>
          <a:ln w="15875">
            <a:solidFill>
              <a:srgbClr val="9DB3A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5938244" y="1673352"/>
            <a:ext cx="157603" cy="0"/>
          </a:xfrm>
          <a:prstGeom prst="line">
            <a:avLst/>
          </a:prstGeom>
          <a:ln w="15875">
            <a:solidFill>
              <a:srgbClr val="9DB3A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095847" y="1271016"/>
            <a:ext cx="0" cy="402336"/>
          </a:xfrm>
          <a:prstGeom prst="line">
            <a:avLst/>
          </a:prstGeom>
          <a:ln w="15875">
            <a:solidFill>
              <a:srgbClr val="9DB3A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6095847" y="1472184"/>
            <a:ext cx="157603" cy="0"/>
          </a:xfrm>
          <a:prstGeom prst="line">
            <a:avLst/>
          </a:prstGeom>
          <a:ln w="15875">
            <a:solidFill>
              <a:srgbClr val="9DB3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7387306" y="1472184"/>
            <a:ext cx="315207" cy="0"/>
          </a:xfrm>
          <a:prstGeom prst="line">
            <a:avLst/>
          </a:prstGeom>
          <a:ln w="15875">
            <a:solidFill>
              <a:srgbClr val="9DB3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836369" y="1472184"/>
            <a:ext cx="315207" cy="0"/>
          </a:xfrm>
          <a:prstGeom prst="line">
            <a:avLst/>
          </a:prstGeom>
          <a:ln w="15875">
            <a:solidFill>
              <a:srgbClr val="9DB3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0285432" y="1472184"/>
            <a:ext cx="315207" cy="0"/>
          </a:xfrm>
          <a:prstGeom prst="line">
            <a:avLst/>
          </a:prstGeom>
          <a:ln w="15875">
            <a:solidFill>
              <a:srgbClr val="9DB3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1167567" y="1627632"/>
            <a:ext cx="0" cy="292608"/>
          </a:xfrm>
          <a:prstGeom prst="line">
            <a:avLst/>
          </a:prstGeom>
          <a:ln w="19050">
            <a:solidFill>
              <a:srgbClr val="9DB3A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H="1">
            <a:off x="1024128" y="1920240"/>
            <a:ext cx="10143439" cy="0"/>
          </a:xfrm>
          <a:prstGeom prst="line">
            <a:avLst/>
          </a:prstGeom>
          <a:ln w="19050">
            <a:solidFill>
              <a:srgbClr val="9DB3A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1024128" y="1627632"/>
            <a:ext cx="0" cy="292608"/>
          </a:xfrm>
          <a:prstGeom prst="line">
            <a:avLst/>
          </a:prstGeom>
          <a:ln w="19050">
            <a:solidFill>
              <a:srgbClr val="9DB3A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457200" y="1316736"/>
            <a:ext cx="1133856" cy="310896"/>
          </a:xfrm>
          <a:prstGeom prst="roundRect">
            <a:avLst>
              <a:gd name="adj" fmla="val 14000"/>
            </a:avLst>
          </a:prstGeom>
          <a:solidFill>
            <a:srgbClr val="E6EF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0"/>
              </a:spcAft>
            </a:pPr>
            <a:r>
              <a:rPr sz="950" b="0" i="0">
                <a:solidFill>
                  <a:srgbClr val="5E6E66"/>
                </a:solidFill>
                <a:latin typeface="Calibri"/>
              </a:rPr>
              <a:t>Corpus + QC</a:t>
            </a:r>
          </a:p>
        </p:txBody>
      </p:sp>
      <p:sp>
        <p:nvSpPr>
          <p:cNvPr id="21" name="Rounded Rectangle 20"/>
          <p:cNvSpPr/>
          <p:nvPr/>
        </p:nvSpPr>
        <p:spPr>
          <a:xfrm>
            <a:off x="1906262" y="1316736"/>
            <a:ext cx="1133856" cy="310896"/>
          </a:xfrm>
          <a:prstGeom prst="roundRect">
            <a:avLst>
              <a:gd name="adj" fmla="val 14000"/>
            </a:avLst>
          </a:prstGeom>
          <a:solidFill>
            <a:srgbClr val="E6EF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0"/>
              </a:spcAft>
            </a:pPr>
            <a:r>
              <a:rPr sz="950" b="0" i="0">
                <a:solidFill>
                  <a:srgbClr val="5E6E66"/>
                </a:solidFill>
                <a:latin typeface="Calibri"/>
              </a:rPr>
              <a:t>Fenêtrage</a:t>
            </a:r>
          </a:p>
        </p:txBody>
      </p:sp>
      <p:sp>
        <p:nvSpPr>
          <p:cNvPr id="22" name="Rounded Rectangle 21"/>
          <p:cNvSpPr/>
          <p:nvPr/>
        </p:nvSpPr>
        <p:spPr>
          <a:xfrm>
            <a:off x="3355325" y="1115568"/>
            <a:ext cx="1133856" cy="310896"/>
          </a:xfrm>
          <a:prstGeom prst="roundRect">
            <a:avLst>
              <a:gd name="adj" fmla="val 14000"/>
            </a:avLst>
          </a:prstGeom>
          <a:solidFill>
            <a:srgbClr val="E6EF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0"/>
              </a:spcAft>
            </a:pPr>
            <a:r>
              <a:rPr sz="950" b="0" i="0">
                <a:solidFill>
                  <a:srgbClr val="5E6E66"/>
                </a:solidFill>
                <a:latin typeface="Calibri"/>
              </a:rPr>
              <a:t>Encodeur</a:t>
            </a:r>
          </a:p>
        </p:txBody>
      </p:sp>
      <p:sp>
        <p:nvSpPr>
          <p:cNvPr id="23" name="Rounded Rectangle 22"/>
          <p:cNvSpPr/>
          <p:nvPr/>
        </p:nvSpPr>
        <p:spPr>
          <a:xfrm>
            <a:off x="4804388" y="1115568"/>
            <a:ext cx="1133856" cy="310896"/>
          </a:xfrm>
          <a:prstGeom prst="roundRect">
            <a:avLst>
              <a:gd name="adj" fmla="val 14000"/>
            </a:avLst>
          </a:prstGeom>
          <a:solidFill>
            <a:srgbClr val="E6EF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0"/>
              </a:spcAft>
            </a:pPr>
            <a:r>
              <a:rPr sz="950" b="0" i="0">
                <a:solidFill>
                  <a:srgbClr val="5E6E66"/>
                </a:solidFill>
                <a:latin typeface="Calibri"/>
              </a:rPr>
              <a:t>Head</a:t>
            </a:r>
          </a:p>
        </p:txBody>
      </p:sp>
      <p:sp>
        <p:nvSpPr>
          <p:cNvPr id="24" name="Rounded Rectangle 23"/>
          <p:cNvSpPr/>
          <p:nvPr/>
        </p:nvSpPr>
        <p:spPr>
          <a:xfrm>
            <a:off x="3355325" y="1517904"/>
            <a:ext cx="2582918" cy="310896"/>
          </a:xfrm>
          <a:prstGeom prst="roundRect">
            <a:avLst>
              <a:gd name="adj" fmla="val 14000"/>
            </a:avLst>
          </a:prstGeom>
          <a:solidFill>
            <a:srgbClr val="E6EF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0"/>
              </a:spcAft>
            </a:pPr>
            <a:r>
              <a:rPr sz="950" b="0" i="0">
                <a:solidFill>
                  <a:srgbClr val="5E6E66"/>
                </a:solidFill>
                <a:latin typeface="Calibri"/>
              </a:rPr>
              <a:t>Module séquentiel</a:t>
            </a:r>
          </a:p>
        </p:txBody>
      </p:sp>
      <p:sp>
        <p:nvSpPr>
          <p:cNvPr id="25" name="Rounded Rectangle 24"/>
          <p:cNvSpPr/>
          <p:nvPr/>
        </p:nvSpPr>
        <p:spPr>
          <a:xfrm>
            <a:off x="6253450" y="1316736"/>
            <a:ext cx="1133856" cy="310896"/>
          </a:xfrm>
          <a:prstGeom prst="roundRect">
            <a:avLst>
              <a:gd name="adj" fmla="val 14000"/>
            </a:avLst>
          </a:prstGeom>
          <a:solidFill>
            <a:srgbClr val="E6EF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0"/>
              </a:spcAft>
            </a:pPr>
            <a:r>
              <a:rPr sz="950" b="0" i="0">
                <a:solidFill>
                  <a:srgbClr val="5E6E66"/>
                </a:solidFill>
                <a:latin typeface="Calibri"/>
              </a:rPr>
              <a:t>Fusion</a:t>
            </a:r>
          </a:p>
        </p:txBody>
      </p:sp>
      <p:sp>
        <p:nvSpPr>
          <p:cNvPr id="26" name="Rounded Rectangle 25"/>
          <p:cNvSpPr/>
          <p:nvPr/>
        </p:nvSpPr>
        <p:spPr>
          <a:xfrm>
            <a:off x="7702513" y="1316736"/>
            <a:ext cx="1133856" cy="310896"/>
          </a:xfrm>
          <a:prstGeom prst="roundRect">
            <a:avLst>
              <a:gd name="adj" fmla="val 14000"/>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0"/>
              </a:spcAft>
            </a:pPr>
            <a:r>
              <a:rPr sz="950" b="1" i="0">
                <a:solidFill>
                  <a:srgbClr val="1C2B24"/>
                </a:solidFill>
                <a:latin typeface="Calibri"/>
              </a:rPr>
              <a:t>Agrégation</a:t>
            </a:r>
          </a:p>
        </p:txBody>
      </p:sp>
      <p:sp>
        <p:nvSpPr>
          <p:cNvPr id="27" name="Rounded Rectangle 26"/>
          <p:cNvSpPr/>
          <p:nvPr/>
        </p:nvSpPr>
        <p:spPr>
          <a:xfrm>
            <a:off x="9151576" y="1316736"/>
            <a:ext cx="1133856" cy="310896"/>
          </a:xfrm>
          <a:prstGeom prst="roundRect">
            <a:avLst>
              <a:gd name="adj" fmla="val 14000"/>
            </a:avLst>
          </a:prstGeom>
          <a:solidFill>
            <a:srgbClr val="E6EF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0"/>
              </a:spcAft>
            </a:pPr>
            <a:r>
              <a:rPr sz="950" b="0" i="0">
                <a:solidFill>
                  <a:srgbClr val="5E6E66"/>
                </a:solidFill>
                <a:latin typeface="Calibri"/>
              </a:rPr>
              <a:t>Sélection</a:t>
            </a:r>
          </a:p>
        </p:txBody>
      </p:sp>
      <p:sp>
        <p:nvSpPr>
          <p:cNvPr id="28" name="Rounded Rectangle 27"/>
          <p:cNvSpPr/>
          <p:nvPr/>
        </p:nvSpPr>
        <p:spPr>
          <a:xfrm>
            <a:off x="10600639" y="1316736"/>
            <a:ext cx="1133856" cy="310896"/>
          </a:xfrm>
          <a:prstGeom prst="roundRect">
            <a:avLst>
              <a:gd name="adj" fmla="val 14000"/>
            </a:avLst>
          </a:prstGeom>
          <a:solidFill>
            <a:srgbClr val="E6EF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0"/>
              </a:spcAft>
            </a:pPr>
            <a:r>
              <a:rPr sz="950" b="0" i="0">
                <a:solidFill>
                  <a:srgbClr val="5E6E66"/>
                </a:solidFill>
                <a:latin typeface="Calibri"/>
              </a:rPr>
              <a:t>Annotation</a:t>
            </a:r>
          </a:p>
        </p:txBody>
      </p:sp>
      <p:sp>
        <p:nvSpPr>
          <p:cNvPr id="29" name="Rounded Rectangle 28"/>
          <p:cNvSpPr/>
          <p:nvPr/>
        </p:nvSpPr>
        <p:spPr>
          <a:xfrm>
            <a:off x="457200" y="1993392"/>
            <a:ext cx="11277295" cy="182880"/>
          </a:xfrm>
          <a:prstGeom prst="roundRect">
            <a:avLst>
              <a:gd name="adj" fmla="val 50000"/>
            </a:avLst>
          </a:prstGeom>
          <a:solidFill>
            <a:srgbClr val="F4F8F5"/>
          </a:solidFill>
          <a:ln>
            <a:noFill/>
          </a:ln>
          <a:effectLst/>
        </p:spPr>
        <p:style>
          <a:lnRef idx="1">
            <a:schemeClr val="accent1"/>
          </a:lnRef>
          <a:fillRef idx="3">
            <a:schemeClr val="accent1"/>
          </a:fillRef>
          <a:effectRef idx="2">
            <a:schemeClr val="accent1"/>
          </a:effectRef>
          <a:fontRef idx="minor">
            <a:schemeClr val="lt1"/>
          </a:fontRef>
        </p:style>
        <p:txBody>
          <a:bodyPr rtlCol="0" anchor="ctr" lIns="9144" rIns="9144" tIns="9144" bIns="9144" wrap="square"/>
          <a:lstStyle/>
          <a:p>
            <a:pPr algn="ctr">
              <a:spcAft>
                <a:spcPts val="400"/>
              </a:spcAft>
            </a:pPr>
            <a:r>
              <a:rPr sz="850" b="0" i="0">
                <a:solidFill>
                  <a:srgbClr val="5E6E66"/>
                </a:solidFill>
                <a:latin typeface="Calibri"/>
              </a:rPr>
              <a:t>Évaluation (transverse)</a:t>
            </a:r>
          </a:p>
        </p:txBody>
      </p:sp>
      <p:sp>
        <p:nvSpPr>
          <p:cNvPr id="30" name="TextBox 29"/>
          <p:cNvSpPr txBox="1"/>
          <p:nvPr/>
        </p:nvSpPr>
        <p:spPr>
          <a:xfrm>
            <a:off x="11277295" y="6473952"/>
            <a:ext cx="457200" cy="228600"/>
          </a:xfrm>
          <a:prstGeom prst="rect">
            <a:avLst/>
          </a:prstGeom>
          <a:noFill/>
        </p:spPr>
        <p:txBody>
          <a:bodyPr wrap="square" anchor="t" lIns="0" rIns="0" tIns="0" bIns="0">
            <a:spAutoFit/>
          </a:bodyPr>
          <a:lstStyle/>
          <a:p>
            <a:pPr algn="r">
              <a:spcAft>
                <a:spcPts val="400"/>
              </a:spcAft>
            </a:pPr>
            <a:r>
              <a:rPr sz="1000" b="0" i="0">
                <a:solidFill>
                  <a:srgbClr val="5E6E66"/>
                </a:solidFill>
                <a:latin typeface="Calibri"/>
              </a:rPr>
              <a:t>11</a:t>
            </a:r>
          </a:p>
        </p:txBody>
      </p:sp>
      <p:sp>
        <p:nvSpPr>
          <p:cNvPr id="31" name="Rounded Rectangle 30"/>
          <p:cNvSpPr/>
          <p:nvPr/>
        </p:nvSpPr>
        <p:spPr>
          <a:xfrm>
            <a:off x="457200" y="2423160"/>
            <a:ext cx="3429000" cy="2743200"/>
          </a:xfrm>
          <a:prstGeom prst="roundRect">
            <a:avLst>
              <a:gd name="adj" fmla="val 8000"/>
            </a:avLst>
          </a:prstGeom>
          <a:solidFill>
            <a:srgbClr val="F4F8F5"/>
          </a:solidFill>
          <a:ln w="12700">
            <a:solidFill>
              <a:srgbClr val="E6EFE8"/>
            </a:solid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a:lstStyle/>
          <a:p>
            <a:pPr algn="ctr"/>
          </a:p>
        </p:txBody>
      </p:sp>
      <p:sp>
        <p:nvSpPr>
          <p:cNvPr id="32" name="Rounded Rectangle 31"/>
          <p:cNvSpPr/>
          <p:nvPr/>
        </p:nvSpPr>
        <p:spPr>
          <a:xfrm>
            <a:off x="457200" y="2423160"/>
            <a:ext cx="3429000" cy="777240"/>
          </a:xfrm>
          <a:prstGeom prst="roundRect">
            <a:avLst>
              <a:gd name="adj" fmla="val 8000"/>
            </a:avLst>
          </a:prstGeom>
          <a:solidFill>
            <a:srgbClr val="17332A"/>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0"/>
              </a:spcAft>
            </a:pPr>
            <a:r>
              <a:rPr sz="1500" b="1" i="0">
                <a:solidFill>
                  <a:srgbClr val="FFFFFF"/>
                </a:solidFill>
                <a:latin typeface="Calibri"/>
              </a:rPr>
              <a:t>Fenêtre</a:t>
            </a:r>
          </a:p>
          <a:p>
            <a:pPr algn="l">
              <a:spcAft>
                <a:spcPts val="0"/>
              </a:spcAft>
            </a:pPr>
            <a:r>
              <a:rPr sz="1500" b="0" i="0">
                <a:solidFill>
                  <a:srgbClr val="FFFFFF"/>
                </a:solidFill>
                <a:latin typeface="Calibri"/>
              </a:rPr>
              <a:t>3 à 6 s</a:t>
            </a:r>
          </a:p>
        </p:txBody>
      </p:sp>
      <p:sp>
        <p:nvSpPr>
          <p:cNvPr id="33" name="TextBox 32"/>
          <p:cNvSpPr txBox="1"/>
          <p:nvPr/>
        </p:nvSpPr>
        <p:spPr>
          <a:xfrm>
            <a:off x="640080" y="3383280"/>
            <a:ext cx="3063240" cy="1737360"/>
          </a:xfrm>
          <a:prstGeom prst="rect">
            <a:avLst/>
          </a:prstGeom>
          <a:noFill/>
        </p:spPr>
        <p:txBody>
          <a:bodyPr wrap="square" anchor="t" lIns="0" rIns="0" tIns="0" bIns="0">
            <a:spAutoFit/>
          </a:bodyPr>
          <a:lstStyle/>
          <a:p>
            <a:pPr algn="l" marL="164592" indent="-164592">
              <a:spcAft>
                <a:spcPts val="500"/>
              </a:spcAft>
              <a:buClr>
                <a:srgbClr val="2F6B4F"/>
              </a:buClr>
              <a:buFont typeface="Arial"/>
              <a:buChar char="•"/>
            </a:pPr>
            <a:r>
              <a:rPr sz="1300" b="0" i="0">
                <a:solidFill>
                  <a:srgbClr val="1C2B24"/>
                </a:solidFill>
                <a:latin typeface="Calibri"/>
              </a:rPr>
              <a:t>Score de la fusion</a:t>
            </a:r>
          </a:p>
          <a:p>
            <a:pPr algn="l" marL="164592" indent="-164592">
              <a:spcAft>
                <a:spcPts val="500"/>
              </a:spcAft>
              <a:buClr>
                <a:srgbClr val="2F6B4F"/>
              </a:buClr>
              <a:buFont typeface="Arial"/>
              <a:buChar char="•"/>
            </a:pPr>
            <a:r>
              <a:rPr sz="1300" b="0" i="0">
                <a:solidFill>
                  <a:srgbClr val="1C2B24"/>
                </a:solidFill>
                <a:latin typeface="Calibri"/>
              </a:rPr>
              <a:t>Seuil calibré sur les scores hors-pli</a:t>
            </a:r>
          </a:p>
          <a:p>
            <a:pPr algn="l" marL="164592" indent="-164592">
              <a:spcAft>
                <a:spcPts val="500"/>
              </a:spcAft>
              <a:buClr>
                <a:srgbClr val="2F6B4F"/>
              </a:buClr>
              <a:buFont typeface="Arial"/>
              <a:buChar char="•"/>
            </a:pPr>
            <a:r>
              <a:rPr sz="1300" b="0" i="0">
                <a:solidFill>
                  <a:srgbClr val="1C2B24"/>
                </a:solidFill>
                <a:latin typeface="Calibri"/>
              </a:rPr>
              <a:t>Calibration par site si le décalage se confirme</a:t>
            </a:r>
          </a:p>
        </p:txBody>
      </p:sp>
      <p:sp>
        <p:nvSpPr>
          <p:cNvPr id="34" name="Rounded Rectangle 33"/>
          <p:cNvSpPr/>
          <p:nvPr/>
        </p:nvSpPr>
        <p:spPr>
          <a:xfrm>
            <a:off x="640080" y="4800600"/>
            <a:ext cx="960120" cy="237744"/>
          </a:xfrm>
          <a:prstGeom prst="roundRect">
            <a:avLst>
              <a:gd name="adj" fmla="val 50000"/>
            </a:avLst>
          </a:prstGeom>
          <a:solidFill>
            <a:srgbClr val="2F8F5B"/>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18288" bIns="18288" wrap="square"/>
          <a:lstStyle/>
          <a:p>
            <a:pPr algn="ctr">
              <a:spcAft>
                <a:spcPts val="400"/>
              </a:spcAft>
            </a:pPr>
            <a:r>
              <a:rPr sz="950" b="1" i="0">
                <a:solidFill>
                  <a:srgbClr val="FFFFFF"/>
                </a:solidFill>
                <a:latin typeface="Calibri"/>
              </a:rPr>
              <a:t>Retenu</a:t>
            </a:r>
          </a:p>
        </p:txBody>
      </p:sp>
      <p:cxnSp>
        <p:nvCxnSpPr>
          <p:cNvPr id="35" name="Connector 34"/>
          <p:cNvCxnSpPr/>
          <p:nvPr/>
        </p:nvCxnSpPr>
        <p:spPr>
          <a:xfrm>
            <a:off x="3931920" y="2807208"/>
            <a:ext cx="402336" cy="0"/>
          </a:xfrm>
          <a:prstGeom prst="line">
            <a:avLst/>
          </a:prstGeom>
          <a:ln w="25400">
            <a:solidFill>
              <a:srgbClr val="2F6B4F"/>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4379976" y="2423160"/>
            <a:ext cx="3429000" cy="2743200"/>
          </a:xfrm>
          <a:prstGeom prst="roundRect">
            <a:avLst>
              <a:gd name="adj" fmla="val 8000"/>
            </a:avLst>
          </a:prstGeom>
          <a:solidFill>
            <a:srgbClr val="F4F8F5"/>
          </a:solidFill>
          <a:ln w="12700">
            <a:solidFill>
              <a:srgbClr val="E6EFE8"/>
            </a:solid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a:lstStyle/>
          <a:p>
            <a:pPr algn="ctr"/>
          </a:p>
        </p:txBody>
      </p:sp>
      <p:sp>
        <p:nvSpPr>
          <p:cNvPr id="37" name="Rounded Rectangle 36"/>
          <p:cNvSpPr/>
          <p:nvPr/>
        </p:nvSpPr>
        <p:spPr>
          <a:xfrm>
            <a:off x="4379976" y="2423160"/>
            <a:ext cx="3429000" cy="777240"/>
          </a:xfrm>
          <a:prstGeom prst="roundRect">
            <a:avLst>
              <a:gd name="adj" fmla="val 8000"/>
            </a:avLst>
          </a:prstGeom>
          <a:solidFill>
            <a:srgbClr val="17332A"/>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0"/>
              </a:spcAft>
            </a:pPr>
            <a:r>
              <a:rPr sz="1500" b="1" i="0">
                <a:solidFill>
                  <a:srgbClr val="FFFFFF"/>
                </a:solidFill>
                <a:latin typeface="Calibri"/>
              </a:rPr>
              <a:t>Enregistrement</a:t>
            </a:r>
          </a:p>
          <a:p>
            <a:pPr algn="l">
              <a:spcAft>
                <a:spcPts val="0"/>
              </a:spcAft>
            </a:pPr>
            <a:r>
              <a:rPr sz="1500" b="0" i="0">
                <a:solidFill>
                  <a:srgbClr val="FFFFFF"/>
                </a:solidFill>
                <a:latin typeface="Calibri"/>
              </a:rPr>
              <a:t>2 min · unité principale</a:t>
            </a:r>
          </a:p>
        </p:txBody>
      </p:sp>
      <p:sp>
        <p:nvSpPr>
          <p:cNvPr id="38" name="TextBox 37"/>
          <p:cNvSpPr txBox="1"/>
          <p:nvPr/>
        </p:nvSpPr>
        <p:spPr>
          <a:xfrm>
            <a:off x="4562856" y="3383280"/>
            <a:ext cx="3063240" cy="1737360"/>
          </a:xfrm>
          <a:prstGeom prst="rect">
            <a:avLst/>
          </a:prstGeom>
          <a:noFill/>
        </p:spPr>
        <p:txBody>
          <a:bodyPr wrap="square" anchor="t" lIns="0" rIns="0" tIns="0" bIns="0">
            <a:spAutoFit/>
          </a:bodyPr>
          <a:lstStyle/>
          <a:p>
            <a:pPr algn="l" marL="164592" indent="-164592">
              <a:spcAft>
                <a:spcPts val="500"/>
              </a:spcAft>
              <a:buClr>
                <a:srgbClr val="2F6B4F"/>
              </a:buClr>
              <a:buFont typeface="Arial"/>
              <a:buChar char="•"/>
            </a:pPr>
            <a:r>
              <a:rPr sz="1300" b="0" i="0">
                <a:solidFill>
                  <a:srgbClr val="1C2B24"/>
                </a:solidFill>
                <a:latin typeface="Calibri"/>
              </a:rPr>
              <a:t>Score : maximum, fraction de fenêtres positives, ou top-k</a:t>
            </a:r>
          </a:p>
          <a:p>
            <a:pPr algn="l" marL="164592" indent="-164592">
              <a:spcAft>
                <a:spcPts val="500"/>
              </a:spcAft>
              <a:buClr>
                <a:srgbClr val="2F6B4F"/>
              </a:buClr>
              <a:buFont typeface="Arial"/>
              <a:buChar char="•"/>
            </a:pPr>
            <a:r>
              <a:rPr sz="1300" b="0" i="0">
                <a:solidFill>
                  <a:srgbClr val="1C2B24"/>
                </a:solidFill>
                <a:latin typeface="Calibri"/>
              </a:rPr>
              <a:t>Détections isolées → file « suspect »</a:t>
            </a:r>
          </a:p>
        </p:txBody>
      </p:sp>
      <p:sp>
        <p:nvSpPr>
          <p:cNvPr id="39" name="Rounded Rectangle 38"/>
          <p:cNvSpPr/>
          <p:nvPr/>
        </p:nvSpPr>
        <p:spPr>
          <a:xfrm>
            <a:off x="4562856" y="4800600"/>
            <a:ext cx="960120" cy="237744"/>
          </a:xfrm>
          <a:prstGeom prst="roundRect">
            <a:avLst>
              <a:gd name="adj" fmla="val 50000"/>
            </a:avLst>
          </a:prstGeom>
          <a:solidFill>
            <a:srgbClr val="C9780E"/>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18288" bIns="18288" wrap="square"/>
          <a:lstStyle/>
          <a:p>
            <a:pPr algn="ctr">
              <a:spcAft>
                <a:spcPts val="400"/>
              </a:spcAft>
            </a:pPr>
            <a:r>
              <a:rPr sz="950" b="1" i="0">
                <a:solidFill>
                  <a:srgbClr val="FFFFFF"/>
                </a:solidFill>
                <a:latin typeface="Calibri"/>
              </a:rPr>
              <a:t>À comparer</a:t>
            </a:r>
          </a:p>
        </p:txBody>
      </p:sp>
      <p:cxnSp>
        <p:nvCxnSpPr>
          <p:cNvPr id="40" name="Connector 39"/>
          <p:cNvCxnSpPr/>
          <p:nvPr/>
        </p:nvCxnSpPr>
        <p:spPr>
          <a:xfrm>
            <a:off x="7854696" y="2807208"/>
            <a:ext cx="402335" cy="0"/>
          </a:xfrm>
          <a:prstGeom prst="line">
            <a:avLst/>
          </a:prstGeom>
          <a:ln w="25400">
            <a:solidFill>
              <a:srgbClr val="2F6B4F"/>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8302752" y="2423160"/>
            <a:ext cx="3429000" cy="2743200"/>
          </a:xfrm>
          <a:prstGeom prst="roundRect">
            <a:avLst>
              <a:gd name="adj" fmla="val 8000"/>
            </a:avLst>
          </a:prstGeom>
          <a:solidFill>
            <a:srgbClr val="F4F8F5"/>
          </a:solidFill>
          <a:ln w="12700">
            <a:solidFill>
              <a:srgbClr val="E6EFE8"/>
            </a:solid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a:lstStyle/>
          <a:p>
            <a:pPr algn="ctr"/>
          </a:p>
        </p:txBody>
      </p:sp>
      <p:sp>
        <p:nvSpPr>
          <p:cNvPr id="42" name="Rounded Rectangle 41"/>
          <p:cNvSpPr/>
          <p:nvPr/>
        </p:nvSpPr>
        <p:spPr>
          <a:xfrm>
            <a:off x="8302752" y="2423160"/>
            <a:ext cx="3429000" cy="777240"/>
          </a:xfrm>
          <a:prstGeom prst="roundRect">
            <a:avLst>
              <a:gd name="adj" fmla="val 8000"/>
            </a:avLst>
          </a:prstGeom>
          <a:solidFill>
            <a:srgbClr val="17332A"/>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0"/>
              </a:spcAft>
            </a:pPr>
            <a:r>
              <a:rPr sz="1500" b="1" i="0">
                <a:solidFill>
                  <a:srgbClr val="FFFFFF"/>
                </a:solidFill>
                <a:latin typeface="Calibri"/>
              </a:rPr>
              <a:t>Point × période</a:t>
            </a:r>
          </a:p>
          <a:p>
            <a:pPr algn="l">
              <a:spcAft>
                <a:spcPts val="0"/>
              </a:spcAft>
            </a:pPr>
            <a:r>
              <a:rPr sz="1500" b="0" i="0">
                <a:solidFill>
                  <a:srgbClr val="FFFFFF"/>
                </a:solidFill>
                <a:latin typeface="Calibri"/>
              </a:rPr>
              <a:t>décision pour le gestionnaire</a:t>
            </a:r>
          </a:p>
        </p:txBody>
      </p:sp>
      <p:sp>
        <p:nvSpPr>
          <p:cNvPr id="43" name="TextBox 42"/>
          <p:cNvSpPr txBox="1"/>
          <p:nvPr/>
        </p:nvSpPr>
        <p:spPr>
          <a:xfrm>
            <a:off x="8485632" y="3383280"/>
            <a:ext cx="3063240" cy="1737360"/>
          </a:xfrm>
          <a:prstGeom prst="rect">
            <a:avLst/>
          </a:prstGeom>
          <a:noFill/>
        </p:spPr>
        <p:txBody>
          <a:bodyPr wrap="square" anchor="t" lIns="0" rIns="0" tIns="0" bIns="0">
            <a:spAutoFit/>
          </a:bodyPr>
          <a:lstStyle/>
          <a:p>
            <a:pPr algn="l" marL="164592" indent="-164592">
              <a:spcAft>
                <a:spcPts val="500"/>
              </a:spcAft>
              <a:buClr>
                <a:srgbClr val="2F6B4F"/>
              </a:buClr>
              <a:buFont typeface="Arial"/>
              <a:buChar char="•"/>
            </a:pPr>
            <a:r>
              <a:rPr sz="1300" b="0" i="0">
                <a:solidFill>
                  <a:srgbClr val="1C2B24"/>
                </a:solidFill>
                <a:latin typeface="Calibri"/>
              </a:rPr>
              <a:t>Points classés par force : fraction, nombre d'enregistrements, jours</a:t>
            </a:r>
          </a:p>
          <a:p>
            <a:pPr algn="l" marL="164592" indent="-164592">
              <a:spcAft>
                <a:spcPts val="500"/>
              </a:spcAft>
              <a:buClr>
                <a:srgbClr val="2F6B4F"/>
              </a:buClr>
              <a:buFont typeface="Arial"/>
              <a:buChar char="•"/>
            </a:pPr>
            <a:r>
              <a:rPr sz="1300" b="0" i="0">
                <a:solidFill>
                  <a:srgbClr val="1C2B24"/>
                </a:solidFill>
                <a:latin typeface="Calibri"/>
              </a:rPr>
              <a:t>« À vérifier » → « présence confirmée » après validation</a:t>
            </a:r>
          </a:p>
          <a:p>
            <a:pPr algn="l" marL="164592" indent="-164592">
              <a:spcAft>
                <a:spcPts val="500"/>
              </a:spcAft>
              <a:buClr>
                <a:srgbClr val="2F6B4F"/>
              </a:buClr>
              <a:buFont typeface="Arial"/>
              <a:buChar char="•"/>
            </a:pPr>
            <a:r>
              <a:rPr sz="1300" b="0" i="0">
                <a:solidFill>
                  <a:srgbClr val="1C2B24"/>
                </a:solidFill>
                <a:latin typeface="Calibri"/>
              </a:rPr>
              <a:t>Sinon « non détecté », </a:t>
            </a:r>
            <a:r>
              <a:rPr sz="1300" b="1" i="0">
                <a:solidFill>
                  <a:srgbClr val="1C2B24"/>
                </a:solidFill>
                <a:latin typeface="Calibri"/>
              </a:rPr>
              <a:t>jamais « absent »</a:t>
            </a:r>
          </a:p>
        </p:txBody>
      </p:sp>
      <p:sp>
        <p:nvSpPr>
          <p:cNvPr id="44" name="Rounded Rectangle 43"/>
          <p:cNvSpPr/>
          <p:nvPr/>
        </p:nvSpPr>
        <p:spPr>
          <a:xfrm>
            <a:off x="8485632" y="4800600"/>
            <a:ext cx="960120" cy="237744"/>
          </a:xfrm>
          <a:prstGeom prst="roundRect">
            <a:avLst>
              <a:gd name="adj" fmla="val 50000"/>
            </a:avLst>
          </a:prstGeom>
          <a:solidFill>
            <a:srgbClr val="2F8F5B"/>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18288" bIns="18288" wrap="square"/>
          <a:lstStyle/>
          <a:p>
            <a:pPr algn="ctr">
              <a:spcAft>
                <a:spcPts val="400"/>
              </a:spcAft>
            </a:pPr>
            <a:r>
              <a:rPr sz="950" b="1" i="0">
                <a:solidFill>
                  <a:srgbClr val="FFFFFF"/>
                </a:solidFill>
                <a:latin typeface="Calibri"/>
              </a:rPr>
              <a:t>Retenu</a:t>
            </a:r>
          </a:p>
        </p:txBody>
      </p:sp>
      <p:sp>
        <p:nvSpPr>
          <p:cNvPr id="45" name="Rounded Rectangle 44"/>
          <p:cNvSpPr/>
          <p:nvPr/>
        </p:nvSpPr>
        <p:spPr>
          <a:xfrm>
            <a:off x="457200" y="5440680"/>
            <a:ext cx="11274552" cy="548640"/>
          </a:xfrm>
          <a:prstGeom prst="roundRect">
            <a:avLst>
              <a:gd name="adj" fmla="val 8000"/>
            </a:avLst>
          </a:prstGeom>
          <a:solidFill>
            <a:srgbClr val="E6EFE8"/>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0" rIns="182880" tIns="182880" bIns="182880" wrap="square"/>
          <a:lstStyle/>
          <a:p>
            <a:pPr algn="l">
              <a:spcAft>
                <a:spcPts val="400"/>
              </a:spcAft>
            </a:pPr>
            <a:r>
              <a:rPr sz="1250" b="0" i="0">
                <a:solidFill>
                  <a:srgbClr val="1C2B24"/>
                </a:solidFill>
                <a:latin typeface="Calibri"/>
              </a:rPr>
              <a:t>Le choix du score d'enregistrement dépend d'une question : </a:t>
            </a:r>
            <a:r>
              <a:rPr sz="1250" b="0" i="1">
                <a:solidFill>
                  <a:srgbClr val="1C2B24"/>
                </a:solidFill>
                <a:latin typeface="Calibri"/>
              </a:rPr>
              <a:t>A. blanci</a:t>
            </a:r>
            <a:r>
              <a:rPr sz="1250" b="0" i="0">
                <a:solidFill>
                  <a:srgbClr val="1C2B24"/>
                </a:solidFill>
                <a:latin typeface="Calibri"/>
              </a:rPr>
              <a:t> chante-t-elle parfois de façon ponctuelle ?</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8229600" cy="256032"/>
          </a:xfrm>
          <a:prstGeom prst="rect">
            <a:avLst/>
          </a:prstGeom>
          <a:noFill/>
        </p:spPr>
        <p:txBody>
          <a:bodyPr wrap="square" anchor="t" lIns="0" rIns="0" tIns="0" bIns="0">
            <a:spAutoFit/>
          </a:bodyPr>
          <a:lstStyle/>
          <a:p>
            <a:pPr algn="l">
              <a:spcAft>
                <a:spcPts val="400"/>
              </a:spcAft>
            </a:pPr>
            <a:r>
              <a:rPr sz="1100" b="1" i="0">
                <a:solidFill>
                  <a:srgbClr val="9A5A06"/>
                </a:solidFill>
                <a:latin typeface="Calibri"/>
              </a:rPr>
              <a:t>PIPELINE · ÉTAPE 8</a:t>
            </a:r>
          </a:p>
        </p:txBody>
      </p:sp>
      <p:sp>
        <p:nvSpPr>
          <p:cNvPr id="3" name="TextBox 2"/>
          <p:cNvSpPr txBox="1"/>
          <p:nvPr/>
        </p:nvSpPr>
        <p:spPr>
          <a:xfrm>
            <a:off x="457200" y="493776"/>
            <a:ext cx="11274552" cy="548640"/>
          </a:xfrm>
          <a:prstGeom prst="rect">
            <a:avLst/>
          </a:prstGeom>
          <a:noFill/>
        </p:spPr>
        <p:txBody>
          <a:bodyPr wrap="square" anchor="t" lIns="0" rIns="0" tIns="0" bIns="0">
            <a:spAutoFit/>
          </a:bodyPr>
          <a:lstStyle/>
          <a:p>
            <a:pPr algn="l">
              <a:spcAft>
                <a:spcPts val="400"/>
              </a:spcAft>
            </a:pPr>
            <a:r>
              <a:rPr sz="2600" b="1" i="0">
                <a:solidFill>
                  <a:srgbClr val="17332A"/>
                </a:solidFill>
                <a:latin typeface="Cambria"/>
              </a:rPr>
              <a:t>Sélection des candidats : quoi faire écouter ?</a:t>
            </a:r>
          </a:p>
        </p:txBody>
      </p:sp>
      <p:cxnSp>
        <p:nvCxnSpPr>
          <p:cNvPr id="4" name="Connector 3"/>
          <p:cNvCxnSpPr/>
          <p:nvPr/>
        </p:nvCxnSpPr>
        <p:spPr>
          <a:xfrm>
            <a:off x="1591056" y="1472184"/>
            <a:ext cx="315206" cy="0"/>
          </a:xfrm>
          <a:prstGeom prst="line">
            <a:avLst/>
          </a:prstGeom>
          <a:ln w="15875">
            <a:solidFill>
              <a:srgbClr val="9DB3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3040118" y="1472184"/>
            <a:ext cx="157604" cy="0"/>
          </a:xfrm>
          <a:prstGeom prst="line">
            <a:avLst/>
          </a:prstGeom>
          <a:ln w="15875">
            <a:solidFill>
              <a:srgbClr val="9DB3A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197722" y="1271016"/>
            <a:ext cx="0" cy="402336"/>
          </a:xfrm>
          <a:prstGeom prst="line">
            <a:avLst/>
          </a:prstGeom>
          <a:ln w="15875">
            <a:solidFill>
              <a:srgbClr val="9DB3A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3197722" y="1271016"/>
            <a:ext cx="157603" cy="0"/>
          </a:xfrm>
          <a:prstGeom prst="line">
            <a:avLst/>
          </a:prstGeom>
          <a:ln w="15875">
            <a:solidFill>
              <a:srgbClr val="9DB3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3197722" y="1673352"/>
            <a:ext cx="157603" cy="0"/>
          </a:xfrm>
          <a:prstGeom prst="line">
            <a:avLst/>
          </a:prstGeom>
          <a:ln w="15875">
            <a:solidFill>
              <a:srgbClr val="9DB3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489181" y="1271016"/>
            <a:ext cx="315207" cy="0"/>
          </a:xfrm>
          <a:prstGeom prst="line">
            <a:avLst/>
          </a:prstGeom>
          <a:ln w="15875">
            <a:solidFill>
              <a:srgbClr val="9DB3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938244" y="1271016"/>
            <a:ext cx="157603" cy="0"/>
          </a:xfrm>
          <a:prstGeom prst="line">
            <a:avLst/>
          </a:prstGeom>
          <a:ln w="15875">
            <a:solidFill>
              <a:srgbClr val="9DB3A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5938244" y="1673352"/>
            <a:ext cx="157603" cy="0"/>
          </a:xfrm>
          <a:prstGeom prst="line">
            <a:avLst/>
          </a:prstGeom>
          <a:ln w="15875">
            <a:solidFill>
              <a:srgbClr val="9DB3A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095847" y="1271016"/>
            <a:ext cx="0" cy="402336"/>
          </a:xfrm>
          <a:prstGeom prst="line">
            <a:avLst/>
          </a:prstGeom>
          <a:ln w="15875">
            <a:solidFill>
              <a:srgbClr val="9DB3A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6095847" y="1472184"/>
            <a:ext cx="157603" cy="0"/>
          </a:xfrm>
          <a:prstGeom prst="line">
            <a:avLst/>
          </a:prstGeom>
          <a:ln w="15875">
            <a:solidFill>
              <a:srgbClr val="9DB3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7387306" y="1472184"/>
            <a:ext cx="315207" cy="0"/>
          </a:xfrm>
          <a:prstGeom prst="line">
            <a:avLst/>
          </a:prstGeom>
          <a:ln w="15875">
            <a:solidFill>
              <a:srgbClr val="9DB3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836369" y="1472184"/>
            <a:ext cx="315207" cy="0"/>
          </a:xfrm>
          <a:prstGeom prst="line">
            <a:avLst/>
          </a:prstGeom>
          <a:ln w="15875">
            <a:solidFill>
              <a:srgbClr val="9DB3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0285432" y="1472184"/>
            <a:ext cx="315207" cy="0"/>
          </a:xfrm>
          <a:prstGeom prst="line">
            <a:avLst/>
          </a:prstGeom>
          <a:ln w="15875">
            <a:solidFill>
              <a:srgbClr val="9DB3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1167567" y="1627632"/>
            <a:ext cx="0" cy="292608"/>
          </a:xfrm>
          <a:prstGeom prst="line">
            <a:avLst/>
          </a:prstGeom>
          <a:ln w="19050">
            <a:solidFill>
              <a:srgbClr val="9DB3A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H="1">
            <a:off x="1024128" y="1920240"/>
            <a:ext cx="10143439" cy="0"/>
          </a:xfrm>
          <a:prstGeom prst="line">
            <a:avLst/>
          </a:prstGeom>
          <a:ln w="19050">
            <a:solidFill>
              <a:srgbClr val="9DB3A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1024128" y="1627632"/>
            <a:ext cx="0" cy="292608"/>
          </a:xfrm>
          <a:prstGeom prst="line">
            <a:avLst/>
          </a:prstGeom>
          <a:ln w="19050">
            <a:solidFill>
              <a:srgbClr val="9DB3A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457200" y="1316736"/>
            <a:ext cx="1133856" cy="310896"/>
          </a:xfrm>
          <a:prstGeom prst="roundRect">
            <a:avLst>
              <a:gd name="adj" fmla="val 14000"/>
            </a:avLst>
          </a:prstGeom>
          <a:solidFill>
            <a:srgbClr val="E6EF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0"/>
              </a:spcAft>
            </a:pPr>
            <a:r>
              <a:rPr sz="950" b="0" i="0">
                <a:solidFill>
                  <a:srgbClr val="5E6E66"/>
                </a:solidFill>
                <a:latin typeface="Calibri"/>
              </a:rPr>
              <a:t>Corpus + QC</a:t>
            </a:r>
          </a:p>
        </p:txBody>
      </p:sp>
      <p:sp>
        <p:nvSpPr>
          <p:cNvPr id="21" name="Rounded Rectangle 20"/>
          <p:cNvSpPr/>
          <p:nvPr/>
        </p:nvSpPr>
        <p:spPr>
          <a:xfrm>
            <a:off x="1906262" y="1316736"/>
            <a:ext cx="1133856" cy="310896"/>
          </a:xfrm>
          <a:prstGeom prst="roundRect">
            <a:avLst>
              <a:gd name="adj" fmla="val 14000"/>
            </a:avLst>
          </a:prstGeom>
          <a:solidFill>
            <a:srgbClr val="E6EF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0"/>
              </a:spcAft>
            </a:pPr>
            <a:r>
              <a:rPr sz="950" b="0" i="0">
                <a:solidFill>
                  <a:srgbClr val="5E6E66"/>
                </a:solidFill>
                <a:latin typeface="Calibri"/>
              </a:rPr>
              <a:t>Fenêtrage</a:t>
            </a:r>
          </a:p>
        </p:txBody>
      </p:sp>
      <p:sp>
        <p:nvSpPr>
          <p:cNvPr id="22" name="Rounded Rectangle 21"/>
          <p:cNvSpPr/>
          <p:nvPr/>
        </p:nvSpPr>
        <p:spPr>
          <a:xfrm>
            <a:off x="3355325" y="1115568"/>
            <a:ext cx="1133856" cy="310896"/>
          </a:xfrm>
          <a:prstGeom prst="roundRect">
            <a:avLst>
              <a:gd name="adj" fmla="val 14000"/>
            </a:avLst>
          </a:prstGeom>
          <a:solidFill>
            <a:srgbClr val="E6EF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0"/>
              </a:spcAft>
            </a:pPr>
            <a:r>
              <a:rPr sz="950" b="0" i="0">
                <a:solidFill>
                  <a:srgbClr val="5E6E66"/>
                </a:solidFill>
                <a:latin typeface="Calibri"/>
              </a:rPr>
              <a:t>Encodeur</a:t>
            </a:r>
          </a:p>
        </p:txBody>
      </p:sp>
      <p:sp>
        <p:nvSpPr>
          <p:cNvPr id="23" name="Rounded Rectangle 22"/>
          <p:cNvSpPr/>
          <p:nvPr/>
        </p:nvSpPr>
        <p:spPr>
          <a:xfrm>
            <a:off x="4804388" y="1115568"/>
            <a:ext cx="1133856" cy="310896"/>
          </a:xfrm>
          <a:prstGeom prst="roundRect">
            <a:avLst>
              <a:gd name="adj" fmla="val 14000"/>
            </a:avLst>
          </a:prstGeom>
          <a:solidFill>
            <a:srgbClr val="E6EF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0"/>
              </a:spcAft>
            </a:pPr>
            <a:r>
              <a:rPr sz="950" b="0" i="0">
                <a:solidFill>
                  <a:srgbClr val="5E6E66"/>
                </a:solidFill>
                <a:latin typeface="Calibri"/>
              </a:rPr>
              <a:t>Head</a:t>
            </a:r>
          </a:p>
        </p:txBody>
      </p:sp>
      <p:sp>
        <p:nvSpPr>
          <p:cNvPr id="24" name="Rounded Rectangle 23"/>
          <p:cNvSpPr/>
          <p:nvPr/>
        </p:nvSpPr>
        <p:spPr>
          <a:xfrm>
            <a:off x="3355325" y="1517904"/>
            <a:ext cx="2582918" cy="310896"/>
          </a:xfrm>
          <a:prstGeom prst="roundRect">
            <a:avLst>
              <a:gd name="adj" fmla="val 14000"/>
            </a:avLst>
          </a:prstGeom>
          <a:solidFill>
            <a:srgbClr val="E6EF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0"/>
              </a:spcAft>
            </a:pPr>
            <a:r>
              <a:rPr sz="950" b="0" i="0">
                <a:solidFill>
                  <a:srgbClr val="5E6E66"/>
                </a:solidFill>
                <a:latin typeface="Calibri"/>
              </a:rPr>
              <a:t>Module séquentiel</a:t>
            </a:r>
          </a:p>
        </p:txBody>
      </p:sp>
      <p:sp>
        <p:nvSpPr>
          <p:cNvPr id="25" name="Rounded Rectangle 24"/>
          <p:cNvSpPr/>
          <p:nvPr/>
        </p:nvSpPr>
        <p:spPr>
          <a:xfrm>
            <a:off x="6253450" y="1316736"/>
            <a:ext cx="1133856" cy="310896"/>
          </a:xfrm>
          <a:prstGeom prst="roundRect">
            <a:avLst>
              <a:gd name="adj" fmla="val 14000"/>
            </a:avLst>
          </a:prstGeom>
          <a:solidFill>
            <a:srgbClr val="E6EF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0"/>
              </a:spcAft>
            </a:pPr>
            <a:r>
              <a:rPr sz="950" b="0" i="0">
                <a:solidFill>
                  <a:srgbClr val="5E6E66"/>
                </a:solidFill>
                <a:latin typeface="Calibri"/>
              </a:rPr>
              <a:t>Fusion</a:t>
            </a:r>
          </a:p>
        </p:txBody>
      </p:sp>
      <p:sp>
        <p:nvSpPr>
          <p:cNvPr id="26" name="Rounded Rectangle 25"/>
          <p:cNvSpPr/>
          <p:nvPr/>
        </p:nvSpPr>
        <p:spPr>
          <a:xfrm>
            <a:off x="7702513" y="1316736"/>
            <a:ext cx="1133856" cy="310896"/>
          </a:xfrm>
          <a:prstGeom prst="roundRect">
            <a:avLst>
              <a:gd name="adj" fmla="val 14000"/>
            </a:avLst>
          </a:prstGeom>
          <a:solidFill>
            <a:srgbClr val="E6EF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0"/>
              </a:spcAft>
            </a:pPr>
            <a:r>
              <a:rPr sz="950" b="0" i="0">
                <a:solidFill>
                  <a:srgbClr val="5E6E66"/>
                </a:solidFill>
                <a:latin typeface="Calibri"/>
              </a:rPr>
              <a:t>Agrégation</a:t>
            </a:r>
          </a:p>
        </p:txBody>
      </p:sp>
      <p:sp>
        <p:nvSpPr>
          <p:cNvPr id="27" name="Rounded Rectangle 26"/>
          <p:cNvSpPr/>
          <p:nvPr/>
        </p:nvSpPr>
        <p:spPr>
          <a:xfrm>
            <a:off x="9151576" y="1316736"/>
            <a:ext cx="1133856" cy="310896"/>
          </a:xfrm>
          <a:prstGeom prst="roundRect">
            <a:avLst>
              <a:gd name="adj" fmla="val 14000"/>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0"/>
              </a:spcAft>
            </a:pPr>
            <a:r>
              <a:rPr sz="950" b="1" i="0">
                <a:solidFill>
                  <a:srgbClr val="1C2B24"/>
                </a:solidFill>
                <a:latin typeface="Calibri"/>
              </a:rPr>
              <a:t>Sélection</a:t>
            </a:r>
          </a:p>
        </p:txBody>
      </p:sp>
      <p:sp>
        <p:nvSpPr>
          <p:cNvPr id="28" name="Rounded Rectangle 27"/>
          <p:cNvSpPr/>
          <p:nvPr/>
        </p:nvSpPr>
        <p:spPr>
          <a:xfrm>
            <a:off x="10600639" y="1316736"/>
            <a:ext cx="1133856" cy="310896"/>
          </a:xfrm>
          <a:prstGeom prst="roundRect">
            <a:avLst>
              <a:gd name="adj" fmla="val 14000"/>
            </a:avLst>
          </a:prstGeom>
          <a:solidFill>
            <a:srgbClr val="E6EF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0"/>
              </a:spcAft>
            </a:pPr>
            <a:r>
              <a:rPr sz="950" b="0" i="0">
                <a:solidFill>
                  <a:srgbClr val="5E6E66"/>
                </a:solidFill>
                <a:latin typeface="Calibri"/>
              </a:rPr>
              <a:t>Annotation</a:t>
            </a:r>
          </a:p>
        </p:txBody>
      </p:sp>
      <p:sp>
        <p:nvSpPr>
          <p:cNvPr id="29" name="Rounded Rectangle 28"/>
          <p:cNvSpPr/>
          <p:nvPr/>
        </p:nvSpPr>
        <p:spPr>
          <a:xfrm>
            <a:off x="457200" y="1993392"/>
            <a:ext cx="11277295" cy="182880"/>
          </a:xfrm>
          <a:prstGeom prst="roundRect">
            <a:avLst>
              <a:gd name="adj" fmla="val 50000"/>
            </a:avLst>
          </a:prstGeom>
          <a:solidFill>
            <a:srgbClr val="F4F8F5"/>
          </a:solidFill>
          <a:ln>
            <a:noFill/>
          </a:ln>
          <a:effectLst/>
        </p:spPr>
        <p:style>
          <a:lnRef idx="1">
            <a:schemeClr val="accent1"/>
          </a:lnRef>
          <a:fillRef idx="3">
            <a:schemeClr val="accent1"/>
          </a:fillRef>
          <a:effectRef idx="2">
            <a:schemeClr val="accent1"/>
          </a:effectRef>
          <a:fontRef idx="minor">
            <a:schemeClr val="lt1"/>
          </a:fontRef>
        </p:style>
        <p:txBody>
          <a:bodyPr rtlCol="0" anchor="ctr" lIns="9144" rIns="9144" tIns="9144" bIns="9144" wrap="square"/>
          <a:lstStyle/>
          <a:p>
            <a:pPr algn="ctr">
              <a:spcAft>
                <a:spcPts val="400"/>
              </a:spcAft>
            </a:pPr>
            <a:r>
              <a:rPr sz="850" b="0" i="0">
                <a:solidFill>
                  <a:srgbClr val="5E6E66"/>
                </a:solidFill>
                <a:latin typeface="Calibri"/>
              </a:rPr>
              <a:t>Évaluation (transverse)</a:t>
            </a:r>
          </a:p>
        </p:txBody>
      </p:sp>
      <p:sp>
        <p:nvSpPr>
          <p:cNvPr id="30" name="TextBox 29"/>
          <p:cNvSpPr txBox="1"/>
          <p:nvPr/>
        </p:nvSpPr>
        <p:spPr>
          <a:xfrm>
            <a:off x="11277295" y="6473952"/>
            <a:ext cx="457200" cy="228600"/>
          </a:xfrm>
          <a:prstGeom prst="rect">
            <a:avLst/>
          </a:prstGeom>
          <a:noFill/>
        </p:spPr>
        <p:txBody>
          <a:bodyPr wrap="square" anchor="t" lIns="0" rIns="0" tIns="0" bIns="0">
            <a:spAutoFit/>
          </a:bodyPr>
          <a:lstStyle/>
          <a:p>
            <a:pPr algn="r">
              <a:spcAft>
                <a:spcPts val="400"/>
              </a:spcAft>
            </a:pPr>
            <a:r>
              <a:rPr sz="1000" b="0" i="0">
                <a:solidFill>
                  <a:srgbClr val="5E6E66"/>
                </a:solidFill>
                <a:latin typeface="Calibri"/>
              </a:rPr>
              <a:t>12</a:t>
            </a:r>
          </a:p>
        </p:txBody>
      </p:sp>
      <p:graphicFrame>
        <p:nvGraphicFramePr>
          <p:cNvPr id="31" name="Table 30"/>
          <p:cNvGraphicFramePr>
            <a:graphicFrameLocks noGrp="1"/>
          </p:cNvGraphicFramePr>
          <p:nvPr/>
        </p:nvGraphicFramePr>
        <p:xfrm>
          <a:off x="457200" y="2395728"/>
          <a:ext cx="11274551" cy="3840480"/>
        </p:xfrm>
        <a:graphic>
          <a:graphicData uri="http://schemas.openxmlformats.org/drawingml/2006/table">
            <a:tbl>
              <a:tblPr firstRow="1">
                <a:tableStyleId>{5C22544A-7EE6-4342-B048-85BDC9FD1C3A}</a:tableStyleId>
              </a:tblPr>
              <a:tblGrid>
                <a:gridCol w="2331720"/>
                <a:gridCol w="3931920"/>
                <a:gridCol w="3749039"/>
                <a:gridCol w="1261872"/>
              </a:tblGrid>
              <a:tr h="384048">
                <a:tc>
                  <a:txBody>
                    <a:bodyPr wrap="square"/>
                    <a:lstStyle/>
                    <a:p>
                      <a:pPr algn="l">
                        <a:spcAft>
                          <a:spcPts val="0"/>
                        </a:spcAft>
                      </a:pPr>
                      <a:r>
                        <a:rPr sz="1150" b="1" i="0">
                          <a:solidFill>
                            <a:srgbClr val="FFFFFF"/>
                          </a:solidFill>
                          <a:latin typeface="Calibri"/>
                        </a:rPr>
                        <a:t>Méthode</a:t>
                      </a:r>
                    </a:p>
                  </a:txBody>
                  <a:tcPr marL="73152" marR="73152" marT="36576" marB="36576" anchor="ctr">
                    <a:solidFill>
                      <a:srgbClr val="17332A"/>
                    </a:solidFill>
                  </a:tcPr>
                </a:tc>
                <a:tc>
                  <a:txBody>
                    <a:bodyPr wrap="square"/>
                    <a:lstStyle/>
                    <a:p>
                      <a:pPr algn="l">
                        <a:spcAft>
                          <a:spcPts val="0"/>
                        </a:spcAft>
                      </a:pPr>
                      <a:r>
                        <a:rPr sz="1150" b="1" i="0">
                          <a:solidFill>
                            <a:srgbClr val="FFFFFF"/>
                          </a:solidFill>
                          <a:latin typeface="Calibri"/>
                        </a:rPr>
                        <a:t>Principe</a:t>
                      </a:r>
                    </a:p>
                  </a:txBody>
                  <a:tcPr marL="73152" marR="73152" marT="36576" marB="36576" anchor="ctr">
                    <a:solidFill>
                      <a:srgbClr val="17332A"/>
                    </a:solidFill>
                  </a:tcPr>
                </a:tc>
                <a:tc>
                  <a:txBody>
                    <a:bodyPr wrap="square"/>
                    <a:lstStyle/>
                    <a:p>
                      <a:pPr algn="l">
                        <a:spcAft>
                          <a:spcPts val="0"/>
                        </a:spcAft>
                      </a:pPr>
                      <a:r>
                        <a:rPr sz="1150" b="1" i="0">
                          <a:solidFill>
                            <a:srgbClr val="FFFFFF"/>
                          </a:solidFill>
                          <a:latin typeface="Calibri"/>
                        </a:rPr>
                        <a:t>Quand l'utiliser</a:t>
                      </a:r>
                    </a:p>
                  </a:txBody>
                  <a:tcPr marL="73152" marR="73152" marT="36576" marB="36576" anchor="ctr">
                    <a:solidFill>
                      <a:srgbClr val="17332A"/>
                    </a:solidFill>
                  </a:tcPr>
                </a:tc>
                <a:tc>
                  <a:txBody>
                    <a:bodyPr wrap="square"/>
                    <a:lstStyle/>
                    <a:p>
                      <a:pPr algn="l">
                        <a:spcAft>
                          <a:spcPts val="0"/>
                        </a:spcAft>
                      </a:pPr>
                      <a:r>
                        <a:rPr sz="1150" b="1" i="0">
                          <a:solidFill>
                            <a:srgbClr val="FFFFFF"/>
                          </a:solidFill>
                          <a:latin typeface="Calibri"/>
                        </a:rPr>
                        <a:t>Statut</a:t>
                      </a:r>
                    </a:p>
                  </a:txBody>
                  <a:tcPr marL="73152" marR="73152" marT="36576" marB="36576" anchor="ctr">
                    <a:solidFill>
                      <a:srgbClr val="17332A"/>
                    </a:solidFill>
                  </a:tcPr>
                </a:tc>
              </a:tr>
              <a:tr h="384048">
                <a:tc>
                  <a:txBody>
                    <a:bodyPr wrap="square"/>
                    <a:lstStyle/>
                    <a:p>
                      <a:pPr algn="l">
                        <a:spcAft>
                          <a:spcPts val="0"/>
                        </a:spcAft>
                      </a:pPr>
                      <a:r>
                        <a:rPr sz="1100" b="1" i="0">
                          <a:solidFill>
                            <a:srgbClr val="17332A"/>
                          </a:solidFill>
                          <a:latin typeface="Calibri"/>
                        </a:rPr>
                        <a:t>File 60-20-20</a:t>
                      </a:r>
                    </a:p>
                  </a:txBody>
                  <a:tcPr marL="73152" marR="73152" marT="36576" marB="36576" anchor="ctr">
                    <a:solidFill>
                      <a:srgbClr val="F4F8F5"/>
                    </a:solidFill>
                  </a:tcPr>
                </a:tc>
                <a:tc>
                  <a:txBody>
                    <a:bodyPr wrap="square"/>
                    <a:lstStyle/>
                    <a:p>
                      <a:pPr algn="l">
                        <a:spcAft>
                          <a:spcPts val="0"/>
                        </a:spcAft>
                      </a:pPr>
                      <a:r>
                        <a:rPr sz="1100" b="0" i="0">
                          <a:solidFill>
                            <a:srgbClr val="1C2B24"/>
                          </a:solidFill>
                          <a:latin typeface="Calibri"/>
                        </a:rPr>
                        <a:t>Incertains, meilleurs scores, aléatoire stratifié (micro, heure)</a:t>
                      </a:r>
                    </a:p>
                  </a:txBody>
                  <a:tcPr marL="73152" marR="73152" marT="36576" marB="36576" anchor="ctr">
                    <a:solidFill>
                      <a:srgbClr val="F4F8F5"/>
                    </a:solidFill>
                  </a:tcPr>
                </a:tc>
                <a:tc>
                  <a:txBody>
                    <a:bodyPr wrap="square"/>
                    <a:lstStyle/>
                    <a:p>
                      <a:pPr algn="l">
                        <a:spcAft>
                          <a:spcPts val="0"/>
                        </a:spcAft>
                      </a:pPr>
                      <a:r>
                        <a:rPr sz="1100" b="0" i="0">
                          <a:solidFill>
                            <a:srgbClr val="1C2B24"/>
                          </a:solidFill>
                          <a:latin typeface="Calibri"/>
                        </a:rPr>
                        <a:t>Baseline ; plus d'aléatoire en début d'entraînement</a:t>
                      </a:r>
                    </a:p>
                  </a:txBody>
                  <a:tcPr marL="73152" marR="73152" marT="36576" marB="36576" anchor="ctr">
                    <a:solidFill>
                      <a:srgbClr val="F4F8F5"/>
                    </a:solidFill>
                  </a:tcPr>
                </a:tc>
                <a:tc>
                  <a:txBody>
                    <a:bodyPr wrap="square"/>
                    <a:lstStyle/>
                    <a:p>
                      <a:pPr algn="l">
                        <a:spcAft>
                          <a:spcPts val="0"/>
                        </a:spcAft>
                      </a:pPr>
                      <a:r>
                        <a:rPr sz="1100" b="1" i="0">
                          <a:solidFill>
                            <a:srgbClr val="2F8F5B"/>
                          </a:solidFill>
                          <a:latin typeface="Calibri"/>
                        </a:rPr>
                        <a:t>● Retenu</a:t>
                      </a:r>
                    </a:p>
                  </a:txBody>
                  <a:tcPr marL="73152" marR="73152" marT="36576" marB="36576" anchor="ctr">
                    <a:solidFill>
                      <a:srgbClr val="F4F8F5"/>
                    </a:solidFill>
                  </a:tcPr>
                </a:tc>
              </a:tr>
              <a:tr h="384048">
                <a:tc>
                  <a:txBody>
                    <a:bodyPr wrap="square"/>
                    <a:lstStyle/>
                    <a:p>
                      <a:pPr algn="l">
                        <a:spcAft>
                          <a:spcPts val="0"/>
                        </a:spcAft>
                      </a:pPr>
                      <a:r>
                        <a:rPr sz="1100" b="1" i="0">
                          <a:solidFill>
                            <a:srgbClr val="17332A"/>
                          </a:solidFill>
                          <a:latin typeface="Calibri"/>
                        </a:rPr>
                        <a:t>Récolte par similarité</a:t>
                      </a:r>
                    </a:p>
                  </a:txBody>
                  <a:tcPr marL="73152" marR="73152" marT="36576" marB="36576" anchor="ctr">
                    <a:solidFill>
                      <a:srgbClr val="FFFFFF"/>
                    </a:solidFill>
                  </a:tcPr>
                </a:tc>
                <a:tc>
                  <a:txBody>
                    <a:bodyPr wrap="square"/>
                    <a:lstStyle/>
                    <a:p>
                      <a:pPr algn="l">
                        <a:spcAft>
                          <a:spcPts val="0"/>
                        </a:spcAft>
                      </a:pPr>
                      <a:r>
                        <a:rPr sz="1100" b="0" i="0">
                          <a:solidFill>
                            <a:srgbClr val="1C2B24"/>
                          </a:solidFill>
                          <a:latin typeface="Calibri"/>
                        </a:rPr>
                        <a:t>Requêtes : positifs connus, prototype différentiel</a:t>
                      </a:r>
                    </a:p>
                  </a:txBody>
                  <a:tcPr marL="73152" marR="73152" marT="36576" marB="36576" anchor="ctr">
                    <a:solidFill>
                      <a:srgbClr val="FFFFFF"/>
                    </a:solidFill>
                  </a:tcPr>
                </a:tc>
                <a:tc>
                  <a:txBody>
                    <a:bodyPr wrap="square"/>
                    <a:lstStyle/>
                    <a:p>
                      <a:pPr algn="l">
                        <a:spcAft>
                          <a:spcPts val="0"/>
                        </a:spcAft>
                      </a:pPr>
                      <a:r>
                        <a:rPr sz="1100" b="0" i="0">
                          <a:solidFill>
                            <a:srgbClr val="1C2B24"/>
                          </a:solidFill>
                          <a:latin typeface="Calibri"/>
                        </a:rPr>
                        <a:t>Positifs faciles ; amorcer un nouveau site</a:t>
                      </a:r>
                    </a:p>
                  </a:txBody>
                  <a:tcPr marL="73152" marR="73152" marT="36576" marB="36576" anchor="ctr">
                    <a:solidFill>
                      <a:srgbClr val="FFFFFF"/>
                    </a:solidFill>
                  </a:tcPr>
                </a:tc>
                <a:tc>
                  <a:txBody>
                    <a:bodyPr wrap="square"/>
                    <a:lstStyle/>
                    <a:p>
                      <a:pPr algn="l">
                        <a:spcAft>
                          <a:spcPts val="0"/>
                        </a:spcAft>
                      </a:pPr>
                      <a:r>
                        <a:rPr sz="1100" b="1" i="0">
                          <a:solidFill>
                            <a:srgbClr val="2F8F5B"/>
                          </a:solidFill>
                          <a:latin typeface="Calibri"/>
                        </a:rPr>
                        <a:t>● Retenu</a:t>
                      </a:r>
                    </a:p>
                  </a:txBody>
                  <a:tcPr marL="73152" marR="73152" marT="36576" marB="36576" anchor="ctr">
                    <a:solidFill>
                      <a:srgbClr val="FFFFFF"/>
                    </a:solidFill>
                  </a:tcPr>
                </a:tc>
              </a:tr>
              <a:tr h="384048">
                <a:tc>
                  <a:txBody>
                    <a:bodyPr wrap="square"/>
                    <a:lstStyle/>
                    <a:p>
                      <a:pPr algn="l">
                        <a:spcAft>
                          <a:spcPts val="0"/>
                        </a:spcAft>
                      </a:pPr>
                      <a:r>
                        <a:rPr sz="1100" b="1" i="0">
                          <a:solidFill>
                            <a:srgbClr val="17332A"/>
                          </a:solidFill>
                          <a:latin typeface="Calibri"/>
                        </a:rPr>
                        <a:t>Logits des congénères</a:t>
                      </a:r>
                    </a:p>
                  </a:txBody>
                  <a:tcPr marL="73152" marR="73152" marT="36576" marB="36576" anchor="ctr">
                    <a:solidFill>
                      <a:srgbClr val="F4F8F5"/>
                    </a:solidFill>
                  </a:tcPr>
                </a:tc>
                <a:tc>
                  <a:txBody>
                    <a:bodyPr wrap="square"/>
                    <a:lstStyle/>
                    <a:p>
                      <a:pPr algn="l">
                        <a:spcAft>
                          <a:spcPts val="0"/>
                        </a:spcAft>
                      </a:pPr>
                      <a:r>
                        <a:rPr sz="1100" b="0" i="0">
                          <a:solidFill>
                            <a:srgbClr val="1C2B24"/>
                          </a:solidFill>
                          <a:latin typeface="Calibri"/>
                        </a:rPr>
                        <a:t>Scores Perch 2.0 des 3 </a:t>
                      </a:r>
                      <a:r>
                        <a:rPr sz="1100" b="0" i="1">
                          <a:solidFill>
                            <a:srgbClr val="1C2B24"/>
                          </a:solidFill>
                          <a:latin typeface="Calibri"/>
                        </a:rPr>
                        <a:t>Anomaloglossus</a:t>
                      </a:r>
                      <a:r>
                        <a:rPr sz="1100" b="0" i="0">
                          <a:solidFill>
                            <a:srgbClr val="1C2B24"/>
                          </a:solidFill>
                          <a:latin typeface="Calibri"/>
                        </a:rPr>
                        <a:t> connus</a:t>
                      </a:r>
                    </a:p>
                  </a:txBody>
                  <a:tcPr marL="73152" marR="73152" marT="36576" marB="36576" anchor="ctr">
                    <a:solidFill>
                      <a:srgbClr val="F4F8F5"/>
                    </a:solidFill>
                  </a:tcPr>
                </a:tc>
                <a:tc>
                  <a:txBody>
                    <a:bodyPr wrap="square"/>
                    <a:lstStyle/>
                    <a:p>
                      <a:pPr algn="l">
                        <a:spcAft>
                          <a:spcPts val="0"/>
                        </a:spcAft>
                      </a:pPr>
                      <a:r>
                        <a:rPr sz="1100" b="0" i="0">
                          <a:solidFill>
                            <a:srgbClr val="1C2B24"/>
                          </a:solidFill>
                          <a:latin typeface="Calibri"/>
                        </a:rPr>
                        <a:t>Premiers candidats, sans aucun label</a:t>
                      </a:r>
                    </a:p>
                  </a:txBody>
                  <a:tcPr marL="73152" marR="73152" marT="36576" marB="36576" anchor="ctr">
                    <a:solidFill>
                      <a:srgbClr val="F4F8F5"/>
                    </a:solidFill>
                  </a:tcPr>
                </a:tc>
                <a:tc>
                  <a:txBody>
                    <a:bodyPr wrap="square"/>
                    <a:lstStyle/>
                    <a:p>
                      <a:pPr algn="l">
                        <a:spcAft>
                          <a:spcPts val="0"/>
                        </a:spcAft>
                      </a:pPr>
                      <a:r>
                        <a:rPr sz="1100" b="1" i="0">
                          <a:solidFill>
                            <a:srgbClr val="C9780E"/>
                          </a:solidFill>
                          <a:latin typeface="Calibri"/>
                        </a:rPr>
                        <a:t>● À comparer</a:t>
                      </a:r>
                    </a:p>
                  </a:txBody>
                  <a:tcPr marL="73152" marR="73152" marT="36576" marB="36576" anchor="ctr">
                    <a:solidFill>
                      <a:srgbClr val="F4F8F5"/>
                    </a:solidFill>
                  </a:tcPr>
                </a:tc>
              </a:tr>
              <a:tr h="384048">
                <a:tc>
                  <a:txBody>
                    <a:bodyPr wrap="square"/>
                    <a:lstStyle/>
                    <a:p>
                      <a:pPr algn="l">
                        <a:spcAft>
                          <a:spcPts val="0"/>
                        </a:spcAft>
                      </a:pPr>
                      <a:r>
                        <a:rPr sz="1100" b="1" i="0">
                          <a:solidFill>
                            <a:srgbClr val="17332A"/>
                          </a:solidFill>
                          <a:latin typeface="Calibri"/>
                        </a:rPr>
                        <a:t>YAPAT</a:t>
                      </a:r>
                    </a:p>
                  </a:txBody>
                  <a:tcPr marL="73152" marR="73152" marT="36576" marB="36576" anchor="ctr">
                    <a:solidFill>
                      <a:srgbClr val="FFFFFF"/>
                    </a:solidFill>
                  </a:tcPr>
                </a:tc>
                <a:tc>
                  <a:txBody>
                    <a:bodyPr wrap="square"/>
                    <a:lstStyle/>
                    <a:p>
                      <a:pPr algn="l">
                        <a:spcAft>
                          <a:spcPts val="0"/>
                        </a:spcAft>
                      </a:pPr>
                      <a:r>
                        <a:rPr sz="1100" b="0" i="0">
                          <a:solidFill>
                            <a:srgbClr val="1C2B24"/>
                          </a:solidFill>
                          <a:latin typeface="Calibri"/>
                        </a:rPr>
                        <a:t>Outil d'annotation existant</a:t>
                      </a:r>
                    </a:p>
                  </a:txBody>
                  <a:tcPr marL="73152" marR="73152" marT="36576" marB="36576" anchor="ctr">
                    <a:solidFill>
                      <a:srgbClr val="FFFFFF"/>
                    </a:solidFill>
                  </a:tcPr>
                </a:tc>
                <a:tc>
                  <a:txBody>
                    <a:bodyPr wrap="square"/>
                    <a:lstStyle/>
                    <a:p>
                      <a:pPr algn="l">
                        <a:spcAft>
                          <a:spcPts val="0"/>
                        </a:spcAft>
                      </a:pPr>
                      <a:r>
                        <a:rPr sz="1100" b="0" i="0">
                          <a:solidFill>
                            <a:srgbClr val="1C2B24"/>
                          </a:solidFill>
                          <a:latin typeface="Calibri"/>
                        </a:rPr>
                        <a:t>À essayer contre notre poste (et Whombat)</a:t>
                      </a:r>
                    </a:p>
                  </a:txBody>
                  <a:tcPr marL="73152" marR="73152" marT="36576" marB="36576" anchor="ctr">
                    <a:solidFill>
                      <a:srgbClr val="FFFFFF"/>
                    </a:solidFill>
                  </a:tcPr>
                </a:tc>
                <a:tc>
                  <a:txBody>
                    <a:bodyPr wrap="square"/>
                    <a:lstStyle/>
                    <a:p>
                      <a:pPr algn="l">
                        <a:spcAft>
                          <a:spcPts val="0"/>
                        </a:spcAft>
                      </a:pPr>
                      <a:r>
                        <a:rPr sz="1100" b="1" i="0">
                          <a:solidFill>
                            <a:srgbClr val="3E7CB1"/>
                          </a:solidFill>
                          <a:latin typeface="Calibri"/>
                        </a:rPr>
                        <a:t>● À essayer</a:t>
                      </a:r>
                    </a:p>
                  </a:txBody>
                  <a:tcPr marL="73152" marR="73152" marT="36576" marB="36576" anchor="ctr">
                    <a:solidFill>
                      <a:srgbClr val="FFFFFF"/>
                    </a:solidFill>
                  </a:tcPr>
                </a:tc>
              </a:tr>
              <a:tr h="384048">
                <a:tc>
                  <a:txBody>
                    <a:bodyPr wrap="square"/>
                    <a:lstStyle/>
                    <a:p>
                      <a:pPr algn="l">
                        <a:spcAft>
                          <a:spcPts val="0"/>
                        </a:spcAft>
                      </a:pPr>
                      <a:r>
                        <a:rPr sz="1100" b="1" i="0">
                          <a:solidFill>
                            <a:srgbClr val="17332A"/>
                          </a:solidFill>
                          <a:latin typeface="Calibri"/>
                        </a:rPr>
                        <a:t>Étiquetage en bloc par cluster</a:t>
                      </a:r>
                    </a:p>
                  </a:txBody>
                  <a:tcPr marL="73152" marR="73152" marT="36576" marB="36576" anchor="ctr">
                    <a:solidFill>
                      <a:srgbClr val="F4F8F5"/>
                    </a:solidFill>
                  </a:tcPr>
                </a:tc>
                <a:tc>
                  <a:txBody>
                    <a:bodyPr wrap="square"/>
                    <a:lstStyle/>
                    <a:p>
                      <a:pPr algn="l">
                        <a:spcAft>
                          <a:spcPts val="0"/>
                        </a:spcAft>
                      </a:pPr>
                      <a:r>
                        <a:rPr sz="1100" b="0" i="0">
                          <a:solidFill>
                            <a:srgbClr val="1C2B24"/>
                          </a:solidFill>
                          <a:latin typeface="Calibri"/>
                        </a:rPr>
                        <a:t>Groupe homogène après une dizaine d'écoutes : annoté en masse</a:t>
                      </a:r>
                    </a:p>
                  </a:txBody>
                  <a:tcPr marL="73152" marR="73152" marT="36576" marB="36576" anchor="ctr">
                    <a:solidFill>
                      <a:srgbClr val="F4F8F5"/>
                    </a:solidFill>
                  </a:tcPr>
                </a:tc>
                <a:tc>
                  <a:txBody>
                    <a:bodyPr wrap="square"/>
                    <a:lstStyle/>
                    <a:p>
                      <a:pPr algn="l">
                        <a:spcAft>
                          <a:spcPts val="0"/>
                        </a:spcAft>
                      </a:pPr>
                      <a:r>
                        <a:rPr sz="1100" b="0" i="0">
                          <a:solidFill>
                            <a:srgbClr val="1C2B24"/>
                          </a:solidFill>
                          <a:latin typeface="Calibri"/>
                        </a:rPr>
                        <a:t>Négatifs en volume ; positifs si un groupe est pur</a:t>
                      </a:r>
                    </a:p>
                  </a:txBody>
                  <a:tcPr marL="73152" marR="73152" marT="36576" marB="36576" anchor="ctr">
                    <a:solidFill>
                      <a:srgbClr val="F4F8F5"/>
                    </a:solidFill>
                  </a:tcPr>
                </a:tc>
                <a:tc>
                  <a:txBody>
                    <a:bodyPr wrap="square"/>
                    <a:lstStyle/>
                    <a:p>
                      <a:pPr algn="l">
                        <a:spcAft>
                          <a:spcPts val="0"/>
                        </a:spcAft>
                      </a:pPr>
                      <a:r>
                        <a:rPr sz="1100" b="1" i="0">
                          <a:solidFill>
                            <a:srgbClr val="3E7CB1"/>
                          </a:solidFill>
                          <a:latin typeface="Calibri"/>
                        </a:rPr>
                        <a:t>● À essayer</a:t>
                      </a:r>
                    </a:p>
                  </a:txBody>
                  <a:tcPr marL="73152" marR="73152" marT="36576" marB="36576" anchor="ctr">
                    <a:solidFill>
                      <a:srgbClr val="F4F8F5"/>
                    </a:solidFill>
                  </a:tcPr>
                </a:tc>
              </a:tr>
              <a:tr h="384048">
                <a:tc>
                  <a:txBody>
                    <a:bodyPr wrap="square"/>
                    <a:lstStyle/>
                    <a:p>
                      <a:pPr algn="l">
                        <a:spcAft>
                          <a:spcPts val="0"/>
                        </a:spcAft>
                      </a:pPr>
                      <a:r>
                        <a:rPr sz="1100" b="1" i="0">
                          <a:solidFill>
                            <a:srgbClr val="17332A"/>
                          </a:solidFill>
                          <a:latin typeface="Calibri"/>
                        </a:rPr>
                        <a:t>Audit aléatoire</a:t>
                      </a:r>
                    </a:p>
                  </a:txBody>
                  <a:tcPr marL="73152" marR="73152" marT="36576" marB="36576" anchor="ctr">
                    <a:solidFill>
                      <a:srgbClr val="FFFFFF"/>
                    </a:solidFill>
                  </a:tcPr>
                </a:tc>
                <a:tc>
                  <a:txBody>
                    <a:bodyPr wrap="square"/>
                    <a:lstStyle/>
                    <a:p>
                      <a:pPr algn="l">
                        <a:spcAft>
                          <a:spcPts val="0"/>
                        </a:spcAft>
                      </a:pPr>
                      <a:r>
                        <a:rPr sz="1100" b="0" i="0">
                          <a:solidFill>
                            <a:srgbClr val="1C2B24"/>
                          </a:solidFill>
                          <a:latin typeface="Calibri"/>
                        </a:rPr>
                        <a:t>Enregistrements entiers tirés au hasard</a:t>
                      </a:r>
                    </a:p>
                  </a:txBody>
                  <a:tcPr marL="73152" marR="73152" marT="36576" marB="36576" anchor="ctr">
                    <a:solidFill>
                      <a:srgbClr val="FFFFFF"/>
                    </a:solidFill>
                  </a:tcPr>
                </a:tc>
                <a:tc>
                  <a:txBody>
                    <a:bodyPr wrap="square"/>
                    <a:lstStyle/>
                    <a:p>
                      <a:pPr algn="l">
                        <a:spcAft>
                          <a:spcPts val="0"/>
                        </a:spcAft>
                      </a:pPr>
                      <a:r>
                        <a:rPr sz="1100" b="0" i="0">
                          <a:solidFill>
                            <a:srgbClr val="1C2B24"/>
                          </a:solidFill>
                          <a:latin typeface="Calibri"/>
                        </a:rPr>
                        <a:t>Seule mesure du rappel indépendante de Blancinet</a:t>
                      </a:r>
                    </a:p>
                  </a:txBody>
                  <a:tcPr marL="73152" marR="73152" marT="36576" marB="36576" anchor="ctr">
                    <a:solidFill>
                      <a:srgbClr val="FFFFFF"/>
                    </a:solidFill>
                  </a:tcPr>
                </a:tc>
                <a:tc>
                  <a:txBody>
                    <a:bodyPr wrap="square"/>
                    <a:lstStyle/>
                    <a:p>
                      <a:pPr algn="l">
                        <a:spcAft>
                          <a:spcPts val="0"/>
                        </a:spcAft>
                      </a:pPr>
                      <a:r>
                        <a:rPr sz="1100" b="1" i="0">
                          <a:solidFill>
                            <a:srgbClr val="2F8F5B"/>
                          </a:solidFill>
                          <a:latin typeface="Calibri"/>
                        </a:rPr>
                        <a:t>● Retenu</a:t>
                      </a:r>
                    </a:p>
                  </a:txBody>
                  <a:tcPr marL="73152" marR="73152" marT="36576" marB="36576" anchor="ctr">
                    <a:solidFill>
                      <a:srgbClr val="FFFFFF"/>
                    </a:solidFill>
                  </a:tcPr>
                </a:tc>
              </a:tr>
              <a:tr h="384048">
                <a:tc>
                  <a:txBody>
                    <a:bodyPr wrap="square"/>
                    <a:lstStyle/>
                    <a:p>
                      <a:pPr algn="l">
                        <a:spcAft>
                          <a:spcPts val="0"/>
                        </a:spcAft>
                      </a:pPr>
                      <a:r>
                        <a:rPr sz="1100" b="1" i="0">
                          <a:solidFill>
                            <a:srgbClr val="17332A"/>
                          </a:solidFill>
                          <a:latin typeface="Calibri"/>
                        </a:rPr>
                        <a:t>Negative mining</a:t>
                      </a:r>
                    </a:p>
                  </a:txBody>
                  <a:tcPr marL="73152" marR="73152" marT="36576" marB="36576" anchor="ctr">
                    <a:solidFill>
                      <a:srgbClr val="F4F8F5"/>
                    </a:solidFill>
                  </a:tcPr>
                </a:tc>
                <a:tc>
                  <a:txBody>
                    <a:bodyPr wrap="square"/>
                    <a:lstStyle/>
                    <a:p>
                      <a:pPr algn="l">
                        <a:spcAft>
                          <a:spcPts val="0"/>
                        </a:spcAft>
                      </a:pPr>
                      <a:r>
                        <a:rPr sz="1100" b="0" i="0">
                          <a:solidFill>
                            <a:srgbClr val="1C2B24"/>
                          </a:solidFill>
                          <a:latin typeface="Calibri"/>
                        </a:rPr>
                        <a:t>Négatifs durs parmi les mieux classés</a:t>
                      </a:r>
                    </a:p>
                  </a:txBody>
                  <a:tcPr marL="73152" marR="73152" marT="36576" marB="36576" anchor="ctr">
                    <a:solidFill>
                      <a:srgbClr val="F4F8F5"/>
                    </a:solidFill>
                  </a:tcPr>
                </a:tc>
                <a:tc>
                  <a:txBody>
                    <a:bodyPr wrap="square"/>
                    <a:lstStyle/>
                    <a:p>
                      <a:pPr algn="l">
                        <a:spcAft>
                          <a:spcPts val="0"/>
                        </a:spcAft>
                      </a:pPr>
                      <a:r>
                        <a:rPr sz="1100" b="0" i="0">
                          <a:solidFill>
                            <a:srgbClr val="1C2B24"/>
                          </a:solidFill>
                          <a:latin typeface="Calibri"/>
                        </a:rPr>
                        <a:t>Apprendre les confusions</a:t>
                      </a:r>
                    </a:p>
                  </a:txBody>
                  <a:tcPr marL="73152" marR="73152" marT="36576" marB="36576" anchor="ctr">
                    <a:solidFill>
                      <a:srgbClr val="F4F8F5"/>
                    </a:solidFill>
                  </a:tcPr>
                </a:tc>
                <a:tc>
                  <a:txBody>
                    <a:bodyPr wrap="square"/>
                    <a:lstStyle/>
                    <a:p>
                      <a:pPr algn="l">
                        <a:spcAft>
                          <a:spcPts val="0"/>
                        </a:spcAft>
                      </a:pPr>
                      <a:r>
                        <a:rPr sz="1100" b="1" i="0">
                          <a:solidFill>
                            <a:srgbClr val="2F8F5B"/>
                          </a:solidFill>
                          <a:latin typeface="Calibri"/>
                        </a:rPr>
                        <a:t>● Retenu</a:t>
                      </a:r>
                    </a:p>
                  </a:txBody>
                  <a:tcPr marL="73152" marR="73152" marT="36576" marB="36576" anchor="ctr">
                    <a:solidFill>
                      <a:srgbClr val="F4F8F5"/>
                    </a:solidFill>
                  </a:tcPr>
                </a:tc>
              </a:tr>
              <a:tr h="384048">
                <a:tc>
                  <a:txBody>
                    <a:bodyPr wrap="square"/>
                    <a:lstStyle/>
                    <a:p>
                      <a:pPr algn="l">
                        <a:spcAft>
                          <a:spcPts val="0"/>
                        </a:spcAft>
                      </a:pPr>
                      <a:r>
                        <a:rPr sz="1100" b="1" i="0">
                          <a:solidFill>
                            <a:srgbClr val="17332A"/>
                          </a:solidFill>
                          <a:latin typeface="Calibri"/>
                        </a:rPr>
                        <a:t>Échantillonnage phénologique</a:t>
                      </a:r>
                    </a:p>
                  </a:txBody>
                  <a:tcPr marL="73152" marR="73152" marT="36576" marB="36576" anchor="ctr">
                    <a:solidFill>
                      <a:srgbClr val="FFFFFF"/>
                    </a:solidFill>
                  </a:tcPr>
                </a:tc>
                <a:tc>
                  <a:txBody>
                    <a:bodyPr wrap="square"/>
                    <a:lstStyle/>
                    <a:p>
                      <a:pPr algn="l">
                        <a:spcAft>
                          <a:spcPts val="0"/>
                        </a:spcAft>
                      </a:pPr>
                      <a:r>
                        <a:rPr sz="1100" b="0" i="0">
                          <a:solidFill>
                            <a:srgbClr val="1C2B24"/>
                          </a:solidFill>
                          <a:latin typeface="Calibri"/>
                        </a:rPr>
                        <a:t>Heures de pic, saison haute ; Molokoi en janvier–avril</a:t>
                      </a:r>
                    </a:p>
                  </a:txBody>
                  <a:tcPr marL="73152" marR="73152" marT="36576" marB="36576" anchor="ctr">
                    <a:solidFill>
                      <a:srgbClr val="FFFFFF"/>
                    </a:solidFill>
                  </a:tcPr>
                </a:tc>
                <a:tc>
                  <a:txBody>
                    <a:bodyPr wrap="square"/>
                    <a:lstStyle/>
                    <a:p>
                      <a:pPr algn="l">
                        <a:spcAft>
                          <a:spcPts val="0"/>
                        </a:spcAft>
                      </a:pPr>
                      <a:r>
                        <a:rPr sz="1100" b="0" i="0">
                          <a:solidFill>
                            <a:srgbClr val="1C2B24"/>
                          </a:solidFill>
                          <a:latin typeface="Calibri"/>
                        </a:rPr>
                        <a:t>Récolter là où elle chante</a:t>
                      </a:r>
                    </a:p>
                  </a:txBody>
                  <a:tcPr marL="73152" marR="73152" marT="36576" marB="36576" anchor="ctr">
                    <a:solidFill>
                      <a:srgbClr val="FFFFFF"/>
                    </a:solidFill>
                  </a:tcPr>
                </a:tc>
                <a:tc>
                  <a:txBody>
                    <a:bodyPr wrap="square"/>
                    <a:lstStyle/>
                    <a:p>
                      <a:pPr algn="l">
                        <a:spcAft>
                          <a:spcPts val="0"/>
                        </a:spcAft>
                      </a:pPr>
                      <a:r>
                        <a:rPr sz="1100" b="1" i="0">
                          <a:solidFill>
                            <a:srgbClr val="2F8F5B"/>
                          </a:solidFill>
                          <a:latin typeface="Calibri"/>
                        </a:rPr>
                        <a:t>● Retenu</a:t>
                      </a:r>
                    </a:p>
                  </a:txBody>
                  <a:tcPr marL="73152" marR="73152" marT="36576" marB="36576" anchor="ctr">
                    <a:solidFill>
                      <a:srgbClr val="FFFFFF"/>
                    </a:solidFill>
                  </a:tcPr>
                </a:tc>
              </a:tr>
              <a:tr h="384048">
                <a:tc>
                  <a:txBody>
                    <a:bodyPr wrap="square"/>
                    <a:lstStyle/>
                    <a:p>
                      <a:pPr algn="l">
                        <a:spcAft>
                          <a:spcPts val="0"/>
                        </a:spcAft>
                      </a:pPr>
                      <a:r>
                        <a:rPr sz="1100" b="1" i="0">
                          <a:solidFill>
                            <a:srgbClr val="17332A"/>
                          </a:solidFill>
                          <a:latin typeface="Calibri"/>
                        </a:rPr>
                        <a:t>File « suspect »</a:t>
                      </a:r>
                    </a:p>
                  </a:txBody>
                  <a:tcPr marL="73152" marR="73152" marT="36576" marB="36576" anchor="ctr">
                    <a:solidFill>
                      <a:srgbClr val="F4F8F5"/>
                    </a:solidFill>
                  </a:tcPr>
                </a:tc>
                <a:tc>
                  <a:txBody>
                    <a:bodyPr wrap="square"/>
                    <a:lstStyle/>
                    <a:p>
                      <a:pPr algn="l">
                        <a:spcAft>
                          <a:spcPts val="0"/>
                        </a:spcAft>
                      </a:pPr>
                      <a:r>
                        <a:rPr sz="1100" b="0" i="0">
                          <a:solidFill>
                            <a:srgbClr val="1C2B24"/>
                          </a:solidFill>
                          <a:latin typeface="Calibri"/>
                        </a:rPr>
                        <a:t>Détections isolées dans un enregistrement</a:t>
                      </a:r>
                    </a:p>
                  </a:txBody>
                  <a:tcPr marL="73152" marR="73152" marT="36576" marB="36576" anchor="ctr">
                    <a:solidFill>
                      <a:srgbClr val="F4F8F5"/>
                    </a:solidFill>
                  </a:tcPr>
                </a:tc>
                <a:tc>
                  <a:txBody>
                    <a:bodyPr wrap="square"/>
                    <a:lstStyle/>
                    <a:p>
                      <a:pPr algn="l">
                        <a:spcAft>
                          <a:spcPts val="0"/>
                        </a:spcAft>
                      </a:pPr>
                      <a:r>
                        <a:rPr sz="1100" b="0" i="0">
                          <a:solidFill>
                            <a:srgbClr val="1C2B24"/>
                          </a:solidFill>
                          <a:latin typeface="Calibri"/>
                        </a:rPr>
                        <a:t>Faux positifs probables, ou chant ponctuel</a:t>
                      </a:r>
                    </a:p>
                  </a:txBody>
                  <a:tcPr marL="73152" marR="73152" marT="36576" marB="36576" anchor="ctr">
                    <a:solidFill>
                      <a:srgbClr val="F4F8F5"/>
                    </a:solidFill>
                  </a:tcPr>
                </a:tc>
                <a:tc>
                  <a:txBody>
                    <a:bodyPr wrap="square"/>
                    <a:lstStyle/>
                    <a:p>
                      <a:pPr algn="l">
                        <a:spcAft>
                          <a:spcPts val="0"/>
                        </a:spcAft>
                      </a:pPr>
                      <a:r>
                        <a:rPr sz="1100" b="1" i="0">
                          <a:solidFill>
                            <a:srgbClr val="2F8F5B"/>
                          </a:solidFill>
                          <a:latin typeface="Calibri"/>
                        </a:rPr>
                        <a:t>● Retenu</a:t>
                      </a:r>
                    </a:p>
                  </a:txBody>
                  <a:tcPr marL="73152" marR="73152" marT="36576" marB="36576" anchor="ctr">
                    <a:solidFill>
                      <a:srgbClr val="F4F8F5"/>
                    </a:solidFill>
                  </a:tcPr>
                </a:tc>
              </a:tr>
            </a:tbl>
          </a:graphicData>
        </a:graphic>
      </p:graphicFrame>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8229600" cy="256032"/>
          </a:xfrm>
          <a:prstGeom prst="rect">
            <a:avLst/>
          </a:prstGeom>
          <a:noFill/>
        </p:spPr>
        <p:txBody>
          <a:bodyPr wrap="square" anchor="t" lIns="0" rIns="0" tIns="0" bIns="0">
            <a:spAutoFit/>
          </a:bodyPr>
          <a:lstStyle/>
          <a:p>
            <a:pPr algn="l">
              <a:spcAft>
                <a:spcPts val="400"/>
              </a:spcAft>
            </a:pPr>
            <a:r>
              <a:rPr sz="1100" b="1" i="0">
                <a:solidFill>
                  <a:srgbClr val="9A5A06"/>
                </a:solidFill>
                <a:latin typeface="Calibri"/>
              </a:rPr>
              <a:t>PIPELINE · ÉTAPE 9</a:t>
            </a:r>
          </a:p>
        </p:txBody>
      </p:sp>
      <p:sp>
        <p:nvSpPr>
          <p:cNvPr id="3" name="TextBox 2"/>
          <p:cNvSpPr txBox="1"/>
          <p:nvPr/>
        </p:nvSpPr>
        <p:spPr>
          <a:xfrm>
            <a:off x="457200" y="493776"/>
            <a:ext cx="11274552" cy="548640"/>
          </a:xfrm>
          <a:prstGeom prst="rect">
            <a:avLst/>
          </a:prstGeom>
          <a:noFill/>
        </p:spPr>
        <p:txBody>
          <a:bodyPr wrap="square" anchor="t" lIns="0" rIns="0" tIns="0" bIns="0">
            <a:spAutoFit/>
          </a:bodyPr>
          <a:lstStyle/>
          <a:p>
            <a:pPr algn="l">
              <a:spcAft>
                <a:spcPts val="400"/>
              </a:spcAft>
            </a:pPr>
            <a:r>
              <a:rPr sz="2600" b="1" i="0">
                <a:solidFill>
                  <a:srgbClr val="17332A"/>
                </a:solidFill>
                <a:latin typeface="Cambria"/>
              </a:rPr>
              <a:t>Annotation et réentraînement : fermer la boucle</a:t>
            </a:r>
          </a:p>
        </p:txBody>
      </p:sp>
      <p:cxnSp>
        <p:nvCxnSpPr>
          <p:cNvPr id="4" name="Connector 3"/>
          <p:cNvCxnSpPr/>
          <p:nvPr/>
        </p:nvCxnSpPr>
        <p:spPr>
          <a:xfrm>
            <a:off x="1591056" y="1472184"/>
            <a:ext cx="315206" cy="0"/>
          </a:xfrm>
          <a:prstGeom prst="line">
            <a:avLst/>
          </a:prstGeom>
          <a:ln w="15875">
            <a:solidFill>
              <a:srgbClr val="9DB3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3040118" y="1472184"/>
            <a:ext cx="157604" cy="0"/>
          </a:xfrm>
          <a:prstGeom prst="line">
            <a:avLst/>
          </a:prstGeom>
          <a:ln w="15875">
            <a:solidFill>
              <a:srgbClr val="9DB3A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197722" y="1271016"/>
            <a:ext cx="0" cy="402336"/>
          </a:xfrm>
          <a:prstGeom prst="line">
            <a:avLst/>
          </a:prstGeom>
          <a:ln w="15875">
            <a:solidFill>
              <a:srgbClr val="9DB3A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3197722" y="1271016"/>
            <a:ext cx="157603" cy="0"/>
          </a:xfrm>
          <a:prstGeom prst="line">
            <a:avLst/>
          </a:prstGeom>
          <a:ln w="15875">
            <a:solidFill>
              <a:srgbClr val="9DB3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3197722" y="1673352"/>
            <a:ext cx="157603" cy="0"/>
          </a:xfrm>
          <a:prstGeom prst="line">
            <a:avLst/>
          </a:prstGeom>
          <a:ln w="15875">
            <a:solidFill>
              <a:srgbClr val="9DB3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489181" y="1271016"/>
            <a:ext cx="315207" cy="0"/>
          </a:xfrm>
          <a:prstGeom prst="line">
            <a:avLst/>
          </a:prstGeom>
          <a:ln w="15875">
            <a:solidFill>
              <a:srgbClr val="9DB3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938244" y="1271016"/>
            <a:ext cx="157603" cy="0"/>
          </a:xfrm>
          <a:prstGeom prst="line">
            <a:avLst/>
          </a:prstGeom>
          <a:ln w="15875">
            <a:solidFill>
              <a:srgbClr val="9DB3A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5938244" y="1673352"/>
            <a:ext cx="157603" cy="0"/>
          </a:xfrm>
          <a:prstGeom prst="line">
            <a:avLst/>
          </a:prstGeom>
          <a:ln w="15875">
            <a:solidFill>
              <a:srgbClr val="9DB3A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095847" y="1271016"/>
            <a:ext cx="0" cy="402336"/>
          </a:xfrm>
          <a:prstGeom prst="line">
            <a:avLst/>
          </a:prstGeom>
          <a:ln w="15875">
            <a:solidFill>
              <a:srgbClr val="9DB3A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6095847" y="1472184"/>
            <a:ext cx="157603" cy="0"/>
          </a:xfrm>
          <a:prstGeom prst="line">
            <a:avLst/>
          </a:prstGeom>
          <a:ln w="15875">
            <a:solidFill>
              <a:srgbClr val="9DB3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7387306" y="1472184"/>
            <a:ext cx="315207" cy="0"/>
          </a:xfrm>
          <a:prstGeom prst="line">
            <a:avLst/>
          </a:prstGeom>
          <a:ln w="15875">
            <a:solidFill>
              <a:srgbClr val="9DB3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836369" y="1472184"/>
            <a:ext cx="315207" cy="0"/>
          </a:xfrm>
          <a:prstGeom prst="line">
            <a:avLst/>
          </a:prstGeom>
          <a:ln w="15875">
            <a:solidFill>
              <a:srgbClr val="9DB3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0285432" y="1472184"/>
            <a:ext cx="315207" cy="0"/>
          </a:xfrm>
          <a:prstGeom prst="line">
            <a:avLst/>
          </a:prstGeom>
          <a:ln w="15875">
            <a:solidFill>
              <a:srgbClr val="9DB3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1167567" y="1627632"/>
            <a:ext cx="0" cy="292608"/>
          </a:xfrm>
          <a:prstGeom prst="line">
            <a:avLst/>
          </a:prstGeom>
          <a:ln w="19050">
            <a:solidFill>
              <a:srgbClr val="9DB3A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H="1">
            <a:off x="1024128" y="1920240"/>
            <a:ext cx="10143439" cy="0"/>
          </a:xfrm>
          <a:prstGeom prst="line">
            <a:avLst/>
          </a:prstGeom>
          <a:ln w="19050">
            <a:solidFill>
              <a:srgbClr val="9DB3A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1024128" y="1627632"/>
            <a:ext cx="0" cy="292608"/>
          </a:xfrm>
          <a:prstGeom prst="line">
            <a:avLst/>
          </a:prstGeom>
          <a:ln w="19050">
            <a:solidFill>
              <a:srgbClr val="9DB3A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457200" y="1316736"/>
            <a:ext cx="1133856" cy="310896"/>
          </a:xfrm>
          <a:prstGeom prst="roundRect">
            <a:avLst>
              <a:gd name="adj" fmla="val 14000"/>
            </a:avLst>
          </a:prstGeom>
          <a:solidFill>
            <a:srgbClr val="E6EF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0"/>
              </a:spcAft>
            </a:pPr>
            <a:r>
              <a:rPr sz="950" b="0" i="0">
                <a:solidFill>
                  <a:srgbClr val="5E6E66"/>
                </a:solidFill>
                <a:latin typeface="Calibri"/>
              </a:rPr>
              <a:t>Corpus + QC</a:t>
            </a:r>
          </a:p>
        </p:txBody>
      </p:sp>
      <p:sp>
        <p:nvSpPr>
          <p:cNvPr id="21" name="Rounded Rectangle 20"/>
          <p:cNvSpPr/>
          <p:nvPr/>
        </p:nvSpPr>
        <p:spPr>
          <a:xfrm>
            <a:off x="1906262" y="1316736"/>
            <a:ext cx="1133856" cy="310896"/>
          </a:xfrm>
          <a:prstGeom prst="roundRect">
            <a:avLst>
              <a:gd name="adj" fmla="val 14000"/>
            </a:avLst>
          </a:prstGeom>
          <a:solidFill>
            <a:srgbClr val="E6EF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0"/>
              </a:spcAft>
            </a:pPr>
            <a:r>
              <a:rPr sz="950" b="0" i="0">
                <a:solidFill>
                  <a:srgbClr val="5E6E66"/>
                </a:solidFill>
                <a:latin typeface="Calibri"/>
              </a:rPr>
              <a:t>Fenêtrage</a:t>
            </a:r>
          </a:p>
        </p:txBody>
      </p:sp>
      <p:sp>
        <p:nvSpPr>
          <p:cNvPr id="22" name="Rounded Rectangle 21"/>
          <p:cNvSpPr/>
          <p:nvPr/>
        </p:nvSpPr>
        <p:spPr>
          <a:xfrm>
            <a:off x="3355325" y="1115568"/>
            <a:ext cx="1133856" cy="310896"/>
          </a:xfrm>
          <a:prstGeom prst="roundRect">
            <a:avLst>
              <a:gd name="adj" fmla="val 14000"/>
            </a:avLst>
          </a:prstGeom>
          <a:solidFill>
            <a:srgbClr val="E6EF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0"/>
              </a:spcAft>
            </a:pPr>
            <a:r>
              <a:rPr sz="950" b="0" i="0">
                <a:solidFill>
                  <a:srgbClr val="5E6E66"/>
                </a:solidFill>
                <a:latin typeface="Calibri"/>
              </a:rPr>
              <a:t>Encodeur</a:t>
            </a:r>
          </a:p>
        </p:txBody>
      </p:sp>
      <p:sp>
        <p:nvSpPr>
          <p:cNvPr id="23" name="Rounded Rectangle 22"/>
          <p:cNvSpPr/>
          <p:nvPr/>
        </p:nvSpPr>
        <p:spPr>
          <a:xfrm>
            <a:off x="4804388" y="1115568"/>
            <a:ext cx="1133856" cy="310896"/>
          </a:xfrm>
          <a:prstGeom prst="roundRect">
            <a:avLst>
              <a:gd name="adj" fmla="val 14000"/>
            </a:avLst>
          </a:prstGeom>
          <a:solidFill>
            <a:srgbClr val="E6EF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0"/>
              </a:spcAft>
            </a:pPr>
            <a:r>
              <a:rPr sz="950" b="0" i="0">
                <a:solidFill>
                  <a:srgbClr val="5E6E66"/>
                </a:solidFill>
                <a:latin typeface="Calibri"/>
              </a:rPr>
              <a:t>Head</a:t>
            </a:r>
          </a:p>
        </p:txBody>
      </p:sp>
      <p:sp>
        <p:nvSpPr>
          <p:cNvPr id="24" name="Rounded Rectangle 23"/>
          <p:cNvSpPr/>
          <p:nvPr/>
        </p:nvSpPr>
        <p:spPr>
          <a:xfrm>
            <a:off x="3355325" y="1517904"/>
            <a:ext cx="2582918" cy="310896"/>
          </a:xfrm>
          <a:prstGeom prst="roundRect">
            <a:avLst>
              <a:gd name="adj" fmla="val 14000"/>
            </a:avLst>
          </a:prstGeom>
          <a:solidFill>
            <a:srgbClr val="E6EF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0"/>
              </a:spcAft>
            </a:pPr>
            <a:r>
              <a:rPr sz="950" b="0" i="0">
                <a:solidFill>
                  <a:srgbClr val="5E6E66"/>
                </a:solidFill>
                <a:latin typeface="Calibri"/>
              </a:rPr>
              <a:t>Module séquentiel</a:t>
            </a:r>
          </a:p>
        </p:txBody>
      </p:sp>
      <p:sp>
        <p:nvSpPr>
          <p:cNvPr id="25" name="Rounded Rectangle 24"/>
          <p:cNvSpPr/>
          <p:nvPr/>
        </p:nvSpPr>
        <p:spPr>
          <a:xfrm>
            <a:off x="6253450" y="1316736"/>
            <a:ext cx="1133856" cy="310896"/>
          </a:xfrm>
          <a:prstGeom prst="roundRect">
            <a:avLst>
              <a:gd name="adj" fmla="val 14000"/>
            </a:avLst>
          </a:prstGeom>
          <a:solidFill>
            <a:srgbClr val="E6EF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0"/>
              </a:spcAft>
            </a:pPr>
            <a:r>
              <a:rPr sz="950" b="0" i="0">
                <a:solidFill>
                  <a:srgbClr val="5E6E66"/>
                </a:solidFill>
                <a:latin typeface="Calibri"/>
              </a:rPr>
              <a:t>Fusion</a:t>
            </a:r>
          </a:p>
        </p:txBody>
      </p:sp>
      <p:sp>
        <p:nvSpPr>
          <p:cNvPr id="26" name="Rounded Rectangle 25"/>
          <p:cNvSpPr/>
          <p:nvPr/>
        </p:nvSpPr>
        <p:spPr>
          <a:xfrm>
            <a:off x="7702513" y="1316736"/>
            <a:ext cx="1133856" cy="310896"/>
          </a:xfrm>
          <a:prstGeom prst="roundRect">
            <a:avLst>
              <a:gd name="adj" fmla="val 14000"/>
            </a:avLst>
          </a:prstGeom>
          <a:solidFill>
            <a:srgbClr val="E6EF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0"/>
              </a:spcAft>
            </a:pPr>
            <a:r>
              <a:rPr sz="950" b="0" i="0">
                <a:solidFill>
                  <a:srgbClr val="5E6E66"/>
                </a:solidFill>
                <a:latin typeface="Calibri"/>
              </a:rPr>
              <a:t>Agrégation</a:t>
            </a:r>
          </a:p>
        </p:txBody>
      </p:sp>
      <p:sp>
        <p:nvSpPr>
          <p:cNvPr id="27" name="Rounded Rectangle 26"/>
          <p:cNvSpPr/>
          <p:nvPr/>
        </p:nvSpPr>
        <p:spPr>
          <a:xfrm>
            <a:off x="9151576" y="1316736"/>
            <a:ext cx="1133856" cy="310896"/>
          </a:xfrm>
          <a:prstGeom prst="roundRect">
            <a:avLst>
              <a:gd name="adj" fmla="val 14000"/>
            </a:avLst>
          </a:prstGeom>
          <a:solidFill>
            <a:srgbClr val="E6EF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0"/>
              </a:spcAft>
            </a:pPr>
            <a:r>
              <a:rPr sz="950" b="0" i="0">
                <a:solidFill>
                  <a:srgbClr val="5E6E66"/>
                </a:solidFill>
                <a:latin typeface="Calibri"/>
              </a:rPr>
              <a:t>Sélection</a:t>
            </a:r>
          </a:p>
        </p:txBody>
      </p:sp>
      <p:sp>
        <p:nvSpPr>
          <p:cNvPr id="28" name="Rounded Rectangle 27"/>
          <p:cNvSpPr/>
          <p:nvPr/>
        </p:nvSpPr>
        <p:spPr>
          <a:xfrm>
            <a:off x="10600639" y="1316736"/>
            <a:ext cx="1133856" cy="310896"/>
          </a:xfrm>
          <a:prstGeom prst="roundRect">
            <a:avLst>
              <a:gd name="adj" fmla="val 14000"/>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0"/>
              </a:spcAft>
            </a:pPr>
            <a:r>
              <a:rPr sz="950" b="1" i="0">
                <a:solidFill>
                  <a:srgbClr val="1C2B24"/>
                </a:solidFill>
                <a:latin typeface="Calibri"/>
              </a:rPr>
              <a:t>Annotation</a:t>
            </a:r>
          </a:p>
        </p:txBody>
      </p:sp>
      <p:sp>
        <p:nvSpPr>
          <p:cNvPr id="29" name="Rounded Rectangle 28"/>
          <p:cNvSpPr/>
          <p:nvPr/>
        </p:nvSpPr>
        <p:spPr>
          <a:xfrm>
            <a:off x="457200" y="1993392"/>
            <a:ext cx="11277295" cy="182880"/>
          </a:xfrm>
          <a:prstGeom prst="roundRect">
            <a:avLst>
              <a:gd name="adj" fmla="val 50000"/>
            </a:avLst>
          </a:prstGeom>
          <a:solidFill>
            <a:srgbClr val="F4F8F5"/>
          </a:solidFill>
          <a:ln>
            <a:noFill/>
          </a:ln>
          <a:effectLst/>
        </p:spPr>
        <p:style>
          <a:lnRef idx="1">
            <a:schemeClr val="accent1"/>
          </a:lnRef>
          <a:fillRef idx="3">
            <a:schemeClr val="accent1"/>
          </a:fillRef>
          <a:effectRef idx="2">
            <a:schemeClr val="accent1"/>
          </a:effectRef>
          <a:fontRef idx="minor">
            <a:schemeClr val="lt1"/>
          </a:fontRef>
        </p:style>
        <p:txBody>
          <a:bodyPr rtlCol="0" anchor="ctr" lIns="9144" rIns="9144" tIns="9144" bIns="9144" wrap="square"/>
          <a:lstStyle/>
          <a:p>
            <a:pPr algn="ctr">
              <a:spcAft>
                <a:spcPts val="400"/>
              </a:spcAft>
            </a:pPr>
            <a:r>
              <a:rPr sz="850" b="0" i="0">
                <a:solidFill>
                  <a:srgbClr val="5E6E66"/>
                </a:solidFill>
                <a:latin typeface="Calibri"/>
              </a:rPr>
              <a:t>Évaluation (transverse)</a:t>
            </a:r>
          </a:p>
        </p:txBody>
      </p:sp>
      <p:sp>
        <p:nvSpPr>
          <p:cNvPr id="30" name="TextBox 29"/>
          <p:cNvSpPr txBox="1"/>
          <p:nvPr/>
        </p:nvSpPr>
        <p:spPr>
          <a:xfrm>
            <a:off x="11277295" y="6473952"/>
            <a:ext cx="457200" cy="228600"/>
          </a:xfrm>
          <a:prstGeom prst="rect">
            <a:avLst/>
          </a:prstGeom>
          <a:noFill/>
        </p:spPr>
        <p:txBody>
          <a:bodyPr wrap="square" anchor="t" lIns="0" rIns="0" tIns="0" bIns="0">
            <a:spAutoFit/>
          </a:bodyPr>
          <a:lstStyle/>
          <a:p>
            <a:pPr algn="r">
              <a:spcAft>
                <a:spcPts val="400"/>
              </a:spcAft>
            </a:pPr>
            <a:r>
              <a:rPr sz="1000" b="0" i="0">
                <a:solidFill>
                  <a:srgbClr val="5E6E66"/>
                </a:solidFill>
                <a:latin typeface="Calibri"/>
              </a:rPr>
              <a:t>13</a:t>
            </a:r>
          </a:p>
        </p:txBody>
      </p:sp>
      <p:sp>
        <p:nvSpPr>
          <p:cNvPr id="31" name="Rounded Rectangle 30"/>
          <p:cNvSpPr/>
          <p:nvPr/>
        </p:nvSpPr>
        <p:spPr>
          <a:xfrm>
            <a:off x="457200" y="2423160"/>
            <a:ext cx="5500116" cy="3840480"/>
          </a:xfrm>
          <a:prstGeom prst="roundRect">
            <a:avLst>
              <a:gd name="adj" fmla="val 8000"/>
            </a:avLst>
          </a:prstGeom>
          <a:solidFill>
            <a:srgbClr val="F4F8F5"/>
          </a:solidFill>
          <a:ln w="12700">
            <a:solidFill>
              <a:srgbClr val="E6EFE8"/>
            </a:solid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a:lstStyle/>
          <a:p>
            <a:pPr algn="ctr"/>
          </a:p>
        </p:txBody>
      </p:sp>
      <p:sp>
        <p:nvSpPr>
          <p:cNvPr id="32" name="TextBox 31"/>
          <p:cNvSpPr txBox="1"/>
          <p:nvPr/>
        </p:nvSpPr>
        <p:spPr>
          <a:xfrm>
            <a:off x="685800" y="2560320"/>
            <a:ext cx="5042916" cy="365760"/>
          </a:xfrm>
          <a:prstGeom prst="rect">
            <a:avLst/>
          </a:prstGeom>
          <a:noFill/>
        </p:spPr>
        <p:txBody>
          <a:bodyPr wrap="square" anchor="t" lIns="0" rIns="0" tIns="0" bIns="0">
            <a:spAutoFit/>
          </a:bodyPr>
          <a:lstStyle/>
          <a:p>
            <a:pPr algn="l">
              <a:spcAft>
                <a:spcPts val="400"/>
              </a:spcAft>
            </a:pPr>
            <a:r>
              <a:rPr sz="1700" b="1" i="0">
                <a:solidFill>
                  <a:srgbClr val="17332A"/>
                </a:solidFill>
                <a:latin typeface="Cambria"/>
              </a:rPr>
              <a:t>Annotation</a:t>
            </a:r>
          </a:p>
        </p:txBody>
      </p:sp>
      <p:sp>
        <p:nvSpPr>
          <p:cNvPr id="33" name="Rounded Rectangle 32"/>
          <p:cNvSpPr/>
          <p:nvPr/>
        </p:nvSpPr>
        <p:spPr>
          <a:xfrm>
            <a:off x="685800" y="3108960"/>
            <a:ext cx="960120" cy="237744"/>
          </a:xfrm>
          <a:prstGeom prst="roundRect">
            <a:avLst>
              <a:gd name="adj" fmla="val 50000"/>
            </a:avLst>
          </a:prstGeom>
          <a:solidFill>
            <a:srgbClr val="C0492F"/>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18288" bIns="18288" wrap="square"/>
          <a:lstStyle/>
          <a:p>
            <a:pPr algn="ctr">
              <a:spcAft>
                <a:spcPts val="400"/>
              </a:spcAft>
            </a:pPr>
            <a:r>
              <a:rPr sz="950" b="1" i="0">
                <a:solidFill>
                  <a:srgbClr val="FFFFFF"/>
                </a:solidFill>
                <a:latin typeface="Calibri"/>
              </a:rPr>
              <a:t>À trancher</a:t>
            </a:r>
          </a:p>
        </p:txBody>
      </p:sp>
      <p:sp>
        <p:nvSpPr>
          <p:cNvPr id="34" name="TextBox 33"/>
          <p:cNvSpPr txBox="1"/>
          <p:nvPr/>
        </p:nvSpPr>
        <p:spPr>
          <a:xfrm>
            <a:off x="1783080" y="3063240"/>
            <a:ext cx="3945635" cy="731520"/>
          </a:xfrm>
          <a:prstGeom prst="rect">
            <a:avLst/>
          </a:prstGeom>
          <a:noFill/>
        </p:spPr>
        <p:txBody>
          <a:bodyPr wrap="square" anchor="t" lIns="0" rIns="0" tIns="0" bIns="0">
            <a:spAutoFit/>
          </a:bodyPr>
          <a:lstStyle/>
          <a:p>
            <a:pPr algn="l">
              <a:spcAft>
                <a:spcPts val="400"/>
              </a:spcAft>
            </a:pPr>
            <a:r>
              <a:rPr sz="1250" b="0" i="0">
                <a:solidFill>
                  <a:srgbClr val="1C2B24"/>
                </a:solidFill>
                <a:latin typeface="Calibri"/>
              </a:rPr>
              <a:t>Unité : la fenêtre, ou l'enregistrement entier (chant continu : toutes ses fenêtres héritent du label)</a:t>
            </a:r>
          </a:p>
        </p:txBody>
      </p:sp>
      <p:sp>
        <p:nvSpPr>
          <p:cNvPr id="35" name="Rounded Rectangle 34"/>
          <p:cNvSpPr/>
          <p:nvPr/>
        </p:nvSpPr>
        <p:spPr>
          <a:xfrm>
            <a:off x="685800" y="3895344"/>
            <a:ext cx="960120" cy="237744"/>
          </a:xfrm>
          <a:prstGeom prst="roundRect">
            <a:avLst>
              <a:gd name="adj" fmla="val 50000"/>
            </a:avLst>
          </a:prstGeom>
          <a:solidFill>
            <a:srgbClr val="2F8F5B"/>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18288" bIns="18288" wrap="square"/>
          <a:lstStyle/>
          <a:p>
            <a:pPr algn="ctr">
              <a:spcAft>
                <a:spcPts val="400"/>
              </a:spcAft>
            </a:pPr>
            <a:r>
              <a:rPr sz="950" b="1" i="0">
                <a:solidFill>
                  <a:srgbClr val="FFFFFF"/>
                </a:solidFill>
                <a:latin typeface="Calibri"/>
              </a:rPr>
              <a:t>Retenu</a:t>
            </a:r>
          </a:p>
        </p:txBody>
      </p:sp>
      <p:sp>
        <p:nvSpPr>
          <p:cNvPr id="36" name="TextBox 35"/>
          <p:cNvSpPr txBox="1"/>
          <p:nvPr/>
        </p:nvSpPr>
        <p:spPr>
          <a:xfrm>
            <a:off x="1783080" y="3849624"/>
            <a:ext cx="3945635" cy="731520"/>
          </a:xfrm>
          <a:prstGeom prst="rect">
            <a:avLst/>
          </a:prstGeom>
          <a:noFill/>
        </p:spPr>
        <p:txBody>
          <a:bodyPr wrap="square" anchor="t" lIns="0" rIns="0" tIns="0" bIns="0">
            <a:spAutoFit/>
          </a:bodyPr>
          <a:lstStyle/>
          <a:p>
            <a:pPr algn="l">
              <a:spcAft>
                <a:spcPts val="400"/>
              </a:spcAft>
            </a:pPr>
            <a:r>
              <a:rPr sz="1250" b="0" i="0">
                <a:solidFill>
                  <a:srgbClr val="1C2B24"/>
                </a:solidFill>
                <a:latin typeface="Calibri"/>
              </a:rPr>
              <a:t>Labels : solo, chœur, incertain ; faux ami par espèce ; qualité A/B/C ; commentaire accolé à la fenêtre</a:t>
            </a:r>
          </a:p>
        </p:txBody>
      </p:sp>
      <p:sp>
        <p:nvSpPr>
          <p:cNvPr id="37" name="Rounded Rectangle 36"/>
          <p:cNvSpPr/>
          <p:nvPr/>
        </p:nvSpPr>
        <p:spPr>
          <a:xfrm>
            <a:off x="685800" y="4681728"/>
            <a:ext cx="960120" cy="237744"/>
          </a:xfrm>
          <a:prstGeom prst="roundRect">
            <a:avLst>
              <a:gd name="adj" fmla="val 50000"/>
            </a:avLst>
          </a:prstGeom>
          <a:solidFill>
            <a:srgbClr val="3E7CB1"/>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18288" bIns="18288" wrap="square"/>
          <a:lstStyle/>
          <a:p>
            <a:pPr algn="ctr">
              <a:spcAft>
                <a:spcPts val="400"/>
              </a:spcAft>
            </a:pPr>
            <a:r>
              <a:rPr sz="950" b="1" i="0">
                <a:solidFill>
                  <a:srgbClr val="FFFFFF"/>
                </a:solidFill>
                <a:latin typeface="Calibri"/>
              </a:rPr>
              <a:t>À essayer</a:t>
            </a:r>
          </a:p>
        </p:txBody>
      </p:sp>
      <p:sp>
        <p:nvSpPr>
          <p:cNvPr id="38" name="TextBox 37"/>
          <p:cNvSpPr txBox="1"/>
          <p:nvPr/>
        </p:nvSpPr>
        <p:spPr>
          <a:xfrm>
            <a:off x="1783080" y="4636008"/>
            <a:ext cx="3945635" cy="731520"/>
          </a:xfrm>
          <a:prstGeom prst="rect">
            <a:avLst/>
          </a:prstGeom>
          <a:noFill/>
        </p:spPr>
        <p:txBody>
          <a:bodyPr wrap="square" anchor="t" lIns="0" rIns="0" tIns="0" bIns="0">
            <a:spAutoFit/>
          </a:bodyPr>
          <a:lstStyle/>
          <a:p>
            <a:pPr algn="l">
              <a:spcAft>
                <a:spcPts val="400"/>
              </a:spcAft>
            </a:pPr>
            <a:r>
              <a:rPr sz="1250" b="0" i="0">
                <a:solidFill>
                  <a:srgbClr val="1C2B24"/>
                </a:solidFill>
                <a:latin typeface="Calibri"/>
              </a:rPr>
              <a:t>Outil : poste Streamlit, YAPAT ou Whombat</a:t>
            </a:r>
          </a:p>
        </p:txBody>
      </p:sp>
      <p:sp>
        <p:nvSpPr>
          <p:cNvPr id="39" name="Rounded Rectangle 38"/>
          <p:cNvSpPr/>
          <p:nvPr/>
        </p:nvSpPr>
        <p:spPr>
          <a:xfrm>
            <a:off x="685800" y="5468112"/>
            <a:ext cx="960120" cy="237744"/>
          </a:xfrm>
          <a:prstGeom prst="roundRect">
            <a:avLst>
              <a:gd name="adj" fmla="val 50000"/>
            </a:avLst>
          </a:prstGeom>
          <a:solidFill>
            <a:srgbClr val="2F8F5B"/>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18288" bIns="18288" wrap="square"/>
          <a:lstStyle/>
          <a:p>
            <a:pPr algn="ctr">
              <a:spcAft>
                <a:spcPts val="400"/>
              </a:spcAft>
            </a:pPr>
            <a:r>
              <a:rPr sz="950" b="1" i="0">
                <a:solidFill>
                  <a:srgbClr val="FFFFFF"/>
                </a:solidFill>
                <a:latin typeface="Calibri"/>
              </a:rPr>
              <a:t>Retenu</a:t>
            </a:r>
          </a:p>
        </p:txBody>
      </p:sp>
      <p:sp>
        <p:nvSpPr>
          <p:cNvPr id="40" name="TextBox 39"/>
          <p:cNvSpPr txBox="1"/>
          <p:nvPr/>
        </p:nvSpPr>
        <p:spPr>
          <a:xfrm>
            <a:off x="1783080" y="5422392"/>
            <a:ext cx="3945635" cy="731520"/>
          </a:xfrm>
          <a:prstGeom prst="rect">
            <a:avLst/>
          </a:prstGeom>
          <a:noFill/>
        </p:spPr>
        <p:txBody>
          <a:bodyPr wrap="square" anchor="t" lIns="0" rIns="0" tIns="0" bIns="0">
            <a:spAutoFit/>
          </a:bodyPr>
          <a:lstStyle/>
          <a:p>
            <a:pPr algn="l">
              <a:spcAft>
                <a:spcPts val="400"/>
              </a:spcAft>
            </a:pPr>
            <a:r>
              <a:rPr sz="1250" b="0" i="0">
                <a:solidFill>
                  <a:srgbClr val="1C2B24"/>
                </a:solidFill>
                <a:latin typeface="Calibri"/>
              </a:rPr>
              <a:t>Accord entre annotateurs, pour chiffrer la fiabilité des labels</a:t>
            </a:r>
          </a:p>
        </p:txBody>
      </p:sp>
      <p:sp>
        <p:nvSpPr>
          <p:cNvPr id="41" name="Rounded Rectangle 40"/>
          <p:cNvSpPr/>
          <p:nvPr/>
        </p:nvSpPr>
        <p:spPr>
          <a:xfrm>
            <a:off x="6231636" y="2423160"/>
            <a:ext cx="5500116" cy="3840480"/>
          </a:xfrm>
          <a:prstGeom prst="roundRect">
            <a:avLst>
              <a:gd name="adj" fmla="val 8000"/>
            </a:avLst>
          </a:prstGeom>
          <a:solidFill>
            <a:srgbClr val="F4F8F5"/>
          </a:solidFill>
          <a:ln w="12700">
            <a:solidFill>
              <a:srgbClr val="E6EFE8"/>
            </a:solid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a:lstStyle/>
          <a:p>
            <a:pPr algn="ctr"/>
          </a:p>
        </p:txBody>
      </p:sp>
      <p:sp>
        <p:nvSpPr>
          <p:cNvPr id="42" name="TextBox 41"/>
          <p:cNvSpPr txBox="1"/>
          <p:nvPr/>
        </p:nvSpPr>
        <p:spPr>
          <a:xfrm>
            <a:off x="6460236" y="2560320"/>
            <a:ext cx="5042916" cy="365760"/>
          </a:xfrm>
          <a:prstGeom prst="rect">
            <a:avLst/>
          </a:prstGeom>
          <a:noFill/>
        </p:spPr>
        <p:txBody>
          <a:bodyPr wrap="square" anchor="t" lIns="0" rIns="0" tIns="0" bIns="0">
            <a:spAutoFit/>
          </a:bodyPr>
          <a:lstStyle/>
          <a:p>
            <a:pPr algn="l">
              <a:spcAft>
                <a:spcPts val="400"/>
              </a:spcAft>
            </a:pPr>
            <a:r>
              <a:rPr sz="1700" b="1" i="0">
                <a:solidFill>
                  <a:srgbClr val="17332A"/>
                </a:solidFill>
                <a:latin typeface="Cambria"/>
              </a:rPr>
              <a:t>Réentraînement</a:t>
            </a:r>
          </a:p>
        </p:txBody>
      </p:sp>
      <p:sp>
        <p:nvSpPr>
          <p:cNvPr id="43" name="Rounded Rectangle 42"/>
          <p:cNvSpPr/>
          <p:nvPr/>
        </p:nvSpPr>
        <p:spPr>
          <a:xfrm>
            <a:off x="6460236" y="3108960"/>
            <a:ext cx="960120" cy="237744"/>
          </a:xfrm>
          <a:prstGeom prst="roundRect">
            <a:avLst>
              <a:gd name="adj" fmla="val 50000"/>
            </a:avLst>
          </a:prstGeom>
          <a:solidFill>
            <a:srgbClr val="2F8F5B"/>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18288" bIns="18288" wrap="square"/>
          <a:lstStyle/>
          <a:p>
            <a:pPr algn="ctr">
              <a:spcAft>
                <a:spcPts val="400"/>
              </a:spcAft>
            </a:pPr>
            <a:r>
              <a:rPr sz="950" b="1" i="0">
                <a:solidFill>
                  <a:srgbClr val="FFFFFF"/>
                </a:solidFill>
                <a:latin typeface="Calibri"/>
              </a:rPr>
              <a:t>Retenu</a:t>
            </a:r>
          </a:p>
        </p:txBody>
      </p:sp>
      <p:sp>
        <p:nvSpPr>
          <p:cNvPr id="44" name="TextBox 43"/>
          <p:cNvSpPr txBox="1"/>
          <p:nvPr/>
        </p:nvSpPr>
        <p:spPr>
          <a:xfrm>
            <a:off x="7557515" y="3063240"/>
            <a:ext cx="3945635" cy="731520"/>
          </a:xfrm>
          <a:prstGeom prst="rect">
            <a:avLst/>
          </a:prstGeom>
          <a:noFill/>
        </p:spPr>
        <p:txBody>
          <a:bodyPr wrap="square" anchor="t" lIns="0" rIns="0" tIns="0" bIns="0">
            <a:spAutoFit/>
          </a:bodyPr>
          <a:lstStyle/>
          <a:p>
            <a:pPr algn="l">
              <a:spcAft>
                <a:spcPts val="400"/>
              </a:spcAft>
            </a:pPr>
            <a:r>
              <a:rPr sz="1250" b="0" i="0">
                <a:solidFill>
                  <a:srgbClr val="1C2B24"/>
                </a:solidFill>
                <a:latin typeface="Calibri"/>
              </a:rPr>
              <a:t>La tête est réentraînée de zéro sur tous les labels ; l'encodeur reste figé</a:t>
            </a:r>
          </a:p>
        </p:txBody>
      </p:sp>
      <p:sp>
        <p:nvSpPr>
          <p:cNvPr id="45" name="Rounded Rectangle 44"/>
          <p:cNvSpPr/>
          <p:nvPr/>
        </p:nvSpPr>
        <p:spPr>
          <a:xfrm>
            <a:off x="6460236" y="3895344"/>
            <a:ext cx="960120" cy="237744"/>
          </a:xfrm>
          <a:prstGeom prst="roundRect">
            <a:avLst>
              <a:gd name="adj" fmla="val 50000"/>
            </a:avLst>
          </a:prstGeom>
          <a:solidFill>
            <a:srgbClr val="2F8F5B"/>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18288" bIns="18288" wrap="square"/>
          <a:lstStyle/>
          <a:p>
            <a:pPr algn="ctr">
              <a:spcAft>
                <a:spcPts val="400"/>
              </a:spcAft>
            </a:pPr>
            <a:r>
              <a:rPr sz="950" b="1" i="0">
                <a:solidFill>
                  <a:srgbClr val="FFFFFF"/>
                </a:solidFill>
                <a:latin typeface="Calibri"/>
              </a:rPr>
              <a:t>Retenu</a:t>
            </a:r>
          </a:p>
        </p:txBody>
      </p:sp>
      <p:sp>
        <p:nvSpPr>
          <p:cNvPr id="46" name="TextBox 45"/>
          <p:cNvSpPr txBox="1"/>
          <p:nvPr/>
        </p:nvSpPr>
        <p:spPr>
          <a:xfrm>
            <a:off x="7557515" y="3849624"/>
            <a:ext cx="3945635" cy="731520"/>
          </a:xfrm>
          <a:prstGeom prst="rect">
            <a:avLst/>
          </a:prstGeom>
          <a:noFill/>
        </p:spPr>
        <p:txBody>
          <a:bodyPr wrap="square" anchor="t" lIns="0" rIns="0" tIns="0" bIns="0">
            <a:spAutoFit/>
          </a:bodyPr>
          <a:lstStyle/>
          <a:p>
            <a:pPr algn="l">
              <a:spcAft>
                <a:spcPts val="400"/>
              </a:spcAft>
            </a:pPr>
            <a:r>
              <a:rPr sz="1250" b="0" i="0">
                <a:solidFill>
                  <a:srgbClr val="1C2B24"/>
                </a:solidFill>
                <a:latin typeface="Calibri"/>
              </a:rPr>
              <a:t>Nouvelle tête adoptée seulement si elle ne fait pas moins bien sur le jeu gelé</a:t>
            </a:r>
          </a:p>
        </p:txBody>
      </p:sp>
      <p:sp>
        <p:nvSpPr>
          <p:cNvPr id="47" name="Rounded Rectangle 46"/>
          <p:cNvSpPr/>
          <p:nvPr/>
        </p:nvSpPr>
        <p:spPr>
          <a:xfrm>
            <a:off x="6460236" y="4681728"/>
            <a:ext cx="960120" cy="237744"/>
          </a:xfrm>
          <a:prstGeom prst="roundRect">
            <a:avLst>
              <a:gd name="adj" fmla="val 50000"/>
            </a:avLst>
          </a:prstGeom>
          <a:solidFill>
            <a:srgbClr val="2F8F5B"/>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18288" bIns="18288" wrap="square"/>
          <a:lstStyle/>
          <a:p>
            <a:pPr algn="ctr">
              <a:spcAft>
                <a:spcPts val="400"/>
              </a:spcAft>
            </a:pPr>
            <a:r>
              <a:rPr sz="950" b="1" i="0">
                <a:solidFill>
                  <a:srgbClr val="FFFFFF"/>
                </a:solidFill>
                <a:latin typeface="Calibri"/>
              </a:rPr>
              <a:t>Retenu</a:t>
            </a:r>
          </a:p>
        </p:txBody>
      </p:sp>
      <p:sp>
        <p:nvSpPr>
          <p:cNvPr id="48" name="TextBox 47"/>
          <p:cNvSpPr txBox="1"/>
          <p:nvPr/>
        </p:nvSpPr>
        <p:spPr>
          <a:xfrm>
            <a:off x="7557515" y="4636008"/>
            <a:ext cx="3945635" cy="731520"/>
          </a:xfrm>
          <a:prstGeom prst="rect">
            <a:avLst/>
          </a:prstGeom>
          <a:noFill/>
        </p:spPr>
        <p:txBody>
          <a:bodyPr wrap="square" anchor="t" lIns="0" rIns="0" tIns="0" bIns="0">
            <a:spAutoFit/>
          </a:bodyPr>
          <a:lstStyle/>
          <a:p>
            <a:pPr algn="l">
              <a:spcAft>
                <a:spcPts val="400"/>
              </a:spcAft>
            </a:pPr>
            <a:r>
              <a:rPr sz="1250" b="0" i="0">
                <a:solidFill>
                  <a:srgbClr val="1C2B24"/>
                </a:solidFill>
                <a:latin typeface="Calibri"/>
              </a:rPr>
              <a:t>Changement d'encodeur : ré-encodage par lots, reprenable</a:t>
            </a:r>
          </a:p>
        </p:txBody>
      </p:sp>
      <p:sp>
        <p:nvSpPr>
          <p:cNvPr id="49" name="Rounded Rectangle 48"/>
          <p:cNvSpPr/>
          <p:nvPr/>
        </p:nvSpPr>
        <p:spPr>
          <a:xfrm>
            <a:off x="6460236" y="5468112"/>
            <a:ext cx="960120" cy="237744"/>
          </a:xfrm>
          <a:prstGeom prst="roundRect">
            <a:avLst>
              <a:gd name="adj" fmla="val 50000"/>
            </a:avLst>
          </a:prstGeom>
          <a:solidFill>
            <a:srgbClr val="2F8F5B"/>
          </a:solidFill>
          <a:ln>
            <a:noFill/>
          </a:ln>
          <a:effectLst/>
        </p:spPr>
        <p:style>
          <a:lnRef idx="1">
            <a:schemeClr val="accent1"/>
          </a:lnRef>
          <a:fillRef idx="3">
            <a:schemeClr val="accent1"/>
          </a:fillRef>
          <a:effectRef idx="2">
            <a:schemeClr val="accent1"/>
          </a:effectRef>
          <a:fontRef idx="minor">
            <a:schemeClr val="lt1"/>
          </a:fontRef>
        </p:style>
        <p:txBody>
          <a:bodyPr rtlCol="0" anchor="ctr" lIns="18288" rIns="18288" tIns="18288" bIns="18288" wrap="square"/>
          <a:lstStyle/>
          <a:p>
            <a:pPr algn="ctr">
              <a:spcAft>
                <a:spcPts val="400"/>
              </a:spcAft>
            </a:pPr>
            <a:r>
              <a:rPr sz="950" b="1" i="0">
                <a:solidFill>
                  <a:srgbClr val="FFFFFF"/>
                </a:solidFill>
                <a:latin typeface="Calibri"/>
              </a:rPr>
              <a:t>Retenu</a:t>
            </a:r>
          </a:p>
        </p:txBody>
      </p:sp>
      <p:sp>
        <p:nvSpPr>
          <p:cNvPr id="50" name="TextBox 49"/>
          <p:cNvSpPr txBox="1"/>
          <p:nvPr/>
        </p:nvSpPr>
        <p:spPr>
          <a:xfrm>
            <a:off x="7557515" y="5422392"/>
            <a:ext cx="3945635" cy="731520"/>
          </a:xfrm>
          <a:prstGeom prst="rect">
            <a:avLst/>
          </a:prstGeom>
          <a:noFill/>
        </p:spPr>
        <p:txBody>
          <a:bodyPr wrap="square" anchor="t" lIns="0" rIns="0" tIns="0" bIns="0">
            <a:spAutoFit/>
          </a:bodyPr>
          <a:lstStyle/>
          <a:p>
            <a:pPr algn="l">
              <a:spcAft>
                <a:spcPts val="400"/>
              </a:spcAft>
            </a:pPr>
            <a:r>
              <a:rPr sz="1250" b="0" i="0">
                <a:solidFill>
                  <a:srgbClr val="1C2B24"/>
                </a:solidFill>
                <a:latin typeface="Calibri"/>
              </a:rPr>
              <a:t>Après le stage : l'ONF réentraîne seul, sans GPU ; une nuit de calcul est acceptable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28600"/>
            <a:ext cx="8229600" cy="256032"/>
          </a:xfrm>
          <a:prstGeom prst="rect">
            <a:avLst/>
          </a:prstGeom>
          <a:noFill/>
        </p:spPr>
        <p:txBody>
          <a:bodyPr wrap="square" anchor="t" lIns="0" rIns="0" tIns="0" bIns="0">
            <a:spAutoFit/>
          </a:bodyPr>
          <a:lstStyle/>
          <a:p>
            <a:pPr algn="l">
              <a:spcAft>
                <a:spcPts val="400"/>
              </a:spcAft>
            </a:pPr>
            <a:r>
              <a:rPr sz="1100" b="1" i="0">
                <a:solidFill>
                  <a:srgbClr val="9A5A06"/>
                </a:solidFill>
                <a:latin typeface="Calibri"/>
              </a:rPr>
              <a:t>PIPELINE · TRANSVERSE</a:t>
            </a:r>
          </a:p>
        </p:txBody>
      </p:sp>
      <p:sp>
        <p:nvSpPr>
          <p:cNvPr id="3" name="TextBox 2"/>
          <p:cNvSpPr txBox="1"/>
          <p:nvPr/>
        </p:nvSpPr>
        <p:spPr>
          <a:xfrm>
            <a:off x="457200" y="493776"/>
            <a:ext cx="11274552" cy="548640"/>
          </a:xfrm>
          <a:prstGeom prst="rect">
            <a:avLst/>
          </a:prstGeom>
          <a:noFill/>
        </p:spPr>
        <p:txBody>
          <a:bodyPr wrap="square" anchor="t" lIns="0" rIns="0" tIns="0" bIns="0">
            <a:spAutoFit/>
          </a:bodyPr>
          <a:lstStyle/>
          <a:p>
            <a:pPr algn="l">
              <a:spcAft>
                <a:spcPts val="400"/>
              </a:spcAft>
            </a:pPr>
            <a:r>
              <a:rPr sz="2600" b="1" i="0">
                <a:solidFill>
                  <a:srgbClr val="17332A"/>
                </a:solidFill>
                <a:latin typeface="Cambria"/>
              </a:rPr>
              <a:t>Évaluation : trois niveaux de généralisation</a:t>
            </a:r>
          </a:p>
        </p:txBody>
      </p:sp>
      <p:cxnSp>
        <p:nvCxnSpPr>
          <p:cNvPr id="4" name="Connector 3"/>
          <p:cNvCxnSpPr/>
          <p:nvPr/>
        </p:nvCxnSpPr>
        <p:spPr>
          <a:xfrm>
            <a:off x="1591056" y="1472184"/>
            <a:ext cx="315206" cy="0"/>
          </a:xfrm>
          <a:prstGeom prst="line">
            <a:avLst/>
          </a:prstGeom>
          <a:ln w="15875">
            <a:solidFill>
              <a:srgbClr val="9DB3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3040118" y="1472184"/>
            <a:ext cx="157604" cy="0"/>
          </a:xfrm>
          <a:prstGeom prst="line">
            <a:avLst/>
          </a:prstGeom>
          <a:ln w="15875">
            <a:solidFill>
              <a:srgbClr val="9DB3A6"/>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3197722" y="1271016"/>
            <a:ext cx="0" cy="402336"/>
          </a:xfrm>
          <a:prstGeom prst="line">
            <a:avLst/>
          </a:prstGeom>
          <a:ln w="15875">
            <a:solidFill>
              <a:srgbClr val="9DB3A6"/>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3197722" y="1271016"/>
            <a:ext cx="157603" cy="0"/>
          </a:xfrm>
          <a:prstGeom prst="line">
            <a:avLst/>
          </a:prstGeom>
          <a:ln w="15875">
            <a:solidFill>
              <a:srgbClr val="9DB3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3197722" y="1673352"/>
            <a:ext cx="157603" cy="0"/>
          </a:xfrm>
          <a:prstGeom prst="line">
            <a:avLst/>
          </a:prstGeom>
          <a:ln w="15875">
            <a:solidFill>
              <a:srgbClr val="9DB3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489181" y="1271016"/>
            <a:ext cx="315207" cy="0"/>
          </a:xfrm>
          <a:prstGeom prst="line">
            <a:avLst/>
          </a:prstGeom>
          <a:ln w="15875">
            <a:solidFill>
              <a:srgbClr val="9DB3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938244" y="1271016"/>
            <a:ext cx="157603" cy="0"/>
          </a:xfrm>
          <a:prstGeom prst="line">
            <a:avLst/>
          </a:prstGeom>
          <a:ln w="15875">
            <a:solidFill>
              <a:srgbClr val="9DB3A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5938244" y="1673352"/>
            <a:ext cx="157603" cy="0"/>
          </a:xfrm>
          <a:prstGeom prst="line">
            <a:avLst/>
          </a:prstGeom>
          <a:ln w="15875">
            <a:solidFill>
              <a:srgbClr val="9DB3A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095847" y="1271016"/>
            <a:ext cx="0" cy="402336"/>
          </a:xfrm>
          <a:prstGeom prst="line">
            <a:avLst/>
          </a:prstGeom>
          <a:ln w="15875">
            <a:solidFill>
              <a:srgbClr val="9DB3A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6095847" y="1472184"/>
            <a:ext cx="157603" cy="0"/>
          </a:xfrm>
          <a:prstGeom prst="line">
            <a:avLst/>
          </a:prstGeom>
          <a:ln w="15875">
            <a:solidFill>
              <a:srgbClr val="9DB3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7387306" y="1472184"/>
            <a:ext cx="315207" cy="0"/>
          </a:xfrm>
          <a:prstGeom prst="line">
            <a:avLst/>
          </a:prstGeom>
          <a:ln w="15875">
            <a:solidFill>
              <a:srgbClr val="9DB3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836369" y="1472184"/>
            <a:ext cx="315207" cy="0"/>
          </a:xfrm>
          <a:prstGeom prst="line">
            <a:avLst/>
          </a:prstGeom>
          <a:ln w="15875">
            <a:solidFill>
              <a:srgbClr val="9DB3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0285432" y="1472184"/>
            <a:ext cx="315207" cy="0"/>
          </a:xfrm>
          <a:prstGeom prst="line">
            <a:avLst/>
          </a:prstGeom>
          <a:ln w="15875">
            <a:solidFill>
              <a:srgbClr val="9DB3A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1167567" y="1627632"/>
            <a:ext cx="0" cy="292608"/>
          </a:xfrm>
          <a:prstGeom prst="line">
            <a:avLst/>
          </a:prstGeom>
          <a:ln w="19050">
            <a:solidFill>
              <a:srgbClr val="9DB3A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flipH="1">
            <a:off x="1024128" y="1920240"/>
            <a:ext cx="10143439" cy="0"/>
          </a:xfrm>
          <a:prstGeom prst="line">
            <a:avLst/>
          </a:prstGeom>
          <a:ln w="19050">
            <a:solidFill>
              <a:srgbClr val="9DB3A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1024128" y="1627632"/>
            <a:ext cx="0" cy="292608"/>
          </a:xfrm>
          <a:prstGeom prst="line">
            <a:avLst/>
          </a:prstGeom>
          <a:ln w="19050">
            <a:solidFill>
              <a:srgbClr val="9DB3A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457200" y="1316736"/>
            <a:ext cx="1133856" cy="310896"/>
          </a:xfrm>
          <a:prstGeom prst="roundRect">
            <a:avLst>
              <a:gd name="adj" fmla="val 14000"/>
            </a:avLst>
          </a:prstGeom>
          <a:solidFill>
            <a:srgbClr val="E6EF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0"/>
              </a:spcAft>
            </a:pPr>
            <a:r>
              <a:rPr sz="950" b="0" i="0">
                <a:solidFill>
                  <a:srgbClr val="5E6E66"/>
                </a:solidFill>
                <a:latin typeface="Calibri"/>
              </a:rPr>
              <a:t>Corpus + QC</a:t>
            </a:r>
          </a:p>
        </p:txBody>
      </p:sp>
      <p:sp>
        <p:nvSpPr>
          <p:cNvPr id="21" name="Rounded Rectangle 20"/>
          <p:cNvSpPr/>
          <p:nvPr/>
        </p:nvSpPr>
        <p:spPr>
          <a:xfrm>
            <a:off x="1906262" y="1316736"/>
            <a:ext cx="1133856" cy="310896"/>
          </a:xfrm>
          <a:prstGeom prst="roundRect">
            <a:avLst>
              <a:gd name="adj" fmla="val 14000"/>
            </a:avLst>
          </a:prstGeom>
          <a:solidFill>
            <a:srgbClr val="E6EF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0"/>
              </a:spcAft>
            </a:pPr>
            <a:r>
              <a:rPr sz="950" b="0" i="0">
                <a:solidFill>
                  <a:srgbClr val="5E6E66"/>
                </a:solidFill>
                <a:latin typeface="Calibri"/>
              </a:rPr>
              <a:t>Fenêtrage</a:t>
            </a:r>
          </a:p>
        </p:txBody>
      </p:sp>
      <p:sp>
        <p:nvSpPr>
          <p:cNvPr id="22" name="Rounded Rectangle 21"/>
          <p:cNvSpPr/>
          <p:nvPr/>
        </p:nvSpPr>
        <p:spPr>
          <a:xfrm>
            <a:off x="3355325" y="1115568"/>
            <a:ext cx="1133856" cy="310896"/>
          </a:xfrm>
          <a:prstGeom prst="roundRect">
            <a:avLst>
              <a:gd name="adj" fmla="val 14000"/>
            </a:avLst>
          </a:prstGeom>
          <a:solidFill>
            <a:srgbClr val="E6EF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0"/>
              </a:spcAft>
            </a:pPr>
            <a:r>
              <a:rPr sz="950" b="0" i="0">
                <a:solidFill>
                  <a:srgbClr val="5E6E66"/>
                </a:solidFill>
                <a:latin typeface="Calibri"/>
              </a:rPr>
              <a:t>Encodeur</a:t>
            </a:r>
          </a:p>
        </p:txBody>
      </p:sp>
      <p:sp>
        <p:nvSpPr>
          <p:cNvPr id="23" name="Rounded Rectangle 22"/>
          <p:cNvSpPr/>
          <p:nvPr/>
        </p:nvSpPr>
        <p:spPr>
          <a:xfrm>
            <a:off x="4804388" y="1115568"/>
            <a:ext cx="1133856" cy="310896"/>
          </a:xfrm>
          <a:prstGeom prst="roundRect">
            <a:avLst>
              <a:gd name="adj" fmla="val 14000"/>
            </a:avLst>
          </a:prstGeom>
          <a:solidFill>
            <a:srgbClr val="E6EF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0"/>
              </a:spcAft>
            </a:pPr>
            <a:r>
              <a:rPr sz="950" b="0" i="0">
                <a:solidFill>
                  <a:srgbClr val="5E6E66"/>
                </a:solidFill>
                <a:latin typeface="Calibri"/>
              </a:rPr>
              <a:t>Head</a:t>
            </a:r>
          </a:p>
        </p:txBody>
      </p:sp>
      <p:sp>
        <p:nvSpPr>
          <p:cNvPr id="24" name="Rounded Rectangle 23"/>
          <p:cNvSpPr/>
          <p:nvPr/>
        </p:nvSpPr>
        <p:spPr>
          <a:xfrm>
            <a:off x="3355325" y="1517904"/>
            <a:ext cx="2582918" cy="310896"/>
          </a:xfrm>
          <a:prstGeom prst="roundRect">
            <a:avLst>
              <a:gd name="adj" fmla="val 14000"/>
            </a:avLst>
          </a:prstGeom>
          <a:solidFill>
            <a:srgbClr val="E6EF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0"/>
              </a:spcAft>
            </a:pPr>
            <a:r>
              <a:rPr sz="950" b="0" i="0">
                <a:solidFill>
                  <a:srgbClr val="5E6E66"/>
                </a:solidFill>
                <a:latin typeface="Calibri"/>
              </a:rPr>
              <a:t>Module séquentiel</a:t>
            </a:r>
          </a:p>
        </p:txBody>
      </p:sp>
      <p:sp>
        <p:nvSpPr>
          <p:cNvPr id="25" name="Rounded Rectangle 24"/>
          <p:cNvSpPr/>
          <p:nvPr/>
        </p:nvSpPr>
        <p:spPr>
          <a:xfrm>
            <a:off x="6253450" y="1316736"/>
            <a:ext cx="1133856" cy="310896"/>
          </a:xfrm>
          <a:prstGeom prst="roundRect">
            <a:avLst>
              <a:gd name="adj" fmla="val 14000"/>
            </a:avLst>
          </a:prstGeom>
          <a:solidFill>
            <a:srgbClr val="E6EF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0"/>
              </a:spcAft>
            </a:pPr>
            <a:r>
              <a:rPr sz="950" b="0" i="0">
                <a:solidFill>
                  <a:srgbClr val="5E6E66"/>
                </a:solidFill>
                <a:latin typeface="Calibri"/>
              </a:rPr>
              <a:t>Fusion</a:t>
            </a:r>
          </a:p>
        </p:txBody>
      </p:sp>
      <p:sp>
        <p:nvSpPr>
          <p:cNvPr id="26" name="Rounded Rectangle 25"/>
          <p:cNvSpPr/>
          <p:nvPr/>
        </p:nvSpPr>
        <p:spPr>
          <a:xfrm>
            <a:off x="7702513" y="1316736"/>
            <a:ext cx="1133856" cy="310896"/>
          </a:xfrm>
          <a:prstGeom prst="roundRect">
            <a:avLst>
              <a:gd name="adj" fmla="val 14000"/>
            </a:avLst>
          </a:prstGeom>
          <a:solidFill>
            <a:srgbClr val="E6EF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0"/>
              </a:spcAft>
            </a:pPr>
            <a:r>
              <a:rPr sz="950" b="0" i="0">
                <a:solidFill>
                  <a:srgbClr val="5E6E66"/>
                </a:solidFill>
                <a:latin typeface="Calibri"/>
              </a:rPr>
              <a:t>Agrégation</a:t>
            </a:r>
          </a:p>
        </p:txBody>
      </p:sp>
      <p:sp>
        <p:nvSpPr>
          <p:cNvPr id="27" name="Rounded Rectangle 26"/>
          <p:cNvSpPr/>
          <p:nvPr/>
        </p:nvSpPr>
        <p:spPr>
          <a:xfrm>
            <a:off x="9151576" y="1316736"/>
            <a:ext cx="1133856" cy="310896"/>
          </a:xfrm>
          <a:prstGeom prst="roundRect">
            <a:avLst>
              <a:gd name="adj" fmla="val 14000"/>
            </a:avLst>
          </a:prstGeom>
          <a:solidFill>
            <a:srgbClr val="E6EF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0"/>
              </a:spcAft>
            </a:pPr>
            <a:r>
              <a:rPr sz="950" b="0" i="0">
                <a:solidFill>
                  <a:srgbClr val="5E6E66"/>
                </a:solidFill>
                <a:latin typeface="Calibri"/>
              </a:rPr>
              <a:t>Sélection</a:t>
            </a:r>
          </a:p>
        </p:txBody>
      </p:sp>
      <p:sp>
        <p:nvSpPr>
          <p:cNvPr id="28" name="Rounded Rectangle 27"/>
          <p:cNvSpPr/>
          <p:nvPr/>
        </p:nvSpPr>
        <p:spPr>
          <a:xfrm>
            <a:off x="10600639" y="1316736"/>
            <a:ext cx="1133856" cy="310896"/>
          </a:xfrm>
          <a:prstGeom prst="roundRect">
            <a:avLst>
              <a:gd name="adj" fmla="val 14000"/>
            </a:avLst>
          </a:prstGeom>
          <a:solidFill>
            <a:srgbClr val="E6EFE8"/>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wrap="square"/>
          <a:lstStyle/>
          <a:p>
            <a:pPr algn="ctr">
              <a:spcAft>
                <a:spcPts val="0"/>
              </a:spcAft>
            </a:pPr>
            <a:r>
              <a:rPr sz="950" b="0" i="0">
                <a:solidFill>
                  <a:srgbClr val="5E6E66"/>
                </a:solidFill>
                <a:latin typeface="Calibri"/>
              </a:rPr>
              <a:t>Annotation</a:t>
            </a:r>
          </a:p>
        </p:txBody>
      </p:sp>
      <p:sp>
        <p:nvSpPr>
          <p:cNvPr id="29" name="Rounded Rectangle 28"/>
          <p:cNvSpPr/>
          <p:nvPr/>
        </p:nvSpPr>
        <p:spPr>
          <a:xfrm>
            <a:off x="457200" y="1993392"/>
            <a:ext cx="11277295" cy="182880"/>
          </a:xfrm>
          <a:prstGeom prst="roundRect">
            <a:avLst>
              <a:gd name="adj" fmla="val 50000"/>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9144" rIns="9144" tIns="9144" bIns="9144" wrap="square"/>
          <a:lstStyle/>
          <a:p>
            <a:pPr algn="ctr">
              <a:spcAft>
                <a:spcPts val="400"/>
              </a:spcAft>
            </a:pPr>
            <a:r>
              <a:rPr sz="850" b="1" i="0">
                <a:solidFill>
                  <a:srgbClr val="1C2B24"/>
                </a:solidFill>
                <a:latin typeface="Calibri"/>
              </a:rPr>
              <a:t>Évaluation (transverse)</a:t>
            </a:r>
          </a:p>
        </p:txBody>
      </p:sp>
      <p:sp>
        <p:nvSpPr>
          <p:cNvPr id="30" name="TextBox 29"/>
          <p:cNvSpPr txBox="1"/>
          <p:nvPr/>
        </p:nvSpPr>
        <p:spPr>
          <a:xfrm>
            <a:off x="11277295" y="6473952"/>
            <a:ext cx="457200" cy="228600"/>
          </a:xfrm>
          <a:prstGeom prst="rect">
            <a:avLst/>
          </a:prstGeom>
          <a:noFill/>
        </p:spPr>
        <p:txBody>
          <a:bodyPr wrap="square" anchor="t" lIns="0" rIns="0" tIns="0" bIns="0">
            <a:spAutoFit/>
          </a:bodyPr>
          <a:lstStyle/>
          <a:p>
            <a:pPr algn="r">
              <a:spcAft>
                <a:spcPts val="400"/>
              </a:spcAft>
            </a:pPr>
            <a:r>
              <a:rPr sz="1000" b="0" i="0">
                <a:solidFill>
                  <a:srgbClr val="5E6E66"/>
                </a:solidFill>
                <a:latin typeface="Calibri"/>
              </a:rPr>
              <a:t>14</a:t>
            </a:r>
          </a:p>
        </p:txBody>
      </p:sp>
      <p:sp>
        <p:nvSpPr>
          <p:cNvPr id="31" name="Rounded Rectangle 30"/>
          <p:cNvSpPr/>
          <p:nvPr/>
        </p:nvSpPr>
        <p:spPr>
          <a:xfrm>
            <a:off x="457200" y="2423160"/>
            <a:ext cx="3575304" cy="1645920"/>
          </a:xfrm>
          <a:prstGeom prst="roundRect">
            <a:avLst>
              <a:gd name="adj" fmla="val 8000"/>
            </a:avLst>
          </a:prstGeom>
          <a:solidFill>
            <a:srgbClr val="F4F8F5"/>
          </a:solidFill>
          <a:ln w="12700">
            <a:solidFill>
              <a:srgbClr val="E6EFE8"/>
            </a:solid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a:lstStyle/>
          <a:p>
            <a:pPr algn="ctr"/>
          </a:p>
        </p:txBody>
      </p:sp>
      <p:sp>
        <p:nvSpPr>
          <p:cNvPr id="32" name="Oval 31"/>
          <p:cNvSpPr/>
          <p:nvPr/>
        </p:nvSpPr>
        <p:spPr>
          <a:xfrm>
            <a:off x="685800" y="2606040"/>
            <a:ext cx="457200" cy="457200"/>
          </a:xfrm>
          <a:prstGeom prst="ellipse">
            <a:avLst/>
          </a:prstGeom>
          <a:solidFill>
            <a:srgbClr val="1733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600" b="1" i="0">
                <a:solidFill>
                  <a:srgbClr val="FFFFFF"/>
                </a:solidFill>
                <a:latin typeface="Calibri"/>
              </a:rPr>
              <a:t>1</a:t>
            </a:r>
          </a:p>
        </p:txBody>
      </p:sp>
      <p:sp>
        <p:nvSpPr>
          <p:cNvPr id="33" name="TextBox 32"/>
          <p:cNvSpPr txBox="1"/>
          <p:nvPr/>
        </p:nvSpPr>
        <p:spPr>
          <a:xfrm>
            <a:off x="1280160" y="2651760"/>
            <a:ext cx="2569464" cy="365760"/>
          </a:xfrm>
          <a:prstGeom prst="rect">
            <a:avLst/>
          </a:prstGeom>
          <a:noFill/>
        </p:spPr>
        <p:txBody>
          <a:bodyPr wrap="square" anchor="t" lIns="0" rIns="0" tIns="0" bIns="0">
            <a:spAutoFit/>
          </a:bodyPr>
          <a:lstStyle/>
          <a:p>
            <a:pPr algn="l">
              <a:spcAft>
                <a:spcPts val="400"/>
              </a:spcAft>
            </a:pPr>
            <a:r>
              <a:rPr sz="1600" b="1" i="0">
                <a:solidFill>
                  <a:srgbClr val="17332A"/>
                </a:solidFill>
                <a:latin typeface="Calibri"/>
              </a:rPr>
              <a:t>Intra-site</a:t>
            </a:r>
          </a:p>
        </p:txBody>
      </p:sp>
      <p:sp>
        <p:nvSpPr>
          <p:cNvPr id="34" name="TextBox 33"/>
          <p:cNvSpPr txBox="1"/>
          <p:nvPr/>
        </p:nvSpPr>
        <p:spPr>
          <a:xfrm>
            <a:off x="685800" y="3200400"/>
            <a:ext cx="3118104" cy="914400"/>
          </a:xfrm>
          <a:prstGeom prst="rect">
            <a:avLst/>
          </a:prstGeom>
          <a:noFill/>
        </p:spPr>
        <p:txBody>
          <a:bodyPr wrap="square" anchor="t" lIns="0" rIns="0" tIns="0" bIns="0">
            <a:spAutoFit/>
          </a:bodyPr>
          <a:lstStyle/>
          <a:p>
            <a:pPr algn="l">
              <a:spcAft>
                <a:spcPts val="400"/>
              </a:spcAft>
            </a:pPr>
            <a:r>
              <a:rPr sz="1300" b="0" i="0">
                <a:solidFill>
                  <a:srgbClr val="1C2B24"/>
                </a:solidFill>
                <a:latin typeface="Calibri"/>
              </a:rPr>
              <a:t>Validation groupée par micro à Mataroni : on ne teste jamais sur un micro vu à l'entraînement.</a:t>
            </a:r>
          </a:p>
        </p:txBody>
      </p:sp>
      <p:sp>
        <p:nvSpPr>
          <p:cNvPr id="35" name="Rounded Rectangle 34"/>
          <p:cNvSpPr/>
          <p:nvPr/>
        </p:nvSpPr>
        <p:spPr>
          <a:xfrm>
            <a:off x="4306824" y="2423160"/>
            <a:ext cx="3575304" cy="1645920"/>
          </a:xfrm>
          <a:prstGeom prst="roundRect">
            <a:avLst>
              <a:gd name="adj" fmla="val 8000"/>
            </a:avLst>
          </a:prstGeom>
          <a:solidFill>
            <a:srgbClr val="F4F8F5"/>
          </a:solidFill>
          <a:ln w="12700">
            <a:solidFill>
              <a:srgbClr val="E6EFE8"/>
            </a:solid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a:lstStyle/>
          <a:p>
            <a:pPr algn="ctr"/>
          </a:p>
        </p:txBody>
      </p:sp>
      <p:sp>
        <p:nvSpPr>
          <p:cNvPr id="36" name="Oval 35"/>
          <p:cNvSpPr/>
          <p:nvPr/>
        </p:nvSpPr>
        <p:spPr>
          <a:xfrm>
            <a:off x="4535424" y="2606040"/>
            <a:ext cx="457200" cy="457200"/>
          </a:xfrm>
          <a:prstGeom prst="ellipse">
            <a:avLst/>
          </a:prstGeom>
          <a:solidFill>
            <a:srgbClr val="1733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600" b="1" i="0">
                <a:solidFill>
                  <a:srgbClr val="FFFFFF"/>
                </a:solidFill>
                <a:latin typeface="Calibri"/>
              </a:rPr>
              <a:t>2</a:t>
            </a:r>
          </a:p>
        </p:txBody>
      </p:sp>
      <p:sp>
        <p:nvSpPr>
          <p:cNvPr id="37" name="TextBox 36"/>
          <p:cNvSpPr txBox="1"/>
          <p:nvPr/>
        </p:nvSpPr>
        <p:spPr>
          <a:xfrm>
            <a:off x="5129784" y="2651760"/>
            <a:ext cx="2569464" cy="365760"/>
          </a:xfrm>
          <a:prstGeom prst="rect">
            <a:avLst/>
          </a:prstGeom>
          <a:noFill/>
        </p:spPr>
        <p:txBody>
          <a:bodyPr wrap="square" anchor="t" lIns="0" rIns="0" tIns="0" bIns="0">
            <a:spAutoFit/>
          </a:bodyPr>
          <a:lstStyle/>
          <a:p>
            <a:pPr algn="l">
              <a:spcAft>
                <a:spcPts val="400"/>
              </a:spcAft>
            </a:pPr>
            <a:r>
              <a:rPr sz="1600" b="1" i="0">
                <a:solidFill>
                  <a:srgbClr val="17332A"/>
                </a:solidFill>
                <a:latin typeface="Calibri"/>
              </a:rPr>
              <a:t>Nouveaux sites</a:t>
            </a:r>
          </a:p>
        </p:txBody>
      </p:sp>
      <p:sp>
        <p:nvSpPr>
          <p:cNvPr id="38" name="TextBox 37"/>
          <p:cNvSpPr txBox="1"/>
          <p:nvPr/>
        </p:nvSpPr>
        <p:spPr>
          <a:xfrm>
            <a:off x="4535424" y="3200400"/>
            <a:ext cx="3118104" cy="914400"/>
          </a:xfrm>
          <a:prstGeom prst="rect">
            <a:avLst/>
          </a:prstGeom>
          <a:noFill/>
        </p:spPr>
        <p:txBody>
          <a:bodyPr wrap="square" anchor="t" lIns="0" rIns="0" tIns="0" bIns="0">
            <a:spAutoFit/>
          </a:bodyPr>
          <a:lstStyle/>
          <a:p>
            <a:pPr algn="l">
              <a:spcAft>
                <a:spcPts val="400"/>
              </a:spcAft>
            </a:pPr>
            <a:r>
              <a:rPr sz="1300" b="0" i="0">
                <a:solidFill>
                  <a:srgbClr val="1C2B24"/>
                </a:solidFill>
                <a:latin typeface="Calibri"/>
              </a:rPr>
              <a:t>Trésor et Kaw 2026, positifs récoltés et validés, jamais entraînés. C'est la mesure demandée par le tuteur.</a:t>
            </a:r>
          </a:p>
        </p:txBody>
      </p:sp>
      <p:sp>
        <p:nvSpPr>
          <p:cNvPr id="39" name="Rounded Rectangle 38"/>
          <p:cNvSpPr/>
          <p:nvPr/>
        </p:nvSpPr>
        <p:spPr>
          <a:xfrm>
            <a:off x="8156448" y="2423160"/>
            <a:ext cx="3575304" cy="1645920"/>
          </a:xfrm>
          <a:prstGeom prst="roundRect">
            <a:avLst>
              <a:gd name="adj" fmla="val 8000"/>
            </a:avLst>
          </a:prstGeom>
          <a:solidFill>
            <a:srgbClr val="F4F8F5"/>
          </a:solidFill>
          <a:ln w="12700">
            <a:solidFill>
              <a:srgbClr val="E6EFE8"/>
            </a:solid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a:lstStyle/>
          <a:p>
            <a:pPr algn="ctr"/>
          </a:p>
        </p:txBody>
      </p:sp>
      <p:sp>
        <p:nvSpPr>
          <p:cNvPr id="40" name="Oval 39"/>
          <p:cNvSpPr/>
          <p:nvPr/>
        </p:nvSpPr>
        <p:spPr>
          <a:xfrm>
            <a:off x="8385048" y="2606040"/>
            <a:ext cx="457200" cy="457200"/>
          </a:xfrm>
          <a:prstGeom prst="ellipse">
            <a:avLst/>
          </a:prstGeom>
          <a:solidFill>
            <a:srgbClr val="1733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600" b="1" i="0">
                <a:solidFill>
                  <a:srgbClr val="FFFFFF"/>
                </a:solidFill>
                <a:latin typeface="Calibri"/>
              </a:rPr>
              <a:t>3</a:t>
            </a:r>
          </a:p>
        </p:txBody>
      </p:sp>
      <p:sp>
        <p:nvSpPr>
          <p:cNvPr id="41" name="TextBox 40"/>
          <p:cNvSpPr txBox="1"/>
          <p:nvPr/>
        </p:nvSpPr>
        <p:spPr>
          <a:xfrm>
            <a:off x="8979408" y="2651760"/>
            <a:ext cx="2569464" cy="365760"/>
          </a:xfrm>
          <a:prstGeom prst="rect">
            <a:avLst/>
          </a:prstGeom>
          <a:noFill/>
        </p:spPr>
        <p:txBody>
          <a:bodyPr wrap="square" anchor="t" lIns="0" rIns="0" tIns="0" bIns="0">
            <a:spAutoFit/>
          </a:bodyPr>
          <a:lstStyle/>
          <a:p>
            <a:pPr algn="l">
              <a:spcAft>
                <a:spcPts val="400"/>
              </a:spcAft>
            </a:pPr>
            <a:r>
              <a:rPr sz="1600" b="1" i="0">
                <a:solidFill>
                  <a:srgbClr val="17332A"/>
                </a:solidFill>
                <a:latin typeface="Calibri"/>
              </a:rPr>
              <a:t>Autre année</a:t>
            </a:r>
          </a:p>
        </p:txBody>
      </p:sp>
      <p:sp>
        <p:nvSpPr>
          <p:cNvPr id="42" name="TextBox 41"/>
          <p:cNvSpPr txBox="1"/>
          <p:nvPr/>
        </p:nvSpPr>
        <p:spPr>
          <a:xfrm>
            <a:off x="8385048" y="3200400"/>
            <a:ext cx="3118104" cy="914400"/>
          </a:xfrm>
          <a:prstGeom prst="rect">
            <a:avLst/>
          </a:prstGeom>
          <a:noFill/>
        </p:spPr>
        <p:txBody>
          <a:bodyPr wrap="square" anchor="t" lIns="0" rIns="0" tIns="0" bIns="0">
            <a:spAutoFit/>
          </a:bodyPr>
          <a:lstStyle/>
          <a:p>
            <a:pPr algn="l">
              <a:spcAft>
                <a:spcPts val="400"/>
              </a:spcAft>
            </a:pPr>
            <a:r>
              <a:rPr sz="1300" b="0" i="0">
                <a:solidFill>
                  <a:srgbClr val="1C2B24"/>
                </a:solidFill>
                <a:latin typeface="Calibri"/>
              </a:rPr>
              <a:t>Phénologie 2023 : retrouver les courbes journalières et annuelles de Courtois et al. 2025, sans labels.</a:t>
            </a:r>
          </a:p>
        </p:txBody>
      </p:sp>
      <p:sp>
        <p:nvSpPr>
          <p:cNvPr id="43" name="Rounded Rectangle 42"/>
          <p:cNvSpPr/>
          <p:nvPr/>
        </p:nvSpPr>
        <p:spPr>
          <a:xfrm>
            <a:off x="457200" y="4343400"/>
            <a:ext cx="2647188" cy="1325880"/>
          </a:xfrm>
          <a:prstGeom prst="roundRect">
            <a:avLst>
              <a:gd name="adj" fmla="val 8000"/>
            </a:avLst>
          </a:prstGeom>
          <a:solidFill>
            <a:srgbClr val="17332A"/>
          </a:solidFill>
          <a:ln>
            <a:noFill/>
          </a:ln>
          <a:effectLst/>
        </p:spPr>
        <p:style>
          <a:lnRef idx="1">
            <a:schemeClr val="accent1"/>
          </a:lnRef>
          <a:fillRef idx="3">
            <a:schemeClr val="accent1"/>
          </a:fillRef>
          <a:effectRef idx="2">
            <a:schemeClr val="accent1"/>
          </a:effectRef>
          <a:fontRef idx="minor">
            <a:schemeClr val="lt1"/>
          </a:fontRef>
        </p:style>
        <p:txBody>
          <a:bodyPr rtlCol="0" anchor="t" lIns="182880" rIns="182880" tIns="182880" bIns="182880" wrap="square"/>
          <a:lstStyle/>
          <a:p>
            <a:pPr algn="l">
              <a:spcAft>
                <a:spcPts val="400"/>
              </a:spcAft>
            </a:pPr>
            <a:r>
              <a:rPr sz="1400" b="1" i="0">
                <a:solidFill>
                  <a:srgbClr val="F2A541"/>
                </a:solidFill>
                <a:latin typeface="Calibri"/>
              </a:rPr>
              <a:t>Jeu gelé</a:t>
            </a:r>
          </a:p>
          <a:p>
            <a:pPr algn="l">
              <a:spcAft>
                <a:spcPts val="400"/>
              </a:spcAft>
            </a:pPr>
            <a:r>
              <a:rPr sz="1200" b="0" i="0">
                <a:solidFill>
                  <a:srgbClr val="FFFFFF"/>
                </a:solidFill>
                <a:latin typeface="Calibri"/>
              </a:rPr>
              <a:t>le jeu de test, jamais entraîné</a:t>
            </a:r>
          </a:p>
        </p:txBody>
      </p:sp>
      <p:sp>
        <p:nvSpPr>
          <p:cNvPr id="44" name="Rounded Rectangle 43"/>
          <p:cNvSpPr/>
          <p:nvPr/>
        </p:nvSpPr>
        <p:spPr>
          <a:xfrm>
            <a:off x="3332988" y="4343400"/>
            <a:ext cx="2647188" cy="1325880"/>
          </a:xfrm>
          <a:prstGeom prst="roundRect">
            <a:avLst>
              <a:gd name="adj" fmla="val 8000"/>
            </a:avLst>
          </a:prstGeom>
          <a:solidFill>
            <a:srgbClr val="17332A"/>
          </a:solidFill>
          <a:ln>
            <a:noFill/>
          </a:ln>
          <a:effectLst/>
        </p:spPr>
        <p:style>
          <a:lnRef idx="1">
            <a:schemeClr val="accent1"/>
          </a:lnRef>
          <a:fillRef idx="3">
            <a:schemeClr val="accent1"/>
          </a:fillRef>
          <a:effectRef idx="2">
            <a:schemeClr val="accent1"/>
          </a:effectRef>
          <a:fontRef idx="minor">
            <a:schemeClr val="lt1"/>
          </a:fontRef>
        </p:style>
        <p:txBody>
          <a:bodyPr rtlCol="0" anchor="t" lIns="182880" rIns="182880" tIns="182880" bIns="182880" wrap="square"/>
          <a:lstStyle/>
          <a:p>
            <a:pPr algn="l">
              <a:spcAft>
                <a:spcPts val="400"/>
              </a:spcAft>
            </a:pPr>
            <a:r>
              <a:rPr sz="1400" b="1" i="0">
                <a:solidFill>
                  <a:srgbClr val="F2A541"/>
                </a:solidFill>
                <a:latin typeface="Calibri"/>
              </a:rPr>
              <a:t>Audit aléatoire</a:t>
            </a:r>
          </a:p>
          <a:p>
            <a:pPr algn="l">
              <a:spcAft>
                <a:spcPts val="400"/>
              </a:spcAft>
            </a:pPr>
            <a:r>
              <a:rPr sz="1200" b="0" i="0">
                <a:solidFill>
                  <a:srgbClr val="FFFFFF"/>
                </a:solidFill>
                <a:latin typeface="Calibri"/>
              </a:rPr>
              <a:t>rappel hors du biais Blancinet</a:t>
            </a:r>
          </a:p>
        </p:txBody>
      </p:sp>
      <p:sp>
        <p:nvSpPr>
          <p:cNvPr id="45" name="Rounded Rectangle 44"/>
          <p:cNvSpPr/>
          <p:nvPr/>
        </p:nvSpPr>
        <p:spPr>
          <a:xfrm>
            <a:off x="6208776" y="4343400"/>
            <a:ext cx="2647188" cy="1325880"/>
          </a:xfrm>
          <a:prstGeom prst="roundRect">
            <a:avLst>
              <a:gd name="adj" fmla="val 8000"/>
            </a:avLst>
          </a:prstGeom>
          <a:solidFill>
            <a:srgbClr val="17332A"/>
          </a:solidFill>
          <a:ln>
            <a:noFill/>
          </a:ln>
          <a:effectLst/>
        </p:spPr>
        <p:style>
          <a:lnRef idx="1">
            <a:schemeClr val="accent1"/>
          </a:lnRef>
          <a:fillRef idx="3">
            <a:schemeClr val="accent1"/>
          </a:fillRef>
          <a:effectRef idx="2">
            <a:schemeClr val="accent1"/>
          </a:effectRef>
          <a:fontRef idx="minor">
            <a:schemeClr val="lt1"/>
          </a:fontRef>
        </p:style>
        <p:txBody>
          <a:bodyPr rtlCol="0" anchor="t" lIns="182880" rIns="182880" tIns="182880" bIns="182880" wrap="square"/>
          <a:lstStyle/>
          <a:p>
            <a:pPr algn="l">
              <a:spcAft>
                <a:spcPts val="400"/>
              </a:spcAft>
            </a:pPr>
            <a:r>
              <a:rPr sz="1400" b="1" i="0">
                <a:solidFill>
                  <a:srgbClr val="F2A541"/>
                </a:solidFill>
                <a:latin typeface="Calibri"/>
              </a:rPr>
              <a:t>Métriques</a:t>
            </a:r>
          </a:p>
          <a:p>
            <a:pPr algn="l">
              <a:spcAft>
                <a:spcPts val="400"/>
              </a:spcAft>
            </a:pPr>
            <a:r>
              <a:rPr sz="1200" b="0" i="0">
                <a:solidFill>
                  <a:srgbClr val="FFFFFF"/>
                </a:solidFill>
                <a:latin typeface="Calibri"/>
              </a:rPr>
              <a:t>AP, rappel par enregistrement, par qualité, par site ; écartées : exactitude, AUROC, F1</a:t>
            </a:r>
          </a:p>
        </p:txBody>
      </p:sp>
      <p:sp>
        <p:nvSpPr>
          <p:cNvPr id="46" name="Rounded Rectangle 45"/>
          <p:cNvSpPr/>
          <p:nvPr/>
        </p:nvSpPr>
        <p:spPr>
          <a:xfrm>
            <a:off x="9084564" y="4343400"/>
            <a:ext cx="2647188" cy="1325880"/>
          </a:xfrm>
          <a:prstGeom prst="roundRect">
            <a:avLst>
              <a:gd name="adj" fmla="val 8000"/>
            </a:avLst>
          </a:prstGeom>
          <a:solidFill>
            <a:srgbClr val="17332A"/>
          </a:solidFill>
          <a:ln>
            <a:noFill/>
          </a:ln>
          <a:effectLst/>
        </p:spPr>
        <p:style>
          <a:lnRef idx="1">
            <a:schemeClr val="accent1"/>
          </a:lnRef>
          <a:fillRef idx="3">
            <a:schemeClr val="accent1"/>
          </a:fillRef>
          <a:effectRef idx="2">
            <a:schemeClr val="accent1"/>
          </a:effectRef>
          <a:fontRef idx="minor">
            <a:schemeClr val="lt1"/>
          </a:fontRef>
        </p:style>
        <p:txBody>
          <a:bodyPr rtlCol="0" anchor="t" lIns="182880" rIns="182880" tIns="182880" bIns="182880" wrap="square"/>
          <a:lstStyle/>
          <a:p>
            <a:pPr algn="l">
              <a:spcAft>
                <a:spcPts val="400"/>
              </a:spcAft>
            </a:pPr>
            <a:r>
              <a:rPr sz="1400" b="1" i="0">
                <a:solidFill>
                  <a:srgbClr val="F2A541"/>
                </a:solidFill>
                <a:latin typeface="Calibri"/>
              </a:rPr>
              <a:t>Comparaison principale</a:t>
            </a:r>
          </a:p>
          <a:p>
            <a:pPr algn="l">
              <a:spcAft>
                <a:spcPts val="400"/>
              </a:spcAft>
            </a:pPr>
            <a:r>
              <a:rPr sz="1200" b="0" i="0">
                <a:solidFill>
                  <a:srgbClr val="FFFFFF"/>
                </a:solidFill>
                <a:latin typeface="Calibri"/>
              </a:rPr>
              <a:t>l'outil contre l'écoute humaine, par deux naturalistes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46888"/>
            <a:ext cx="8229600" cy="256032"/>
          </a:xfrm>
          <a:prstGeom prst="rect">
            <a:avLst/>
          </a:prstGeom>
          <a:noFill/>
        </p:spPr>
        <p:txBody>
          <a:bodyPr wrap="square" anchor="t" lIns="0" rIns="0" tIns="0" bIns="0">
            <a:spAutoFit/>
          </a:bodyPr>
          <a:lstStyle/>
          <a:p>
            <a:pPr algn="l">
              <a:spcAft>
                <a:spcPts val="400"/>
              </a:spcAft>
            </a:pPr>
            <a:r>
              <a:rPr sz="1100" b="1" i="0">
                <a:solidFill>
                  <a:srgbClr val="9A5A06"/>
                </a:solidFill>
                <a:latin typeface="Calibri"/>
              </a:rPr>
              <a:t>APRÈS LE PIPELINE</a:t>
            </a:r>
          </a:p>
        </p:txBody>
      </p:sp>
      <p:sp>
        <p:nvSpPr>
          <p:cNvPr id="3" name="TextBox 2"/>
          <p:cNvSpPr txBox="1"/>
          <p:nvPr/>
        </p:nvSpPr>
        <p:spPr>
          <a:xfrm>
            <a:off x="457200" y="512064"/>
            <a:ext cx="11274552" cy="548640"/>
          </a:xfrm>
          <a:prstGeom prst="rect">
            <a:avLst/>
          </a:prstGeom>
          <a:noFill/>
        </p:spPr>
        <p:txBody>
          <a:bodyPr wrap="square" anchor="t" lIns="0" rIns="0" tIns="0" bIns="0">
            <a:spAutoFit/>
          </a:bodyPr>
          <a:lstStyle/>
          <a:p>
            <a:pPr algn="l">
              <a:spcAft>
                <a:spcPts val="400"/>
              </a:spcAft>
            </a:pPr>
            <a:r>
              <a:rPr sz="2800" b="1" i="0">
                <a:solidFill>
                  <a:srgbClr val="17332A"/>
                </a:solidFill>
                <a:latin typeface="Cambria"/>
              </a:rPr>
              <a:t>Vers le livrable : un outil que l'ONF fait tourner seul</a:t>
            </a:r>
          </a:p>
        </p:txBody>
      </p:sp>
      <p:sp>
        <p:nvSpPr>
          <p:cNvPr id="4" name="Rounded Rectangle 3"/>
          <p:cNvSpPr/>
          <p:nvPr/>
        </p:nvSpPr>
        <p:spPr>
          <a:xfrm>
            <a:off x="457200" y="1325880"/>
            <a:ext cx="3575304" cy="2057400"/>
          </a:xfrm>
          <a:prstGeom prst="roundRect">
            <a:avLst>
              <a:gd name="adj" fmla="val 8000"/>
            </a:avLst>
          </a:prstGeom>
          <a:solidFill>
            <a:srgbClr val="F4F8F5"/>
          </a:solidFill>
          <a:ln w="12700">
            <a:solidFill>
              <a:srgbClr val="E6EFE8"/>
            </a:solid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a:lstStyle/>
          <a:p>
            <a:pPr algn="ctr"/>
          </a:p>
        </p:txBody>
      </p:sp>
      <p:sp>
        <p:nvSpPr>
          <p:cNvPr id="5" name="Oval 4"/>
          <p:cNvSpPr/>
          <p:nvPr/>
        </p:nvSpPr>
        <p:spPr>
          <a:xfrm>
            <a:off x="685800" y="1536192"/>
            <a:ext cx="548640" cy="548640"/>
          </a:xfrm>
          <a:prstGeom prst="ellipse">
            <a:avLst/>
          </a:prstGeom>
          <a:solidFill>
            <a:srgbClr val="1733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800" b="1" i="0">
                <a:solidFill>
                  <a:srgbClr val="F2A541"/>
                </a:solidFill>
                <a:latin typeface="Calibri"/>
              </a:rPr>
              <a:t>1</a:t>
            </a:r>
          </a:p>
        </p:txBody>
      </p:sp>
      <p:sp>
        <p:nvSpPr>
          <p:cNvPr id="6" name="TextBox 5"/>
          <p:cNvSpPr txBox="1"/>
          <p:nvPr/>
        </p:nvSpPr>
        <p:spPr>
          <a:xfrm>
            <a:off x="1417320" y="1627632"/>
            <a:ext cx="2432304" cy="411480"/>
          </a:xfrm>
          <a:prstGeom prst="rect">
            <a:avLst/>
          </a:prstGeom>
          <a:noFill/>
        </p:spPr>
        <p:txBody>
          <a:bodyPr wrap="square" anchor="t" lIns="0" rIns="0" tIns="0" bIns="0">
            <a:spAutoFit/>
          </a:bodyPr>
          <a:lstStyle/>
          <a:p>
            <a:pPr algn="l">
              <a:spcAft>
                <a:spcPts val="400"/>
              </a:spcAft>
            </a:pPr>
            <a:r>
              <a:rPr sz="1550" b="1" i="0">
                <a:solidFill>
                  <a:srgbClr val="17332A"/>
                </a:solidFill>
                <a:latin typeface="Calibri"/>
              </a:rPr>
              <a:t>Application Python + ONNX</a:t>
            </a:r>
          </a:p>
        </p:txBody>
      </p:sp>
      <p:sp>
        <p:nvSpPr>
          <p:cNvPr id="7" name="TextBox 6"/>
          <p:cNvSpPr txBox="1"/>
          <p:nvPr/>
        </p:nvSpPr>
        <p:spPr>
          <a:xfrm>
            <a:off x="685800" y="2286000"/>
            <a:ext cx="3118104" cy="1371600"/>
          </a:xfrm>
          <a:prstGeom prst="rect">
            <a:avLst/>
          </a:prstGeom>
          <a:noFill/>
        </p:spPr>
        <p:txBody>
          <a:bodyPr wrap="square" anchor="t" lIns="0" rIns="0" tIns="0" bIns="0">
            <a:spAutoFit/>
          </a:bodyPr>
          <a:lstStyle/>
          <a:p>
            <a:pPr algn="l">
              <a:spcAft>
                <a:spcPts val="400"/>
              </a:spcAft>
            </a:pPr>
            <a:r>
              <a:rPr sz="1300" b="0" i="0">
                <a:solidFill>
                  <a:srgbClr val="1C2B24"/>
                </a:solidFill>
                <a:latin typeface="Calibri"/>
              </a:rPr>
              <a:t>Hors ligne, interface de vérification, réentraînement intégré ; ni TensorFlow ni PyTorch à l'exécution.</a:t>
            </a:r>
          </a:p>
        </p:txBody>
      </p:sp>
      <p:sp>
        <p:nvSpPr>
          <p:cNvPr id="8" name="Rounded Rectangle 7"/>
          <p:cNvSpPr/>
          <p:nvPr/>
        </p:nvSpPr>
        <p:spPr>
          <a:xfrm>
            <a:off x="4306824" y="1325880"/>
            <a:ext cx="3575304" cy="2057400"/>
          </a:xfrm>
          <a:prstGeom prst="roundRect">
            <a:avLst>
              <a:gd name="adj" fmla="val 8000"/>
            </a:avLst>
          </a:prstGeom>
          <a:solidFill>
            <a:srgbClr val="F4F8F5"/>
          </a:solidFill>
          <a:ln w="12700">
            <a:solidFill>
              <a:srgbClr val="E6EFE8"/>
            </a:solid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a:lstStyle/>
          <a:p>
            <a:pPr algn="ctr"/>
          </a:p>
        </p:txBody>
      </p:sp>
      <p:sp>
        <p:nvSpPr>
          <p:cNvPr id="9" name="Oval 8"/>
          <p:cNvSpPr/>
          <p:nvPr/>
        </p:nvSpPr>
        <p:spPr>
          <a:xfrm>
            <a:off x="4535424" y="1536192"/>
            <a:ext cx="548640" cy="548640"/>
          </a:xfrm>
          <a:prstGeom prst="ellipse">
            <a:avLst/>
          </a:prstGeom>
          <a:solidFill>
            <a:srgbClr val="1733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800" b="1" i="0">
                <a:solidFill>
                  <a:srgbClr val="F2A541"/>
                </a:solidFill>
                <a:latin typeface="Calibri"/>
              </a:rPr>
              <a:t>2</a:t>
            </a:r>
          </a:p>
        </p:txBody>
      </p:sp>
      <p:sp>
        <p:nvSpPr>
          <p:cNvPr id="10" name="TextBox 9"/>
          <p:cNvSpPr txBox="1"/>
          <p:nvPr/>
        </p:nvSpPr>
        <p:spPr>
          <a:xfrm>
            <a:off x="5266944" y="1627632"/>
            <a:ext cx="2432304" cy="411480"/>
          </a:xfrm>
          <a:prstGeom prst="rect">
            <a:avLst/>
          </a:prstGeom>
          <a:noFill/>
        </p:spPr>
        <p:txBody>
          <a:bodyPr wrap="square" anchor="t" lIns="0" rIns="0" tIns="0" bIns="0">
            <a:spAutoFit/>
          </a:bodyPr>
          <a:lstStyle/>
          <a:p>
            <a:pPr algn="l">
              <a:spcAft>
                <a:spcPts val="400"/>
              </a:spcAft>
            </a:pPr>
            <a:r>
              <a:rPr sz="1550" b="1" i="0">
                <a:solidFill>
                  <a:srgbClr val="17332A"/>
                </a:solidFill>
                <a:latin typeface="Calibri"/>
              </a:rPr>
              <a:t>PAMGuard comme hôte</a:t>
            </a:r>
          </a:p>
        </p:txBody>
      </p:sp>
      <p:sp>
        <p:nvSpPr>
          <p:cNvPr id="11" name="TextBox 10"/>
          <p:cNvSpPr txBox="1"/>
          <p:nvPr/>
        </p:nvSpPr>
        <p:spPr>
          <a:xfrm>
            <a:off x="4535424" y="2286000"/>
            <a:ext cx="3118104" cy="1371600"/>
          </a:xfrm>
          <a:prstGeom prst="rect">
            <a:avLst/>
          </a:prstGeom>
          <a:noFill/>
        </p:spPr>
        <p:txBody>
          <a:bodyPr wrap="square" anchor="t" lIns="0" rIns="0" tIns="0" bIns="0">
            <a:spAutoFit/>
          </a:bodyPr>
          <a:lstStyle/>
          <a:p>
            <a:pPr algn="l">
              <a:spcAft>
                <a:spcPts val="400"/>
              </a:spcAft>
            </a:pPr>
            <a:r>
              <a:rPr sz="1300" b="0" i="0">
                <a:solidFill>
                  <a:srgbClr val="1C2B24"/>
                </a:solidFill>
                <a:latin typeface="Calibri"/>
              </a:rPr>
              <a:t>Logiciel de bureau sans code, accepte un modèle ONNX ; pas de réentraînement sur place, module séquentiel à porter.</a:t>
            </a:r>
          </a:p>
        </p:txBody>
      </p:sp>
      <p:sp>
        <p:nvSpPr>
          <p:cNvPr id="12" name="Rounded Rectangle 11"/>
          <p:cNvSpPr/>
          <p:nvPr/>
        </p:nvSpPr>
        <p:spPr>
          <a:xfrm>
            <a:off x="8156448" y="1325880"/>
            <a:ext cx="3575304" cy="2057400"/>
          </a:xfrm>
          <a:prstGeom prst="roundRect">
            <a:avLst>
              <a:gd name="adj" fmla="val 8000"/>
            </a:avLst>
          </a:prstGeom>
          <a:solidFill>
            <a:srgbClr val="F4F8F5"/>
          </a:solidFill>
          <a:ln w="12700">
            <a:solidFill>
              <a:srgbClr val="E6EFE8"/>
            </a:solid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a:lstStyle/>
          <a:p>
            <a:pPr algn="ctr"/>
          </a:p>
        </p:txBody>
      </p:sp>
      <p:sp>
        <p:nvSpPr>
          <p:cNvPr id="13" name="Oval 12"/>
          <p:cNvSpPr/>
          <p:nvPr/>
        </p:nvSpPr>
        <p:spPr>
          <a:xfrm>
            <a:off x="8385048" y="1536192"/>
            <a:ext cx="548640" cy="548640"/>
          </a:xfrm>
          <a:prstGeom prst="ellipse">
            <a:avLst/>
          </a:prstGeom>
          <a:solidFill>
            <a:srgbClr val="17332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800" b="1" i="0">
                <a:solidFill>
                  <a:srgbClr val="F2A541"/>
                </a:solidFill>
                <a:latin typeface="Calibri"/>
              </a:rPr>
              <a:t>3</a:t>
            </a:r>
          </a:p>
        </p:txBody>
      </p:sp>
      <p:sp>
        <p:nvSpPr>
          <p:cNvPr id="14" name="TextBox 13"/>
          <p:cNvSpPr txBox="1"/>
          <p:nvPr/>
        </p:nvSpPr>
        <p:spPr>
          <a:xfrm>
            <a:off x="9116568" y="1627632"/>
            <a:ext cx="2432304" cy="411480"/>
          </a:xfrm>
          <a:prstGeom prst="rect">
            <a:avLst/>
          </a:prstGeom>
          <a:noFill/>
        </p:spPr>
        <p:txBody>
          <a:bodyPr wrap="square" anchor="t" lIns="0" rIns="0" tIns="0" bIns="0">
            <a:spAutoFit/>
          </a:bodyPr>
          <a:lstStyle/>
          <a:p>
            <a:pPr algn="l">
              <a:spcAft>
                <a:spcPts val="400"/>
              </a:spcAft>
            </a:pPr>
            <a:r>
              <a:rPr sz="1550" b="1" i="0">
                <a:solidFill>
                  <a:srgbClr val="17332A"/>
                </a:solidFill>
                <a:latin typeface="Calibri"/>
              </a:rPr>
              <a:t>Dossier portable + scripts</a:t>
            </a:r>
          </a:p>
        </p:txBody>
      </p:sp>
      <p:sp>
        <p:nvSpPr>
          <p:cNvPr id="15" name="TextBox 14"/>
          <p:cNvSpPr txBox="1"/>
          <p:nvPr/>
        </p:nvSpPr>
        <p:spPr>
          <a:xfrm>
            <a:off x="8385048" y="2286000"/>
            <a:ext cx="3118104" cy="1371600"/>
          </a:xfrm>
          <a:prstGeom prst="rect">
            <a:avLst/>
          </a:prstGeom>
          <a:noFill/>
        </p:spPr>
        <p:txBody>
          <a:bodyPr wrap="square" anchor="t" lIns="0" rIns="0" tIns="0" bIns="0">
            <a:spAutoFit/>
          </a:bodyPr>
          <a:lstStyle/>
          <a:p>
            <a:pPr algn="l">
              <a:spcAft>
                <a:spcPts val="400"/>
              </a:spcAft>
            </a:pPr>
            <a:r>
              <a:rPr sz="1300" b="0" i="0">
                <a:solidFill>
                  <a:srgbClr val="1C2B24"/>
                </a:solidFill>
                <a:latin typeface="Calibri"/>
              </a:rPr>
              <a:t>Repli simple : réentraînement en ligne de commande documentée.</a:t>
            </a:r>
          </a:p>
        </p:txBody>
      </p:sp>
      <p:sp>
        <p:nvSpPr>
          <p:cNvPr id="16" name="TextBox 15"/>
          <p:cNvSpPr txBox="1"/>
          <p:nvPr/>
        </p:nvSpPr>
        <p:spPr>
          <a:xfrm>
            <a:off x="457200" y="3703320"/>
            <a:ext cx="11274552" cy="365760"/>
          </a:xfrm>
          <a:prstGeom prst="rect">
            <a:avLst/>
          </a:prstGeom>
          <a:noFill/>
        </p:spPr>
        <p:txBody>
          <a:bodyPr wrap="square" anchor="t" lIns="0" rIns="0" tIns="0" bIns="0">
            <a:spAutoFit/>
          </a:bodyPr>
          <a:lstStyle/>
          <a:p>
            <a:pPr algn="l">
              <a:spcAft>
                <a:spcPts val="400"/>
              </a:spcAft>
            </a:pPr>
            <a:r>
              <a:rPr sz="1600" b="1" i="0">
                <a:solidFill>
                  <a:srgbClr val="17332A"/>
                </a:solidFill>
                <a:latin typeface="Calibri"/>
              </a:rPr>
              <a:t>Faire tourner l'encodeur sur l'i5, sans GPU</a:t>
            </a:r>
          </a:p>
        </p:txBody>
      </p:sp>
      <p:sp>
        <p:nvSpPr>
          <p:cNvPr id="17" name="Rounded Rectangle 16"/>
          <p:cNvSpPr/>
          <p:nvPr/>
        </p:nvSpPr>
        <p:spPr>
          <a:xfrm>
            <a:off x="457200" y="4160520"/>
            <a:ext cx="2647188" cy="868680"/>
          </a:xfrm>
          <a:prstGeom prst="roundRect">
            <a:avLst>
              <a:gd name="adj" fmla="val 8000"/>
            </a:avLst>
          </a:prstGeom>
          <a:solidFill>
            <a:srgbClr val="E6EFE8"/>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rIns="137160" tIns="137160" bIns="137160" wrap="square"/>
          <a:lstStyle/>
          <a:p>
            <a:pPr algn="ctr">
              <a:spcAft>
                <a:spcPts val="400"/>
              </a:spcAft>
            </a:pPr>
            <a:r>
              <a:rPr sz="1300" b="0" i="0">
                <a:solidFill>
                  <a:srgbClr val="1C2B24"/>
                </a:solidFill>
                <a:latin typeface="Calibri"/>
              </a:rPr>
              <a:t>Export ONNX et quantification</a:t>
            </a:r>
          </a:p>
        </p:txBody>
      </p:sp>
      <p:sp>
        <p:nvSpPr>
          <p:cNvPr id="18" name="Rounded Rectangle 17"/>
          <p:cNvSpPr/>
          <p:nvPr/>
        </p:nvSpPr>
        <p:spPr>
          <a:xfrm>
            <a:off x="3332988" y="4160520"/>
            <a:ext cx="2647188" cy="868680"/>
          </a:xfrm>
          <a:prstGeom prst="roundRect">
            <a:avLst>
              <a:gd name="adj" fmla="val 8000"/>
            </a:avLst>
          </a:prstGeom>
          <a:solidFill>
            <a:srgbClr val="E6EFE8"/>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rIns="137160" tIns="137160" bIns="137160" wrap="square"/>
          <a:lstStyle/>
          <a:p>
            <a:pPr algn="ctr">
              <a:spcAft>
                <a:spcPts val="400"/>
              </a:spcAft>
            </a:pPr>
            <a:r>
              <a:rPr sz="1300" b="0" i="0">
                <a:solidFill>
                  <a:srgbClr val="1C2B24"/>
                </a:solidFill>
                <a:latin typeface="Calibri"/>
              </a:rPr>
              <a:t>Heures de pic d'abord</a:t>
            </a:r>
          </a:p>
        </p:txBody>
      </p:sp>
      <p:sp>
        <p:nvSpPr>
          <p:cNvPr id="19" name="Rounded Rectangle 18"/>
          <p:cNvSpPr/>
          <p:nvPr/>
        </p:nvSpPr>
        <p:spPr>
          <a:xfrm>
            <a:off x="6208776" y="4160520"/>
            <a:ext cx="2647188" cy="868680"/>
          </a:xfrm>
          <a:prstGeom prst="roundRect">
            <a:avLst>
              <a:gd name="adj" fmla="val 8000"/>
            </a:avLst>
          </a:prstGeom>
          <a:solidFill>
            <a:srgbClr val="E6EFE8"/>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rIns="137160" tIns="137160" bIns="137160" wrap="square"/>
          <a:lstStyle/>
          <a:p>
            <a:pPr algn="ctr">
              <a:spcAft>
                <a:spcPts val="400"/>
              </a:spcAft>
            </a:pPr>
            <a:r>
              <a:rPr sz="1300" b="0" i="0">
                <a:solidFill>
                  <a:srgbClr val="1C2B24"/>
                </a:solidFill>
                <a:latin typeface="Calibri"/>
              </a:rPr>
              <a:t>Sous-échantillonner les fenêtres d'un enregistrement</a:t>
            </a:r>
          </a:p>
        </p:txBody>
      </p:sp>
      <p:sp>
        <p:nvSpPr>
          <p:cNvPr id="20" name="Rounded Rectangle 19"/>
          <p:cNvSpPr/>
          <p:nvPr/>
        </p:nvSpPr>
        <p:spPr>
          <a:xfrm>
            <a:off x="9084564" y="4160520"/>
            <a:ext cx="2647188" cy="868680"/>
          </a:xfrm>
          <a:prstGeom prst="roundRect">
            <a:avLst>
              <a:gd name="adj" fmla="val 8000"/>
            </a:avLst>
          </a:prstGeom>
          <a:solidFill>
            <a:srgbClr val="E6EFE8"/>
          </a:solidFill>
          <a:ln>
            <a:noFill/>
          </a:ln>
          <a:effectLst/>
        </p:spPr>
        <p:style>
          <a:lnRef idx="1">
            <a:schemeClr val="accent1"/>
          </a:lnRef>
          <a:fillRef idx="3">
            <a:schemeClr val="accent1"/>
          </a:fillRef>
          <a:effectRef idx="2">
            <a:schemeClr val="accent1"/>
          </a:effectRef>
          <a:fontRef idx="minor">
            <a:schemeClr val="lt1"/>
          </a:fontRef>
        </p:style>
        <p:txBody>
          <a:bodyPr rtlCol="0" anchor="ctr" lIns="137160" rIns="137160" tIns="137160" bIns="137160" wrap="square"/>
          <a:lstStyle/>
          <a:p>
            <a:pPr algn="ctr">
              <a:spcAft>
                <a:spcPts val="400"/>
              </a:spcAft>
            </a:pPr>
            <a:r>
              <a:rPr sz="1300" b="0" i="0">
                <a:solidFill>
                  <a:srgbClr val="1C2B24"/>
                </a:solidFill>
                <a:latin typeface="Calibri"/>
              </a:rPr>
              <a:t>Distillation en petit réseau</a:t>
            </a:r>
          </a:p>
        </p:txBody>
      </p:sp>
      <p:sp>
        <p:nvSpPr>
          <p:cNvPr id="21" name="Rounded Rectangle 20"/>
          <p:cNvSpPr/>
          <p:nvPr/>
        </p:nvSpPr>
        <p:spPr>
          <a:xfrm>
            <a:off x="457200" y="5349240"/>
            <a:ext cx="11274552" cy="640080"/>
          </a:xfrm>
          <a:prstGeom prst="roundRect">
            <a:avLst>
              <a:gd name="adj" fmla="val 8000"/>
            </a:avLst>
          </a:prstGeom>
          <a:solidFill>
            <a:srgbClr val="17332A"/>
          </a:solidFill>
          <a:ln>
            <a:noFill/>
          </a:ln>
          <a:effectLst/>
        </p:spPr>
        <p:style>
          <a:lnRef idx="1">
            <a:schemeClr val="accent1"/>
          </a:lnRef>
          <a:fillRef idx="3">
            <a:schemeClr val="accent1"/>
          </a:fillRef>
          <a:effectRef idx="2">
            <a:schemeClr val="accent1"/>
          </a:effectRef>
          <a:fontRef idx="minor">
            <a:schemeClr val="lt1"/>
          </a:fontRef>
        </p:style>
        <p:txBody>
          <a:bodyPr rtlCol="0" anchor="ctr" lIns="228600" rIns="228600" tIns="228600" bIns="228600" wrap="square"/>
          <a:lstStyle/>
          <a:p>
            <a:pPr algn="l">
              <a:spcAft>
                <a:spcPts val="400"/>
              </a:spcAft>
            </a:pPr>
            <a:r>
              <a:rPr sz="1350" b="0" i="0">
                <a:solidFill>
                  <a:srgbClr val="FFFFFF"/>
                </a:solidFill>
                <a:latin typeface="Calibri"/>
              </a:rPr>
              <a:t>Choix entre 1 et 2 </a:t>
            </a:r>
            <a:r>
              <a:rPr sz="1350" b="1" i="0">
                <a:solidFill>
                  <a:srgbClr val="FFFFFF"/>
                </a:solidFill>
                <a:latin typeface="Calibri"/>
              </a:rPr>
              <a:t>plus tard</a:t>
            </a:r>
            <a:r>
              <a:rPr sz="1350" b="0" i="0">
                <a:solidFill>
                  <a:srgbClr val="FFFFFF"/>
                </a:solidFill>
                <a:latin typeface="Calibri"/>
              </a:rPr>
              <a:t>, testé par un naturaliste. Le réentraînement par l'ONF après le stage pèse pour 1.</a:t>
            </a:r>
          </a:p>
        </p:txBody>
      </p:sp>
      <p:sp>
        <p:nvSpPr>
          <p:cNvPr id="22" name="TextBox 21"/>
          <p:cNvSpPr txBox="1"/>
          <p:nvPr/>
        </p:nvSpPr>
        <p:spPr>
          <a:xfrm>
            <a:off x="11277295" y="6473952"/>
            <a:ext cx="457200" cy="228600"/>
          </a:xfrm>
          <a:prstGeom prst="rect">
            <a:avLst/>
          </a:prstGeom>
          <a:noFill/>
        </p:spPr>
        <p:txBody>
          <a:bodyPr wrap="square" anchor="t" lIns="0" rIns="0" tIns="0" bIns="0">
            <a:spAutoFit/>
          </a:bodyPr>
          <a:lstStyle/>
          <a:p>
            <a:pPr algn="r">
              <a:spcAft>
                <a:spcPts val="400"/>
              </a:spcAft>
            </a:pPr>
            <a:r>
              <a:rPr sz="1000" b="0" i="0">
                <a:solidFill>
                  <a:srgbClr val="5E6E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46888"/>
            <a:ext cx="8229600" cy="256032"/>
          </a:xfrm>
          <a:prstGeom prst="rect">
            <a:avLst/>
          </a:prstGeom>
          <a:noFill/>
        </p:spPr>
        <p:txBody>
          <a:bodyPr wrap="square" anchor="t" lIns="0" rIns="0" tIns="0" bIns="0">
            <a:spAutoFit/>
          </a:bodyPr>
          <a:lstStyle/>
          <a:p>
            <a:pPr algn="l">
              <a:spcAft>
                <a:spcPts val="400"/>
              </a:spcAft>
            </a:pPr>
            <a:r>
              <a:rPr sz="1100" b="1" i="0">
                <a:solidFill>
                  <a:srgbClr val="9A5A06"/>
                </a:solidFill>
                <a:latin typeface="Calibri"/>
              </a:rPr>
              <a:t>SYNTHÈSE</a:t>
            </a:r>
          </a:p>
        </p:txBody>
      </p:sp>
      <p:sp>
        <p:nvSpPr>
          <p:cNvPr id="3" name="TextBox 2"/>
          <p:cNvSpPr txBox="1"/>
          <p:nvPr/>
        </p:nvSpPr>
        <p:spPr>
          <a:xfrm>
            <a:off x="457200" y="512064"/>
            <a:ext cx="11274552" cy="548640"/>
          </a:xfrm>
          <a:prstGeom prst="rect">
            <a:avLst/>
          </a:prstGeom>
          <a:noFill/>
        </p:spPr>
        <p:txBody>
          <a:bodyPr wrap="square" anchor="t" lIns="0" rIns="0" tIns="0" bIns="0">
            <a:spAutoFit/>
          </a:bodyPr>
          <a:lstStyle/>
          <a:p>
            <a:pPr algn="l">
              <a:spcAft>
                <a:spcPts val="400"/>
              </a:spcAft>
            </a:pPr>
            <a:r>
              <a:rPr sz="2800" b="1" i="0">
                <a:solidFill>
                  <a:srgbClr val="17332A"/>
                </a:solidFill>
                <a:latin typeface="Cambria"/>
              </a:rPr>
              <a:t>Ce que le benchmark va trancher</a:t>
            </a:r>
          </a:p>
        </p:txBody>
      </p:sp>
      <p:sp>
        <p:nvSpPr>
          <p:cNvPr id="4" name="Rounded Rectangle 3"/>
          <p:cNvSpPr/>
          <p:nvPr/>
        </p:nvSpPr>
        <p:spPr>
          <a:xfrm>
            <a:off x="457200" y="1371600"/>
            <a:ext cx="2647188" cy="1188720"/>
          </a:xfrm>
          <a:prstGeom prst="roundRect">
            <a:avLst>
              <a:gd name="adj" fmla="val 8000"/>
            </a:avLst>
          </a:prstGeom>
          <a:solidFill>
            <a:srgbClr val="F4F8F5"/>
          </a:solidFill>
          <a:ln w="12700">
            <a:solidFill>
              <a:srgbClr val="E6EFE8"/>
            </a:solidFill>
          </a:ln>
          <a:effectLst/>
        </p:spPr>
        <p:style>
          <a:lnRef idx="1">
            <a:schemeClr val="accent1"/>
          </a:lnRef>
          <a:fillRef idx="3">
            <a:schemeClr val="accent1"/>
          </a:fillRef>
          <a:effectRef idx="2">
            <a:schemeClr val="accent1"/>
          </a:effectRef>
          <a:fontRef idx="minor">
            <a:schemeClr val="lt1"/>
          </a:fontRef>
        </p:style>
        <p:txBody>
          <a:bodyPr rtlCol="0" anchor="t" lIns="182880" rIns="182880" tIns="182880" bIns="182880" wrap="square"/>
          <a:lstStyle/>
          <a:p>
            <a:pPr algn="l">
              <a:spcAft>
                <a:spcPts val="400"/>
              </a:spcAft>
            </a:pPr>
            <a:r>
              <a:rPr sz="1500" b="1" i="0">
                <a:solidFill>
                  <a:srgbClr val="17332A"/>
                </a:solidFill>
                <a:latin typeface="Calibri"/>
              </a:rPr>
              <a:t>Encodeur</a:t>
            </a:r>
          </a:p>
          <a:p>
            <a:pPr algn="l">
              <a:spcAft>
                <a:spcPts val="400"/>
              </a:spcAft>
            </a:pPr>
            <a:r>
              <a:rPr sz="1200" b="0" i="0">
                <a:solidFill>
                  <a:srgbClr val="5E6E66"/>
                </a:solidFill>
                <a:latin typeface="Calibri"/>
              </a:rPr>
              <a:t>AP, vitesse sur l'i5, licence, prise en main</a:t>
            </a:r>
          </a:p>
        </p:txBody>
      </p:sp>
      <p:sp>
        <p:nvSpPr>
          <p:cNvPr id="5" name="Rounded Rectangle 4"/>
          <p:cNvSpPr/>
          <p:nvPr/>
        </p:nvSpPr>
        <p:spPr>
          <a:xfrm>
            <a:off x="3332988" y="1371600"/>
            <a:ext cx="2647188" cy="1188720"/>
          </a:xfrm>
          <a:prstGeom prst="roundRect">
            <a:avLst>
              <a:gd name="adj" fmla="val 8000"/>
            </a:avLst>
          </a:prstGeom>
          <a:solidFill>
            <a:srgbClr val="F4F8F5"/>
          </a:solidFill>
          <a:ln w="12700">
            <a:solidFill>
              <a:srgbClr val="E6EFE8"/>
            </a:solidFill>
          </a:ln>
          <a:effectLst/>
        </p:spPr>
        <p:style>
          <a:lnRef idx="1">
            <a:schemeClr val="accent1"/>
          </a:lnRef>
          <a:fillRef idx="3">
            <a:schemeClr val="accent1"/>
          </a:fillRef>
          <a:effectRef idx="2">
            <a:schemeClr val="accent1"/>
          </a:effectRef>
          <a:fontRef idx="minor">
            <a:schemeClr val="lt1"/>
          </a:fontRef>
        </p:style>
        <p:txBody>
          <a:bodyPr rtlCol="0" anchor="t" lIns="182880" rIns="182880" tIns="182880" bIns="182880" wrap="square"/>
          <a:lstStyle/>
          <a:p>
            <a:pPr algn="l">
              <a:spcAft>
                <a:spcPts val="400"/>
              </a:spcAft>
            </a:pPr>
            <a:r>
              <a:rPr sz="1500" b="1" i="0">
                <a:solidFill>
                  <a:srgbClr val="17332A"/>
                </a:solidFill>
                <a:latin typeface="Calibri"/>
              </a:rPr>
              <a:t>Tête</a:t>
            </a:r>
          </a:p>
          <a:p>
            <a:pPr algn="l">
              <a:spcAft>
                <a:spcPts val="400"/>
              </a:spcAft>
            </a:pPr>
            <a:r>
              <a:rPr sz="1200" b="0" i="0">
                <a:solidFill>
                  <a:srgbClr val="5E6E66"/>
                </a:solidFill>
                <a:latin typeface="Calibri"/>
              </a:rPr>
              <a:t>prototypes, linear, attentive, cascade</a:t>
            </a:r>
          </a:p>
        </p:txBody>
      </p:sp>
      <p:sp>
        <p:nvSpPr>
          <p:cNvPr id="6" name="Rounded Rectangle 5"/>
          <p:cNvSpPr/>
          <p:nvPr/>
        </p:nvSpPr>
        <p:spPr>
          <a:xfrm>
            <a:off x="6208776" y="1371600"/>
            <a:ext cx="2647188" cy="1188720"/>
          </a:xfrm>
          <a:prstGeom prst="roundRect">
            <a:avLst>
              <a:gd name="adj" fmla="val 8000"/>
            </a:avLst>
          </a:prstGeom>
          <a:solidFill>
            <a:srgbClr val="F4F8F5"/>
          </a:solidFill>
          <a:ln w="12700">
            <a:solidFill>
              <a:srgbClr val="E6EFE8"/>
            </a:solidFill>
          </a:ln>
          <a:effectLst/>
        </p:spPr>
        <p:style>
          <a:lnRef idx="1">
            <a:schemeClr val="accent1"/>
          </a:lnRef>
          <a:fillRef idx="3">
            <a:schemeClr val="accent1"/>
          </a:fillRef>
          <a:effectRef idx="2">
            <a:schemeClr val="accent1"/>
          </a:effectRef>
          <a:fontRef idx="minor">
            <a:schemeClr val="lt1"/>
          </a:fontRef>
        </p:style>
        <p:txBody>
          <a:bodyPr rtlCol="0" anchor="t" lIns="182880" rIns="182880" tIns="182880" bIns="182880" wrap="square"/>
          <a:lstStyle/>
          <a:p>
            <a:pPr algn="l">
              <a:spcAft>
                <a:spcPts val="400"/>
              </a:spcAft>
            </a:pPr>
            <a:r>
              <a:rPr sz="1500" b="1" i="0">
                <a:solidFill>
                  <a:srgbClr val="17332A"/>
                </a:solidFill>
                <a:latin typeface="Calibri"/>
              </a:rPr>
              <a:t>Pooling</a:t>
            </a:r>
          </a:p>
          <a:p>
            <a:pPr algn="l">
              <a:spcAft>
                <a:spcPts val="400"/>
              </a:spcAft>
            </a:pPr>
            <a:r>
              <a:rPr sz="1200" b="0" i="0">
                <a:solidFill>
                  <a:srgbClr val="5E6E66"/>
                </a:solidFill>
                <a:latin typeface="Calibri"/>
              </a:rPr>
              <a:t>moyenne, maximum, mixte</a:t>
            </a:r>
          </a:p>
        </p:txBody>
      </p:sp>
      <p:sp>
        <p:nvSpPr>
          <p:cNvPr id="7" name="Rounded Rectangle 6"/>
          <p:cNvSpPr/>
          <p:nvPr/>
        </p:nvSpPr>
        <p:spPr>
          <a:xfrm>
            <a:off x="9084564" y="1371600"/>
            <a:ext cx="2647188" cy="1188720"/>
          </a:xfrm>
          <a:prstGeom prst="roundRect">
            <a:avLst>
              <a:gd name="adj" fmla="val 8000"/>
            </a:avLst>
          </a:prstGeom>
          <a:solidFill>
            <a:srgbClr val="F4F8F5"/>
          </a:solidFill>
          <a:ln w="12700">
            <a:solidFill>
              <a:srgbClr val="E6EFE8"/>
            </a:solidFill>
          </a:ln>
          <a:effectLst/>
        </p:spPr>
        <p:style>
          <a:lnRef idx="1">
            <a:schemeClr val="accent1"/>
          </a:lnRef>
          <a:fillRef idx="3">
            <a:schemeClr val="accent1"/>
          </a:fillRef>
          <a:effectRef idx="2">
            <a:schemeClr val="accent1"/>
          </a:effectRef>
          <a:fontRef idx="minor">
            <a:schemeClr val="lt1"/>
          </a:fontRef>
        </p:style>
        <p:txBody>
          <a:bodyPr rtlCol="0" anchor="t" lIns="182880" rIns="182880" tIns="182880" bIns="182880" wrap="square"/>
          <a:lstStyle/>
          <a:p>
            <a:pPr algn="l">
              <a:spcAft>
                <a:spcPts val="400"/>
              </a:spcAft>
            </a:pPr>
            <a:r>
              <a:rPr sz="1500" b="1" i="0">
                <a:solidFill>
                  <a:srgbClr val="17332A"/>
                </a:solidFill>
                <a:latin typeface="Calibri"/>
              </a:rPr>
              <a:t>Fenêtre et grille</a:t>
            </a:r>
          </a:p>
          <a:p>
            <a:pPr algn="l">
              <a:spcAft>
                <a:spcPts val="400"/>
              </a:spcAft>
            </a:pPr>
            <a:r>
              <a:rPr sz="1200" b="0" i="0">
                <a:solidFill>
                  <a:srgbClr val="5E6E66"/>
                </a:solidFill>
                <a:latin typeface="Calibri"/>
              </a:rPr>
              <a:t>3 s ou 5 s ; protocoles A, B, C, E</a:t>
            </a:r>
          </a:p>
        </p:txBody>
      </p:sp>
      <p:sp>
        <p:nvSpPr>
          <p:cNvPr id="8" name="Rounded Rectangle 7"/>
          <p:cNvSpPr/>
          <p:nvPr/>
        </p:nvSpPr>
        <p:spPr>
          <a:xfrm>
            <a:off x="457200" y="2788920"/>
            <a:ext cx="2647188" cy="1188720"/>
          </a:xfrm>
          <a:prstGeom prst="roundRect">
            <a:avLst>
              <a:gd name="adj" fmla="val 8000"/>
            </a:avLst>
          </a:prstGeom>
          <a:solidFill>
            <a:srgbClr val="F4F8F5"/>
          </a:solidFill>
          <a:ln w="12700">
            <a:solidFill>
              <a:srgbClr val="E6EFE8"/>
            </a:solidFill>
          </a:ln>
          <a:effectLst/>
        </p:spPr>
        <p:style>
          <a:lnRef idx="1">
            <a:schemeClr val="accent1"/>
          </a:lnRef>
          <a:fillRef idx="3">
            <a:schemeClr val="accent1"/>
          </a:fillRef>
          <a:effectRef idx="2">
            <a:schemeClr val="accent1"/>
          </a:effectRef>
          <a:fontRef idx="minor">
            <a:schemeClr val="lt1"/>
          </a:fontRef>
        </p:style>
        <p:txBody>
          <a:bodyPr rtlCol="0" anchor="t" lIns="182880" rIns="182880" tIns="182880" bIns="182880" wrap="square"/>
          <a:lstStyle/>
          <a:p>
            <a:pPr algn="l">
              <a:spcAft>
                <a:spcPts val="400"/>
              </a:spcAft>
            </a:pPr>
            <a:r>
              <a:rPr sz="1500" b="1" i="0">
                <a:solidFill>
                  <a:srgbClr val="17332A"/>
                </a:solidFill>
                <a:latin typeface="Calibri"/>
              </a:rPr>
              <a:t>Canal stéréo</a:t>
            </a:r>
          </a:p>
          <a:p>
            <a:pPr algn="l">
              <a:spcAft>
                <a:spcPts val="400"/>
              </a:spcAft>
            </a:pPr>
            <a:r>
              <a:rPr sz="1200" b="0" i="0">
                <a:solidFill>
                  <a:srgbClr val="5E6E66"/>
                </a:solidFill>
                <a:latin typeface="Calibri"/>
              </a:rPr>
              <a:t>gain faible, gain fort ou moyenne</a:t>
            </a:r>
          </a:p>
        </p:txBody>
      </p:sp>
      <p:sp>
        <p:nvSpPr>
          <p:cNvPr id="9" name="Rounded Rectangle 8"/>
          <p:cNvSpPr/>
          <p:nvPr/>
        </p:nvSpPr>
        <p:spPr>
          <a:xfrm>
            <a:off x="3332988" y="2788920"/>
            <a:ext cx="2647188" cy="1188720"/>
          </a:xfrm>
          <a:prstGeom prst="roundRect">
            <a:avLst>
              <a:gd name="adj" fmla="val 8000"/>
            </a:avLst>
          </a:prstGeom>
          <a:solidFill>
            <a:srgbClr val="F4F8F5"/>
          </a:solidFill>
          <a:ln w="12700">
            <a:solidFill>
              <a:srgbClr val="E6EFE8"/>
            </a:solidFill>
          </a:ln>
          <a:effectLst/>
        </p:spPr>
        <p:style>
          <a:lnRef idx="1">
            <a:schemeClr val="accent1"/>
          </a:lnRef>
          <a:fillRef idx="3">
            <a:schemeClr val="accent1"/>
          </a:fillRef>
          <a:effectRef idx="2">
            <a:schemeClr val="accent1"/>
          </a:effectRef>
          <a:fontRef idx="minor">
            <a:schemeClr val="lt1"/>
          </a:fontRef>
        </p:style>
        <p:txBody>
          <a:bodyPr rtlCol="0" anchor="t" lIns="182880" rIns="182880" tIns="182880" bIns="182880" wrap="square"/>
          <a:lstStyle/>
          <a:p>
            <a:pPr algn="l">
              <a:spcAft>
                <a:spcPts val="400"/>
              </a:spcAft>
            </a:pPr>
            <a:r>
              <a:rPr sz="1500" b="1" i="0">
                <a:solidFill>
                  <a:srgbClr val="17332A"/>
                </a:solidFill>
                <a:latin typeface="Calibri"/>
              </a:rPr>
              <a:t>Bird-MAE</a:t>
            </a:r>
          </a:p>
          <a:p>
            <a:pPr algn="l">
              <a:spcAft>
                <a:spcPts val="400"/>
              </a:spcAft>
            </a:pPr>
            <a:r>
              <a:rPr sz="1200" b="0" i="0">
                <a:solidFill>
                  <a:srgbClr val="5E6E66"/>
                </a:solidFill>
                <a:latin typeface="Calibri"/>
              </a:rPr>
              <a:t>Base suffit-il, ou faut-il Huge ?</a:t>
            </a:r>
          </a:p>
        </p:txBody>
      </p:sp>
      <p:sp>
        <p:nvSpPr>
          <p:cNvPr id="10" name="Rounded Rectangle 9"/>
          <p:cNvSpPr/>
          <p:nvPr/>
        </p:nvSpPr>
        <p:spPr>
          <a:xfrm>
            <a:off x="6208776" y="2788920"/>
            <a:ext cx="2647188" cy="1188720"/>
          </a:xfrm>
          <a:prstGeom prst="roundRect">
            <a:avLst>
              <a:gd name="adj" fmla="val 8000"/>
            </a:avLst>
          </a:prstGeom>
          <a:solidFill>
            <a:srgbClr val="F4F8F5"/>
          </a:solidFill>
          <a:ln w="12700">
            <a:solidFill>
              <a:srgbClr val="E6EFE8"/>
            </a:solidFill>
          </a:ln>
          <a:effectLst/>
        </p:spPr>
        <p:style>
          <a:lnRef idx="1">
            <a:schemeClr val="accent1"/>
          </a:lnRef>
          <a:fillRef idx="3">
            <a:schemeClr val="accent1"/>
          </a:fillRef>
          <a:effectRef idx="2">
            <a:schemeClr val="accent1"/>
          </a:effectRef>
          <a:fontRef idx="minor">
            <a:schemeClr val="lt1"/>
          </a:fontRef>
        </p:style>
        <p:txBody>
          <a:bodyPr rtlCol="0" anchor="t" lIns="182880" rIns="182880" tIns="182880" bIns="182880" wrap="square"/>
          <a:lstStyle/>
          <a:p>
            <a:pPr algn="l">
              <a:spcAft>
                <a:spcPts val="400"/>
              </a:spcAft>
            </a:pPr>
            <a:r>
              <a:rPr sz="1500" b="1" i="0">
                <a:solidFill>
                  <a:srgbClr val="17332A"/>
                </a:solidFill>
                <a:latin typeface="Calibri"/>
              </a:rPr>
              <a:t>Généralisation</a:t>
            </a:r>
          </a:p>
          <a:p>
            <a:pPr algn="l">
              <a:spcAft>
                <a:spcPts val="400"/>
              </a:spcAft>
            </a:pPr>
            <a:r>
              <a:rPr sz="1200" b="0" i="0">
                <a:solidFill>
                  <a:srgbClr val="5E6E66"/>
                </a:solidFill>
                <a:latin typeface="Calibri"/>
              </a:rPr>
              <a:t>différentiel contre linear probe entre sites</a:t>
            </a:r>
          </a:p>
        </p:txBody>
      </p:sp>
      <p:sp>
        <p:nvSpPr>
          <p:cNvPr id="11" name="Rounded Rectangle 10"/>
          <p:cNvSpPr/>
          <p:nvPr/>
        </p:nvSpPr>
        <p:spPr>
          <a:xfrm>
            <a:off x="9084564" y="2788920"/>
            <a:ext cx="2647188" cy="1188720"/>
          </a:xfrm>
          <a:prstGeom prst="roundRect">
            <a:avLst>
              <a:gd name="adj" fmla="val 8000"/>
            </a:avLst>
          </a:prstGeom>
          <a:solidFill>
            <a:srgbClr val="F4F8F5"/>
          </a:solidFill>
          <a:ln w="12700">
            <a:solidFill>
              <a:srgbClr val="E6EFE8"/>
            </a:solidFill>
          </a:ln>
          <a:effectLst/>
        </p:spPr>
        <p:style>
          <a:lnRef idx="1">
            <a:schemeClr val="accent1"/>
          </a:lnRef>
          <a:fillRef idx="3">
            <a:schemeClr val="accent1"/>
          </a:fillRef>
          <a:effectRef idx="2">
            <a:schemeClr val="accent1"/>
          </a:effectRef>
          <a:fontRef idx="minor">
            <a:schemeClr val="lt1"/>
          </a:fontRef>
        </p:style>
        <p:txBody>
          <a:bodyPr rtlCol="0" anchor="t" lIns="182880" rIns="182880" tIns="182880" bIns="182880" wrap="square"/>
          <a:lstStyle/>
          <a:p>
            <a:pPr algn="l">
              <a:spcAft>
                <a:spcPts val="400"/>
              </a:spcAft>
            </a:pPr>
            <a:r>
              <a:rPr sz="1500" b="1" i="0">
                <a:solidFill>
                  <a:srgbClr val="17332A"/>
                </a:solidFill>
                <a:latin typeface="Calibri"/>
              </a:rPr>
              <a:t>Fusion</a:t>
            </a:r>
          </a:p>
          <a:p>
            <a:pPr algn="l">
              <a:spcAft>
                <a:spcPts val="400"/>
              </a:spcAft>
            </a:pPr>
            <a:r>
              <a:rPr sz="1200" b="0" i="0">
                <a:solidFill>
                  <a:srgbClr val="5E6E66"/>
                </a:solidFill>
                <a:latin typeface="Calibri"/>
              </a:rPr>
              <a:t>pondération, contre fusions simples</a:t>
            </a:r>
          </a:p>
        </p:txBody>
      </p:sp>
      <p:sp>
        <p:nvSpPr>
          <p:cNvPr id="12" name="Rounded Rectangle 11"/>
          <p:cNvSpPr/>
          <p:nvPr/>
        </p:nvSpPr>
        <p:spPr>
          <a:xfrm>
            <a:off x="457200" y="4206240"/>
            <a:ext cx="11274552" cy="1691640"/>
          </a:xfrm>
          <a:prstGeom prst="roundRect">
            <a:avLst>
              <a:gd name="adj" fmla="val 8000"/>
            </a:avLst>
          </a:prstGeom>
          <a:solidFill>
            <a:srgbClr val="17332A"/>
          </a:solidFill>
          <a:ln>
            <a:noFill/>
          </a:ln>
          <a:effectLst/>
        </p:spPr>
        <p:style>
          <a:lnRef idx="1">
            <a:schemeClr val="accent1"/>
          </a:lnRef>
          <a:fillRef idx="3">
            <a:schemeClr val="accent1"/>
          </a:fillRef>
          <a:effectRef idx="2">
            <a:schemeClr val="accent1"/>
          </a:effectRef>
          <a:fontRef idx="minor">
            <a:schemeClr val="lt1"/>
          </a:fontRef>
        </p:style>
        <p:txBody>
          <a:bodyPr rtlCol="0" anchor="t" lIns="320040" rIns="320040" tIns="320040" bIns="320040" wrap="square"/>
          <a:lstStyle/>
          <a:p>
            <a:pPr algn="l">
              <a:spcAft>
                <a:spcPts val="800"/>
              </a:spcAft>
            </a:pPr>
            <a:r>
              <a:rPr sz="1800" b="1" i="0">
                <a:solidFill>
                  <a:srgbClr val="F2A541"/>
                </a:solidFill>
                <a:latin typeface="Calibri"/>
              </a:rPr>
              <a:t>Go / no-go en fin de semaine 3</a:t>
            </a:r>
          </a:p>
          <a:p>
            <a:pPr algn="l">
              <a:spcAft>
                <a:spcPts val="800"/>
              </a:spcAft>
            </a:pPr>
            <a:r>
              <a:rPr sz="1400" b="0" i="0">
                <a:solidFill>
                  <a:srgbClr val="FFFFFF"/>
                </a:solidFill>
                <a:latin typeface="Calibri"/>
              </a:rPr>
              <a:t>Un point de décision fixé à l'avance. </a:t>
            </a:r>
            <a:r>
              <a:rPr sz="1400" b="1" i="0">
                <a:solidFill>
                  <a:srgbClr val="FFFFFF"/>
                </a:solidFill>
                <a:latin typeface="Calibri"/>
              </a:rPr>
              <a:t>Go</a:t>
            </a:r>
            <a:r>
              <a:rPr sz="1400" b="0" i="0">
                <a:solidFill>
                  <a:srgbClr val="FFFFFF"/>
                </a:solidFill>
                <a:latin typeface="Calibri"/>
              </a:rPr>
              <a:t> : la voie encodeur + tête tient, on continue. </a:t>
            </a:r>
            <a:r>
              <a:rPr sz="1400" b="1" i="0">
                <a:solidFill>
                  <a:srgbClr val="FFFFFF"/>
                </a:solidFill>
                <a:latin typeface="Calibri"/>
              </a:rPr>
              <a:t>No-go</a:t>
            </a:r>
            <a:r>
              <a:rPr sz="1400" b="0" i="0">
                <a:solidFill>
                  <a:srgbClr val="FFFFFF"/>
                </a:solidFill>
                <a:latin typeface="Calibri"/>
              </a:rPr>
              <a:t> : on bascule sur le traitement du signal et le template matching.</a:t>
            </a:r>
          </a:p>
          <a:p>
            <a:pPr algn="l">
              <a:spcAft>
                <a:spcPts val="400"/>
              </a:spcAft>
            </a:pPr>
            <a:r>
              <a:rPr sz="1400" b="0" i="1">
                <a:solidFill>
                  <a:srgbClr val="C9DCCF"/>
                </a:solidFill>
                <a:latin typeface="Calibri"/>
              </a:rPr>
              <a:t>Le critère reste à fixer ensemble.</a:t>
            </a:r>
          </a:p>
        </p:txBody>
      </p:sp>
      <p:sp>
        <p:nvSpPr>
          <p:cNvPr id="13" name="TextBox 12"/>
          <p:cNvSpPr txBox="1"/>
          <p:nvPr/>
        </p:nvSpPr>
        <p:spPr>
          <a:xfrm>
            <a:off x="11277295" y="6473952"/>
            <a:ext cx="457200" cy="228600"/>
          </a:xfrm>
          <a:prstGeom prst="rect">
            <a:avLst/>
          </a:prstGeom>
          <a:noFill/>
        </p:spPr>
        <p:txBody>
          <a:bodyPr wrap="square" anchor="t" lIns="0" rIns="0" tIns="0" bIns="0">
            <a:spAutoFit/>
          </a:bodyPr>
          <a:lstStyle/>
          <a:p>
            <a:pPr algn="r">
              <a:spcAft>
                <a:spcPts val="400"/>
              </a:spcAft>
            </a:pPr>
            <a:r>
              <a:rPr sz="1000" b="0" i="0">
                <a:solidFill>
                  <a:srgbClr val="5E6E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46888"/>
            <a:ext cx="8229600" cy="256032"/>
          </a:xfrm>
          <a:prstGeom prst="rect">
            <a:avLst/>
          </a:prstGeom>
          <a:noFill/>
        </p:spPr>
        <p:txBody>
          <a:bodyPr wrap="square" anchor="t" lIns="0" rIns="0" tIns="0" bIns="0">
            <a:spAutoFit/>
          </a:bodyPr>
          <a:lstStyle/>
          <a:p>
            <a:pPr algn="l">
              <a:spcAft>
                <a:spcPts val="400"/>
              </a:spcAft>
            </a:pPr>
            <a:r>
              <a:rPr sz="1100" b="1" i="0">
                <a:solidFill>
                  <a:srgbClr val="9A5A06"/>
                </a:solidFill>
                <a:latin typeface="Calibri"/>
              </a:rPr>
              <a:t>À DISCUTER</a:t>
            </a:r>
          </a:p>
        </p:txBody>
      </p:sp>
      <p:sp>
        <p:nvSpPr>
          <p:cNvPr id="3" name="TextBox 2"/>
          <p:cNvSpPr txBox="1"/>
          <p:nvPr/>
        </p:nvSpPr>
        <p:spPr>
          <a:xfrm>
            <a:off x="457200" y="512064"/>
            <a:ext cx="11274552" cy="548640"/>
          </a:xfrm>
          <a:prstGeom prst="rect">
            <a:avLst/>
          </a:prstGeom>
          <a:noFill/>
        </p:spPr>
        <p:txBody>
          <a:bodyPr wrap="square" anchor="t" lIns="0" rIns="0" tIns="0" bIns="0">
            <a:spAutoFit/>
          </a:bodyPr>
          <a:lstStyle/>
          <a:p>
            <a:pPr algn="l">
              <a:spcAft>
                <a:spcPts val="400"/>
              </a:spcAft>
            </a:pPr>
            <a:r>
              <a:rPr sz="2800" b="1" i="0">
                <a:solidFill>
                  <a:srgbClr val="17332A"/>
                </a:solidFill>
                <a:latin typeface="Cambria"/>
              </a:rPr>
              <a:t>Questions pour aujourd'hui</a:t>
            </a:r>
          </a:p>
        </p:txBody>
      </p:sp>
      <p:sp>
        <p:nvSpPr>
          <p:cNvPr id="4" name="Oval 3"/>
          <p:cNvSpPr/>
          <p:nvPr/>
        </p:nvSpPr>
        <p:spPr>
          <a:xfrm>
            <a:off x="457200" y="1371600"/>
            <a:ext cx="566928" cy="566928"/>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17332A"/>
                </a:solidFill>
                <a:latin typeface="Calibri"/>
              </a:rPr>
              <a:t>1</a:t>
            </a:r>
          </a:p>
        </p:txBody>
      </p:sp>
      <p:sp>
        <p:nvSpPr>
          <p:cNvPr id="5" name="TextBox 4"/>
          <p:cNvSpPr txBox="1"/>
          <p:nvPr/>
        </p:nvSpPr>
        <p:spPr>
          <a:xfrm>
            <a:off x="1234440" y="1152144"/>
            <a:ext cx="4754880" cy="1005840"/>
          </a:xfrm>
          <a:prstGeom prst="rect">
            <a:avLst/>
          </a:prstGeom>
          <a:noFill/>
        </p:spPr>
        <p:txBody>
          <a:bodyPr wrap="square" anchor="ctr" lIns="0" rIns="0" tIns="0" bIns="0">
            <a:spAutoFit/>
          </a:bodyPr>
          <a:lstStyle/>
          <a:p>
            <a:pPr algn="l">
              <a:spcAft>
                <a:spcPts val="400"/>
              </a:spcAft>
            </a:pPr>
            <a:r>
              <a:rPr sz="1550" b="0" i="0">
                <a:solidFill>
                  <a:srgbClr val="1C2B24"/>
                </a:solidFill>
                <a:latin typeface="Calibri"/>
              </a:rPr>
              <a:t>Blancinet est-il bien le modèle de Biophonia ? Et celui de l'étude de 2025 ?</a:t>
            </a:r>
          </a:p>
        </p:txBody>
      </p:sp>
      <p:sp>
        <p:nvSpPr>
          <p:cNvPr id="6" name="Oval 5"/>
          <p:cNvSpPr/>
          <p:nvPr/>
        </p:nvSpPr>
        <p:spPr>
          <a:xfrm>
            <a:off x="6172200" y="1371600"/>
            <a:ext cx="566928" cy="566928"/>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17332A"/>
                </a:solidFill>
                <a:latin typeface="Calibri"/>
              </a:rPr>
              <a:t>2</a:t>
            </a:r>
          </a:p>
        </p:txBody>
      </p:sp>
      <p:sp>
        <p:nvSpPr>
          <p:cNvPr id="7" name="TextBox 6"/>
          <p:cNvSpPr txBox="1"/>
          <p:nvPr/>
        </p:nvSpPr>
        <p:spPr>
          <a:xfrm>
            <a:off x="6949440" y="1152144"/>
            <a:ext cx="4754880" cy="1005840"/>
          </a:xfrm>
          <a:prstGeom prst="rect">
            <a:avLst/>
          </a:prstGeom>
          <a:noFill/>
        </p:spPr>
        <p:txBody>
          <a:bodyPr wrap="square" anchor="ctr" lIns="0" rIns="0" tIns="0" bIns="0">
            <a:spAutoFit/>
          </a:bodyPr>
          <a:lstStyle/>
          <a:p>
            <a:pPr algn="l">
              <a:spcAft>
                <a:spcPts val="400"/>
              </a:spcAft>
            </a:pPr>
            <a:r>
              <a:rPr sz="1550" b="0" i="0">
                <a:solidFill>
                  <a:srgbClr val="1C2B24"/>
                </a:solidFill>
                <a:latin typeface="Calibri"/>
              </a:rPr>
              <a:t>Peut-on récupérer des annotations et des sorties de détecteur sur 2023 ?</a:t>
            </a:r>
          </a:p>
        </p:txBody>
      </p:sp>
      <p:sp>
        <p:nvSpPr>
          <p:cNvPr id="8" name="Oval 7"/>
          <p:cNvSpPr/>
          <p:nvPr/>
        </p:nvSpPr>
        <p:spPr>
          <a:xfrm>
            <a:off x="457200" y="2560320"/>
            <a:ext cx="566928" cy="566928"/>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17332A"/>
                </a:solidFill>
                <a:latin typeface="Calibri"/>
              </a:rPr>
              <a:t>3</a:t>
            </a:r>
          </a:p>
        </p:txBody>
      </p:sp>
      <p:sp>
        <p:nvSpPr>
          <p:cNvPr id="9" name="TextBox 8"/>
          <p:cNvSpPr txBox="1"/>
          <p:nvPr/>
        </p:nvSpPr>
        <p:spPr>
          <a:xfrm>
            <a:off x="1234440" y="2340863"/>
            <a:ext cx="4754880" cy="1005840"/>
          </a:xfrm>
          <a:prstGeom prst="rect">
            <a:avLst/>
          </a:prstGeom>
          <a:noFill/>
        </p:spPr>
        <p:txBody>
          <a:bodyPr wrap="square" anchor="ctr" lIns="0" rIns="0" tIns="0" bIns="0">
            <a:spAutoFit/>
          </a:bodyPr>
          <a:lstStyle/>
          <a:p>
            <a:pPr algn="l">
              <a:spcAft>
                <a:spcPts val="400"/>
              </a:spcAft>
            </a:pPr>
            <a:r>
              <a:rPr sz="1550" b="0" i="0">
                <a:solidFill>
                  <a:srgbClr val="1C2B24"/>
                </a:solidFill>
                <a:latin typeface="Calibri"/>
              </a:rPr>
              <a:t>Canal stéréo : gain faible, gain fort, ou la moyenne des deux ?</a:t>
            </a:r>
          </a:p>
        </p:txBody>
      </p:sp>
      <p:sp>
        <p:nvSpPr>
          <p:cNvPr id="10" name="Oval 9"/>
          <p:cNvSpPr/>
          <p:nvPr/>
        </p:nvSpPr>
        <p:spPr>
          <a:xfrm>
            <a:off x="6172200" y="2560320"/>
            <a:ext cx="566928" cy="566928"/>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17332A"/>
                </a:solidFill>
                <a:latin typeface="Calibri"/>
              </a:rPr>
              <a:t>4</a:t>
            </a:r>
          </a:p>
        </p:txBody>
      </p:sp>
      <p:sp>
        <p:nvSpPr>
          <p:cNvPr id="11" name="TextBox 10"/>
          <p:cNvSpPr txBox="1"/>
          <p:nvPr/>
        </p:nvSpPr>
        <p:spPr>
          <a:xfrm>
            <a:off x="6949440" y="2340863"/>
            <a:ext cx="4754880" cy="1005840"/>
          </a:xfrm>
          <a:prstGeom prst="rect">
            <a:avLst/>
          </a:prstGeom>
          <a:noFill/>
        </p:spPr>
        <p:txBody>
          <a:bodyPr wrap="square" anchor="ctr" lIns="0" rIns="0" tIns="0" bIns="0">
            <a:spAutoFit/>
          </a:bodyPr>
          <a:lstStyle/>
          <a:p>
            <a:pPr algn="l">
              <a:spcAft>
                <a:spcPts val="400"/>
              </a:spcAft>
            </a:pPr>
            <a:r>
              <a:rPr sz="1550" b="0" i="1">
                <a:solidFill>
                  <a:srgbClr val="1C2B24"/>
                </a:solidFill>
                <a:latin typeface="Calibri"/>
              </a:rPr>
              <a:t>A. blanci</a:t>
            </a:r>
            <a:r>
              <a:rPr sz="1550" b="0" i="0">
                <a:solidFill>
                  <a:srgbClr val="1C2B24"/>
                </a:solidFill>
                <a:latin typeface="Calibri"/>
              </a:rPr>
              <a:t> chante-t-elle parfois de façon ponctuelle ? Solo et chœur se distinguent-ils à l'oreille ?</a:t>
            </a:r>
          </a:p>
        </p:txBody>
      </p:sp>
      <p:sp>
        <p:nvSpPr>
          <p:cNvPr id="12" name="Oval 11"/>
          <p:cNvSpPr/>
          <p:nvPr/>
        </p:nvSpPr>
        <p:spPr>
          <a:xfrm>
            <a:off x="457200" y="3749039"/>
            <a:ext cx="566928" cy="566928"/>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17332A"/>
                </a:solidFill>
                <a:latin typeface="Calibri"/>
              </a:rPr>
              <a:t>5</a:t>
            </a:r>
          </a:p>
        </p:txBody>
      </p:sp>
      <p:sp>
        <p:nvSpPr>
          <p:cNvPr id="13" name="TextBox 12"/>
          <p:cNvSpPr txBox="1"/>
          <p:nvPr/>
        </p:nvSpPr>
        <p:spPr>
          <a:xfrm>
            <a:off x="1234440" y="3529583"/>
            <a:ext cx="4754880" cy="1005840"/>
          </a:xfrm>
          <a:prstGeom prst="rect">
            <a:avLst/>
          </a:prstGeom>
          <a:noFill/>
        </p:spPr>
        <p:txBody>
          <a:bodyPr wrap="square" anchor="ctr" lIns="0" rIns="0" tIns="0" bIns="0">
            <a:spAutoFit/>
          </a:bodyPr>
          <a:lstStyle/>
          <a:p>
            <a:pPr algn="l">
              <a:spcAft>
                <a:spcPts val="400"/>
              </a:spcAft>
            </a:pPr>
            <a:r>
              <a:rPr sz="1550" b="0" i="0">
                <a:solidFill>
                  <a:srgbClr val="1C2B24"/>
                </a:solidFill>
                <a:latin typeface="Calibri"/>
              </a:rPr>
              <a:t>Qui tranche les licences à l'ONF, et avant quelle date ?</a:t>
            </a:r>
          </a:p>
        </p:txBody>
      </p:sp>
      <p:sp>
        <p:nvSpPr>
          <p:cNvPr id="14" name="Oval 13"/>
          <p:cNvSpPr/>
          <p:nvPr/>
        </p:nvSpPr>
        <p:spPr>
          <a:xfrm>
            <a:off x="6172200" y="3749039"/>
            <a:ext cx="566928" cy="566928"/>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17332A"/>
                </a:solidFill>
                <a:latin typeface="Calibri"/>
              </a:rPr>
              <a:t>6</a:t>
            </a:r>
          </a:p>
        </p:txBody>
      </p:sp>
      <p:sp>
        <p:nvSpPr>
          <p:cNvPr id="15" name="TextBox 14"/>
          <p:cNvSpPr txBox="1"/>
          <p:nvPr/>
        </p:nvSpPr>
        <p:spPr>
          <a:xfrm>
            <a:off x="6949440" y="3529583"/>
            <a:ext cx="4754880" cy="1005840"/>
          </a:xfrm>
          <a:prstGeom prst="rect">
            <a:avLst/>
          </a:prstGeom>
          <a:noFill/>
        </p:spPr>
        <p:txBody>
          <a:bodyPr wrap="square" anchor="ctr" lIns="0" rIns="0" tIns="0" bIns="0">
            <a:spAutoFit/>
          </a:bodyPr>
          <a:lstStyle/>
          <a:p>
            <a:pPr algn="l">
              <a:spcAft>
                <a:spcPts val="400"/>
              </a:spcAft>
            </a:pPr>
            <a:r>
              <a:rPr sz="1550" b="0" i="0">
                <a:solidFill>
                  <a:srgbClr val="1C2B24"/>
                </a:solidFill>
                <a:latin typeface="Calibri"/>
              </a:rPr>
              <a:t>Quelles espèces AnuraSet retenir pour le pré-benchmark ?</a:t>
            </a:r>
          </a:p>
        </p:txBody>
      </p:sp>
      <p:sp>
        <p:nvSpPr>
          <p:cNvPr id="16" name="Oval 15"/>
          <p:cNvSpPr/>
          <p:nvPr/>
        </p:nvSpPr>
        <p:spPr>
          <a:xfrm>
            <a:off x="457200" y="4937760"/>
            <a:ext cx="566928" cy="566928"/>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wrap="square"/>
          <a:lstStyle/>
          <a:p>
            <a:pPr algn="ctr">
              <a:spcAft>
                <a:spcPts val="400"/>
              </a:spcAft>
            </a:pPr>
            <a:r>
              <a:rPr sz="1700" b="1" i="0">
                <a:solidFill>
                  <a:srgbClr val="17332A"/>
                </a:solidFill>
                <a:latin typeface="Calibri"/>
              </a:rPr>
              <a:t>7</a:t>
            </a:r>
          </a:p>
        </p:txBody>
      </p:sp>
      <p:sp>
        <p:nvSpPr>
          <p:cNvPr id="17" name="TextBox 16"/>
          <p:cNvSpPr txBox="1"/>
          <p:nvPr/>
        </p:nvSpPr>
        <p:spPr>
          <a:xfrm>
            <a:off x="1234440" y="4718304"/>
            <a:ext cx="4754880" cy="1005840"/>
          </a:xfrm>
          <a:prstGeom prst="rect">
            <a:avLst/>
          </a:prstGeom>
          <a:noFill/>
        </p:spPr>
        <p:txBody>
          <a:bodyPr wrap="square" anchor="ctr" lIns="0" rIns="0" tIns="0" bIns="0">
            <a:spAutoFit/>
          </a:bodyPr>
          <a:lstStyle/>
          <a:p>
            <a:pPr algn="l">
              <a:spcAft>
                <a:spcPts val="400"/>
              </a:spcAft>
            </a:pPr>
            <a:r>
              <a:rPr sz="1550" b="0" i="0">
                <a:solidFill>
                  <a:srgbClr val="1C2B24"/>
                </a:solidFill>
                <a:latin typeface="Calibri"/>
              </a:rPr>
              <a:t>Quel critère pour le go/no-go ?</a:t>
            </a:r>
          </a:p>
        </p:txBody>
      </p:sp>
      <p:sp>
        <p:nvSpPr>
          <p:cNvPr id="18" name="TextBox 17"/>
          <p:cNvSpPr txBox="1"/>
          <p:nvPr/>
        </p:nvSpPr>
        <p:spPr>
          <a:xfrm>
            <a:off x="11277295" y="6473952"/>
            <a:ext cx="457200" cy="228600"/>
          </a:xfrm>
          <a:prstGeom prst="rect">
            <a:avLst/>
          </a:prstGeom>
          <a:noFill/>
        </p:spPr>
        <p:txBody>
          <a:bodyPr wrap="square" anchor="t" lIns="0" rIns="0" tIns="0" bIns="0">
            <a:spAutoFit/>
          </a:bodyPr>
          <a:lstStyle/>
          <a:p>
            <a:pPr algn="r">
              <a:spcAft>
                <a:spcPts val="400"/>
              </a:spcAft>
            </a:pPr>
            <a:r>
              <a:rPr sz="1000" b="0" i="0">
                <a:solidFill>
                  <a:srgbClr val="5E6E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17332A"/>
        </a:solidFill>
        <a:effectLst/>
      </p:bgPr>
    </p:bg>
    <p:spTree>
      <p:nvGrpSpPr>
        <p:cNvPr id="1" name=""/>
        <p:cNvGrpSpPr/>
        <p:nvPr/>
      </p:nvGrpSpPr>
      <p:grpSpPr/>
      <p:sp>
        <p:nvSpPr>
          <p:cNvPr id="2" name="TextBox 1"/>
          <p:cNvSpPr txBox="1"/>
          <p:nvPr/>
        </p:nvSpPr>
        <p:spPr>
          <a:xfrm>
            <a:off x="457200" y="320040"/>
            <a:ext cx="10972800" cy="640080"/>
          </a:xfrm>
          <a:prstGeom prst="rect">
            <a:avLst/>
          </a:prstGeom>
          <a:noFill/>
        </p:spPr>
        <p:txBody>
          <a:bodyPr wrap="square" anchor="t" lIns="0" rIns="0" tIns="0" bIns="0">
            <a:spAutoFit/>
          </a:bodyPr>
          <a:lstStyle/>
          <a:p>
            <a:pPr algn="l">
              <a:spcAft>
                <a:spcPts val="400"/>
              </a:spcAft>
            </a:pPr>
            <a:r>
              <a:rPr sz="3200" b="1" i="0">
                <a:solidFill>
                  <a:srgbClr val="FFFFFF"/>
                </a:solidFill>
                <a:latin typeface="Cambria"/>
              </a:rPr>
              <a:t>Mes prochaines étapes</a:t>
            </a:r>
          </a:p>
        </p:txBody>
      </p:sp>
      <p:cxnSp>
        <p:nvCxnSpPr>
          <p:cNvPr id="3" name="Connector 2"/>
          <p:cNvCxnSpPr/>
          <p:nvPr/>
        </p:nvCxnSpPr>
        <p:spPr>
          <a:xfrm>
            <a:off x="457200" y="1572768"/>
            <a:ext cx="11274552" cy="0"/>
          </a:xfrm>
          <a:prstGeom prst="line">
            <a:avLst/>
          </a:prstGeom>
          <a:ln w="25400">
            <a:solidFill>
              <a:srgbClr val="2F6B4F"/>
            </a:solidFill>
            <a:tailEnd type="triangle" w="med" len="med"/>
          </a:ln>
        </p:spPr>
        <p:style>
          <a:lnRef idx="2">
            <a:schemeClr val="accent1"/>
          </a:lnRef>
          <a:fillRef idx="0">
            <a:schemeClr val="accent1"/>
          </a:fillRef>
          <a:effectRef idx="1">
            <a:schemeClr val="accent1"/>
          </a:effectRef>
          <a:fontRef idx="minor">
            <a:schemeClr val="tx1"/>
          </a:fontRef>
        </p:style>
      </p:cxnSp>
      <p:sp>
        <p:nvSpPr>
          <p:cNvPr id="4" name="Oval 3"/>
          <p:cNvSpPr/>
          <p:nvPr/>
        </p:nvSpPr>
        <p:spPr>
          <a:xfrm>
            <a:off x="457200" y="1417320"/>
            <a:ext cx="310896" cy="310896"/>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a:lstStyle/>
          <a:p>
            <a:pPr algn="ctr"/>
          </a:p>
        </p:txBody>
      </p:sp>
      <p:sp>
        <p:nvSpPr>
          <p:cNvPr id="5" name="TextBox 4"/>
          <p:cNvSpPr txBox="1"/>
          <p:nvPr/>
        </p:nvSpPr>
        <p:spPr>
          <a:xfrm>
            <a:off x="457200" y="1920240"/>
            <a:ext cx="3544824" cy="411480"/>
          </a:xfrm>
          <a:prstGeom prst="rect">
            <a:avLst/>
          </a:prstGeom>
          <a:noFill/>
        </p:spPr>
        <p:txBody>
          <a:bodyPr wrap="square" anchor="t" lIns="0" rIns="0" tIns="0" bIns="0">
            <a:spAutoFit/>
          </a:bodyPr>
          <a:lstStyle/>
          <a:p>
            <a:pPr algn="l">
              <a:spcAft>
                <a:spcPts val="400"/>
              </a:spcAft>
            </a:pPr>
            <a:r>
              <a:rPr sz="2000" b="1" i="0">
                <a:solidFill>
                  <a:srgbClr val="F2A541"/>
                </a:solidFill>
                <a:latin typeface="Cambria"/>
              </a:rPr>
              <a:t>Maintenant</a:t>
            </a:r>
          </a:p>
        </p:txBody>
      </p:sp>
      <p:sp>
        <p:nvSpPr>
          <p:cNvPr id="6" name="TextBox 5"/>
          <p:cNvSpPr txBox="1"/>
          <p:nvPr/>
        </p:nvSpPr>
        <p:spPr>
          <a:xfrm>
            <a:off x="457200" y="2359152"/>
            <a:ext cx="3544824" cy="320040"/>
          </a:xfrm>
          <a:prstGeom prst="rect">
            <a:avLst/>
          </a:prstGeom>
          <a:noFill/>
        </p:spPr>
        <p:txBody>
          <a:bodyPr wrap="square" anchor="t" lIns="0" rIns="0" tIns="0" bIns="0">
            <a:spAutoFit/>
          </a:bodyPr>
          <a:lstStyle/>
          <a:p>
            <a:pPr algn="l">
              <a:spcAft>
                <a:spcPts val="400"/>
              </a:spcAft>
            </a:pPr>
            <a:r>
              <a:rPr sz="1300" b="0" i="0">
                <a:solidFill>
                  <a:srgbClr val="C9DCCF"/>
                </a:solidFill>
                <a:latin typeface="Calibri"/>
              </a:rPr>
              <a:t>semaines 2–3</a:t>
            </a:r>
          </a:p>
        </p:txBody>
      </p:sp>
      <p:sp>
        <p:nvSpPr>
          <p:cNvPr id="7" name="Rounded Rectangle 6"/>
          <p:cNvSpPr/>
          <p:nvPr/>
        </p:nvSpPr>
        <p:spPr>
          <a:xfrm>
            <a:off x="457200" y="2834640"/>
            <a:ext cx="3544824" cy="3246120"/>
          </a:xfrm>
          <a:prstGeom prst="roundRect">
            <a:avLst>
              <a:gd name="adj" fmla="val 8000"/>
            </a:avLst>
          </a:prstGeom>
          <a:solidFill>
            <a:srgbClr val="2F6B4F"/>
          </a:solidFill>
          <a:ln>
            <a:noFill/>
          </a:ln>
          <a:effectLst/>
        </p:spPr>
        <p:style>
          <a:lnRef idx="1">
            <a:schemeClr val="accent1"/>
          </a:lnRef>
          <a:fillRef idx="3">
            <a:schemeClr val="accent1"/>
          </a:fillRef>
          <a:effectRef idx="2">
            <a:schemeClr val="accent1"/>
          </a:effectRef>
          <a:fontRef idx="minor">
            <a:schemeClr val="lt1"/>
          </a:fontRef>
        </p:style>
        <p:txBody>
          <a:bodyPr rtlCol="0" anchor="t" lIns="274320" rIns="274320" tIns="274320" bIns="274320" wrap="square"/>
          <a:lstStyle/>
          <a:p>
            <a:pPr algn="l" marL="164592" indent="-164592">
              <a:spcAft>
                <a:spcPts val="1000"/>
              </a:spcAft>
              <a:buClr>
                <a:srgbClr val="F2A541"/>
              </a:buClr>
              <a:buFont typeface="Arial"/>
              <a:buChar char="•"/>
            </a:pPr>
            <a:r>
              <a:rPr sz="1500" b="0" i="0">
                <a:solidFill>
                  <a:srgbClr val="FFFFFF"/>
                </a:solidFill>
                <a:latin typeface="Calibri"/>
              </a:rPr>
              <a:t>M'approprier chaque module et le retester</a:t>
            </a:r>
          </a:p>
          <a:p>
            <a:pPr algn="l" marL="164592" indent="-164592">
              <a:spcAft>
                <a:spcPts val="1000"/>
              </a:spcAft>
              <a:buClr>
                <a:srgbClr val="F2A541"/>
              </a:buClr>
              <a:buFont typeface="Arial"/>
              <a:buChar char="•"/>
            </a:pPr>
            <a:r>
              <a:rPr sz="1500" b="0" i="0">
                <a:solidFill>
                  <a:srgbClr val="FFFFFF"/>
                </a:solidFill>
                <a:latin typeface="Calibri"/>
              </a:rPr>
              <a:t>Terminer l'inventaire de la phénologie 2023-2024</a:t>
            </a:r>
          </a:p>
          <a:p>
            <a:pPr algn="l" marL="164592" indent="-164592">
              <a:spcAft>
                <a:spcPts val="1000"/>
              </a:spcAft>
              <a:buClr>
                <a:srgbClr val="F2A541"/>
              </a:buClr>
              <a:buFont typeface="Arial"/>
              <a:buChar char="•"/>
            </a:pPr>
            <a:r>
              <a:rPr sz="1500" b="0" i="0">
                <a:solidFill>
                  <a:srgbClr val="FFFFFF"/>
                </a:solidFill>
                <a:latin typeface="Calibri"/>
              </a:rPr>
              <a:t>Premiers encodages : sous-ensemble ONF et AnuraSet</a:t>
            </a:r>
          </a:p>
          <a:p>
            <a:pPr algn="l" marL="164592" indent="-164592">
              <a:spcAft>
                <a:spcPts val="1000"/>
              </a:spcAft>
              <a:buClr>
                <a:srgbClr val="F2A541"/>
              </a:buClr>
              <a:buFont typeface="Arial"/>
              <a:buChar char="•"/>
            </a:pPr>
            <a:r>
              <a:rPr sz="1500" b="0" i="0">
                <a:solidFill>
                  <a:srgbClr val="FFFFFF"/>
                </a:solidFill>
                <a:latin typeface="Calibri"/>
              </a:rPr>
              <a:t>Produire le tableau de benchmark</a:t>
            </a:r>
          </a:p>
        </p:txBody>
      </p:sp>
      <p:sp>
        <p:nvSpPr>
          <p:cNvPr id="8" name="Oval 7"/>
          <p:cNvSpPr/>
          <p:nvPr/>
        </p:nvSpPr>
        <p:spPr>
          <a:xfrm>
            <a:off x="4322064" y="1417320"/>
            <a:ext cx="310896" cy="310896"/>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a:lstStyle/>
          <a:p>
            <a:pPr algn="ctr"/>
          </a:p>
        </p:txBody>
      </p:sp>
      <p:sp>
        <p:nvSpPr>
          <p:cNvPr id="9" name="TextBox 8"/>
          <p:cNvSpPr txBox="1"/>
          <p:nvPr/>
        </p:nvSpPr>
        <p:spPr>
          <a:xfrm>
            <a:off x="4322064" y="1920240"/>
            <a:ext cx="3544824" cy="411480"/>
          </a:xfrm>
          <a:prstGeom prst="rect">
            <a:avLst/>
          </a:prstGeom>
          <a:noFill/>
        </p:spPr>
        <p:txBody>
          <a:bodyPr wrap="square" anchor="t" lIns="0" rIns="0" tIns="0" bIns="0">
            <a:spAutoFit/>
          </a:bodyPr>
          <a:lstStyle/>
          <a:p>
            <a:pPr algn="l">
              <a:spcAft>
                <a:spcPts val="400"/>
              </a:spcAft>
            </a:pPr>
            <a:r>
              <a:rPr sz="2000" b="1" i="0">
                <a:solidFill>
                  <a:srgbClr val="F2A541"/>
                </a:solidFill>
                <a:latin typeface="Cambria"/>
              </a:rPr>
              <a:t>Ensuite</a:t>
            </a:r>
          </a:p>
        </p:txBody>
      </p:sp>
      <p:sp>
        <p:nvSpPr>
          <p:cNvPr id="10" name="TextBox 9"/>
          <p:cNvSpPr txBox="1"/>
          <p:nvPr/>
        </p:nvSpPr>
        <p:spPr>
          <a:xfrm>
            <a:off x="4322064" y="2359152"/>
            <a:ext cx="3544824" cy="320040"/>
          </a:xfrm>
          <a:prstGeom prst="rect">
            <a:avLst/>
          </a:prstGeom>
          <a:noFill/>
        </p:spPr>
        <p:txBody>
          <a:bodyPr wrap="square" anchor="t" lIns="0" rIns="0" tIns="0" bIns="0">
            <a:spAutoFit/>
          </a:bodyPr>
          <a:lstStyle/>
          <a:p>
            <a:pPr algn="l">
              <a:spcAft>
                <a:spcPts val="400"/>
              </a:spcAft>
            </a:pPr>
            <a:r>
              <a:rPr sz="1300" b="0" i="0">
                <a:solidFill>
                  <a:srgbClr val="C9DCCF"/>
                </a:solidFill>
                <a:latin typeface="Calibri"/>
              </a:rPr>
              <a:t>octobre</a:t>
            </a:r>
          </a:p>
        </p:txBody>
      </p:sp>
      <p:sp>
        <p:nvSpPr>
          <p:cNvPr id="11" name="Rounded Rectangle 10"/>
          <p:cNvSpPr/>
          <p:nvPr/>
        </p:nvSpPr>
        <p:spPr>
          <a:xfrm>
            <a:off x="4322064" y="2834640"/>
            <a:ext cx="3544824" cy="3246120"/>
          </a:xfrm>
          <a:prstGeom prst="roundRect">
            <a:avLst>
              <a:gd name="adj" fmla="val 8000"/>
            </a:avLst>
          </a:prstGeom>
          <a:solidFill>
            <a:srgbClr val="2F6B4F"/>
          </a:solidFill>
          <a:ln>
            <a:noFill/>
          </a:ln>
          <a:effectLst/>
        </p:spPr>
        <p:style>
          <a:lnRef idx="1">
            <a:schemeClr val="accent1"/>
          </a:lnRef>
          <a:fillRef idx="3">
            <a:schemeClr val="accent1"/>
          </a:fillRef>
          <a:effectRef idx="2">
            <a:schemeClr val="accent1"/>
          </a:effectRef>
          <a:fontRef idx="minor">
            <a:schemeClr val="lt1"/>
          </a:fontRef>
        </p:style>
        <p:txBody>
          <a:bodyPr rtlCol="0" anchor="t" lIns="274320" rIns="274320" tIns="274320" bIns="274320" wrap="square"/>
          <a:lstStyle/>
          <a:p>
            <a:pPr algn="l" marL="164592" indent="-164592">
              <a:spcAft>
                <a:spcPts val="1000"/>
              </a:spcAft>
              <a:buClr>
                <a:srgbClr val="F2A541"/>
              </a:buClr>
              <a:buFont typeface="Arial"/>
              <a:buChar char="•"/>
            </a:pPr>
            <a:r>
              <a:rPr sz="1500" b="0" i="0">
                <a:solidFill>
                  <a:srgbClr val="FFFFFF"/>
                </a:solidFill>
                <a:latin typeface="Calibri"/>
              </a:rPr>
              <a:t>Audit aléatoire d'enregistrements entiers</a:t>
            </a:r>
          </a:p>
          <a:p>
            <a:pPr algn="l" marL="164592" indent="-164592">
              <a:spcAft>
                <a:spcPts val="1000"/>
              </a:spcAft>
              <a:buClr>
                <a:srgbClr val="F2A541"/>
              </a:buClr>
              <a:buFont typeface="Arial"/>
              <a:buChar char="•"/>
            </a:pPr>
            <a:r>
              <a:rPr sz="1500" b="0" i="0">
                <a:solidFill>
                  <a:srgbClr val="FFFFFF"/>
                </a:solidFill>
                <a:latin typeface="Calibri"/>
              </a:rPr>
              <a:t>Récolter des positifs à Trésor et Kaw</a:t>
            </a:r>
          </a:p>
          <a:p>
            <a:pPr algn="l" marL="164592" indent="-164592">
              <a:spcAft>
                <a:spcPts val="1000"/>
              </a:spcAft>
              <a:buClr>
                <a:srgbClr val="F2A541"/>
              </a:buClr>
              <a:buFont typeface="Arial"/>
              <a:buChar char="•"/>
            </a:pPr>
            <a:r>
              <a:rPr sz="1500" b="0" i="0">
                <a:solidFill>
                  <a:srgbClr val="FFFFFF"/>
                </a:solidFill>
                <a:latin typeface="Calibri"/>
              </a:rPr>
              <a:t>Premiers tours d'annotation</a:t>
            </a:r>
          </a:p>
        </p:txBody>
      </p:sp>
      <p:sp>
        <p:nvSpPr>
          <p:cNvPr id="12" name="Oval 11"/>
          <p:cNvSpPr/>
          <p:nvPr/>
        </p:nvSpPr>
        <p:spPr>
          <a:xfrm>
            <a:off x="8186928" y="1417320"/>
            <a:ext cx="310896" cy="310896"/>
          </a:xfrm>
          <a:prstGeom prst="ellipse">
            <a:avLst/>
          </a:prstGeom>
          <a:solidFill>
            <a:srgbClr val="F2A541"/>
          </a:solidFill>
          <a:ln>
            <a:noFill/>
          </a:ln>
          <a:effectLst/>
        </p:spPr>
        <p:style>
          <a:lnRef idx="1">
            <a:schemeClr val="accent1"/>
          </a:lnRef>
          <a:fillRef idx="3">
            <a:schemeClr val="accent1"/>
          </a:fillRef>
          <a:effectRef idx="2">
            <a:schemeClr val="accent1"/>
          </a:effectRef>
          <a:fontRef idx="minor">
            <a:schemeClr val="lt1"/>
          </a:fontRef>
        </p:style>
        <p:txBody>
          <a:bodyPr rtlCol="0" anchor="t" lIns="137160" rIns="137160" tIns="137160" bIns="137160"/>
          <a:lstStyle/>
          <a:p>
            <a:pPr algn="ctr"/>
          </a:p>
        </p:txBody>
      </p:sp>
      <p:sp>
        <p:nvSpPr>
          <p:cNvPr id="13" name="TextBox 12"/>
          <p:cNvSpPr txBox="1"/>
          <p:nvPr/>
        </p:nvSpPr>
        <p:spPr>
          <a:xfrm>
            <a:off x="8186928" y="1920240"/>
            <a:ext cx="3544824" cy="411480"/>
          </a:xfrm>
          <a:prstGeom prst="rect">
            <a:avLst/>
          </a:prstGeom>
          <a:noFill/>
        </p:spPr>
        <p:txBody>
          <a:bodyPr wrap="square" anchor="t" lIns="0" rIns="0" tIns="0" bIns="0">
            <a:spAutoFit/>
          </a:bodyPr>
          <a:lstStyle/>
          <a:p>
            <a:pPr algn="l">
              <a:spcAft>
                <a:spcPts val="400"/>
              </a:spcAft>
            </a:pPr>
            <a:r>
              <a:rPr sz="2000" b="1" i="0">
                <a:solidFill>
                  <a:srgbClr val="F2A541"/>
                </a:solidFill>
                <a:latin typeface="Cambria"/>
              </a:rPr>
              <a:t>Puis</a:t>
            </a:r>
          </a:p>
        </p:txBody>
      </p:sp>
      <p:sp>
        <p:nvSpPr>
          <p:cNvPr id="14" name="TextBox 13"/>
          <p:cNvSpPr txBox="1"/>
          <p:nvPr/>
        </p:nvSpPr>
        <p:spPr>
          <a:xfrm>
            <a:off x="8186928" y="2359152"/>
            <a:ext cx="3544824" cy="320040"/>
          </a:xfrm>
          <a:prstGeom prst="rect">
            <a:avLst/>
          </a:prstGeom>
          <a:noFill/>
        </p:spPr>
        <p:txBody>
          <a:bodyPr wrap="square" anchor="t" lIns="0" rIns="0" tIns="0" bIns="0">
            <a:spAutoFit/>
          </a:bodyPr>
          <a:lstStyle/>
          <a:p>
            <a:pPr algn="l">
              <a:spcAft>
                <a:spcPts val="400"/>
              </a:spcAft>
            </a:pPr>
            <a:r>
              <a:rPr sz="1300" b="0" i="0">
                <a:solidFill>
                  <a:srgbClr val="C9DCCF"/>
                </a:solidFill>
                <a:latin typeface="Calibri"/>
              </a:rPr>
              <a:t>novembre</a:t>
            </a:r>
          </a:p>
        </p:txBody>
      </p:sp>
      <p:sp>
        <p:nvSpPr>
          <p:cNvPr id="15" name="Rounded Rectangle 14"/>
          <p:cNvSpPr/>
          <p:nvPr/>
        </p:nvSpPr>
        <p:spPr>
          <a:xfrm>
            <a:off x="8186928" y="2834640"/>
            <a:ext cx="3544824" cy="3246120"/>
          </a:xfrm>
          <a:prstGeom prst="roundRect">
            <a:avLst>
              <a:gd name="adj" fmla="val 8000"/>
            </a:avLst>
          </a:prstGeom>
          <a:solidFill>
            <a:srgbClr val="2F6B4F"/>
          </a:solidFill>
          <a:ln>
            <a:noFill/>
          </a:ln>
          <a:effectLst/>
        </p:spPr>
        <p:style>
          <a:lnRef idx="1">
            <a:schemeClr val="accent1"/>
          </a:lnRef>
          <a:fillRef idx="3">
            <a:schemeClr val="accent1"/>
          </a:fillRef>
          <a:effectRef idx="2">
            <a:schemeClr val="accent1"/>
          </a:effectRef>
          <a:fontRef idx="minor">
            <a:schemeClr val="lt1"/>
          </a:fontRef>
        </p:style>
        <p:txBody>
          <a:bodyPr rtlCol="0" anchor="t" lIns="274320" rIns="274320" tIns="274320" bIns="274320" wrap="square"/>
          <a:lstStyle/>
          <a:p>
            <a:pPr algn="l" marL="164592" indent="-164592">
              <a:spcAft>
                <a:spcPts val="1000"/>
              </a:spcAft>
              <a:buClr>
                <a:srgbClr val="F2A541"/>
              </a:buClr>
              <a:buFont typeface="Arial"/>
              <a:buChar char="•"/>
            </a:pPr>
            <a:r>
              <a:rPr sz="1500" b="0" i="0">
                <a:solidFill>
                  <a:srgbClr val="FFFFFF"/>
                </a:solidFill>
                <a:latin typeface="Calibri"/>
              </a:rPr>
              <a:t>Constituer le jeu gelé</a:t>
            </a:r>
          </a:p>
          <a:p>
            <a:pPr algn="l" marL="164592" indent="-164592">
              <a:spcAft>
                <a:spcPts val="1000"/>
              </a:spcAft>
              <a:buClr>
                <a:srgbClr val="F2A541"/>
              </a:buClr>
              <a:buFont typeface="Arial"/>
              <a:buChar char="•"/>
            </a:pPr>
            <a:r>
              <a:rPr sz="1500" b="0" i="0">
                <a:solidFill>
                  <a:srgbClr val="FFFFFF"/>
                </a:solidFill>
                <a:latin typeface="Calibri"/>
              </a:rPr>
              <a:t>Courbes d'activité 2023 contre Courtois et al. 2025</a:t>
            </a:r>
          </a:p>
          <a:p>
            <a:pPr algn="l" marL="164592" indent="-164592">
              <a:spcAft>
                <a:spcPts val="1000"/>
              </a:spcAft>
              <a:buClr>
                <a:srgbClr val="F2A541"/>
              </a:buClr>
              <a:buFont typeface="Arial"/>
              <a:buChar char="•"/>
            </a:pPr>
            <a:r>
              <a:rPr sz="1500" b="0" i="0">
                <a:solidFill>
                  <a:srgbClr val="FFFFFF"/>
                </a:solidFill>
                <a:latin typeface="Calibri"/>
              </a:rPr>
              <a:t>Choisir l'encodeur</a:t>
            </a:r>
          </a:p>
        </p:txBody>
      </p:sp>
      <p:sp>
        <p:nvSpPr>
          <p:cNvPr id="16" name="TextBox 15"/>
          <p:cNvSpPr txBox="1"/>
          <p:nvPr/>
        </p:nvSpPr>
        <p:spPr>
          <a:xfrm>
            <a:off x="11277295" y="6473952"/>
            <a:ext cx="457200" cy="228600"/>
          </a:xfrm>
          <a:prstGeom prst="rect">
            <a:avLst/>
          </a:prstGeom>
          <a:noFill/>
        </p:spPr>
        <p:txBody>
          <a:bodyPr wrap="square" anchor="t" lIns="0" rIns="0" tIns="0" bIns="0">
            <a:spAutoFit/>
          </a:bodyPr>
          <a:lstStyle/>
          <a:p>
            <a:pPr algn="r">
              <a:spcAft>
                <a:spcPts val="400"/>
              </a:spcAft>
            </a:pPr>
            <a:r>
              <a:rPr sz="1000" b="0" i="0">
                <a:solidFill>
                  <a:srgbClr val="C9DCCF"/>
                </a:solidFill>
                <a:latin typeface="Calibri"/>
              </a:rPr>
              <a:t>18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