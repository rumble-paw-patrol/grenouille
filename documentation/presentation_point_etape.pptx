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52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d'étape en semaine 2. Plan : le problème, le pipeline (partie centrale), une diapo par étape avec les méthodes envisagées et les choix, puis ce que le benchmark va trancher, mes questions et mes prochaines étapes.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biais de sélection : les 345 positifs sont des détections de Blancinet (score ≥ 0,10) vérifiées à la main. Les chants que Blancinet a ratés n'ont jamais été écoutés. Un détecteur évalué sur ce jeu mesure donc son rappel par rapport à Blancinet, pas par rapport à la réalité : d'où l'audit aléatoire. Deuxième limite, distincte : tout vient de Mataroni, et un seul point (RB04) porte 42 % des positifs.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branches à partir des mêmes fenêtres : l'encodeur suivi d'une tête (head) qui donne un score par fenêtre, et un module séquentiel qui décrit le rythme et la persistance du chant directement sur l'audio. La fusion combine les deux. L'agrégation passe de la fenêtre à l'enregistrement puis au point d'écoute. La sélection choisit ce qu'on fait écouter ; les nouveaux labels reviennent au corpus et la tête est réentraînée : c'est la boucle. En pointillés : l'encodeur sert aussi à chercher par similarité, à regrouper (clustering) et, avec Perch 2.0, à fournir les scores des congénères. L'évaluation traverse tout. Légende des statuts utilisée dans la suite.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corpus réunit trois sources et les annotations. Les drapeaux sont des remarques sur un enregistrement : seuls silencieux, micro dans sac et hors relevé excluent ; la pluie fait partie de l'environnement réel du micro. Les négatifs appariés ne sont pas écoutés : certains contiennent peut-être A. blanci ; on l'assume, en gardant le biais en tête. Le choix des espèces AnuraSet est une question pour aujourd'hui.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est indépendante de l'encodeur : une fenêtre est définie par (enregistrement, décalage, durée). Question d'échelle : la note est minuscule dans la fenêtre ; les protocoles B, C et E testent si on gagne à mieux la cadrer.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Tous les encodeurs passent par bacpipe, derrière la même interface. BirdNET reste une référence, pas un livrable. L'objection « 16 kHz, c'est limite » se teste : si Bird-MAE sur audio filtré à 8 kHz fait aussi bien que Bird-MAE natif, la fréquence d'échantillonnage n'est pas le problème pour ce chant (vers 4,75 kHz). La revue citée est celle d'Ecological Informatics (2026) envoyée par l'encadrant.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Toutes les têtes cherchent une direction w dans l'espace des embeddings ; le score d'une fenêtre est son produit scalaire avec w. Elles diffèrent par la façon d'obtenir w : un exemple, une moyenne, une différence de moyennes, ou une optimisation. LoRA et distillation ne viennent qu'après le choix de l'encodeur.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questions auxquelles le benchmark répond. La première est la plus intéressante scientifiquement : tant que tous les positifs viennent d'un seul site, une méthode qui retire explicitement le fond du site pourrait mieux généraliser qu'une régression logistique plus puissante.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chant est continu : quand A. blanci chante, elle chante souvent pendant les 2 minutes. Une détection isolée est donc suspecte. Le module séquentiel exploite cette structure temporelle, que l'encodeur ne voit pas à l'échelle d'une fenêtre.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Stacking à deux niveaux. Au niveau 1, la tête et le module séquentiel produisent leurs sorties ; au niveau 2, une régression logistique apprend à les combiner. Peu de coefficients, parce qu'on a peu d'enregistrements positifs indépendants.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L'enregistrement de 2 minutes est l'unité principale. Si le chant est toujours continu, la fraction de fenêtres positives est un bon score ; s'il peut être ponctuel, le maximum ou le top-k sont plus sûrs. Au niveau du point, on ne dit jamais « absent » : on dit « non détecté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méthode répond à un besoin différent : la file 60-20-20 améliore le modèle, la récolte par similarité trouve vite des positifs sur un nouveau site, l'audit aléatoire mesure honnêtement le rappel, le clustering produit des négatifs en volume. Les tours s'arrêtent quand le gain mesuré sur le jeu gelé devient négligeable.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 les labels s'ajoutent (jamais modifiés), la tête est réentraînée sur tous les labels, et elle ne remplace l'ancienne que si elle fait au moins aussi bien sur le jeu gelé. C'est ce que l'ONF devra refaire seul à chaque campagne.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niveaux, du plus facile au plus exigeant. Le niveau 2 est celui qui compte pour le tuteur : un détecteur qui marche sur des sites qu'il n'a jamais vus. Intervalles par bootstrap sur les enregistrements ; « A meilleur que B » seulement si l'intervalle apparié exclut zéro.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livrable vient après le choix de l'encodeur. Contrainte forte : les portables de l'ONF (i5, sans GPU). Les leviers s'appliquent dans cet ordre : export et quantification, heures de pic, sous-échantillonnage (le chant continu permet de ne pas tout analyser), puis distillation si nécessaire.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Récapitulatif des lignes « à comparer » des diapos précédentes. Le go/no-go évite de s'entêter sur une piste qui ne marche pas : on fixe le critère avant de voir les résultats.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Questions classées de la plus bloquante à la moins urgente pour les prochains jours : les données 2023 et le canal conditionnent l'encodage ; le chant ponctuel conditionne l'agrégation ; les licences doivent être tranchées avant le choix définitif de l'encodeur.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Priorité immédiate : reprendre le code module par module pour me l'approprier, puis lancer les premiers encodages et produire le tableau de benchmark avant la fin de la semaine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32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9144000" cy="320040"/>
          </a:xfrm>
          <a:prstGeom prst="rect">
            <a:avLst/>
          </a:prstGeom>
          <a:noFill/>
        </p:spPr>
        <p:txBody>
          <a:bodyPr wrap="square" lIns="0" tIns="0" rIns="0" bIns="0" anchor="t">
            <a:spAutoFit/>
          </a:bodyPr>
          <a:lstStyle/>
          <a:p>
            <a:pPr algn="l">
              <a:spcAft>
                <a:spcPts val="400"/>
              </a:spcAft>
            </a:pPr>
            <a:r>
              <a:rPr sz="1300" b="1" i="0">
                <a:solidFill>
                  <a:srgbClr val="F2A541"/>
                </a:solidFill>
                <a:latin typeface="Calibri"/>
              </a:rPr>
              <a:t>STAGE ONF GUYANE · POINT D'ÉTAPE</a:t>
            </a:r>
          </a:p>
        </p:txBody>
      </p:sp>
      <p:sp>
        <p:nvSpPr>
          <p:cNvPr id="3" name="TextBox 2"/>
          <p:cNvSpPr txBox="1"/>
          <p:nvPr/>
        </p:nvSpPr>
        <p:spPr>
          <a:xfrm>
            <a:off x="731520" y="1554480"/>
            <a:ext cx="10515600" cy="1645920"/>
          </a:xfrm>
          <a:prstGeom prst="rect">
            <a:avLst/>
          </a:prstGeom>
          <a:noFill/>
        </p:spPr>
        <p:txBody>
          <a:bodyPr wrap="square" lIns="0" tIns="0" rIns="0" bIns="0" anchor="t">
            <a:spAutoFit/>
          </a:bodyPr>
          <a:lstStyle/>
          <a:p>
            <a:pPr algn="l">
              <a:spcAft>
                <a:spcPts val="0"/>
              </a:spcAft>
            </a:pPr>
            <a:r>
              <a:rPr sz="4400" b="1" i="0">
                <a:solidFill>
                  <a:srgbClr val="FFFFFF"/>
                </a:solidFill>
                <a:latin typeface="Cambria"/>
              </a:rPr>
              <a:t>Détection acoustique d'</a:t>
            </a:r>
          </a:p>
          <a:p>
            <a:pPr algn="l">
              <a:spcAft>
                <a:spcPts val="400"/>
              </a:spcAft>
            </a:pPr>
            <a:r>
              <a:rPr sz="4400" b="1" i="1">
                <a:solidFill>
                  <a:srgbClr val="FFFFFF"/>
                </a:solidFill>
                <a:latin typeface="Cambria"/>
              </a:rPr>
              <a:t>Anomaloglossus blanci</a:t>
            </a:r>
          </a:p>
        </p:txBody>
      </p:sp>
      <p:sp>
        <p:nvSpPr>
          <p:cNvPr id="4" name="TextBox 3"/>
          <p:cNvSpPr txBox="1"/>
          <p:nvPr/>
        </p:nvSpPr>
        <p:spPr>
          <a:xfrm>
            <a:off x="731520" y="3246120"/>
            <a:ext cx="10058400" cy="457200"/>
          </a:xfrm>
          <a:prstGeom prst="rect">
            <a:avLst/>
          </a:prstGeom>
          <a:noFill/>
        </p:spPr>
        <p:txBody>
          <a:bodyPr wrap="square" lIns="0" tIns="0" rIns="0" bIns="0" anchor="t">
            <a:spAutoFit/>
          </a:bodyPr>
          <a:lstStyle/>
          <a:p>
            <a:pPr algn="l">
              <a:spcAft>
                <a:spcPts val="400"/>
              </a:spcAft>
            </a:pPr>
            <a:r>
              <a:rPr sz="2000" b="0" i="0">
                <a:solidFill>
                  <a:srgbClr val="C9DCCF"/>
                </a:solidFill>
                <a:latin typeface="Calibri"/>
              </a:rPr>
              <a:t>Structure du projet, pipeline, choix faits et choix à faire</a:t>
            </a:r>
          </a:p>
        </p:txBody>
      </p:sp>
      <p:sp>
        <p:nvSpPr>
          <p:cNvPr id="5" name="TextBox 4"/>
          <p:cNvSpPr txBox="1"/>
          <p:nvPr/>
        </p:nvSpPr>
        <p:spPr>
          <a:xfrm>
            <a:off x="731520" y="3840480"/>
            <a:ext cx="10058400" cy="365760"/>
          </a:xfrm>
          <a:prstGeom prst="rect">
            <a:avLst/>
          </a:prstGeom>
          <a:noFill/>
        </p:spPr>
        <p:txBody>
          <a:bodyPr wrap="square" lIns="0" tIns="0" rIns="0" bIns="0" anchor="t">
            <a:spAutoFit/>
          </a:bodyPr>
          <a:lstStyle/>
          <a:p>
            <a:pPr algn="l">
              <a:spcAft>
                <a:spcPts val="400"/>
              </a:spcAft>
            </a:pPr>
            <a:r>
              <a:rPr sz="1500" b="0" i="0">
                <a:solidFill>
                  <a:srgbClr val="C9DCCF"/>
                </a:solidFill>
                <a:latin typeface="Calibri"/>
              </a:rPr>
              <a:t>Léonard · septembre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Le problème</a:t>
            </a:r>
          </a:p>
        </p:txBody>
      </p:sp>
      <p:sp>
        <p:nvSpPr>
          <p:cNvPr id="3" name="Rounded Rectangle 2"/>
          <p:cNvSpPr/>
          <p:nvPr/>
        </p:nvSpPr>
        <p:spPr>
          <a:xfrm>
            <a:off x="457200" y="1097280"/>
            <a:ext cx="11274552" cy="96012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spcAft>
                <a:spcPts val="400"/>
              </a:spcAft>
            </a:pPr>
            <a:r>
              <a:rPr sz="1500" b="1" i="0">
                <a:solidFill>
                  <a:srgbClr val="1C2B24"/>
                </a:solidFill>
                <a:latin typeface="Calibri"/>
              </a:rPr>
              <a:t>Objectif</a:t>
            </a:r>
            <a:r>
              <a:rPr sz="1500" b="0" i="0">
                <a:solidFill>
                  <a:srgbClr val="1C2B24"/>
                </a:solidFill>
                <a:latin typeface="Calibri"/>
              </a:rPr>
              <a:t> : un détecteur robuste d'</a:t>
            </a:r>
            <a:r>
              <a:rPr sz="1500" b="0" i="1">
                <a:solidFill>
                  <a:srgbClr val="1C2B24"/>
                </a:solidFill>
                <a:latin typeface="Calibri"/>
              </a:rPr>
              <a:t>A. blanci</a:t>
            </a:r>
            <a:r>
              <a:rPr sz="1500" b="0" i="0">
                <a:solidFill>
                  <a:srgbClr val="1C2B24"/>
                </a:solidFill>
                <a:latin typeface="Calibri"/>
              </a:rPr>
              <a:t>, qui fonctionne sur de nouveaux sites, utilisable par un naturaliste et que l'ONF réentraînera seul sur ses portables (i5, sans GPU).</a:t>
            </a:r>
          </a:p>
          <a:p>
            <a:pPr algn="l">
              <a:spcAft>
                <a:spcPts val="400"/>
              </a:spcAft>
            </a:pPr>
            <a:r>
              <a:rPr sz="1500" b="1" i="0">
                <a:solidFill>
                  <a:srgbClr val="1C2B24"/>
                </a:solidFill>
                <a:latin typeface="Calibri"/>
              </a:rPr>
              <a:t>Mesures</a:t>
            </a:r>
            <a:r>
              <a:rPr sz="1500" b="0" i="0">
                <a:solidFill>
                  <a:srgbClr val="1C2B24"/>
                </a:solidFill>
                <a:latin typeface="Calibri"/>
              </a:rPr>
              <a:t> : AP et rappel · approches comparées par score, vitesse et prise en main.</a:t>
            </a:r>
          </a:p>
        </p:txBody>
      </p:sp>
      <p:sp>
        <p:nvSpPr>
          <p:cNvPr id="4" name="Rounded Rectangle 3"/>
          <p:cNvSpPr/>
          <p:nvPr/>
        </p:nvSpPr>
        <p:spPr>
          <a:xfrm>
            <a:off x="457200"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5" name="TextBox 4"/>
          <p:cNvSpPr txBox="1"/>
          <p:nvPr/>
        </p:nvSpPr>
        <p:spPr>
          <a:xfrm>
            <a:off x="685800"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0,09 s</a:t>
            </a:r>
          </a:p>
        </p:txBody>
      </p:sp>
      <p:sp>
        <p:nvSpPr>
          <p:cNvPr id="6" name="TextBox 5"/>
          <p:cNvSpPr txBox="1"/>
          <p:nvPr/>
        </p:nvSpPr>
        <p:spPr>
          <a:xfrm>
            <a:off x="685800"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une note brève vers 4,75 kHz, dans une bande de fréquences encombrée</a:t>
            </a:r>
          </a:p>
        </p:txBody>
      </p:sp>
      <p:sp>
        <p:nvSpPr>
          <p:cNvPr id="7" name="Rounded Rectangle 6"/>
          <p:cNvSpPr/>
          <p:nvPr/>
        </p:nvSpPr>
        <p:spPr>
          <a:xfrm>
            <a:off x="3344418"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8" name="TextBox 7"/>
          <p:cNvSpPr txBox="1"/>
          <p:nvPr/>
        </p:nvSpPr>
        <p:spPr>
          <a:xfrm>
            <a:off x="3573018"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 50</a:t>
            </a:r>
          </a:p>
        </p:txBody>
      </p:sp>
      <p:sp>
        <p:nvSpPr>
          <p:cNvPr id="9" name="TextBox 8"/>
          <p:cNvSpPr txBox="1"/>
          <p:nvPr/>
        </p:nvSpPr>
        <p:spPr>
          <a:xfrm>
            <a:off x="3573018"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sources de fausses alarmes recensées : oiseaux, amphibiens, grillons, artefacts</a:t>
            </a:r>
          </a:p>
        </p:txBody>
      </p:sp>
      <p:sp>
        <p:nvSpPr>
          <p:cNvPr id="10" name="Rounded Rectangle 9"/>
          <p:cNvSpPr/>
          <p:nvPr/>
        </p:nvSpPr>
        <p:spPr>
          <a:xfrm>
            <a:off x="6231636"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1" name="TextBox 10"/>
          <p:cNvSpPr txBox="1"/>
          <p:nvPr/>
        </p:nvSpPr>
        <p:spPr>
          <a:xfrm>
            <a:off x="6460236"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1 site</a:t>
            </a:r>
          </a:p>
        </p:txBody>
      </p:sp>
      <p:sp>
        <p:nvSpPr>
          <p:cNvPr id="12" name="TextBox 11"/>
          <p:cNvSpPr txBox="1"/>
          <p:nvPr/>
        </p:nvSpPr>
        <p:spPr>
          <a:xfrm>
            <a:off x="6460236"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tous les positifs annotés viennent de Mataroni : 345 fenêtres, 51 enregistrements</a:t>
            </a:r>
          </a:p>
        </p:txBody>
      </p:sp>
      <p:sp>
        <p:nvSpPr>
          <p:cNvPr id="13" name="Rounded Rectangle 12"/>
          <p:cNvSpPr/>
          <p:nvPr/>
        </p:nvSpPr>
        <p:spPr>
          <a:xfrm>
            <a:off x="9118854" y="2331720"/>
            <a:ext cx="2612898" cy="25146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4" name="TextBox 13"/>
          <p:cNvSpPr txBox="1"/>
          <p:nvPr/>
        </p:nvSpPr>
        <p:spPr>
          <a:xfrm>
            <a:off x="9347454" y="2560320"/>
            <a:ext cx="2155698" cy="822960"/>
          </a:xfrm>
          <a:prstGeom prst="rect">
            <a:avLst/>
          </a:prstGeom>
          <a:noFill/>
        </p:spPr>
        <p:txBody>
          <a:bodyPr wrap="square" lIns="0" tIns="0" rIns="0" bIns="0" anchor="t">
            <a:spAutoFit/>
          </a:bodyPr>
          <a:lstStyle/>
          <a:p>
            <a:pPr algn="l">
              <a:spcAft>
                <a:spcPts val="400"/>
              </a:spcAft>
            </a:pPr>
            <a:r>
              <a:rPr sz="4000" b="1" i="0">
                <a:solidFill>
                  <a:srgbClr val="9A5A06"/>
                </a:solidFill>
                <a:latin typeface="Cambria"/>
              </a:rPr>
              <a:t>Biais</a:t>
            </a:r>
          </a:p>
        </p:txBody>
      </p:sp>
      <p:sp>
        <p:nvSpPr>
          <p:cNvPr id="15" name="TextBox 14"/>
          <p:cNvSpPr txBox="1"/>
          <p:nvPr/>
        </p:nvSpPr>
        <p:spPr>
          <a:xfrm>
            <a:off x="9347454" y="3474720"/>
            <a:ext cx="2155698" cy="1280160"/>
          </a:xfrm>
          <a:prstGeom prst="rect">
            <a:avLst/>
          </a:prstGeom>
          <a:noFill/>
        </p:spPr>
        <p:txBody>
          <a:bodyPr wrap="square" lIns="0" tIns="0" rIns="0" bIns="0" anchor="t">
            <a:spAutoFit/>
          </a:bodyPr>
          <a:lstStyle/>
          <a:p>
            <a:pPr algn="l">
              <a:spcAft>
                <a:spcPts val="400"/>
              </a:spcAft>
            </a:pPr>
            <a:r>
              <a:rPr sz="1400" b="0" i="0">
                <a:solidFill>
                  <a:srgbClr val="1C2B24"/>
                </a:solidFill>
                <a:latin typeface="Calibri"/>
              </a:rPr>
              <a:t>on n'a écouté que ce que Blancinet avait détecté : les chants qu'il a ratés manquent au jeu</a:t>
            </a:r>
          </a:p>
        </p:txBody>
      </p:sp>
      <p:sp>
        <p:nvSpPr>
          <p:cNvPr id="16" name="Rounded Rectangle 15"/>
          <p:cNvSpPr/>
          <p:nvPr/>
        </p:nvSpPr>
        <p:spPr>
          <a:xfrm>
            <a:off x="457200" y="5166360"/>
            <a:ext cx="11274552" cy="8686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l">
              <a:spcAft>
                <a:spcPts val="400"/>
              </a:spcAft>
            </a:pPr>
            <a:r>
              <a:rPr sz="1700" b="1" i="0">
                <a:solidFill>
                  <a:srgbClr val="FFFFFF"/>
                </a:solidFill>
                <a:latin typeface="Calibri"/>
              </a:rPr>
              <a:t>Priorité au rappel</a:t>
            </a:r>
            <a:r>
              <a:rPr sz="1700" b="0" i="0">
                <a:solidFill>
                  <a:srgbClr val="FFFFFF"/>
                </a:solidFill>
                <a:latin typeface="Calibri"/>
              </a:rPr>
              <a:t> : une fausse absence ne se rattrape pas ; une fausse présence se vérifie à l'écoute.</a:t>
            </a:r>
          </a:p>
        </p:txBody>
      </p:sp>
      <p:sp>
        <p:nvSpPr>
          <p:cNvPr id="17" name="TextBox 16"/>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Le pipeline : de l'audio brut à la boucle d'entraînement</a:t>
            </a:r>
          </a:p>
        </p:txBody>
      </p:sp>
      <p:cxnSp>
        <p:nvCxnSpPr>
          <p:cNvPr id="3" name="Connector 2"/>
          <p:cNvCxnSpPr/>
          <p:nvPr/>
        </p:nvCxnSpPr>
        <p:spPr>
          <a:xfrm>
            <a:off x="1591056" y="2994660"/>
            <a:ext cx="315206"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040118" y="2994660"/>
            <a:ext cx="157604" cy="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197722" y="2354580"/>
            <a:ext cx="0" cy="128016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2354580"/>
            <a:ext cx="157603"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3634740"/>
            <a:ext cx="157603"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489181" y="235458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38244" y="2354580"/>
            <a:ext cx="157603" cy="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3634740"/>
            <a:ext cx="157603" cy="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2354580"/>
            <a:ext cx="0" cy="1280160"/>
          </a:xfrm>
          <a:prstGeom prst="line">
            <a:avLst/>
          </a:prstGeom>
          <a:ln w="22225">
            <a:solidFill>
              <a:srgbClr val="2F6B4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994660"/>
            <a:ext cx="157603"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87306" y="299466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36369" y="299466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285432" y="2994660"/>
            <a:ext cx="315207"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167567" y="3429000"/>
            <a:ext cx="0" cy="932688"/>
          </a:xfrm>
          <a:prstGeom prst="line">
            <a:avLst/>
          </a:prstGeom>
          <a:ln w="25400">
            <a:solidFill>
              <a:srgbClr val="9A5A0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024128" y="4361688"/>
            <a:ext cx="10143439" cy="0"/>
          </a:xfrm>
          <a:prstGeom prst="line">
            <a:avLst/>
          </a:prstGeom>
          <a:ln w="25400">
            <a:solidFill>
              <a:srgbClr val="9A5A0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24128" y="3429000"/>
            <a:ext cx="0" cy="932688"/>
          </a:xfrm>
          <a:prstGeom prst="line">
            <a:avLst/>
          </a:prstGeom>
          <a:ln w="25400">
            <a:solidFill>
              <a:srgbClr val="9A5A0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55325" y="4407408"/>
            <a:ext cx="5796250" cy="274320"/>
          </a:xfrm>
          <a:prstGeom prst="rect">
            <a:avLst/>
          </a:prstGeom>
          <a:noFill/>
        </p:spPr>
        <p:txBody>
          <a:bodyPr wrap="square" lIns="0" tIns="0" rIns="0" bIns="0" anchor="t">
            <a:spAutoFit/>
          </a:bodyPr>
          <a:lstStyle/>
          <a:p>
            <a:pPr algn="ctr">
              <a:spcAft>
                <a:spcPts val="400"/>
              </a:spcAft>
            </a:pPr>
            <a:r>
              <a:rPr sz="1200" b="1" i="0">
                <a:solidFill>
                  <a:srgbClr val="9A5A06"/>
                </a:solidFill>
                <a:latin typeface="Calibri"/>
              </a:rPr>
              <a:t>nouveaux labels → boucle d'entraînement</a:t>
            </a:r>
          </a:p>
        </p:txBody>
      </p:sp>
      <p:cxnSp>
        <p:nvCxnSpPr>
          <p:cNvPr id="20" name="Connector 19"/>
          <p:cNvCxnSpPr/>
          <p:nvPr/>
        </p:nvCxnSpPr>
        <p:spPr>
          <a:xfrm flipV="1">
            <a:off x="3675365" y="1353312"/>
            <a:ext cx="0" cy="566928"/>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75365" y="1353312"/>
            <a:ext cx="6043139" cy="0"/>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18504" y="1353312"/>
            <a:ext cx="0" cy="1207008"/>
          </a:xfrm>
          <a:prstGeom prst="line">
            <a:avLst/>
          </a:prstGeom>
          <a:ln w="15875">
            <a:solidFill>
              <a:srgbClr val="2F6B4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178285" y="1645920"/>
            <a:ext cx="0" cy="274320"/>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78285" y="1645920"/>
            <a:ext cx="2642093" cy="0"/>
          </a:xfrm>
          <a:prstGeom prst="line">
            <a:avLst/>
          </a:prstGeom>
          <a:ln w="15875">
            <a:solidFill>
              <a:srgbClr val="2F6B4F"/>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820378" y="1645920"/>
            <a:ext cx="0" cy="914400"/>
          </a:xfrm>
          <a:prstGeom prst="line">
            <a:avLst/>
          </a:prstGeom>
          <a:ln w="15875">
            <a:solidFill>
              <a:srgbClr val="2F6B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67228" y="1088136"/>
            <a:ext cx="4206240" cy="237744"/>
          </a:xfrm>
          <a:prstGeom prst="rect">
            <a:avLst/>
          </a:prstGeom>
          <a:noFill/>
        </p:spPr>
        <p:txBody>
          <a:bodyPr wrap="square" lIns="0" tIns="0" rIns="0" bIns="0" anchor="t">
            <a:spAutoFit/>
          </a:bodyPr>
          <a:lstStyle/>
          <a:p>
            <a:pPr algn="l">
              <a:spcAft>
                <a:spcPts val="400"/>
              </a:spcAft>
            </a:pPr>
            <a:r>
              <a:rPr sz="1100" b="0" i="1">
                <a:solidFill>
                  <a:srgbClr val="2F6B4F"/>
                </a:solidFill>
                <a:latin typeface="Calibri"/>
              </a:rPr>
              <a:t>embeddings : recherche par similarité, clustering</a:t>
            </a:r>
          </a:p>
        </p:txBody>
      </p:sp>
      <p:sp>
        <p:nvSpPr>
          <p:cNvPr id="27" name="TextBox 26"/>
          <p:cNvSpPr txBox="1"/>
          <p:nvPr/>
        </p:nvSpPr>
        <p:spPr>
          <a:xfrm>
            <a:off x="4667228" y="1389888"/>
            <a:ext cx="2926080" cy="237744"/>
          </a:xfrm>
          <a:prstGeom prst="rect">
            <a:avLst/>
          </a:prstGeom>
          <a:noFill/>
        </p:spPr>
        <p:txBody>
          <a:bodyPr wrap="square" lIns="0" tIns="0" rIns="0" bIns="0" anchor="t">
            <a:spAutoFit/>
          </a:bodyPr>
          <a:lstStyle/>
          <a:p>
            <a:pPr algn="l">
              <a:spcAft>
                <a:spcPts val="400"/>
              </a:spcAft>
            </a:pPr>
            <a:r>
              <a:rPr sz="1100" b="0" i="1">
                <a:solidFill>
                  <a:srgbClr val="2F6B4F"/>
                </a:solidFill>
                <a:latin typeface="Calibri"/>
              </a:rPr>
              <a:t>logits des congénères (Perch 2.0)</a:t>
            </a:r>
          </a:p>
        </p:txBody>
      </p:sp>
      <p:sp>
        <p:nvSpPr>
          <p:cNvPr id="28" name="Rounded Rectangle 27"/>
          <p:cNvSpPr/>
          <p:nvPr/>
        </p:nvSpPr>
        <p:spPr>
          <a:xfrm>
            <a:off x="457200"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dirty="0">
                <a:solidFill>
                  <a:srgbClr val="FFFFFF"/>
                </a:solidFill>
                <a:latin typeface="Calibri"/>
              </a:rPr>
              <a:t>Corpus</a:t>
            </a:r>
          </a:p>
          <a:p>
            <a:pPr algn="ctr">
              <a:spcAft>
                <a:spcPts val="0"/>
              </a:spcAft>
            </a:pPr>
            <a:r>
              <a:rPr sz="1000" b="0" i="0" dirty="0" err="1">
                <a:solidFill>
                  <a:srgbClr val="C9DCCF"/>
                </a:solidFill>
                <a:latin typeface="Calibri"/>
              </a:rPr>
              <a:t>inventaire</a:t>
            </a:r>
            <a:r>
              <a:rPr sz="1000" b="0" i="0" dirty="0">
                <a:solidFill>
                  <a:srgbClr val="C9DCCF"/>
                </a:solidFill>
                <a:latin typeface="Calibri"/>
              </a:rPr>
              <a:t>, </a:t>
            </a:r>
            <a:r>
              <a:rPr sz="1000" b="0" i="0" dirty="0" err="1">
                <a:solidFill>
                  <a:srgbClr val="C9DCCF"/>
                </a:solidFill>
                <a:latin typeface="Calibri"/>
              </a:rPr>
              <a:t>contrôle</a:t>
            </a:r>
            <a:r>
              <a:rPr sz="1000" b="0" i="0" dirty="0">
                <a:solidFill>
                  <a:srgbClr val="C9DCCF"/>
                </a:solidFill>
                <a:latin typeface="Calibri"/>
              </a:rPr>
              <a:t> </a:t>
            </a:r>
            <a:r>
              <a:rPr sz="1000" b="0" i="0" dirty="0" err="1">
                <a:solidFill>
                  <a:srgbClr val="C9DCCF"/>
                </a:solidFill>
                <a:latin typeface="Calibri"/>
              </a:rPr>
              <a:t>qualité</a:t>
            </a:r>
            <a:endParaRPr sz="1000" b="0" i="0" dirty="0">
              <a:solidFill>
                <a:srgbClr val="C9DCCF"/>
              </a:solidFill>
              <a:latin typeface="Calibri"/>
            </a:endParaRPr>
          </a:p>
        </p:txBody>
      </p:sp>
      <p:sp>
        <p:nvSpPr>
          <p:cNvPr id="29" name="Rounded Rectangle 28"/>
          <p:cNvSpPr/>
          <p:nvPr/>
        </p:nvSpPr>
        <p:spPr>
          <a:xfrm>
            <a:off x="1906262"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Fenêtrage</a:t>
            </a:r>
          </a:p>
          <a:p>
            <a:pPr algn="ctr">
              <a:spcAft>
                <a:spcPts val="0"/>
              </a:spcAft>
            </a:pPr>
            <a:r>
              <a:rPr sz="1000" b="0" i="0">
                <a:solidFill>
                  <a:srgbClr val="C9DCCF"/>
                </a:solidFill>
                <a:latin typeface="Calibri"/>
              </a:rPr>
              <a:t>découpage en fenêtres</a:t>
            </a:r>
          </a:p>
        </p:txBody>
      </p:sp>
      <p:sp>
        <p:nvSpPr>
          <p:cNvPr id="30" name="Rounded Rectangle 29"/>
          <p:cNvSpPr/>
          <p:nvPr/>
        </p:nvSpPr>
        <p:spPr>
          <a:xfrm>
            <a:off x="3355325" y="192024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Encodeur</a:t>
            </a:r>
          </a:p>
          <a:p>
            <a:pPr algn="ctr">
              <a:spcAft>
                <a:spcPts val="0"/>
              </a:spcAft>
            </a:pPr>
            <a:r>
              <a:rPr sz="1000" b="0" i="0">
                <a:solidFill>
                  <a:srgbClr val="C9DCCF"/>
                </a:solidFill>
                <a:latin typeface="Calibri"/>
              </a:rPr>
              <a:t>audio → embedding</a:t>
            </a:r>
          </a:p>
        </p:txBody>
      </p:sp>
      <p:sp>
        <p:nvSpPr>
          <p:cNvPr id="31" name="Rounded Rectangle 30"/>
          <p:cNvSpPr/>
          <p:nvPr/>
        </p:nvSpPr>
        <p:spPr>
          <a:xfrm>
            <a:off x="4804388" y="192024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dirty="0">
                <a:solidFill>
                  <a:srgbClr val="FFFFFF"/>
                </a:solidFill>
                <a:latin typeface="Calibri"/>
              </a:rPr>
              <a:t>Head</a:t>
            </a:r>
          </a:p>
          <a:p>
            <a:pPr algn="ctr">
              <a:spcAft>
                <a:spcPts val="0"/>
              </a:spcAft>
            </a:pPr>
            <a:r>
              <a:rPr sz="1000" b="0" i="0" dirty="0">
                <a:solidFill>
                  <a:srgbClr val="C9DCCF"/>
                </a:solidFill>
                <a:latin typeface="Calibri"/>
              </a:rPr>
              <a:t>embedding → score</a:t>
            </a:r>
          </a:p>
        </p:txBody>
      </p:sp>
      <p:sp>
        <p:nvSpPr>
          <p:cNvPr id="32" name="Rounded Rectangle 31"/>
          <p:cNvSpPr/>
          <p:nvPr/>
        </p:nvSpPr>
        <p:spPr>
          <a:xfrm>
            <a:off x="3355325" y="3200400"/>
            <a:ext cx="2582918"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Module séquentiel</a:t>
            </a:r>
          </a:p>
          <a:p>
            <a:pPr algn="ctr">
              <a:spcAft>
                <a:spcPts val="0"/>
              </a:spcAft>
            </a:pPr>
            <a:r>
              <a:rPr sz="1000" b="0" i="0">
                <a:solidFill>
                  <a:srgbClr val="C9DCCF"/>
                </a:solidFill>
                <a:latin typeface="Calibri"/>
              </a:rPr>
              <a:t>rythme, persistance, solo ou chœur</a:t>
            </a:r>
          </a:p>
        </p:txBody>
      </p:sp>
      <p:sp>
        <p:nvSpPr>
          <p:cNvPr id="33" name="Rounded Rectangle 32"/>
          <p:cNvSpPr/>
          <p:nvPr/>
        </p:nvSpPr>
        <p:spPr>
          <a:xfrm>
            <a:off x="6253450"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Fusion</a:t>
            </a:r>
          </a:p>
          <a:p>
            <a:pPr algn="ctr">
              <a:spcAft>
                <a:spcPts val="0"/>
              </a:spcAft>
            </a:pPr>
            <a:r>
              <a:rPr sz="1000" b="0" i="0">
                <a:solidFill>
                  <a:srgbClr val="C9DCCF"/>
                </a:solidFill>
                <a:latin typeface="Calibri"/>
              </a:rPr>
              <a:t>combine les deux branches</a:t>
            </a:r>
          </a:p>
        </p:txBody>
      </p:sp>
      <p:sp>
        <p:nvSpPr>
          <p:cNvPr id="34" name="Rounded Rectangle 33"/>
          <p:cNvSpPr/>
          <p:nvPr/>
        </p:nvSpPr>
        <p:spPr>
          <a:xfrm>
            <a:off x="7702513"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Agrégation</a:t>
            </a:r>
          </a:p>
          <a:p>
            <a:pPr algn="ctr">
              <a:spcAft>
                <a:spcPts val="0"/>
              </a:spcAft>
            </a:pPr>
            <a:r>
              <a:rPr sz="1000" b="0" i="0">
                <a:solidFill>
                  <a:srgbClr val="C9DCCF"/>
                </a:solidFill>
                <a:latin typeface="Calibri"/>
              </a:rPr>
              <a:t>fenêtre → enregistrement → point</a:t>
            </a:r>
          </a:p>
        </p:txBody>
      </p:sp>
      <p:sp>
        <p:nvSpPr>
          <p:cNvPr id="35" name="Rounded Rectangle 34"/>
          <p:cNvSpPr/>
          <p:nvPr/>
        </p:nvSpPr>
        <p:spPr>
          <a:xfrm>
            <a:off x="9151576"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Sélection</a:t>
            </a:r>
          </a:p>
          <a:p>
            <a:pPr algn="ctr">
              <a:spcAft>
                <a:spcPts val="0"/>
              </a:spcAft>
            </a:pPr>
            <a:r>
              <a:rPr sz="1000" b="0" i="0">
                <a:solidFill>
                  <a:srgbClr val="C9DCCF"/>
                </a:solidFill>
                <a:latin typeface="Calibri"/>
              </a:rPr>
              <a:t>quoi faire écouter ?</a:t>
            </a:r>
          </a:p>
        </p:txBody>
      </p:sp>
      <p:sp>
        <p:nvSpPr>
          <p:cNvPr id="36" name="Rounded Rectangle 35"/>
          <p:cNvSpPr/>
          <p:nvPr/>
        </p:nvSpPr>
        <p:spPr>
          <a:xfrm>
            <a:off x="10600639" y="2560320"/>
            <a:ext cx="1133856" cy="868680"/>
          </a:xfrm>
          <a:prstGeom prst="roundRect">
            <a:avLst>
              <a:gd name="adj" fmla="val 14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350" b="1" i="0">
                <a:solidFill>
                  <a:srgbClr val="FFFFFF"/>
                </a:solidFill>
                <a:latin typeface="Calibri"/>
              </a:rPr>
              <a:t>Annotation</a:t>
            </a:r>
          </a:p>
          <a:p>
            <a:pPr algn="ctr">
              <a:spcAft>
                <a:spcPts val="0"/>
              </a:spcAft>
            </a:pPr>
            <a:r>
              <a:rPr sz="1000" b="0" i="0">
                <a:solidFill>
                  <a:srgbClr val="C9DCCF"/>
                </a:solidFill>
                <a:latin typeface="Calibri"/>
              </a:rPr>
              <a:t>labels, réentraînement</a:t>
            </a:r>
          </a:p>
        </p:txBody>
      </p:sp>
      <p:sp>
        <p:nvSpPr>
          <p:cNvPr id="37" name="Rounded Rectangle 36"/>
          <p:cNvSpPr/>
          <p:nvPr/>
        </p:nvSpPr>
        <p:spPr>
          <a:xfrm>
            <a:off x="457200" y="4818888"/>
            <a:ext cx="11277295" cy="457200"/>
          </a:xfrm>
          <a:prstGeom prst="roundRect">
            <a:avLst>
              <a:gd name="adj" fmla="val 30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1" i="0">
                <a:solidFill>
                  <a:srgbClr val="17332A"/>
                </a:solidFill>
                <a:latin typeface="Calibri"/>
              </a:rPr>
              <a:t>Évaluation (transverse)</a:t>
            </a:r>
            <a:r>
              <a:rPr sz="1300" b="0" i="0">
                <a:solidFill>
                  <a:srgbClr val="17332A"/>
                </a:solidFill>
                <a:latin typeface="Calibri"/>
              </a:rPr>
              <a:t> · jeu gelé · plis par micro · nouveaux sites · courbes 2023</a:t>
            </a:r>
          </a:p>
        </p:txBody>
      </p:sp>
      <p:sp>
        <p:nvSpPr>
          <p:cNvPr id="38" name="Rounded Rectangle 37"/>
          <p:cNvSpPr/>
          <p:nvPr/>
        </p:nvSpPr>
        <p:spPr>
          <a:xfrm>
            <a:off x="457200" y="598932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39" name="TextBox 38"/>
          <p:cNvSpPr txBox="1"/>
          <p:nvPr/>
        </p:nvSpPr>
        <p:spPr>
          <a:xfrm>
            <a:off x="1481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choix fait</a:t>
            </a:r>
          </a:p>
        </p:txBody>
      </p:sp>
      <p:sp>
        <p:nvSpPr>
          <p:cNvPr id="40" name="Rounded Rectangle 39"/>
          <p:cNvSpPr/>
          <p:nvPr/>
        </p:nvSpPr>
        <p:spPr>
          <a:xfrm>
            <a:off x="2743200" y="598932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41" name="TextBox 40"/>
          <p:cNvSpPr txBox="1"/>
          <p:nvPr/>
        </p:nvSpPr>
        <p:spPr>
          <a:xfrm>
            <a:off x="3767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via le benchmark</a:t>
            </a:r>
          </a:p>
        </p:txBody>
      </p:sp>
      <p:sp>
        <p:nvSpPr>
          <p:cNvPr id="42" name="Rounded Rectangle 41"/>
          <p:cNvSpPr/>
          <p:nvPr/>
        </p:nvSpPr>
        <p:spPr>
          <a:xfrm>
            <a:off x="5029200" y="598932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43" name="TextBox 42"/>
          <p:cNvSpPr txBox="1"/>
          <p:nvPr/>
        </p:nvSpPr>
        <p:spPr>
          <a:xfrm>
            <a:off x="6053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à discuter</a:t>
            </a:r>
          </a:p>
        </p:txBody>
      </p:sp>
      <p:sp>
        <p:nvSpPr>
          <p:cNvPr id="44" name="Rounded Rectangle 43"/>
          <p:cNvSpPr/>
          <p:nvPr/>
        </p:nvSpPr>
        <p:spPr>
          <a:xfrm>
            <a:off x="7315200" y="5989320"/>
            <a:ext cx="960120" cy="237744"/>
          </a:xfrm>
          <a:prstGeom prst="roundRect">
            <a:avLst>
              <a:gd name="adj" fmla="val 50000"/>
            </a:avLst>
          </a:prstGeom>
          <a:solidFill>
            <a:srgbClr val="3E7CB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essayer</a:t>
            </a:r>
          </a:p>
        </p:txBody>
      </p:sp>
      <p:sp>
        <p:nvSpPr>
          <p:cNvPr id="45" name="TextBox 44"/>
          <p:cNvSpPr txBox="1"/>
          <p:nvPr/>
        </p:nvSpPr>
        <p:spPr>
          <a:xfrm>
            <a:off x="8339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outil à évaluer</a:t>
            </a:r>
          </a:p>
        </p:txBody>
      </p:sp>
      <p:sp>
        <p:nvSpPr>
          <p:cNvPr id="46" name="Rounded Rectangle 45"/>
          <p:cNvSpPr/>
          <p:nvPr/>
        </p:nvSpPr>
        <p:spPr>
          <a:xfrm>
            <a:off x="9601200" y="5989320"/>
            <a:ext cx="960120" cy="237744"/>
          </a:xfrm>
          <a:prstGeom prst="roundRect">
            <a:avLst>
              <a:gd name="adj" fmla="val 50000"/>
            </a:avLst>
          </a:prstGeom>
          <a:solidFill>
            <a:srgbClr val="7D8983"/>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Plus tard</a:t>
            </a:r>
          </a:p>
        </p:txBody>
      </p:sp>
      <p:sp>
        <p:nvSpPr>
          <p:cNvPr id="47" name="TextBox 46"/>
          <p:cNvSpPr txBox="1"/>
          <p:nvPr/>
        </p:nvSpPr>
        <p:spPr>
          <a:xfrm>
            <a:off x="10625328" y="5989320"/>
            <a:ext cx="1325880" cy="256032"/>
          </a:xfrm>
          <a:prstGeom prst="rect">
            <a:avLst/>
          </a:prstGeom>
          <a:noFill/>
        </p:spPr>
        <p:txBody>
          <a:bodyPr wrap="square" lIns="0" tIns="0" rIns="0" bIns="0" anchor="ctr">
            <a:spAutoFit/>
          </a:bodyPr>
          <a:lstStyle/>
          <a:p>
            <a:pPr algn="l">
              <a:spcAft>
                <a:spcPts val="400"/>
              </a:spcAft>
            </a:pPr>
            <a:r>
              <a:rPr sz="1050" b="0" i="0">
                <a:solidFill>
                  <a:srgbClr val="5E6E66"/>
                </a:solidFill>
                <a:latin typeface="Calibri"/>
              </a:rPr>
              <a:t>après l'encodeur</a:t>
            </a:r>
          </a:p>
        </p:txBody>
      </p:sp>
      <p:sp>
        <p:nvSpPr>
          <p:cNvPr id="48" name="TextBox 47"/>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1</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Corpus et contrôle qualité</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dirty="0">
                <a:solidFill>
                  <a:srgbClr val="1C2B24"/>
                </a:solidFill>
                <a:latin typeface="Calibri"/>
              </a:rPr>
              <a:t>Corpus</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4</a:t>
            </a:r>
          </a:p>
        </p:txBody>
      </p:sp>
      <p:graphicFrame>
        <p:nvGraphicFramePr>
          <p:cNvPr id="31" name="Table 30"/>
          <p:cNvGraphicFramePr>
            <a:graphicFrameLocks noGrp="1"/>
          </p:cNvGraphicFramePr>
          <p:nvPr>
            <p:extLst>
              <p:ext uri="{D42A27DB-BD31-4B8C-83A1-F6EECF244321}">
                <p14:modId xmlns:p14="http://schemas.microsoft.com/office/powerpoint/2010/main" val="1676157504"/>
              </p:ext>
            </p:extLst>
          </p:nvPr>
        </p:nvGraphicFramePr>
        <p:xfrm>
          <a:off x="457200" y="2395728"/>
          <a:ext cx="11274552" cy="3663696"/>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402336">
                <a:tc>
                  <a:txBody>
                    <a:bodyPr/>
                    <a:lstStyle/>
                    <a:p>
                      <a:pPr algn="l">
                        <a:spcAft>
                          <a:spcPts val="0"/>
                        </a:spcAft>
                      </a:pPr>
                      <a:r>
                        <a:rPr sz="1150" b="1" i="0">
                          <a:solidFill>
                            <a:srgbClr val="FFFFFF"/>
                          </a:solidFill>
                          <a:latin typeface="Calibri"/>
                        </a:rPr>
                        <a:t>Élément</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Rôle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Limite ou question</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402336">
                <a:tc>
                  <a:txBody>
                    <a:bodyPr/>
                    <a:lstStyle/>
                    <a:p>
                      <a:pPr algn="l">
                        <a:spcAft>
                          <a:spcPts val="0"/>
                        </a:spcAft>
                      </a:pPr>
                      <a:r>
                        <a:rPr sz="1150" b="1" i="0">
                          <a:solidFill>
                            <a:srgbClr val="17332A"/>
                          </a:solidFill>
                          <a:latin typeface="Calibri"/>
                        </a:rPr>
                        <a:t>Campagne 2026 : Mataroni, Kaw, Trésor</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Entraînement (Mataroni) ; nouveaux sites (Kaw, Trésor)</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Positifs seulement à Mataroni pour l'instant</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402336">
                <a:tc>
                  <a:txBody>
                    <a:bodyPr/>
                    <a:lstStyle/>
                    <a:p>
                      <a:pPr algn="l">
                        <a:spcAft>
                          <a:spcPts val="0"/>
                        </a:spcAft>
                      </a:pPr>
                      <a:r>
                        <a:rPr sz="1150" b="1" i="0">
                          <a:solidFill>
                            <a:srgbClr val="17332A"/>
                          </a:solidFill>
                          <a:latin typeface="Calibri"/>
                        </a:rPr>
                        <a:t>Phénologie 2023-2024 : 3 sites, un an</a:t>
                      </a: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Tester la généralisation</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Pas de données annotées</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2"/>
                  </a:ext>
                </a:extLst>
              </a:tr>
              <a:tr h="402336">
                <a:tc>
                  <a:txBody>
                    <a:bodyPr/>
                    <a:lstStyle/>
                    <a:p>
                      <a:pPr algn="l">
                        <a:spcAft>
                          <a:spcPts val="0"/>
                        </a:spcAft>
                      </a:pPr>
                      <a:r>
                        <a:rPr sz="1150" b="1" i="0">
                          <a:solidFill>
                            <a:srgbClr val="17332A"/>
                          </a:solidFill>
                          <a:latin typeface="Calibri"/>
                        </a:rPr>
                        <a:t>AnuraSet</a:t>
                      </a:r>
                    </a:p>
                  </a:txBody>
                  <a:tcPr marL="73152" marR="73152" marT="36576" marB="36576" anchor="ctr">
                    <a:solidFill>
                      <a:srgbClr val="F4F8F5"/>
                    </a:solidFill>
                  </a:tcPr>
                </a:tc>
                <a:tc>
                  <a:txBody>
                    <a:bodyPr/>
                    <a:lstStyle/>
                    <a:p>
                      <a:pPr algn="l">
                        <a:spcAft>
                          <a:spcPts val="0"/>
                        </a:spcAft>
                      </a:pPr>
                      <a:r>
                        <a:rPr sz="1150" b="0" i="0" dirty="0">
                          <a:solidFill>
                            <a:srgbClr val="1C2B24"/>
                          </a:solidFill>
                          <a:latin typeface="Calibri"/>
                        </a:rPr>
                        <a:t>Pré-</a:t>
                      </a:r>
                      <a:r>
                        <a:rPr lang="fr-FR" sz="1150" b="0" i="0" dirty="0">
                          <a:solidFill>
                            <a:srgbClr val="1C2B24"/>
                          </a:solidFill>
                          <a:latin typeface="Calibri"/>
                        </a:rPr>
                        <a:t>benchmark </a:t>
                      </a:r>
                      <a:r>
                        <a:rPr sz="1150" b="0" i="0" dirty="0">
                          <a:solidFill>
                            <a:srgbClr val="1C2B24"/>
                          </a:solidFill>
                          <a:latin typeface="Calibri"/>
                        </a:rPr>
                        <a:t>des </a:t>
                      </a:r>
                      <a:r>
                        <a:rPr sz="1150" b="0" i="0" dirty="0" err="1">
                          <a:solidFill>
                            <a:srgbClr val="1C2B24"/>
                          </a:solidFill>
                          <a:latin typeface="Calibri"/>
                        </a:rPr>
                        <a:t>encodeurs</a:t>
                      </a:r>
                      <a:r>
                        <a:rPr sz="1150" b="0" i="0" dirty="0">
                          <a:solidFill>
                            <a:srgbClr val="1C2B24"/>
                          </a:solidFill>
                          <a:latin typeface="Calibri"/>
                        </a:rPr>
                        <a:t> sur des </a:t>
                      </a:r>
                      <a:r>
                        <a:rPr sz="1150" b="0" i="0" dirty="0" err="1">
                          <a:solidFill>
                            <a:srgbClr val="1C2B24"/>
                          </a:solidFill>
                          <a:latin typeface="Calibri"/>
                        </a:rPr>
                        <a:t>milliers</a:t>
                      </a:r>
                      <a:r>
                        <a:rPr sz="1150" b="0" i="0" dirty="0">
                          <a:solidFill>
                            <a:srgbClr val="1C2B24"/>
                          </a:solidFill>
                          <a:latin typeface="Calibri"/>
                        </a:rPr>
                        <a:t> </a:t>
                      </a:r>
                      <a:r>
                        <a:rPr sz="1150" b="0" i="0" dirty="0" err="1">
                          <a:solidFill>
                            <a:srgbClr val="1C2B24"/>
                          </a:solidFill>
                          <a:latin typeface="Calibri"/>
                        </a:rPr>
                        <a:t>d'anoures</a:t>
                      </a:r>
                      <a:r>
                        <a:rPr sz="1150" b="0" i="0" dirty="0">
                          <a:solidFill>
                            <a:srgbClr val="1C2B24"/>
                          </a:solidFill>
                          <a:latin typeface="Calibri"/>
                        </a:rPr>
                        <a:t> </a:t>
                      </a:r>
                      <a:r>
                        <a:rPr sz="1150" b="0" i="0" dirty="0" err="1">
                          <a:solidFill>
                            <a:srgbClr val="1C2B24"/>
                          </a:solidFill>
                          <a:latin typeface="Calibri"/>
                        </a:rPr>
                        <a:t>annotés</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Aucune espèce ne ressemble parfaitement à </a:t>
                      </a:r>
                      <a:r>
                        <a:rPr sz="1150" b="0" i="1">
                          <a:solidFill>
                            <a:srgbClr val="1C2B24"/>
                          </a:solidFill>
                          <a:latin typeface="Calibri"/>
                        </a:rPr>
                        <a:t>A. blanci</a:t>
                      </a:r>
                    </a:p>
                  </a:txBody>
                  <a:tcPr marL="73152" marR="73152" marT="36576" marB="36576" anchor="ctr">
                    <a:solidFill>
                      <a:srgbClr val="F4F8F5"/>
                    </a:solidFill>
                  </a:tcPr>
                </a:tc>
                <a:tc>
                  <a:txBody>
                    <a:bodyPr/>
                    <a:lstStyle/>
                    <a:p>
                      <a:pPr algn="l">
                        <a:spcAft>
                          <a:spcPts val="0"/>
                        </a:spcAft>
                      </a:pPr>
                      <a:r>
                        <a:rPr sz="1150" b="1" i="0">
                          <a:solidFill>
                            <a:srgbClr val="C0492F"/>
                          </a:solidFill>
                          <a:latin typeface="Calibri"/>
                        </a:rPr>
                        <a:t>● À trancher</a:t>
                      </a:r>
                    </a:p>
                  </a:txBody>
                  <a:tcPr marL="73152" marR="73152" marT="36576" marB="36576" anchor="ctr">
                    <a:solidFill>
                      <a:srgbClr val="F4F8F5"/>
                    </a:solidFill>
                  </a:tcPr>
                </a:tc>
                <a:extLst>
                  <a:ext uri="{0D108BD9-81ED-4DB2-BD59-A6C34878D82A}">
                    <a16:rowId xmlns:a16="http://schemas.microsoft.com/office/drawing/2014/main" val="10003"/>
                  </a:ext>
                </a:extLst>
              </a:tr>
              <a:tr h="402336">
                <a:tc>
                  <a:txBody>
                    <a:bodyPr/>
                    <a:lstStyle/>
                    <a:p>
                      <a:pPr algn="l">
                        <a:spcAft>
                          <a:spcPts val="0"/>
                        </a:spcAft>
                      </a:pPr>
                      <a:r>
                        <a:rPr sz="1150" b="1" i="0" dirty="0" err="1">
                          <a:solidFill>
                            <a:srgbClr val="17332A"/>
                          </a:solidFill>
                          <a:latin typeface="Calibri"/>
                        </a:rPr>
                        <a:t>Positifs</a:t>
                      </a:r>
                      <a:r>
                        <a:rPr sz="1150" b="1" i="0" dirty="0">
                          <a:solidFill>
                            <a:srgbClr val="17332A"/>
                          </a:solidFill>
                          <a:latin typeface="Calibri"/>
                        </a:rPr>
                        <a:t> et faux </a:t>
                      </a:r>
                      <a:r>
                        <a:rPr sz="1150" b="1" i="0" dirty="0" err="1">
                          <a:solidFill>
                            <a:srgbClr val="17332A"/>
                          </a:solidFill>
                          <a:latin typeface="Calibri"/>
                        </a:rPr>
                        <a:t>amis</a:t>
                      </a:r>
                      <a:r>
                        <a:rPr sz="1150" b="1" i="0" dirty="0">
                          <a:solidFill>
                            <a:srgbClr val="17332A"/>
                          </a:solidFill>
                          <a:latin typeface="Calibri"/>
                        </a:rPr>
                        <a:t> </a:t>
                      </a:r>
                      <a:r>
                        <a:rPr sz="1150" b="1" i="0" dirty="0" err="1">
                          <a:solidFill>
                            <a:srgbClr val="17332A"/>
                          </a:solidFill>
                          <a:latin typeface="Calibri"/>
                        </a:rPr>
                        <a:t>vérifiés</a:t>
                      </a:r>
                      <a:endParaRPr sz="1150" b="1" i="0" dirty="0">
                        <a:solidFill>
                          <a:srgbClr val="17332A"/>
                        </a:solidFill>
                        <a:latin typeface="Calibri"/>
                      </a:endParaRP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Qualité </a:t>
                      </a:r>
                      <a:r>
                        <a:rPr sz="1150" b="0" i="0" dirty="0">
                          <a:solidFill>
                            <a:srgbClr val="1C2B24"/>
                          </a:solidFill>
                          <a:latin typeface="Calibri"/>
                        </a:rPr>
                        <a:t>A/B/C, </a:t>
                      </a:r>
                      <a:r>
                        <a:rPr sz="1150" b="0" i="0" dirty="0" err="1">
                          <a:solidFill>
                            <a:srgbClr val="1C2B24"/>
                          </a:solidFill>
                          <a:latin typeface="Calibri"/>
                        </a:rPr>
                        <a:t>commentaire</a:t>
                      </a:r>
                      <a:r>
                        <a:rPr sz="1150" b="0" i="0" dirty="0">
                          <a:solidFill>
                            <a:srgbClr val="1C2B24"/>
                          </a:solidFill>
                          <a:latin typeface="Calibri"/>
                        </a:rPr>
                        <a:t> </a:t>
                      </a:r>
                      <a:r>
                        <a:rPr sz="1150" b="0" i="0" dirty="0" err="1">
                          <a:solidFill>
                            <a:srgbClr val="1C2B24"/>
                          </a:solidFill>
                          <a:latin typeface="Calibri"/>
                        </a:rPr>
                        <a:t>gardé</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Biais de sélection Blancinet</a:t>
                      </a:r>
                    </a:p>
                  </a:txBody>
                  <a:tcPr marL="73152" marR="73152" marT="36576" marB="36576" anchor="ctr">
                    <a:solidFill>
                      <a:srgbClr val="FFFFFF"/>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4"/>
                  </a:ext>
                </a:extLst>
              </a:tr>
              <a:tr h="402336">
                <a:tc>
                  <a:txBody>
                    <a:bodyPr/>
                    <a:lstStyle/>
                    <a:p>
                      <a:pPr algn="l">
                        <a:spcAft>
                          <a:spcPts val="0"/>
                        </a:spcAft>
                      </a:pPr>
                      <a:r>
                        <a:rPr sz="1150" b="1" i="0">
                          <a:solidFill>
                            <a:srgbClr val="17332A"/>
                          </a:solidFill>
                          <a:latin typeface="Calibri"/>
                        </a:rPr>
                        <a:t>Négatifs appariés présumés</a:t>
                      </a:r>
                    </a:p>
                  </a:txBody>
                  <a:tcPr marL="73152" marR="73152" marT="36576" marB="36576" anchor="ctr">
                    <a:solidFill>
                      <a:srgbClr val="F4F8F5"/>
                    </a:solidFill>
                  </a:tcPr>
                </a:tc>
                <a:tc>
                  <a:txBody>
                    <a:bodyPr/>
                    <a:lstStyle/>
                    <a:p>
                      <a:pPr algn="l">
                        <a:spcAft>
                          <a:spcPts val="0"/>
                        </a:spcAft>
                      </a:pPr>
                      <a:r>
                        <a:rPr lang="fr-FR" sz="1150" b="0" i="0" dirty="0">
                          <a:solidFill>
                            <a:srgbClr val="1C2B24"/>
                          </a:solidFill>
                          <a:latin typeface="Calibri"/>
                        </a:rPr>
                        <a:t>Pour la </a:t>
                      </a:r>
                      <a:r>
                        <a:rPr lang="fr-FR" sz="1150" b="0" i="0" dirty="0" err="1">
                          <a:solidFill>
                            <a:srgbClr val="1C2B24"/>
                          </a:solidFill>
                          <a:latin typeface="Calibri"/>
                        </a:rPr>
                        <a:t>baseline</a:t>
                      </a:r>
                      <a:r>
                        <a:rPr lang="fr-FR" sz="1150" b="0" i="0" dirty="0">
                          <a:solidFill>
                            <a:srgbClr val="1C2B24"/>
                          </a:solidFill>
                          <a:latin typeface="Calibri"/>
                        </a:rPr>
                        <a:t> de </a:t>
                      </a:r>
                      <a:r>
                        <a:rPr lang="fr-FR" sz="1150" b="0" i="0" dirty="0" err="1">
                          <a:solidFill>
                            <a:srgbClr val="1C2B24"/>
                          </a:solidFill>
                          <a:latin typeface="Calibri"/>
                        </a:rPr>
                        <a:t>head</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Peuvent contenir </a:t>
                      </a:r>
                      <a:r>
                        <a:rPr sz="1150" b="0" i="1">
                          <a:solidFill>
                            <a:srgbClr val="1C2B24"/>
                          </a:solidFill>
                          <a:latin typeface="Calibri"/>
                        </a:rPr>
                        <a:t>A. blanci</a:t>
                      </a:r>
                      <a:r>
                        <a:rPr sz="1150" b="0" i="0">
                          <a:solidFill>
                            <a:srgbClr val="1C2B24"/>
                          </a:solidFill>
                          <a:latin typeface="Calibri"/>
                        </a:rPr>
                        <a:t> : biais assumé</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5"/>
                  </a:ext>
                </a:extLst>
              </a:tr>
              <a:tr h="402336">
                <a:tc>
                  <a:txBody>
                    <a:bodyPr/>
                    <a:lstStyle/>
                    <a:p>
                      <a:pPr algn="l">
                        <a:spcAft>
                          <a:spcPts val="0"/>
                        </a:spcAft>
                      </a:pPr>
                      <a:r>
                        <a:rPr sz="1150" b="1" i="0">
                          <a:solidFill>
                            <a:srgbClr val="17332A"/>
                          </a:solidFill>
                          <a:latin typeface="Calibri"/>
                        </a:rPr>
                        <a:t>Negative mining</a:t>
                      </a:r>
                    </a:p>
                  </a:txBody>
                  <a:tcPr marL="73152" marR="73152" marT="36576" marB="36576" anchor="ctr">
                    <a:solidFill>
                      <a:srgbClr val="FFFFFF"/>
                    </a:solidFill>
                  </a:tcPr>
                </a:tc>
                <a:tc>
                  <a:txBody>
                    <a:bodyPr/>
                    <a:lstStyle/>
                    <a:p>
                      <a:pPr algn="l">
                        <a:spcAft>
                          <a:spcPts val="0"/>
                        </a:spcAft>
                      </a:pPr>
                      <a:r>
                        <a:rPr sz="1150" b="0" i="0" dirty="0">
                          <a:solidFill>
                            <a:srgbClr val="1C2B24"/>
                          </a:solidFill>
                          <a:latin typeface="Calibri"/>
                        </a:rPr>
                        <a:t>Faux </a:t>
                      </a:r>
                      <a:r>
                        <a:rPr sz="1150" b="0" i="0" dirty="0" err="1">
                          <a:solidFill>
                            <a:srgbClr val="1C2B24"/>
                          </a:solidFill>
                          <a:latin typeface="Calibri"/>
                        </a:rPr>
                        <a:t>amis</a:t>
                      </a:r>
                      <a:r>
                        <a:rPr sz="1150" b="0" i="0" dirty="0">
                          <a:solidFill>
                            <a:srgbClr val="1C2B24"/>
                          </a:solidFill>
                          <a:latin typeface="Calibri"/>
                        </a:rPr>
                        <a:t> </a:t>
                      </a:r>
                      <a:r>
                        <a:rPr sz="1150" b="0" i="0" dirty="0" err="1">
                          <a:solidFill>
                            <a:srgbClr val="1C2B24"/>
                          </a:solidFill>
                          <a:latin typeface="Calibri"/>
                        </a:rPr>
                        <a:t>identifiés</a:t>
                      </a:r>
                      <a:r>
                        <a:rPr sz="1150" b="0" i="0" dirty="0">
                          <a:solidFill>
                            <a:srgbClr val="1C2B24"/>
                          </a:solidFill>
                          <a:latin typeface="Calibri"/>
                        </a:rPr>
                        <a:t>, </a:t>
                      </a:r>
                      <a:r>
                        <a:rPr sz="1150" b="0" i="0" dirty="0" err="1">
                          <a:solidFill>
                            <a:srgbClr val="1C2B24"/>
                          </a:solidFill>
                          <a:latin typeface="Calibri"/>
                        </a:rPr>
                        <a:t>puis</a:t>
                      </a:r>
                      <a:r>
                        <a:rPr sz="1150" b="0" i="0" dirty="0">
                          <a:solidFill>
                            <a:srgbClr val="1C2B24"/>
                          </a:solidFill>
                          <a:latin typeface="Calibri"/>
                        </a:rPr>
                        <a:t> </a:t>
                      </a:r>
                      <a:r>
                        <a:rPr sz="1150" b="0" i="0" dirty="0" err="1">
                          <a:solidFill>
                            <a:srgbClr val="1C2B24"/>
                          </a:solidFill>
                          <a:latin typeface="Calibri"/>
                        </a:rPr>
                        <a:t>négatifs</a:t>
                      </a:r>
                      <a:r>
                        <a:rPr sz="1150" b="0" i="0" dirty="0">
                          <a:solidFill>
                            <a:srgbClr val="1C2B24"/>
                          </a:solidFill>
                          <a:latin typeface="Calibri"/>
                        </a:rPr>
                        <a:t> </a:t>
                      </a:r>
                      <a:r>
                        <a:rPr sz="1150" b="0" i="0" dirty="0" err="1">
                          <a:solidFill>
                            <a:srgbClr val="1C2B24"/>
                          </a:solidFill>
                          <a:latin typeface="Calibri"/>
                        </a:rPr>
                        <a:t>durs</a:t>
                      </a:r>
                      <a:r>
                        <a:rPr sz="1150" b="0" i="0" dirty="0">
                          <a:solidFill>
                            <a:srgbClr val="1C2B24"/>
                          </a:solidFill>
                          <a:latin typeface="Calibri"/>
                        </a:rPr>
                        <a:t> </a:t>
                      </a:r>
                      <a:r>
                        <a:rPr sz="1150" b="0" i="0" dirty="0" err="1">
                          <a:solidFill>
                            <a:srgbClr val="1C2B24"/>
                          </a:solidFill>
                          <a:latin typeface="Calibri"/>
                        </a:rPr>
                        <a:t>remontés</a:t>
                      </a:r>
                      <a:r>
                        <a:rPr sz="1150" b="0" i="0" dirty="0">
                          <a:solidFill>
                            <a:srgbClr val="1C2B24"/>
                          </a:solidFill>
                          <a:latin typeface="Calibri"/>
                        </a:rPr>
                        <a:t> par la boucle</a:t>
                      </a: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Amélioration du modèle </a:t>
                      </a:r>
                      <a:r>
                        <a:rPr lang="fr-FR" sz="1150" b="0" i="0">
                          <a:solidFill>
                            <a:srgbClr val="1C2B24"/>
                          </a:solidFill>
                          <a:latin typeface="Calibri"/>
                        </a:rPr>
                        <a:t>ou pas ?</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6"/>
                  </a:ext>
                </a:extLst>
              </a:tr>
              <a:tr h="402336">
                <a:tc>
                  <a:txBody>
                    <a:bodyPr/>
                    <a:lstStyle/>
                    <a:p>
                      <a:pPr algn="l">
                        <a:spcAft>
                          <a:spcPts val="0"/>
                        </a:spcAft>
                      </a:pPr>
                      <a:r>
                        <a:rPr sz="1150" b="1" i="0">
                          <a:solidFill>
                            <a:srgbClr val="17332A"/>
                          </a:solidFill>
                          <a:latin typeface="Calibri"/>
                        </a:rPr>
                        <a:t>Drapeaux de qualité</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Exclus : silencieux, micro dans sac, hors relevé</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Pluie et saturation gardées : le corpus reste réaliste</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7"/>
                  </a:ext>
                </a:extLst>
              </a:tr>
              <a:tr h="402336">
                <a:tc>
                  <a:txBody>
                    <a:bodyPr/>
                    <a:lstStyle/>
                    <a:p>
                      <a:pPr algn="l">
                        <a:spcAft>
                          <a:spcPts val="0"/>
                        </a:spcAft>
                      </a:pPr>
                      <a:r>
                        <a:rPr sz="1150" b="1" i="0">
                          <a:solidFill>
                            <a:srgbClr val="17332A"/>
                          </a:solidFill>
                          <a:latin typeface="Calibri"/>
                        </a:rPr>
                        <a:t>Canal stéréo (deux gains)</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Un canal, l'autre, ou leur moyenne</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Le canal à fort gain sature parfois</a:t>
                      </a:r>
                    </a:p>
                  </a:txBody>
                  <a:tcPr marL="73152" marR="73152" marT="36576" marB="36576" anchor="ctr">
                    <a:solidFill>
                      <a:srgbClr val="FFFFFF"/>
                    </a:solidFill>
                  </a:tcPr>
                </a:tc>
                <a:tc>
                  <a:txBody>
                    <a:bodyPr/>
                    <a:lstStyle/>
                    <a:p>
                      <a:pPr algn="l">
                        <a:spcAft>
                          <a:spcPts val="0"/>
                        </a:spcAft>
                      </a:pPr>
                      <a:r>
                        <a:rPr sz="1150" b="1" i="0" dirty="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2</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Fenêtrage : quelle unité d'écoute pour la machine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5</a:t>
            </a:r>
          </a:p>
        </p:txBody>
      </p:sp>
      <p:sp>
        <p:nvSpPr>
          <p:cNvPr id="31" name="TextBox 30"/>
          <p:cNvSpPr txBox="1"/>
          <p:nvPr/>
        </p:nvSpPr>
        <p:spPr>
          <a:xfrm>
            <a:off x="457200" y="2395728"/>
            <a:ext cx="5303520" cy="274320"/>
          </a:xfrm>
          <a:prstGeom prst="rect">
            <a:avLst/>
          </a:prstGeom>
          <a:noFill/>
        </p:spPr>
        <p:txBody>
          <a:bodyPr wrap="square" lIns="0" tIns="0" rIns="0" bIns="0" anchor="t">
            <a:spAutoFit/>
          </a:bodyPr>
          <a:lstStyle/>
          <a:p>
            <a:pPr algn="l">
              <a:spcAft>
                <a:spcPts val="400"/>
              </a:spcAft>
            </a:pPr>
            <a:r>
              <a:rPr sz="1200" b="1" i="0">
                <a:solidFill>
                  <a:srgbClr val="17332A"/>
                </a:solidFill>
                <a:latin typeface="Calibri"/>
              </a:rPr>
              <a:t>Un extrait d'enregistrement, grille de 3 s au pas de 1,5 s</a:t>
            </a:r>
          </a:p>
        </p:txBody>
      </p:sp>
      <p:cxnSp>
        <p:nvCxnSpPr>
          <p:cNvPr id="32" name="Connector 31"/>
          <p:cNvCxnSpPr/>
          <p:nvPr/>
        </p:nvCxnSpPr>
        <p:spPr>
          <a:xfrm>
            <a:off x="457200" y="3566160"/>
            <a:ext cx="5120640" cy="0"/>
          </a:xfrm>
          <a:prstGeom prst="line">
            <a:avLst/>
          </a:prstGeom>
          <a:ln w="12700">
            <a:solidFill>
              <a:srgbClr val="9DB3A6"/>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41680"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4" name="Rounded Rectangle 33"/>
          <p:cNvSpPr/>
          <p:nvPr/>
        </p:nvSpPr>
        <p:spPr>
          <a:xfrm>
            <a:off x="1546189"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5" name="Rounded Rectangle 34"/>
          <p:cNvSpPr/>
          <p:nvPr/>
        </p:nvSpPr>
        <p:spPr>
          <a:xfrm>
            <a:off x="2350698"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6" name="Rounded Rectangle 35"/>
          <p:cNvSpPr/>
          <p:nvPr/>
        </p:nvSpPr>
        <p:spPr>
          <a:xfrm>
            <a:off x="3155208"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7" name="Rounded Rectangle 36"/>
          <p:cNvSpPr/>
          <p:nvPr/>
        </p:nvSpPr>
        <p:spPr>
          <a:xfrm>
            <a:off x="3959717"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8" name="Rounded Rectangle 37"/>
          <p:cNvSpPr/>
          <p:nvPr/>
        </p:nvSpPr>
        <p:spPr>
          <a:xfrm>
            <a:off x="4764227"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9" name="Rounded Rectangle 38"/>
          <p:cNvSpPr/>
          <p:nvPr/>
        </p:nvSpPr>
        <p:spPr>
          <a:xfrm>
            <a:off x="5568736" y="3429000"/>
            <a:ext cx="54864" cy="2743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0" name="Rounded Rectangle 39"/>
          <p:cNvSpPr/>
          <p:nvPr/>
        </p:nvSpPr>
        <p:spPr>
          <a:xfrm>
            <a:off x="457200" y="3017520"/>
            <a:ext cx="1706880" cy="45720"/>
          </a:xfrm>
          <a:prstGeom prst="roundRect">
            <a:avLst>
              <a:gd name="adj" fmla="val 5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1" name="Rounded Rectangle 40"/>
          <p:cNvSpPr/>
          <p:nvPr/>
        </p:nvSpPr>
        <p:spPr>
          <a:xfrm>
            <a:off x="1310640" y="3127248"/>
            <a:ext cx="1706880" cy="45720"/>
          </a:xfrm>
          <a:prstGeom prst="roundRect">
            <a:avLst>
              <a:gd name="adj" fmla="val 50000"/>
            </a:avLst>
          </a:prstGeom>
          <a:solidFill>
            <a:srgbClr val="9DB3A6"/>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Rounded Rectangle 41"/>
          <p:cNvSpPr/>
          <p:nvPr/>
        </p:nvSpPr>
        <p:spPr>
          <a:xfrm>
            <a:off x="2164080" y="3017520"/>
            <a:ext cx="1706880" cy="45720"/>
          </a:xfrm>
          <a:prstGeom prst="roundRect">
            <a:avLst>
              <a:gd name="adj" fmla="val 5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3" name="Rounded Rectangle 42"/>
          <p:cNvSpPr/>
          <p:nvPr/>
        </p:nvSpPr>
        <p:spPr>
          <a:xfrm>
            <a:off x="3017520" y="3127248"/>
            <a:ext cx="1706880" cy="45720"/>
          </a:xfrm>
          <a:prstGeom prst="roundRect">
            <a:avLst>
              <a:gd name="adj" fmla="val 50000"/>
            </a:avLst>
          </a:prstGeom>
          <a:solidFill>
            <a:srgbClr val="9DB3A6"/>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4" name="Rounded Rectangle 43"/>
          <p:cNvSpPr/>
          <p:nvPr/>
        </p:nvSpPr>
        <p:spPr>
          <a:xfrm>
            <a:off x="3870960" y="3017520"/>
            <a:ext cx="1706880" cy="45720"/>
          </a:xfrm>
          <a:prstGeom prst="roundRect">
            <a:avLst>
              <a:gd name="adj" fmla="val 5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5" name="TextBox 44"/>
          <p:cNvSpPr txBox="1"/>
          <p:nvPr/>
        </p:nvSpPr>
        <p:spPr>
          <a:xfrm>
            <a:off x="457200" y="3794760"/>
            <a:ext cx="5303520" cy="274320"/>
          </a:xfrm>
          <a:prstGeom prst="rect">
            <a:avLst/>
          </a:prstGeom>
          <a:noFill/>
        </p:spPr>
        <p:txBody>
          <a:bodyPr wrap="square" lIns="0" tIns="0" rIns="0" bIns="0" anchor="t">
            <a:spAutoFit/>
          </a:bodyPr>
          <a:lstStyle/>
          <a:p>
            <a:pPr algn="l">
              <a:spcAft>
                <a:spcPts val="400"/>
              </a:spcAft>
            </a:pPr>
            <a:r>
              <a:rPr sz="1100" b="0" i="1">
                <a:solidFill>
                  <a:srgbClr val="5E6E66"/>
                </a:solidFill>
                <a:latin typeface="Calibri"/>
              </a:rPr>
              <a:t>chaque instant est vu par deux fenêtres</a:t>
            </a:r>
          </a:p>
        </p:txBody>
      </p:sp>
      <p:sp>
        <p:nvSpPr>
          <p:cNvPr id="46" name="TextBox 45"/>
          <p:cNvSpPr txBox="1"/>
          <p:nvPr/>
        </p:nvSpPr>
        <p:spPr>
          <a:xfrm>
            <a:off x="457200" y="4251960"/>
            <a:ext cx="5303520" cy="2103120"/>
          </a:xfrm>
          <a:prstGeom prst="rect">
            <a:avLst/>
          </a:prstGeom>
          <a:noFill/>
        </p:spPr>
        <p:txBody>
          <a:bodyPr wrap="square" lIns="0" tIns="0" rIns="0" bIns="0" anchor="t">
            <a:spAutoFit/>
          </a:bodyPr>
          <a:lstStyle/>
          <a:p>
            <a:pPr marL="164592" indent="-164592" algn="l">
              <a:spcAft>
                <a:spcPts val="600"/>
              </a:spcAft>
              <a:buClr>
                <a:srgbClr val="2F6B4F"/>
              </a:buClr>
              <a:buFont typeface="Arial"/>
              <a:buChar char="•"/>
            </a:pPr>
            <a:r>
              <a:rPr sz="1350" b="0" i="0">
                <a:solidFill>
                  <a:srgbClr val="1C2B24"/>
                </a:solidFill>
                <a:latin typeface="Calibri"/>
              </a:rPr>
              <a:t>Chaque encodeur impose sa fenêtre : 3 s (BirdNET) ou 5–6 s (les autres).</a:t>
            </a:r>
          </a:p>
          <a:p>
            <a:pPr marL="164592" indent="-164592" algn="l">
              <a:spcAft>
                <a:spcPts val="600"/>
              </a:spcAft>
              <a:buClr>
                <a:srgbClr val="2F6B4F"/>
              </a:buClr>
              <a:buFont typeface="Arial"/>
              <a:buChar char="•"/>
            </a:pPr>
            <a:r>
              <a:rPr sz="1350" b="0" i="0">
                <a:solidFill>
                  <a:srgbClr val="1C2B24"/>
                </a:solidFill>
                <a:latin typeface="Calibri"/>
              </a:rPr>
              <a:t>Pas d'une demi-fenêtre.</a:t>
            </a:r>
          </a:p>
          <a:p>
            <a:pPr marL="164592" indent="-164592" algn="l">
              <a:spcAft>
                <a:spcPts val="600"/>
              </a:spcAft>
              <a:buClr>
                <a:srgbClr val="2F6B4F"/>
              </a:buClr>
              <a:buFont typeface="Arial"/>
              <a:buChar char="•"/>
            </a:pPr>
            <a:r>
              <a:rPr sz="1350" b="0" i="0">
                <a:solidFill>
                  <a:srgbClr val="1C2B24"/>
                </a:solidFill>
                <a:latin typeface="Calibri"/>
              </a:rPr>
              <a:t>Les annotations (fenêtres de 3 s) sont reportées sur la grille de chaque encodeur.</a:t>
            </a:r>
          </a:p>
          <a:p>
            <a:pPr marL="164592" indent="-164592" algn="l">
              <a:spcAft>
                <a:spcPts val="600"/>
              </a:spcAft>
              <a:buClr>
                <a:srgbClr val="2F6B4F"/>
              </a:buClr>
              <a:buFont typeface="Arial"/>
              <a:buChar char="•"/>
            </a:pPr>
            <a:r>
              <a:rPr sz="1350" b="0" i="0">
                <a:solidFill>
                  <a:srgbClr val="1C2B24"/>
                </a:solidFill>
                <a:latin typeface="Calibri"/>
              </a:rPr>
              <a:t>Une note de 0,09 s n'occupe que 2 à 3 % d'une fenêtre : tout le problème de l'échelle.</a:t>
            </a:r>
          </a:p>
        </p:txBody>
      </p:sp>
      <p:graphicFrame>
        <p:nvGraphicFramePr>
          <p:cNvPr id="47" name="Table 46"/>
          <p:cNvGraphicFramePr>
            <a:graphicFrameLocks noGrp="1"/>
          </p:cNvGraphicFramePr>
          <p:nvPr>
            <p:extLst>
              <p:ext uri="{D42A27DB-BD31-4B8C-83A1-F6EECF244321}">
                <p14:modId xmlns:p14="http://schemas.microsoft.com/office/powerpoint/2010/main" val="1355098929"/>
              </p:ext>
            </p:extLst>
          </p:nvPr>
        </p:nvGraphicFramePr>
        <p:xfrm>
          <a:off x="6126480" y="2395728"/>
          <a:ext cx="5605272" cy="1828800"/>
        </p:xfrm>
        <a:graphic>
          <a:graphicData uri="http://schemas.openxmlformats.org/drawingml/2006/table">
            <a:tbl>
              <a:tblPr firstRow="1">
                <a:tableStyleId>{5C22544A-7EE6-4342-B048-85BDC9FD1C3A}</a:tableStyleId>
              </a:tblPr>
              <a:tblGrid>
                <a:gridCol w="15544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tblGrid>
              <a:tr h="457200">
                <a:tc>
                  <a:txBody>
                    <a:bodyPr/>
                    <a:lstStyle/>
                    <a:p>
                      <a:pPr algn="l">
                        <a:spcAft>
                          <a:spcPts val="0"/>
                        </a:spcAft>
                      </a:pPr>
                      <a:r>
                        <a:rPr sz="1150" b="1" i="0">
                          <a:solidFill>
                            <a:srgbClr val="FFFFFF"/>
                          </a:solidFill>
                          <a:latin typeface="Calibri"/>
                        </a:rPr>
                        <a:t>Protocole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Principe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457200">
                <a:tc>
                  <a:txBody>
                    <a:bodyPr/>
                    <a:lstStyle/>
                    <a:p>
                      <a:pPr algn="l">
                        <a:spcAft>
                          <a:spcPts val="0"/>
                        </a:spcAft>
                      </a:pPr>
                      <a:r>
                        <a:rPr sz="1150" b="1" i="0">
                          <a:solidFill>
                            <a:srgbClr val="17332A"/>
                          </a:solidFill>
                          <a:latin typeface="Calibri"/>
                        </a:rPr>
                        <a:t>A · grille standard</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Fenêtres régulières, pas d'une demi-fenêtre</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457200">
                <a:tc>
                  <a:txBody>
                    <a:bodyPr/>
                    <a:lstStyle/>
                    <a:p>
                      <a:pPr algn="l">
                        <a:spcAft>
                          <a:spcPts val="0"/>
                        </a:spcAft>
                      </a:pPr>
                      <a:r>
                        <a:rPr sz="1150" b="1" i="0">
                          <a:solidFill>
                            <a:srgbClr val="17332A"/>
                          </a:solidFill>
                          <a:latin typeface="Calibri"/>
                        </a:rPr>
                        <a:t>B · pas resserré</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Plus de fenêtres, la note tombe mieux au centre</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150" b="1" i="0" dirty="0" err="1">
                          <a:solidFill>
                            <a:srgbClr val="17332A"/>
                          </a:solidFill>
                          <a:latin typeface="Calibri"/>
                        </a:rPr>
                        <a:t>Seuillage</a:t>
                      </a:r>
                      <a:r>
                        <a:rPr sz="1150" b="1" i="0" dirty="0">
                          <a:solidFill>
                            <a:srgbClr val="17332A"/>
                          </a:solidFill>
                          <a:latin typeface="Calibri"/>
                        </a:rPr>
                        <a:t> spectral </a:t>
                      </a:r>
                      <a:r>
                        <a:rPr sz="1150" b="1" i="0" dirty="0" err="1">
                          <a:solidFill>
                            <a:srgbClr val="17332A"/>
                          </a:solidFill>
                          <a:latin typeface="Calibri"/>
                        </a:rPr>
                        <a:t>en</a:t>
                      </a:r>
                      <a:r>
                        <a:rPr sz="1150" b="1" i="0" dirty="0">
                          <a:solidFill>
                            <a:srgbClr val="17332A"/>
                          </a:solidFill>
                          <a:latin typeface="Calibri"/>
                        </a:rPr>
                        <a:t> </a:t>
                      </a:r>
                      <a:r>
                        <a:rPr sz="1150" b="1" i="0" dirty="0" err="1">
                          <a:solidFill>
                            <a:srgbClr val="17332A"/>
                          </a:solidFill>
                          <a:latin typeface="Calibri"/>
                        </a:rPr>
                        <a:t>amont</a:t>
                      </a:r>
                      <a:endParaRPr sz="1150" b="1" i="0" dirty="0">
                        <a:solidFill>
                          <a:srgbClr val="17332A"/>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Filtre en bande avant l'encodeur ; aujourd'hui limité aux débuts de notes</a:t>
                      </a:r>
                    </a:p>
                  </a:txBody>
                  <a:tcPr marL="73152" marR="73152" marT="36576" marB="36576" anchor="ctr">
                    <a:solidFill>
                      <a:srgbClr val="F4F8F5"/>
                    </a:solidFill>
                  </a:tcPr>
                </a:tc>
                <a:tc>
                  <a:txBody>
                    <a:bodyPr/>
                    <a:lstStyle/>
                    <a:p>
                      <a:pPr algn="l">
                        <a:spcAft>
                          <a:spcPts val="0"/>
                        </a:spcAft>
                      </a:pPr>
                      <a:r>
                        <a:rPr sz="1150" b="1" i="0" dirty="0">
                          <a:solidFill>
                            <a:srgbClr val="3E7CB1"/>
                          </a:solidFill>
                          <a:latin typeface="Calibri"/>
                        </a:rPr>
                        <a:t>● À essayer</a:t>
                      </a:r>
                    </a:p>
                  </a:txBody>
                  <a:tcPr marL="73152" marR="73152" marT="36576" marB="36576" anchor="ctr">
                    <a:solidFill>
                      <a:srgbClr val="F4F8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3</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Encodeurs : quel modèle de fondation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6</a:t>
            </a:r>
          </a:p>
        </p:txBody>
      </p:sp>
      <p:graphicFrame>
        <p:nvGraphicFramePr>
          <p:cNvPr id="31" name="Table 30"/>
          <p:cNvGraphicFramePr>
            <a:graphicFrameLocks noGrp="1"/>
          </p:cNvGraphicFramePr>
          <p:nvPr>
            <p:extLst>
              <p:ext uri="{D42A27DB-BD31-4B8C-83A1-F6EECF244321}">
                <p14:modId xmlns:p14="http://schemas.microsoft.com/office/powerpoint/2010/main" val="2615154967"/>
              </p:ext>
            </p:extLst>
          </p:nvPr>
        </p:nvGraphicFramePr>
        <p:xfrm>
          <a:off x="457200" y="2395728"/>
          <a:ext cx="11274552" cy="2834639"/>
        </p:xfrm>
        <a:graphic>
          <a:graphicData uri="http://schemas.openxmlformats.org/drawingml/2006/table">
            <a:tbl>
              <a:tblPr firstRow="1">
                <a:tableStyleId>{5C22544A-7EE6-4342-B048-85BDC9FD1C3A}</a:tableStyleId>
              </a:tblPr>
              <a:tblGrid>
                <a:gridCol w="2240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69604">
                <a:tc>
                  <a:txBody>
                    <a:bodyPr/>
                    <a:lstStyle/>
                    <a:p>
                      <a:pPr algn="l">
                        <a:spcAft>
                          <a:spcPts val="0"/>
                        </a:spcAft>
                      </a:pPr>
                      <a:r>
                        <a:rPr sz="1150" b="1" i="0">
                          <a:solidFill>
                            <a:srgbClr val="FFFFFF"/>
                          </a:solidFill>
                          <a:latin typeface="Calibri"/>
                        </a:rPr>
                        <a:t>Encodeur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Entrée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Pour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Contre ou question</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473007">
                <a:tc>
                  <a:txBody>
                    <a:bodyPr/>
                    <a:lstStyle/>
                    <a:p>
                      <a:pPr algn="l">
                        <a:spcAft>
                          <a:spcPts val="0"/>
                        </a:spcAft>
                      </a:pPr>
                      <a:r>
                        <a:rPr sz="1150" b="1" i="0">
                          <a:solidFill>
                            <a:srgbClr val="17332A"/>
                          </a:solidFill>
                          <a:latin typeface="Calibri"/>
                        </a:rPr>
                        <a:t>BirdNET</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48 kHz · 3 s</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Référence connue, rapide</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Licence non commerciale, TensorFlow ; déconseillé par l'encadrant</a:t>
                      </a:r>
                    </a:p>
                  </a:txBody>
                  <a:tcPr marL="73152" marR="73152" marT="36576" marB="36576" anchor="ctr">
                    <a:solidFill>
                      <a:srgbClr val="F4F8F5"/>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1"/>
                  </a:ext>
                </a:extLst>
              </a:tr>
              <a:tr h="473007">
                <a:tc>
                  <a:txBody>
                    <a:bodyPr/>
                    <a:lstStyle/>
                    <a:p>
                      <a:pPr algn="l">
                        <a:spcAft>
                          <a:spcPts val="0"/>
                        </a:spcAft>
                      </a:pPr>
                      <a:r>
                        <a:rPr sz="1150" b="1" i="0">
                          <a:solidFill>
                            <a:srgbClr val="17332A"/>
                          </a:solidFill>
                          <a:latin typeface="Calibri"/>
                        </a:rPr>
                        <a:t>Perch 2.0</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32 kHz · 5 s</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Licence ouverte ; connaît 3 congénères d'</a:t>
                      </a:r>
                      <a:r>
                        <a:rPr sz="1150" b="0" i="1">
                          <a:solidFill>
                            <a:srgbClr val="1C2B24"/>
                          </a:solidFill>
                          <a:latin typeface="Calibri"/>
                        </a:rPr>
                        <a:t>A. blanci</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Version CPU à valider</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2"/>
                  </a:ext>
                </a:extLst>
              </a:tr>
              <a:tr h="473007">
                <a:tc>
                  <a:txBody>
                    <a:bodyPr/>
                    <a:lstStyle/>
                    <a:p>
                      <a:pPr algn="l">
                        <a:spcAft>
                          <a:spcPts val="0"/>
                        </a:spcAft>
                      </a:pPr>
                      <a:r>
                        <a:rPr sz="1150" b="1" i="0">
                          <a:solidFill>
                            <a:srgbClr val="17332A"/>
                          </a:solidFill>
                          <a:latin typeface="Calibri"/>
                        </a:rPr>
                        <a:t>Bird-MAE (Huge ou Base)</a:t>
                      </a: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32 kHz · 5 s</a:t>
                      </a:r>
                    </a:p>
                  </a:txBody>
                  <a:tcPr marL="73152" marR="73152" marT="36576" marB="36576" anchor="ctr">
                    <a:solidFill>
                      <a:srgbClr val="F4F8F5"/>
                    </a:solidFill>
                  </a:tcPr>
                </a:tc>
                <a:tc>
                  <a:txBody>
                    <a:bodyPr/>
                    <a:lstStyle/>
                    <a:p>
                      <a:pPr algn="l">
                        <a:spcAft>
                          <a:spcPts val="0"/>
                        </a:spcAft>
                      </a:pPr>
                      <a:r>
                        <a:rPr lang="fr-FR" sz="1150" b="0" i="0" dirty="0">
                          <a:solidFill>
                            <a:srgbClr val="1C2B24"/>
                          </a:solidFill>
                          <a:latin typeface="Calibri"/>
                        </a:rPr>
                        <a:t>-</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Huge probablement trop lourd pour l'i5 ; Base fait-il aussi bien ?</a:t>
                      </a:r>
                    </a:p>
                  </a:txBody>
                  <a:tcPr marL="73152" marR="73152" marT="36576" marB="36576" anchor="ctr">
                    <a:solidFill>
                      <a:srgbClr val="F4F8F5"/>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3"/>
                  </a:ext>
                </a:extLst>
              </a:tr>
              <a:tr h="473007">
                <a:tc>
                  <a:txBody>
                    <a:bodyPr/>
                    <a:lstStyle/>
                    <a:p>
                      <a:pPr algn="l">
                        <a:spcAft>
                          <a:spcPts val="0"/>
                        </a:spcAft>
                      </a:pPr>
                      <a:r>
                        <a:rPr sz="1150" b="1" i="0">
                          <a:solidFill>
                            <a:srgbClr val="17332A"/>
                          </a:solidFill>
                          <a:latin typeface="Calibri"/>
                        </a:rPr>
                        <a:t>BEATs / NatureBEATs</a:t>
                      </a: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16 kHz · 5 s</a:t>
                      </a:r>
                    </a:p>
                  </a:txBody>
                  <a:tcPr marL="73152" marR="73152" marT="36576" marB="36576" anchor="ctr">
                    <a:solidFill>
                      <a:srgbClr val="FFFFFF"/>
                    </a:solidFill>
                  </a:tcPr>
                </a:tc>
                <a:tc>
                  <a:txBody>
                    <a:bodyPr/>
                    <a:lstStyle/>
                    <a:p>
                      <a:pPr algn="l">
                        <a:spcAft>
                          <a:spcPts val="0"/>
                        </a:spcAft>
                      </a:pPr>
                      <a:r>
                        <a:rPr lang="fr-FR" sz="1150" b="0" i="0" dirty="0">
                          <a:solidFill>
                            <a:srgbClr val="1C2B24"/>
                          </a:solidFill>
                          <a:latin typeface="Calibri"/>
                        </a:rPr>
                        <a:t>-</a:t>
                      </a:r>
                      <a:endParaRPr sz="115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50" b="0" i="0">
                          <a:solidFill>
                            <a:srgbClr val="1C2B24"/>
                          </a:solidFill>
                          <a:latin typeface="Calibri"/>
                        </a:rPr>
                        <a:t>16 kHz limite pour un paysage sonore ? contrôle : Bird-MAE filtré à 8 kHz</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4"/>
                  </a:ext>
                </a:extLst>
              </a:tr>
              <a:tr h="473007">
                <a:tc>
                  <a:txBody>
                    <a:bodyPr/>
                    <a:lstStyle/>
                    <a:p>
                      <a:pPr algn="l">
                        <a:spcAft>
                          <a:spcPts val="0"/>
                        </a:spcAft>
                      </a:pPr>
                      <a:r>
                        <a:rPr sz="1150" b="1" i="0" dirty="0" err="1">
                          <a:solidFill>
                            <a:srgbClr val="17332A"/>
                          </a:solidFill>
                          <a:latin typeface="Calibri"/>
                        </a:rPr>
                        <a:t>ProtoCLR</a:t>
                      </a:r>
                      <a:r>
                        <a:rPr sz="1150" b="1" i="0" dirty="0">
                          <a:solidFill>
                            <a:srgbClr val="17332A"/>
                          </a:solidFill>
                          <a:latin typeface="Calibri"/>
                        </a:rPr>
                        <a:t>, Perch bird, </a:t>
                      </a:r>
                      <a:r>
                        <a:rPr sz="1150" b="1" i="0" dirty="0" err="1">
                          <a:solidFill>
                            <a:srgbClr val="17332A"/>
                          </a:solidFill>
                          <a:latin typeface="Calibri"/>
                        </a:rPr>
                        <a:t>ConvNeXt</a:t>
                      </a:r>
                      <a:r>
                        <a:rPr sz="1150" b="1" i="0" dirty="0">
                          <a:solidFill>
                            <a:srgbClr val="17332A"/>
                          </a:solidFill>
                          <a:latin typeface="Calibri"/>
                        </a:rPr>
                        <a:t> </a:t>
                      </a:r>
                      <a:r>
                        <a:rPr sz="1150" b="1" i="0" dirty="0" err="1">
                          <a:solidFill>
                            <a:srgbClr val="17332A"/>
                          </a:solidFill>
                          <a:latin typeface="Calibri"/>
                        </a:rPr>
                        <a:t>BirdSet</a:t>
                      </a:r>
                      <a:endParaRPr sz="1150" b="1" i="0" dirty="0">
                        <a:solidFill>
                          <a:srgbClr val="17332A"/>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16–32 kHz · 5–6 s</a:t>
                      </a:r>
                    </a:p>
                  </a:txBody>
                  <a:tcPr marL="73152" marR="73152" marT="36576" marB="36576" anchor="ctr">
                    <a:solidFill>
                      <a:srgbClr val="F4F8F5"/>
                    </a:solidFill>
                  </a:tcPr>
                </a:tc>
                <a:tc>
                  <a:txBody>
                    <a:bodyPr/>
                    <a:lstStyle/>
                    <a:p>
                      <a:pPr algn="l">
                        <a:spcAft>
                          <a:spcPts val="0"/>
                        </a:spcAft>
                      </a:pPr>
                      <a:r>
                        <a:rPr sz="1150" b="0" i="0" dirty="0" err="1">
                          <a:solidFill>
                            <a:srgbClr val="1C2B24"/>
                          </a:solidFill>
                          <a:latin typeface="Calibri"/>
                        </a:rPr>
                        <a:t>Élargissent</a:t>
                      </a:r>
                      <a:r>
                        <a:rPr sz="1150" b="0" i="0" dirty="0">
                          <a:solidFill>
                            <a:srgbClr val="1C2B24"/>
                          </a:solidFill>
                          <a:latin typeface="Calibri"/>
                        </a:rPr>
                        <a:t> la </a:t>
                      </a:r>
                      <a:r>
                        <a:rPr sz="1150" b="0" i="0" dirty="0" err="1">
                          <a:solidFill>
                            <a:srgbClr val="1C2B24"/>
                          </a:solidFill>
                          <a:latin typeface="Calibri"/>
                        </a:rPr>
                        <a:t>comparaison</a:t>
                      </a:r>
                      <a:endParaRPr sz="1150" b="0" i="0" dirty="0">
                        <a:solidFill>
                          <a:srgbClr val="1C2B24"/>
                        </a:solidFill>
                        <a:latin typeface="Calibri"/>
                      </a:endParaRPr>
                    </a:p>
                  </a:txBody>
                  <a:tcPr marL="73152" marR="73152" marT="36576" marB="36576" anchor="ctr">
                    <a:solidFill>
                      <a:srgbClr val="F4F8F5"/>
                    </a:solidFill>
                  </a:tcPr>
                </a:tc>
                <a:tc>
                  <a:txBody>
                    <a:bodyPr/>
                    <a:lstStyle/>
                    <a:p>
                      <a:pPr algn="l">
                        <a:spcAft>
                          <a:spcPts val="0"/>
                        </a:spcAft>
                      </a:pPr>
                      <a:r>
                        <a:rPr sz="1150" b="0" i="0">
                          <a:solidFill>
                            <a:srgbClr val="1C2B24"/>
                          </a:solidFill>
                          <a:latin typeface="Calibri"/>
                        </a:rPr>
                        <a:t>Moins faciles à réutiliser ; si c'est sans effort</a:t>
                      </a:r>
                    </a:p>
                  </a:txBody>
                  <a:tcPr marL="73152" marR="73152" marT="36576" marB="36576" anchor="ctr">
                    <a:solidFill>
                      <a:srgbClr val="F4F8F5"/>
                    </a:solidFill>
                  </a:tcPr>
                </a:tc>
                <a:tc>
                  <a:txBody>
                    <a:bodyPr/>
                    <a:lstStyle/>
                    <a:p>
                      <a:pPr algn="l">
                        <a:spcAft>
                          <a:spcPts val="0"/>
                        </a:spcAft>
                      </a:pPr>
                      <a:r>
                        <a:rPr sz="1150" b="1" i="0" dirty="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5"/>
                  </a:ext>
                </a:extLst>
              </a:tr>
            </a:tbl>
          </a:graphicData>
        </a:graphic>
      </p:graphicFrame>
      <p:sp>
        <p:nvSpPr>
          <p:cNvPr id="32" name="Rounded Rectangle 31"/>
          <p:cNvSpPr/>
          <p:nvPr/>
        </p:nvSpPr>
        <p:spPr>
          <a:xfrm>
            <a:off x="457200" y="5532120"/>
            <a:ext cx="11274552" cy="68580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400"/>
              </a:spcAft>
            </a:pPr>
            <a:r>
              <a:rPr sz="1250" b="1" i="0">
                <a:solidFill>
                  <a:srgbClr val="1C2B24"/>
                </a:solidFill>
                <a:latin typeface="Calibri"/>
              </a:rPr>
              <a:t>Critères</a:t>
            </a:r>
            <a:r>
              <a:rPr sz="1250" b="0" i="0">
                <a:solidFill>
                  <a:srgbClr val="1C2B24"/>
                </a:solidFill>
                <a:latin typeface="Calibri"/>
              </a:rPr>
              <a:t> : AP et rappel · vitesse sur l'i5 · licence · prise en main · accès aux tokens.   </a:t>
            </a:r>
            <a:r>
              <a:rPr sz="1250" b="1" i="0">
                <a:solidFill>
                  <a:srgbClr val="1C2B24"/>
                </a:solidFill>
                <a:latin typeface="Calibri"/>
              </a:rPr>
              <a:t>AnuraSet</a:t>
            </a:r>
            <a:r>
              <a:rPr sz="1250" b="0" i="0">
                <a:solidFill>
                  <a:srgbClr val="1C2B24"/>
                </a:solidFill>
                <a:latin typeface="Calibri"/>
              </a:rPr>
              <a:t> : un indicateur, pas une garantie.   </a:t>
            </a:r>
            <a:r>
              <a:rPr sz="1250" b="1" i="0">
                <a:solidFill>
                  <a:srgbClr val="1C2B24"/>
                </a:solidFill>
                <a:latin typeface="Calibri"/>
              </a:rPr>
              <a:t>Combiner deux encodeurs</a:t>
            </a:r>
            <a:r>
              <a:rPr sz="1250" b="0" i="0">
                <a:solidFill>
                  <a:srgbClr val="1C2B24"/>
                </a:solidFill>
                <a:latin typeface="Calibri"/>
              </a:rPr>
              <a:t> : possible, mais double le calcul.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4</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Head : comment choisir la direction w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7</a:t>
            </a:r>
          </a:p>
        </p:txBody>
      </p:sp>
      <p:graphicFrame>
        <p:nvGraphicFramePr>
          <p:cNvPr id="31" name="Table 30"/>
          <p:cNvGraphicFramePr>
            <a:graphicFrameLocks noGrp="1"/>
          </p:cNvGraphicFramePr>
          <p:nvPr>
            <p:extLst>
              <p:ext uri="{D42A27DB-BD31-4B8C-83A1-F6EECF244321}">
                <p14:modId xmlns:p14="http://schemas.microsoft.com/office/powerpoint/2010/main" val="1803819949"/>
              </p:ext>
            </p:extLst>
          </p:nvPr>
        </p:nvGraphicFramePr>
        <p:xfrm>
          <a:off x="457200" y="2395728"/>
          <a:ext cx="11274552" cy="3883152"/>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347472">
                <a:tc>
                  <a:txBody>
                    <a:bodyPr/>
                    <a:lstStyle/>
                    <a:p>
                      <a:pPr algn="l">
                        <a:spcAft>
                          <a:spcPts val="0"/>
                        </a:spcAft>
                      </a:pPr>
                      <a:r>
                        <a:rPr sz="1150" b="1" i="0">
                          <a:solidFill>
                            <a:srgbClr val="FFFFFF"/>
                          </a:solidFill>
                          <a:latin typeface="Calibri"/>
                        </a:rPr>
                        <a:t>Méthode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Choix de w</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Intérêt ou limite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347472">
                <a:tc>
                  <a:txBody>
                    <a:bodyPr/>
                    <a:lstStyle/>
                    <a:p>
                      <a:pPr algn="l">
                        <a:spcAft>
                          <a:spcPts val="0"/>
                        </a:spcAft>
                      </a:pPr>
                      <a:r>
                        <a:rPr sz="1100" b="1" i="0">
                          <a:solidFill>
                            <a:srgbClr val="17332A"/>
                          </a:solidFill>
                          <a:latin typeface="Calibri"/>
                        </a:rPr>
                        <a:t>Recherche par l'exemple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Embedding d'une fenêtre de référence (kNN)</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Aucun entraînement ; amorce un nouveau site</a:t>
                      </a:r>
                    </a:p>
                  </a:txBody>
                  <a:tcPr marL="73152" marR="73152" marT="36576" marB="36576" anchor="ctr">
                    <a:solidFill>
                      <a:srgbClr val="F4F8F5"/>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1"/>
                  </a:ext>
                </a:extLst>
              </a:tr>
              <a:tr h="347472">
                <a:tc>
                  <a:txBody>
                    <a:bodyPr/>
                    <a:lstStyle/>
                    <a:p>
                      <a:pPr algn="l">
                        <a:spcAft>
                          <a:spcPts val="0"/>
                        </a:spcAft>
                      </a:pPr>
                      <a:r>
                        <a:rPr sz="1100" b="1" i="0">
                          <a:solidFill>
                            <a:srgbClr val="17332A"/>
                          </a:solidFill>
                          <a:latin typeface="Calibri"/>
                        </a:rPr>
                        <a:t>Prototype simple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w = μ₊, moyenne des positifs</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Baseline de similarité</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2"/>
                  </a:ext>
                </a:extLst>
              </a:tr>
              <a:tr h="347472">
                <a:tc>
                  <a:txBody>
                    <a:bodyPr/>
                    <a:lstStyle/>
                    <a:p>
                      <a:pPr algn="l">
                        <a:spcAft>
                          <a:spcPts val="0"/>
                        </a:spcAft>
                      </a:pPr>
                      <a:r>
                        <a:rPr sz="1100" b="1" i="0">
                          <a:solidFill>
                            <a:srgbClr val="17332A"/>
                          </a:solidFill>
                          <a:latin typeface="Calibri"/>
                        </a:rPr>
                        <a:t>Prototype différentiel</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w = μ₊ − μ₋, négatifs appariés</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Retire le fond du site ; son écart au prototype simple mesure le fond capté</a:t>
                      </a:r>
                    </a:p>
                  </a:txBody>
                  <a:tcPr marL="73152" marR="73152" marT="36576" marB="36576" anchor="ctr">
                    <a:solidFill>
                      <a:srgbClr val="F4F8F5"/>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3"/>
                  </a:ext>
                </a:extLst>
              </a:tr>
              <a:tr h="347472">
                <a:tc>
                  <a:txBody>
                    <a:bodyPr/>
                    <a:lstStyle/>
                    <a:p>
                      <a:pPr algn="l">
                        <a:spcAft>
                          <a:spcPts val="0"/>
                        </a:spcAft>
                      </a:pPr>
                      <a:r>
                        <a:rPr sz="1100" b="1" i="0">
                          <a:solidFill>
                            <a:srgbClr val="17332A"/>
                          </a:solidFill>
                          <a:latin typeface="Calibri"/>
                        </a:rPr>
                        <a:t>Linear probe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Appris (régression logistique) ; pooling moyenne, max ou mixte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Tient compte de la covariance ; risque de coller au site</a:t>
                      </a:r>
                    </a:p>
                  </a:txBody>
                  <a:tcPr marL="73152" marR="73152" marT="36576" marB="36576" anchor="ctr">
                    <a:solidFill>
                      <a:srgbClr val="FFFFFF"/>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4"/>
                  </a:ext>
                </a:extLst>
              </a:tr>
              <a:tr h="347472">
                <a:tc>
                  <a:txBody>
                    <a:bodyPr/>
                    <a:lstStyle/>
                    <a:p>
                      <a:pPr algn="l">
                        <a:spcAft>
                          <a:spcPts val="0"/>
                        </a:spcAft>
                      </a:pPr>
                      <a:r>
                        <a:rPr sz="1100" b="1" i="0">
                          <a:solidFill>
                            <a:srgbClr val="17332A"/>
                          </a:solidFill>
                          <a:latin typeface="Calibri"/>
                        </a:rPr>
                        <a:t>Attentive probe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Appris sur les tokens</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Coûteux en mémoire ; seulement si les tokens sont accessibles</a:t>
                      </a:r>
                    </a:p>
                  </a:txBody>
                  <a:tcPr marL="73152" marR="73152" marT="36576" marB="36576" anchor="ctr">
                    <a:solidFill>
                      <a:srgbClr val="F4F8F5"/>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5"/>
                  </a:ext>
                </a:extLst>
              </a:tr>
              <a:tr h="347472">
                <a:tc>
                  <a:txBody>
                    <a:bodyPr/>
                    <a:lstStyle/>
                    <a:p>
                      <a:pPr algn="l">
                        <a:spcAft>
                          <a:spcPts val="0"/>
                        </a:spcAft>
                      </a:pPr>
                      <a:r>
                        <a:rPr sz="1100" b="1" i="0">
                          <a:solidFill>
                            <a:srgbClr val="17332A"/>
                          </a:solidFill>
                          <a:latin typeface="Calibri"/>
                        </a:rPr>
                        <a:t>Cascade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Linear probe, puis attentive sur les candidats</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Contourne le coût mémoire</a:t>
                      </a:r>
                    </a:p>
                  </a:txBody>
                  <a:tcPr marL="73152" marR="73152" marT="36576" marB="36576" anchor="ctr">
                    <a:solidFill>
                      <a:srgbClr val="FFFFFF"/>
                    </a:solidFill>
                  </a:tcPr>
                </a:tc>
                <a:tc>
                  <a:txBody>
                    <a:bodyPr/>
                    <a:lstStyle/>
                    <a:p>
                      <a:pPr algn="l">
                        <a:spcAft>
                          <a:spcPts val="0"/>
                        </a:spcAft>
                      </a:pPr>
                      <a:r>
                        <a:rPr sz="110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6"/>
                  </a:ext>
                </a:extLst>
              </a:tr>
              <a:tr h="347472">
                <a:tc>
                  <a:txBody>
                    <a:bodyPr/>
                    <a:lstStyle/>
                    <a:p>
                      <a:pPr algn="l">
                        <a:spcAft>
                          <a:spcPts val="0"/>
                        </a:spcAft>
                      </a:pPr>
                      <a:r>
                        <a:rPr sz="1100" b="1" i="0">
                          <a:solidFill>
                            <a:srgbClr val="17332A"/>
                          </a:solidFill>
                          <a:latin typeface="Calibri"/>
                        </a:rPr>
                        <a:t>Mécanisme propre au modèle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Attention ou pooling interne du modèle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Garder une tête au-dessus, ou prendre les tokens avant ? (diapo suivante)</a:t>
                      </a:r>
                    </a:p>
                  </a:txBody>
                  <a:tcPr marL="73152" marR="73152" marT="36576" marB="36576" anchor="ctr">
                    <a:solidFill>
                      <a:srgbClr val="F4F8F5"/>
                    </a:solidFill>
                  </a:tcPr>
                </a:tc>
                <a:tc>
                  <a:txBody>
                    <a:bodyPr/>
                    <a:lstStyle/>
                    <a:p>
                      <a:pPr algn="l">
                        <a:spcAft>
                          <a:spcPts val="0"/>
                        </a:spcAft>
                      </a:pPr>
                      <a:r>
                        <a:rPr sz="1100" b="1" i="0">
                          <a:solidFill>
                            <a:srgbClr val="C0492F"/>
                          </a:solidFill>
                          <a:latin typeface="Calibri"/>
                        </a:rPr>
                        <a:t>● À trancher</a:t>
                      </a:r>
                    </a:p>
                  </a:txBody>
                  <a:tcPr marL="73152" marR="73152" marT="36576" marB="36576" anchor="ctr">
                    <a:solidFill>
                      <a:srgbClr val="F4F8F5"/>
                    </a:solidFill>
                  </a:tcPr>
                </a:tc>
                <a:extLst>
                  <a:ext uri="{0D108BD9-81ED-4DB2-BD59-A6C34878D82A}">
                    <a16:rowId xmlns:a16="http://schemas.microsoft.com/office/drawing/2014/main" val="10007"/>
                  </a:ext>
                </a:extLst>
              </a:tr>
              <a:tr h="347472">
                <a:tc>
                  <a:txBody>
                    <a:bodyPr/>
                    <a:lstStyle/>
                    <a:p>
                      <a:pPr algn="l">
                        <a:spcAft>
                          <a:spcPts val="0"/>
                        </a:spcAft>
                      </a:pPr>
                      <a:r>
                        <a:rPr sz="1100" b="1" i="0">
                          <a:solidFill>
                            <a:srgbClr val="17332A"/>
                          </a:solidFill>
                          <a:latin typeface="Calibri"/>
                        </a:rPr>
                        <a:t>Wrapper bacpipe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Outil de bacpipe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À explorer</a:t>
                      </a:r>
                    </a:p>
                  </a:txBody>
                  <a:tcPr marL="73152" marR="73152" marT="36576" marB="36576" anchor="ctr">
                    <a:solidFill>
                      <a:srgbClr val="FFFFFF"/>
                    </a:solidFill>
                  </a:tcPr>
                </a:tc>
                <a:tc>
                  <a:txBody>
                    <a:bodyPr/>
                    <a:lstStyle/>
                    <a:p>
                      <a:pPr algn="l">
                        <a:spcAft>
                          <a:spcPts val="0"/>
                        </a:spcAft>
                      </a:pPr>
                      <a:r>
                        <a:rPr sz="1100" b="1" i="0">
                          <a:solidFill>
                            <a:srgbClr val="3E7CB1"/>
                          </a:solidFill>
                          <a:latin typeface="Calibri"/>
                        </a:rPr>
                        <a:t>● À essayer</a:t>
                      </a:r>
                    </a:p>
                  </a:txBody>
                  <a:tcPr marL="73152" marR="73152" marT="36576" marB="36576" anchor="ctr">
                    <a:solidFill>
                      <a:srgbClr val="FFFFFF"/>
                    </a:solidFill>
                  </a:tcPr>
                </a:tc>
                <a:extLst>
                  <a:ext uri="{0D108BD9-81ED-4DB2-BD59-A6C34878D82A}">
                    <a16:rowId xmlns:a16="http://schemas.microsoft.com/office/drawing/2014/main" val="10008"/>
                  </a:ext>
                </a:extLst>
              </a:tr>
              <a:tr h="347472">
                <a:tc>
                  <a:txBody>
                    <a:bodyPr/>
                    <a:lstStyle/>
                    <a:p>
                      <a:pPr algn="l">
                        <a:spcAft>
                          <a:spcPts val="0"/>
                        </a:spcAft>
                      </a:pPr>
                      <a:r>
                        <a:rPr sz="1100" b="1" i="0">
                          <a:solidFill>
                            <a:srgbClr val="17332A"/>
                          </a:solidFill>
                          <a:latin typeface="Calibri"/>
                        </a:rPr>
                        <a:t>LoRA / fine-tuning</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Adapter l'encodeur lui-même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Demande beaucoup de labels ; risque de sur-apprentissage au site</a:t>
                      </a:r>
                    </a:p>
                  </a:txBody>
                  <a:tcPr marL="73152" marR="73152" marT="36576" marB="36576" anchor="ctr">
                    <a:solidFill>
                      <a:srgbClr val="F4F8F5"/>
                    </a:solidFill>
                  </a:tcPr>
                </a:tc>
                <a:tc>
                  <a:txBody>
                    <a:bodyPr/>
                    <a:lstStyle/>
                    <a:p>
                      <a:pPr algn="l">
                        <a:spcAft>
                          <a:spcPts val="0"/>
                        </a:spcAft>
                      </a:pPr>
                      <a:r>
                        <a:rPr sz="1100" b="1" i="0">
                          <a:solidFill>
                            <a:srgbClr val="7D8983"/>
                          </a:solidFill>
                          <a:latin typeface="Calibri"/>
                        </a:rPr>
                        <a:t>● Plus tard</a:t>
                      </a:r>
                    </a:p>
                  </a:txBody>
                  <a:tcPr marL="73152" marR="73152" marT="36576" marB="36576" anchor="ctr">
                    <a:solidFill>
                      <a:srgbClr val="F4F8F5"/>
                    </a:solidFill>
                  </a:tcPr>
                </a:tc>
                <a:extLst>
                  <a:ext uri="{0D108BD9-81ED-4DB2-BD59-A6C34878D82A}">
                    <a16:rowId xmlns:a16="http://schemas.microsoft.com/office/drawing/2014/main" val="10009"/>
                  </a:ext>
                </a:extLst>
              </a:tr>
              <a:tr h="347472">
                <a:tc>
                  <a:txBody>
                    <a:bodyPr/>
                    <a:lstStyle/>
                    <a:p>
                      <a:pPr algn="l">
                        <a:spcAft>
                          <a:spcPts val="0"/>
                        </a:spcAft>
                      </a:pPr>
                      <a:r>
                        <a:rPr lang="fr-FR" sz="1100" b="1" i="0" dirty="0">
                          <a:solidFill>
                            <a:srgbClr val="17332A"/>
                          </a:solidFill>
                          <a:latin typeface="Calibri"/>
                        </a:rPr>
                        <a:t>CNN maison</a:t>
                      </a:r>
                      <a:endParaRPr sz="1100" b="1" i="0" dirty="0">
                        <a:solidFill>
                          <a:srgbClr val="17332A"/>
                        </a:solidFill>
                        <a:latin typeface="Calibri"/>
                      </a:endParaRP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Petit réseau qui imite le pipeline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Livrable léger pour l'i5</a:t>
                      </a:r>
                    </a:p>
                  </a:txBody>
                  <a:tcPr marL="73152" marR="73152" marT="36576" marB="36576" anchor="ctr">
                    <a:solidFill>
                      <a:srgbClr val="FFFFFF"/>
                    </a:solidFill>
                  </a:tcPr>
                </a:tc>
                <a:tc>
                  <a:txBody>
                    <a:bodyPr/>
                    <a:lstStyle/>
                    <a:p>
                      <a:pPr algn="l">
                        <a:spcAft>
                          <a:spcPts val="0"/>
                        </a:spcAft>
                      </a:pPr>
                      <a:r>
                        <a:rPr sz="1100" b="1" i="0" dirty="0">
                          <a:solidFill>
                            <a:srgbClr val="7D8983"/>
                          </a:solidFill>
                          <a:latin typeface="Calibri"/>
                        </a:rPr>
                        <a:t>● Plus tard</a:t>
                      </a:r>
                    </a:p>
                  </a:txBody>
                  <a:tcPr marL="73152" marR="73152" marT="36576" marB="36576"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4</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Head : ce que le benchmark doit nous dire</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8</a:t>
            </a:r>
          </a:p>
        </p:txBody>
      </p:sp>
      <p:sp>
        <p:nvSpPr>
          <p:cNvPr id="31" name="Rounded Rectangle 30"/>
          <p:cNvSpPr/>
          <p:nvPr/>
        </p:nvSpPr>
        <p:spPr>
          <a:xfrm>
            <a:off x="457200" y="246888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TextBox 31"/>
          <p:cNvSpPr txBox="1"/>
          <p:nvPr/>
        </p:nvSpPr>
        <p:spPr>
          <a:xfrm>
            <a:off x="685800" y="2633472"/>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Différentiel ou linear probe entre sites ?</a:t>
            </a:r>
          </a:p>
        </p:txBody>
      </p:sp>
      <p:sp>
        <p:nvSpPr>
          <p:cNvPr id="33" name="Rounded Rectangle 32"/>
          <p:cNvSpPr/>
          <p:nvPr/>
        </p:nvSpPr>
        <p:spPr>
          <a:xfrm>
            <a:off x="4768596" y="265176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34" name="TextBox 33"/>
          <p:cNvSpPr txBox="1"/>
          <p:nvPr/>
        </p:nvSpPr>
        <p:spPr>
          <a:xfrm>
            <a:off x="685800" y="303580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Le linear probe apprend mieux un site, mais risque de moins bien passer d'un site à l'autre. Le différentiel annule la moyenne du site : il pourrait mieux généraliser tant qu'on n'a pas de positifs multi-sites. </a:t>
            </a:r>
            <a:r>
              <a:rPr sz="1350" b="1" i="0">
                <a:solidFill>
                  <a:srgbClr val="1C2B24"/>
                </a:solidFill>
                <a:latin typeface="Calibri"/>
              </a:rPr>
              <a:t>Hypothèse à tester.</a:t>
            </a:r>
          </a:p>
        </p:txBody>
      </p:sp>
      <p:sp>
        <p:nvSpPr>
          <p:cNvPr id="35" name="Rounded Rectangle 34"/>
          <p:cNvSpPr/>
          <p:nvPr/>
        </p:nvSpPr>
        <p:spPr>
          <a:xfrm>
            <a:off x="6231636" y="246888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6" name="TextBox 35"/>
          <p:cNvSpPr txBox="1"/>
          <p:nvPr/>
        </p:nvSpPr>
        <p:spPr>
          <a:xfrm>
            <a:off x="6460236" y="2633472"/>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Le fond sonore pollue-t-il l'embedding ?</a:t>
            </a:r>
          </a:p>
        </p:txBody>
      </p:sp>
      <p:sp>
        <p:nvSpPr>
          <p:cNvPr id="37" name="Rounded Rectangle 36"/>
          <p:cNvSpPr/>
          <p:nvPr/>
        </p:nvSpPr>
        <p:spPr>
          <a:xfrm>
            <a:off x="10543031" y="265176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38" name="TextBox 37"/>
          <p:cNvSpPr txBox="1"/>
          <p:nvPr/>
        </p:nvSpPr>
        <p:spPr>
          <a:xfrm>
            <a:off x="6460236" y="303580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Si prototype simple et différentiel classent pareil, l'ambiance de Mataroni ne pollue pas. Si le différentiel fait nettement mieux, elle pollue, et on le sait avant tout entraînement.</a:t>
            </a:r>
          </a:p>
        </p:txBody>
      </p:sp>
      <p:sp>
        <p:nvSpPr>
          <p:cNvPr id="39" name="Rounded Rectangle 38"/>
          <p:cNvSpPr/>
          <p:nvPr/>
        </p:nvSpPr>
        <p:spPr>
          <a:xfrm>
            <a:off x="457200" y="443484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0" name="TextBox 39"/>
          <p:cNvSpPr txBox="1"/>
          <p:nvPr/>
        </p:nvSpPr>
        <p:spPr>
          <a:xfrm>
            <a:off x="685800" y="4599431"/>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Quel pooling pour le linear probe ?</a:t>
            </a:r>
          </a:p>
        </p:txBody>
      </p:sp>
      <p:sp>
        <p:nvSpPr>
          <p:cNvPr id="41" name="Rounded Rectangle 40"/>
          <p:cNvSpPr/>
          <p:nvPr/>
        </p:nvSpPr>
        <p:spPr>
          <a:xfrm>
            <a:off x="4768596" y="461772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sp>
        <p:nvSpPr>
          <p:cNvPr id="42" name="TextBox 41"/>
          <p:cNvSpPr txBox="1"/>
          <p:nvPr/>
        </p:nvSpPr>
        <p:spPr>
          <a:xfrm>
            <a:off x="685800" y="500176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Moyenne, maximum, les deux, ou moyenne en fréquence et maximum en temps. Une note de 0,09 s se noie dans une moyenne sur 5 s ; le maximum la garde.</a:t>
            </a:r>
          </a:p>
        </p:txBody>
      </p:sp>
      <p:sp>
        <p:nvSpPr>
          <p:cNvPr id="43" name="Rounded Rectangle 42"/>
          <p:cNvSpPr/>
          <p:nvPr/>
        </p:nvSpPr>
        <p:spPr>
          <a:xfrm>
            <a:off x="6231636" y="4434840"/>
            <a:ext cx="5500116" cy="169164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4" name="TextBox 43"/>
          <p:cNvSpPr txBox="1"/>
          <p:nvPr/>
        </p:nvSpPr>
        <p:spPr>
          <a:xfrm>
            <a:off x="6460236" y="4599431"/>
            <a:ext cx="4037075" cy="32004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Et si le modèle a sa propre attention ?</a:t>
            </a:r>
          </a:p>
        </p:txBody>
      </p:sp>
      <p:sp>
        <p:nvSpPr>
          <p:cNvPr id="45" name="Rounded Rectangle 44"/>
          <p:cNvSpPr/>
          <p:nvPr/>
        </p:nvSpPr>
        <p:spPr>
          <a:xfrm>
            <a:off x="10543031" y="461772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46" name="TextBox 45"/>
          <p:cNvSpPr txBox="1"/>
          <p:nvPr/>
        </p:nvSpPr>
        <p:spPr>
          <a:xfrm>
            <a:off x="6460236" y="5001768"/>
            <a:ext cx="5042916" cy="1097280"/>
          </a:xfrm>
          <a:prstGeom prst="rect">
            <a:avLst/>
          </a:prstGeom>
          <a:noFill/>
        </p:spPr>
        <p:txBody>
          <a:bodyPr wrap="square" lIns="0" tIns="0" rIns="0" bIns="0" anchor="t">
            <a:spAutoFit/>
          </a:bodyPr>
          <a:lstStyle/>
          <a:p>
            <a:pPr algn="l">
              <a:spcAft>
                <a:spcPts val="400"/>
              </a:spcAft>
            </a:pPr>
            <a:r>
              <a:rPr sz="1350" b="0" i="0">
                <a:solidFill>
                  <a:srgbClr val="1C2B24"/>
                </a:solidFill>
                <a:latin typeface="Calibri"/>
              </a:rPr>
              <a:t>Elle produit déjà l'embedding par défaut : on garde une tête au-dessus. Sinon, on prend les tokens avant ce pooling pour notre attentive probe (tokens sur disque ou cascade si la mémoire manque). Les deux se comparent.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5</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Module séquentiel : ce que l'encodeur ne voit pas</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9</a:t>
            </a:r>
          </a:p>
        </p:txBody>
      </p:sp>
      <p:sp>
        <p:nvSpPr>
          <p:cNvPr id="31" name="Rounded Rectangle 30"/>
          <p:cNvSpPr/>
          <p:nvPr/>
        </p:nvSpPr>
        <p:spPr>
          <a:xfrm>
            <a:off x="457200"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Oval 31"/>
          <p:cNvSpPr/>
          <p:nvPr/>
        </p:nvSpPr>
        <p:spPr>
          <a:xfrm>
            <a:off x="685800"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1</a:t>
            </a:r>
          </a:p>
        </p:txBody>
      </p:sp>
      <p:sp>
        <p:nvSpPr>
          <p:cNvPr id="33" name="TextBox 32"/>
          <p:cNvSpPr txBox="1"/>
          <p:nvPr/>
        </p:nvSpPr>
        <p:spPr>
          <a:xfrm>
            <a:off x="685800"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Rythme dans la fenêtre</a:t>
            </a:r>
          </a:p>
        </p:txBody>
      </p:sp>
      <p:sp>
        <p:nvSpPr>
          <p:cNvPr id="34" name="TextBox 33"/>
          <p:cNvSpPr txBox="1"/>
          <p:nvPr/>
        </p:nvSpPr>
        <p:spPr>
          <a:xfrm>
            <a:off x="685800"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Débuts de notes en bande, intervalles entre notes. La structure du chant est connue : une note toutes les ~1,4 s.</a:t>
            </a:r>
          </a:p>
        </p:txBody>
      </p:sp>
      <p:sp>
        <p:nvSpPr>
          <p:cNvPr id="35" name="Rounded Rectangle 34"/>
          <p:cNvSpPr/>
          <p:nvPr/>
        </p:nvSpPr>
        <p:spPr>
          <a:xfrm>
            <a:off x="685800" y="50292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36" name="Rounded Rectangle 35"/>
          <p:cNvSpPr/>
          <p:nvPr/>
        </p:nvSpPr>
        <p:spPr>
          <a:xfrm>
            <a:off x="3332988"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7" name="Oval 36"/>
          <p:cNvSpPr/>
          <p:nvPr/>
        </p:nvSpPr>
        <p:spPr>
          <a:xfrm>
            <a:off x="3561588"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2</a:t>
            </a:r>
          </a:p>
        </p:txBody>
      </p:sp>
      <p:sp>
        <p:nvSpPr>
          <p:cNvPr id="38" name="TextBox 37"/>
          <p:cNvSpPr txBox="1"/>
          <p:nvPr/>
        </p:nvSpPr>
        <p:spPr>
          <a:xfrm>
            <a:off x="3561588"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Persistance</a:t>
            </a:r>
          </a:p>
        </p:txBody>
      </p:sp>
      <p:sp>
        <p:nvSpPr>
          <p:cNvPr id="39" name="TextBox 38"/>
          <p:cNvSpPr txBox="1"/>
          <p:nvPr/>
        </p:nvSpPr>
        <p:spPr>
          <a:xfrm>
            <a:off x="3561588"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Fraction de fenêtres positives, continuité avec les voisines, créneaux voisins du même micro. Sépare chant continu et chant ponctuel.</a:t>
            </a:r>
          </a:p>
        </p:txBody>
      </p:sp>
      <p:sp>
        <p:nvSpPr>
          <p:cNvPr id="40" name="Rounded Rectangle 39"/>
          <p:cNvSpPr/>
          <p:nvPr/>
        </p:nvSpPr>
        <p:spPr>
          <a:xfrm>
            <a:off x="3561588" y="50292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1" name="Rounded Rectangle 40"/>
          <p:cNvSpPr/>
          <p:nvPr/>
        </p:nvSpPr>
        <p:spPr>
          <a:xfrm>
            <a:off x="6208776"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Oval 41"/>
          <p:cNvSpPr/>
          <p:nvPr/>
        </p:nvSpPr>
        <p:spPr>
          <a:xfrm>
            <a:off x="6437376"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3</a:t>
            </a:r>
          </a:p>
        </p:txBody>
      </p:sp>
      <p:sp>
        <p:nvSpPr>
          <p:cNvPr id="43" name="TextBox 42"/>
          <p:cNvSpPr txBox="1"/>
          <p:nvPr/>
        </p:nvSpPr>
        <p:spPr>
          <a:xfrm>
            <a:off x="6437376"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Solo ou chœur</a:t>
            </a:r>
          </a:p>
        </p:txBody>
      </p:sp>
      <p:sp>
        <p:nvSpPr>
          <p:cNvPr id="44" name="TextBox 43"/>
          <p:cNvSpPr txBox="1"/>
          <p:nvPr/>
        </p:nvSpPr>
        <p:spPr>
          <a:xfrm>
            <a:off x="6437376"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Densité de débuts de notes, chevauchements, étalement spectral. Hypothèse : un mâle seul ne sonne pas comme un groupe.</a:t>
            </a:r>
          </a:p>
        </p:txBody>
      </p:sp>
      <p:sp>
        <p:nvSpPr>
          <p:cNvPr id="45" name="Rounded Rectangle 44"/>
          <p:cNvSpPr/>
          <p:nvPr/>
        </p:nvSpPr>
        <p:spPr>
          <a:xfrm>
            <a:off x="6437376" y="502920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46" name="Rounded Rectangle 45"/>
          <p:cNvSpPr/>
          <p:nvPr/>
        </p:nvSpPr>
        <p:spPr>
          <a:xfrm>
            <a:off x="9084564" y="2423160"/>
            <a:ext cx="2647188" cy="30175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7" name="Oval 46"/>
          <p:cNvSpPr/>
          <p:nvPr/>
        </p:nvSpPr>
        <p:spPr>
          <a:xfrm>
            <a:off x="9313164" y="2633472"/>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4</a:t>
            </a:r>
          </a:p>
        </p:txBody>
      </p:sp>
      <p:sp>
        <p:nvSpPr>
          <p:cNvPr id="48" name="TextBox 47"/>
          <p:cNvSpPr txBox="1"/>
          <p:nvPr/>
        </p:nvSpPr>
        <p:spPr>
          <a:xfrm>
            <a:off x="9313164" y="3246120"/>
            <a:ext cx="2189988" cy="365760"/>
          </a:xfrm>
          <a:prstGeom prst="rect">
            <a:avLst/>
          </a:prstGeom>
          <a:noFill/>
        </p:spPr>
        <p:txBody>
          <a:bodyPr wrap="square" lIns="0" tIns="0" rIns="0" bIns="0" anchor="t">
            <a:spAutoFit/>
          </a:bodyPr>
          <a:lstStyle/>
          <a:p>
            <a:pPr algn="l">
              <a:spcAft>
                <a:spcPts val="400"/>
              </a:spcAft>
            </a:pPr>
            <a:r>
              <a:rPr sz="1500" b="1" i="0">
                <a:solidFill>
                  <a:srgbClr val="17332A"/>
                </a:solidFill>
                <a:latin typeface="Calibri"/>
              </a:rPr>
              <a:t>Heure et saison</a:t>
            </a:r>
          </a:p>
        </p:txBody>
      </p:sp>
      <p:sp>
        <p:nvSpPr>
          <p:cNvPr id="49" name="TextBox 48"/>
          <p:cNvSpPr txBox="1"/>
          <p:nvPr/>
        </p:nvSpPr>
        <p:spPr>
          <a:xfrm>
            <a:off x="9313164" y="3657600"/>
            <a:ext cx="2189988" cy="137160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Hors du classifieur : il apprendrait la phénologie de Mataroni. Servent de drapeau de plausibilité et à l'échantillonnage.</a:t>
            </a:r>
          </a:p>
        </p:txBody>
      </p:sp>
      <p:sp>
        <p:nvSpPr>
          <p:cNvPr id="50" name="Rounded Rectangle 49"/>
          <p:cNvSpPr/>
          <p:nvPr/>
        </p:nvSpPr>
        <p:spPr>
          <a:xfrm>
            <a:off x="9313164" y="50292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51" name="Rounded Rectangle 50"/>
          <p:cNvSpPr/>
          <p:nvPr/>
        </p:nvSpPr>
        <p:spPr>
          <a:xfrm>
            <a:off x="457200" y="5669280"/>
            <a:ext cx="11274552" cy="566928"/>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400"/>
              </a:spcAft>
            </a:pPr>
            <a:r>
              <a:rPr sz="1300" b="0" i="0">
                <a:solidFill>
                  <a:srgbClr val="1C2B24"/>
                </a:solidFill>
                <a:latin typeface="Calibri"/>
              </a:rPr>
              <a:t>Descripteurs calculés sur l'audio, indépendants de l'encodeur.  </a:t>
            </a:r>
            <a:r>
              <a:rPr sz="1300" b="1" i="0">
                <a:solidFill>
                  <a:srgbClr val="1C2B24"/>
                </a:solidFill>
                <a:latin typeface="Calibri"/>
              </a:rPr>
              <a:t>À demander</a:t>
            </a:r>
            <a:r>
              <a:rPr sz="1300" b="0" i="0">
                <a:solidFill>
                  <a:srgbClr val="1C2B24"/>
                </a:solidFill>
                <a:latin typeface="Calibri"/>
              </a:rPr>
              <a:t> : </a:t>
            </a:r>
            <a:r>
              <a:rPr sz="1300" b="0" i="1">
                <a:solidFill>
                  <a:srgbClr val="1C2B24"/>
                </a:solidFill>
                <a:latin typeface="Calibri"/>
              </a:rPr>
              <a:t>A. blanci</a:t>
            </a:r>
            <a:r>
              <a:rPr sz="1300" b="0" i="0">
                <a:solidFill>
                  <a:srgbClr val="1C2B24"/>
                </a:solidFill>
                <a:latin typeface="Calibri"/>
              </a:rPr>
              <a:t> chante-t-elle parfois de façon ponctuelle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6</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Fusion : combiner les deux branches</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10</a:t>
            </a:r>
          </a:p>
        </p:txBody>
      </p:sp>
      <p:sp>
        <p:nvSpPr>
          <p:cNvPr id="31" name="Rounded Rectangle 30"/>
          <p:cNvSpPr/>
          <p:nvPr/>
        </p:nvSpPr>
        <p:spPr>
          <a:xfrm>
            <a:off x="457200" y="2560320"/>
            <a:ext cx="2651760" cy="6400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250" b="0" i="0">
                <a:solidFill>
                  <a:srgbClr val="1C2B24"/>
                </a:solidFill>
                <a:latin typeface="Calibri"/>
              </a:rPr>
              <a:t>Score hors-pli de la tête</a:t>
            </a:r>
          </a:p>
        </p:txBody>
      </p:sp>
      <p:cxnSp>
        <p:nvCxnSpPr>
          <p:cNvPr id="32" name="Connector 31"/>
          <p:cNvCxnSpPr/>
          <p:nvPr/>
        </p:nvCxnSpPr>
        <p:spPr>
          <a:xfrm>
            <a:off x="3108960" y="2880360"/>
            <a:ext cx="640079" cy="731520"/>
          </a:xfrm>
          <a:prstGeom prst="line">
            <a:avLst/>
          </a:prstGeom>
          <a:ln w="1905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57200" y="3429000"/>
            <a:ext cx="2651760" cy="6400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250" b="0" i="0">
                <a:solidFill>
                  <a:srgbClr val="1C2B24"/>
                </a:solidFill>
                <a:latin typeface="Calibri"/>
              </a:rPr>
              <a:t>Descripteurs séquentiels (2 à 4)</a:t>
            </a:r>
          </a:p>
        </p:txBody>
      </p:sp>
      <p:cxnSp>
        <p:nvCxnSpPr>
          <p:cNvPr id="34" name="Connector 33"/>
          <p:cNvCxnSpPr/>
          <p:nvPr/>
        </p:nvCxnSpPr>
        <p:spPr>
          <a:xfrm flipV="1">
            <a:off x="3108960" y="3611880"/>
            <a:ext cx="640079" cy="137159"/>
          </a:xfrm>
          <a:prstGeom prst="line">
            <a:avLst/>
          </a:prstGeom>
          <a:ln w="1905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57200" y="4297679"/>
            <a:ext cx="2651760" cy="640080"/>
          </a:xfrm>
          <a:prstGeom prst="roundRect">
            <a:avLst>
              <a:gd name="adj" fmla="val 8000"/>
            </a:avLst>
          </a:prstGeom>
          <a:solidFill>
            <a:srgbClr val="E6EFE8"/>
          </a:solidFill>
          <a:ln w="12700">
            <a:solidFill>
              <a:srgbClr val="9DB3A6"/>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250" b="0" i="0">
                <a:solidFill>
                  <a:srgbClr val="1C2B24"/>
                </a:solidFill>
                <a:latin typeface="Calibri"/>
              </a:rPr>
              <a:t>Logits des congénères (option)</a:t>
            </a:r>
          </a:p>
        </p:txBody>
      </p:sp>
      <p:cxnSp>
        <p:nvCxnSpPr>
          <p:cNvPr id="36" name="Connector 35"/>
          <p:cNvCxnSpPr/>
          <p:nvPr/>
        </p:nvCxnSpPr>
        <p:spPr>
          <a:xfrm flipV="1">
            <a:off x="3108960" y="3611880"/>
            <a:ext cx="640079" cy="1005839"/>
          </a:xfrm>
          <a:prstGeom prst="line">
            <a:avLst/>
          </a:prstGeom>
          <a:ln w="19050">
            <a:solidFill>
              <a:srgbClr val="2F6B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749039" y="3154680"/>
            <a:ext cx="2011680" cy="91440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0"/>
              </a:spcAft>
            </a:pPr>
            <a:r>
              <a:rPr sz="1300" b="1" i="0">
                <a:solidFill>
                  <a:srgbClr val="FFFFFF"/>
                </a:solidFill>
                <a:latin typeface="Calibri"/>
              </a:rPr>
              <a:t>Régression logistique</a:t>
            </a:r>
          </a:p>
          <a:p>
            <a:pPr algn="ctr">
              <a:spcAft>
                <a:spcPts val="0"/>
              </a:spcAft>
            </a:pPr>
            <a:r>
              <a:rPr sz="1300" b="0" i="0">
                <a:solidFill>
                  <a:srgbClr val="FFFFFF"/>
                </a:solidFill>
                <a:latin typeface="Calibri"/>
              </a:rPr>
              <a:t>niveau 2</a:t>
            </a:r>
          </a:p>
        </p:txBody>
      </p:sp>
      <p:cxnSp>
        <p:nvCxnSpPr>
          <p:cNvPr id="38" name="Connector 37"/>
          <p:cNvCxnSpPr/>
          <p:nvPr/>
        </p:nvCxnSpPr>
        <p:spPr>
          <a:xfrm>
            <a:off x="5760720" y="3611880"/>
            <a:ext cx="548640" cy="0"/>
          </a:xfrm>
          <a:prstGeom prst="line">
            <a:avLst/>
          </a:prstGeom>
          <a:ln w="22225">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309360" y="3291840"/>
            <a:ext cx="1097280" cy="640080"/>
          </a:xfrm>
          <a:prstGeom prst="roundRect">
            <a:avLst>
              <a:gd name="adj" fmla="val 8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400"/>
              </a:spcAft>
            </a:pPr>
            <a:r>
              <a:rPr sz="1250" b="1" i="0">
                <a:solidFill>
                  <a:srgbClr val="1C2B24"/>
                </a:solidFill>
                <a:latin typeface="Calibri"/>
              </a:rPr>
              <a:t>Score final</a:t>
            </a:r>
          </a:p>
        </p:txBody>
      </p:sp>
      <p:sp>
        <p:nvSpPr>
          <p:cNvPr id="40" name="TextBox 39"/>
          <p:cNvSpPr txBox="1"/>
          <p:nvPr/>
        </p:nvSpPr>
        <p:spPr>
          <a:xfrm>
            <a:off x="457200" y="5257800"/>
            <a:ext cx="6949440" cy="1005840"/>
          </a:xfrm>
          <a:prstGeom prst="rect">
            <a:avLst/>
          </a:prstGeom>
          <a:noFill/>
        </p:spPr>
        <p:txBody>
          <a:bodyPr wrap="square" lIns="0" tIns="0" rIns="0" bIns="0" anchor="t">
            <a:spAutoFit/>
          </a:bodyPr>
          <a:lstStyle/>
          <a:p>
            <a:pPr marL="164592" indent="-164592" algn="l">
              <a:spcAft>
                <a:spcPts val="400"/>
              </a:spcAft>
              <a:buClr>
                <a:srgbClr val="2F6B4F"/>
              </a:buClr>
              <a:buFont typeface="Arial"/>
              <a:buChar char="•"/>
            </a:pPr>
            <a:r>
              <a:rPr sz="1250" b="1" i="0">
                <a:solidFill>
                  <a:srgbClr val="1C2B24"/>
                </a:solidFill>
                <a:latin typeface="Calibri"/>
              </a:rPr>
              <a:t>Hors-pli</a:t>
            </a:r>
            <a:r>
              <a:rPr sz="1250" b="0" i="0">
                <a:solidFill>
                  <a:srgbClr val="1C2B24"/>
                </a:solidFill>
                <a:latin typeface="Calibri"/>
              </a:rPr>
              <a:t> : le score de la tête vient d'une version entraînée sans l'exemple concerné, sinon la fusion apprendrait sur des scores trop optimistes.</a:t>
            </a:r>
          </a:p>
          <a:p>
            <a:pPr marL="164592" indent="-164592" algn="l">
              <a:spcAft>
                <a:spcPts val="400"/>
              </a:spcAft>
              <a:buClr>
                <a:srgbClr val="2F6B4F"/>
              </a:buClr>
              <a:buFont typeface="Arial"/>
              <a:buChar char="•"/>
            </a:pPr>
            <a:r>
              <a:rPr sz="1250" b="1" i="0">
                <a:solidFill>
                  <a:srgbClr val="1C2B24"/>
                </a:solidFill>
                <a:latin typeface="Calibri"/>
              </a:rPr>
              <a:t>Le séquentiel module, il n'a jamais de veto.</a:t>
            </a:r>
          </a:p>
        </p:txBody>
      </p:sp>
      <p:graphicFrame>
        <p:nvGraphicFramePr>
          <p:cNvPr id="41" name="Table 40"/>
          <p:cNvGraphicFramePr>
            <a:graphicFrameLocks noGrp="1"/>
          </p:cNvGraphicFramePr>
          <p:nvPr/>
        </p:nvGraphicFramePr>
        <p:xfrm>
          <a:off x="7818120" y="2395728"/>
          <a:ext cx="3913632" cy="2834640"/>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tblGrid>
              <a:tr h="566928">
                <a:tc>
                  <a:txBody>
                    <a:bodyPr/>
                    <a:lstStyle/>
                    <a:p>
                      <a:pPr algn="l">
                        <a:spcAft>
                          <a:spcPts val="0"/>
                        </a:spcAft>
                      </a:pPr>
                      <a:r>
                        <a:rPr sz="1150" b="1" i="0">
                          <a:solidFill>
                            <a:srgbClr val="FFFFFF"/>
                          </a:solidFill>
                          <a:latin typeface="Calibri"/>
                        </a:rPr>
                        <a:t>À décider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566928">
                <a:tc>
                  <a:txBody>
                    <a:bodyPr/>
                    <a:lstStyle/>
                    <a:p>
                      <a:pPr algn="l">
                        <a:spcAft>
                          <a:spcPts val="0"/>
                        </a:spcAft>
                      </a:pPr>
                      <a:r>
                        <a:rPr sz="1150" b="1" i="0">
                          <a:solidFill>
                            <a:srgbClr val="17332A"/>
                          </a:solidFill>
                          <a:latin typeface="Calibri"/>
                        </a:rPr>
                        <a:t>Stacking par régression logistique</a:t>
                      </a:r>
                    </a:p>
                  </a:txBody>
                  <a:tcPr marL="73152" marR="73152" marT="36576" marB="36576" anchor="ctr">
                    <a:solidFill>
                      <a:srgbClr val="F4F8F5"/>
                    </a:solidFill>
                  </a:tcPr>
                </a:tc>
                <a:tc>
                  <a:txBody>
                    <a:bodyPr/>
                    <a:lstStyle/>
                    <a:p>
                      <a:pPr algn="l">
                        <a:spcAft>
                          <a:spcPts val="0"/>
                        </a:spcAft>
                      </a:pPr>
                      <a:r>
                        <a:rPr sz="115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566928">
                <a:tc>
                  <a:txBody>
                    <a:bodyPr/>
                    <a:lstStyle/>
                    <a:p>
                      <a:pPr algn="l">
                        <a:spcAft>
                          <a:spcPts val="0"/>
                        </a:spcAft>
                      </a:pPr>
                      <a:r>
                        <a:rPr sz="1150" b="1" i="0">
                          <a:solidFill>
                            <a:srgbClr val="17332A"/>
                          </a:solidFill>
                          <a:latin typeface="Calibri"/>
                        </a:rPr>
                        <a:t>Pondérer les entrées : quel expert écouter en priorité ?</a:t>
                      </a:r>
                    </a:p>
                  </a:txBody>
                  <a:tcPr marL="73152" marR="73152" marT="36576" marB="36576" anchor="ctr">
                    <a:solidFill>
                      <a:srgbClr val="FFFFFF"/>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1150" b="1" i="0">
                          <a:solidFill>
                            <a:srgbClr val="17332A"/>
                          </a:solidFill>
                          <a:latin typeface="Calibri"/>
                        </a:rPr>
                        <a:t>Fusions simples en comparaison : moyenne des scores, règle</a:t>
                      </a:r>
                    </a:p>
                  </a:txBody>
                  <a:tcPr marL="73152" marR="73152" marT="36576" marB="36576" anchor="ctr">
                    <a:solidFill>
                      <a:srgbClr val="F4F8F5"/>
                    </a:solidFill>
                  </a:tcPr>
                </a:tc>
                <a:tc>
                  <a:txBody>
                    <a:bodyPr/>
                    <a:lstStyle/>
                    <a:p>
                      <a:pPr algn="l">
                        <a:spcAft>
                          <a:spcPts val="0"/>
                        </a:spcAft>
                      </a:pPr>
                      <a:r>
                        <a:rPr sz="1150" b="1" i="0">
                          <a:solidFill>
                            <a:srgbClr val="C9780E"/>
                          </a:solidFill>
                          <a:latin typeface="Calibri"/>
                        </a:rPr>
                        <a:t>● À comparer</a:t>
                      </a:r>
                    </a:p>
                  </a:txBody>
                  <a:tcPr marL="73152" marR="73152" marT="36576" marB="36576" anchor="ctr">
                    <a:solidFill>
                      <a:srgbClr val="F4F8F5"/>
                    </a:solidFill>
                  </a:tcPr>
                </a:tc>
                <a:extLst>
                  <a:ext uri="{0D108BD9-81ED-4DB2-BD59-A6C34878D82A}">
                    <a16:rowId xmlns:a16="http://schemas.microsoft.com/office/drawing/2014/main" val="10003"/>
                  </a:ext>
                </a:extLst>
              </a:tr>
              <a:tr h="566928">
                <a:tc>
                  <a:txBody>
                    <a:bodyPr/>
                    <a:lstStyle/>
                    <a:p>
                      <a:pPr algn="l">
                        <a:spcAft>
                          <a:spcPts val="0"/>
                        </a:spcAft>
                      </a:pPr>
                      <a:r>
                        <a:rPr sz="1150" b="1" i="0">
                          <a:solidFill>
                            <a:srgbClr val="17332A"/>
                          </a:solidFill>
                          <a:latin typeface="Calibri"/>
                        </a:rPr>
                        <a:t>Concaténer les embeddings de deux encodeurs</a:t>
                      </a:r>
                    </a:p>
                  </a:txBody>
                  <a:tcPr marL="73152" marR="73152" marT="36576" marB="36576" anchor="ctr">
                    <a:solidFill>
                      <a:srgbClr val="FFFFFF"/>
                    </a:solidFill>
                  </a:tcPr>
                </a:tc>
                <a:tc>
                  <a:txBody>
                    <a:bodyPr/>
                    <a:lstStyle/>
                    <a:p>
                      <a:pPr algn="l">
                        <a:spcAft>
                          <a:spcPts val="0"/>
                        </a:spcAft>
                      </a:pPr>
                      <a:r>
                        <a:rPr sz="1150" b="1" i="0">
                          <a:solidFill>
                            <a:srgbClr val="7D8983"/>
                          </a:solidFill>
                          <a:latin typeface="Calibri"/>
                        </a:rPr>
                        <a:t>● Plus tard</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7</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Agrégation : de la fenêtre au point d'écoute</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11</a:t>
            </a:r>
          </a:p>
        </p:txBody>
      </p:sp>
      <p:sp>
        <p:nvSpPr>
          <p:cNvPr id="31" name="Rounded Rectangle 30"/>
          <p:cNvSpPr/>
          <p:nvPr/>
        </p:nvSpPr>
        <p:spPr>
          <a:xfrm>
            <a:off x="457200" y="2423160"/>
            <a:ext cx="3429000" cy="27432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Rounded Rectangle 31"/>
          <p:cNvSpPr/>
          <p:nvPr/>
        </p:nvSpPr>
        <p:spPr>
          <a:xfrm>
            <a:off x="457200" y="2423160"/>
            <a:ext cx="3429000" cy="7772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0"/>
              </a:spcAft>
            </a:pPr>
            <a:r>
              <a:rPr sz="1500" b="1" i="0">
                <a:solidFill>
                  <a:srgbClr val="FFFFFF"/>
                </a:solidFill>
                <a:latin typeface="Calibri"/>
              </a:rPr>
              <a:t>Fenêtre</a:t>
            </a:r>
          </a:p>
          <a:p>
            <a:pPr algn="l">
              <a:spcAft>
                <a:spcPts val="0"/>
              </a:spcAft>
            </a:pPr>
            <a:r>
              <a:rPr sz="1500" b="0" i="0">
                <a:solidFill>
                  <a:srgbClr val="FFFFFF"/>
                </a:solidFill>
                <a:latin typeface="Calibri"/>
              </a:rPr>
              <a:t>3 à 6 s</a:t>
            </a:r>
          </a:p>
        </p:txBody>
      </p:sp>
      <p:sp>
        <p:nvSpPr>
          <p:cNvPr id="33" name="TextBox 32"/>
          <p:cNvSpPr txBox="1"/>
          <p:nvPr/>
        </p:nvSpPr>
        <p:spPr>
          <a:xfrm>
            <a:off x="640080" y="3383280"/>
            <a:ext cx="3063240" cy="1737360"/>
          </a:xfrm>
          <a:prstGeom prst="rect">
            <a:avLst/>
          </a:prstGeom>
          <a:noFill/>
        </p:spPr>
        <p:txBody>
          <a:bodyPr wrap="square" lIns="0" tIns="0" rIns="0" bIns="0" anchor="t">
            <a:spAutoFit/>
          </a:bodyPr>
          <a:lstStyle/>
          <a:p>
            <a:pPr marL="164592" indent="-164592" algn="l">
              <a:spcAft>
                <a:spcPts val="500"/>
              </a:spcAft>
              <a:buClr>
                <a:srgbClr val="2F6B4F"/>
              </a:buClr>
              <a:buFont typeface="Arial"/>
              <a:buChar char="•"/>
            </a:pPr>
            <a:r>
              <a:rPr sz="1300" b="0" i="0">
                <a:solidFill>
                  <a:srgbClr val="1C2B24"/>
                </a:solidFill>
                <a:latin typeface="Calibri"/>
              </a:rPr>
              <a:t>Score de la fusion</a:t>
            </a:r>
          </a:p>
          <a:p>
            <a:pPr marL="164592" indent="-164592" algn="l">
              <a:spcAft>
                <a:spcPts val="500"/>
              </a:spcAft>
              <a:buClr>
                <a:srgbClr val="2F6B4F"/>
              </a:buClr>
              <a:buFont typeface="Arial"/>
              <a:buChar char="•"/>
            </a:pPr>
            <a:r>
              <a:rPr sz="1300" b="0" i="0">
                <a:solidFill>
                  <a:srgbClr val="1C2B24"/>
                </a:solidFill>
                <a:latin typeface="Calibri"/>
              </a:rPr>
              <a:t>Seuil calibré sur les scores hors-pli</a:t>
            </a:r>
          </a:p>
          <a:p>
            <a:pPr marL="164592" indent="-164592" algn="l">
              <a:spcAft>
                <a:spcPts val="500"/>
              </a:spcAft>
              <a:buClr>
                <a:srgbClr val="2F6B4F"/>
              </a:buClr>
              <a:buFont typeface="Arial"/>
              <a:buChar char="•"/>
            </a:pPr>
            <a:r>
              <a:rPr sz="1300" b="0" i="0">
                <a:solidFill>
                  <a:srgbClr val="1C2B24"/>
                </a:solidFill>
                <a:latin typeface="Calibri"/>
              </a:rPr>
              <a:t>Calibration par site si le décalage se confirme</a:t>
            </a:r>
          </a:p>
        </p:txBody>
      </p:sp>
      <p:sp>
        <p:nvSpPr>
          <p:cNvPr id="34" name="Rounded Rectangle 33"/>
          <p:cNvSpPr/>
          <p:nvPr/>
        </p:nvSpPr>
        <p:spPr>
          <a:xfrm>
            <a:off x="640080" y="48006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cxnSp>
        <p:nvCxnSpPr>
          <p:cNvPr id="35" name="Connector 34"/>
          <p:cNvCxnSpPr/>
          <p:nvPr/>
        </p:nvCxnSpPr>
        <p:spPr>
          <a:xfrm>
            <a:off x="3931920" y="2807208"/>
            <a:ext cx="402336" cy="0"/>
          </a:xfrm>
          <a:prstGeom prst="line">
            <a:avLst/>
          </a:prstGeom>
          <a:ln w="2540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79976" y="2423160"/>
            <a:ext cx="3429000" cy="27432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7" name="Rounded Rectangle 36"/>
          <p:cNvSpPr/>
          <p:nvPr/>
        </p:nvSpPr>
        <p:spPr>
          <a:xfrm>
            <a:off x="4379976" y="2423160"/>
            <a:ext cx="3429000" cy="7772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0"/>
              </a:spcAft>
            </a:pPr>
            <a:r>
              <a:rPr sz="1500" b="1" i="0">
                <a:solidFill>
                  <a:srgbClr val="FFFFFF"/>
                </a:solidFill>
                <a:latin typeface="Calibri"/>
              </a:rPr>
              <a:t>Enregistrement</a:t>
            </a:r>
          </a:p>
          <a:p>
            <a:pPr algn="l">
              <a:spcAft>
                <a:spcPts val="0"/>
              </a:spcAft>
            </a:pPr>
            <a:r>
              <a:rPr sz="1500" b="0" i="0">
                <a:solidFill>
                  <a:srgbClr val="FFFFFF"/>
                </a:solidFill>
                <a:latin typeface="Calibri"/>
              </a:rPr>
              <a:t>2 min · unité principale</a:t>
            </a:r>
          </a:p>
        </p:txBody>
      </p:sp>
      <p:sp>
        <p:nvSpPr>
          <p:cNvPr id="38" name="TextBox 37"/>
          <p:cNvSpPr txBox="1"/>
          <p:nvPr/>
        </p:nvSpPr>
        <p:spPr>
          <a:xfrm>
            <a:off x="4562856" y="3383280"/>
            <a:ext cx="3063240" cy="664284"/>
          </a:xfrm>
          <a:prstGeom prst="rect">
            <a:avLst/>
          </a:prstGeom>
          <a:noFill/>
        </p:spPr>
        <p:txBody>
          <a:bodyPr wrap="square" lIns="0" tIns="0" rIns="0" bIns="0" anchor="t">
            <a:spAutoFit/>
          </a:bodyPr>
          <a:lstStyle/>
          <a:p>
            <a:pPr marL="164592" indent="-164592" algn="l">
              <a:spcAft>
                <a:spcPts val="500"/>
              </a:spcAft>
              <a:buClr>
                <a:srgbClr val="2F6B4F"/>
              </a:buClr>
              <a:buFont typeface="Arial"/>
              <a:buChar char="•"/>
            </a:pPr>
            <a:r>
              <a:rPr sz="1300" b="0" i="0" dirty="0">
                <a:solidFill>
                  <a:srgbClr val="1C2B24"/>
                </a:solidFill>
                <a:latin typeface="Calibri"/>
              </a:rPr>
              <a:t>Score : maximum, fraction de </a:t>
            </a:r>
            <a:r>
              <a:rPr sz="1300" b="0" i="0" dirty="0" err="1">
                <a:solidFill>
                  <a:srgbClr val="1C2B24"/>
                </a:solidFill>
                <a:latin typeface="Calibri"/>
              </a:rPr>
              <a:t>fenêtres</a:t>
            </a:r>
            <a:r>
              <a:rPr sz="1300" b="0" i="0" dirty="0">
                <a:solidFill>
                  <a:srgbClr val="1C2B24"/>
                </a:solidFill>
                <a:latin typeface="Calibri"/>
              </a:rPr>
              <a:t> positive</a:t>
            </a:r>
          </a:p>
          <a:p>
            <a:pPr marL="164592" indent="-164592" algn="l">
              <a:spcAft>
                <a:spcPts val="500"/>
              </a:spcAft>
              <a:buClr>
                <a:srgbClr val="2F6B4F"/>
              </a:buClr>
              <a:buFont typeface="Arial"/>
              <a:buChar char="•"/>
            </a:pPr>
            <a:r>
              <a:rPr sz="1300" b="0" i="0" dirty="0" err="1">
                <a:solidFill>
                  <a:srgbClr val="1C2B24"/>
                </a:solidFill>
                <a:latin typeface="Calibri"/>
              </a:rPr>
              <a:t>Détections</a:t>
            </a:r>
            <a:r>
              <a:rPr sz="1300" b="0" i="0" dirty="0">
                <a:solidFill>
                  <a:srgbClr val="1C2B24"/>
                </a:solidFill>
                <a:latin typeface="Calibri"/>
              </a:rPr>
              <a:t> </a:t>
            </a:r>
            <a:r>
              <a:rPr sz="1300" b="0" i="0" dirty="0" err="1">
                <a:solidFill>
                  <a:srgbClr val="1C2B24"/>
                </a:solidFill>
                <a:latin typeface="Calibri"/>
              </a:rPr>
              <a:t>isolées</a:t>
            </a:r>
            <a:r>
              <a:rPr sz="1300" b="0" i="0" dirty="0">
                <a:solidFill>
                  <a:srgbClr val="1C2B24"/>
                </a:solidFill>
                <a:latin typeface="Calibri"/>
              </a:rPr>
              <a:t> → file « suspect »</a:t>
            </a:r>
          </a:p>
        </p:txBody>
      </p:sp>
      <p:sp>
        <p:nvSpPr>
          <p:cNvPr id="39" name="Rounded Rectangle 38"/>
          <p:cNvSpPr/>
          <p:nvPr/>
        </p:nvSpPr>
        <p:spPr>
          <a:xfrm>
            <a:off x="4562856" y="4800600"/>
            <a:ext cx="960120" cy="237744"/>
          </a:xfrm>
          <a:prstGeom prst="roundRect">
            <a:avLst>
              <a:gd name="adj" fmla="val 50000"/>
            </a:avLst>
          </a:prstGeom>
          <a:solidFill>
            <a:srgbClr val="C9780E"/>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comparer</a:t>
            </a:r>
          </a:p>
        </p:txBody>
      </p:sp>
      <p:cxnSp>
        <p:nvCxnSpPr>
          <p:cNvPr id="40" name="Connector 39"/>
          <p:cNvCxnSpPr/>
          <p:nvPr/>
        </p:nvCxnSpPr>
        <p:spPr>
          <a:xfrm>
            <a:off x="7854696" y="2807208"/>
            <a:ext cx="402335" cy="0"/>
          </a:xfrm>
          <a:prstGeom prst="line">
            <a:avLst/>
          </a:prstGeom>
          <a:ln w="2540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302752" y="2423160"/>
            <a:ext cx="3429000" cy="27432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Rounded Rectangle 41"/>
          <p:cNvSpPr/>
          <p:nvPr/>
        </p:nvSpPr>
        <p:spPr>
          <a:xfrm>
            <a:off x="8302752" y="2423160"/>
            <a:ext cx="3429000" cy="7772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0"/>
              </a:spcAft>
            </a:pPr>
            <a:r>
              <a:rPr sz="1500" b="1" i="0">
                <a:solidFill>
                  <a:srgbClr val="FFFFFF"/>
                </a:solidFill>
                <a:latin typeface="Calibri"/>
              </a:rPr>
              <a:t>Point × période</a:t>
            </a:r>
          </a:p>
          <a:p>
            <a:pPr algn="l">
              <a:spcAft>
                <a:spcPts val="0"/>
              </a:spcAft>
            </a:pPr>
            <a:r>
              <a:rPr sz="1500" b="0" i="0">
                <a:solidFill>
                  <a:srgbClr val="FFFFFF"/>
                </a:solidFill>
                <a:latin typeface="Calibri"/>
              </a:rPr>
              <a:t>décision pour le gestionnaire</a:t>
            </a:r>
          </a:p>
        </p:txBody>
      </p:sp>
      <p:sp>
        <p:nvSpPr>
          <p:cNvPr id="43" name="TextBox 42"/>
          <p:cNvSpPr txBox="1"/>
          <p:nvPr/>
        </p:nvSpPr>
        <p:spPr>
          <a:xfrm>
            <a:off x="8485632" y="3383280"/>
            <a:ext cx="3063240" cy="1737360"/>
          </a:xfrm>
          <a:prstGeom prst="rect">
            <a:avLst/>
          </a:prstGeom>
          <a:noFill/>
        </p:spPr>
        <p:txBody>
          <a:bodyPr wrap="square" lIns="0" tIns="0" rIns="0" bIns="0" anchor="t">
            <a:spAutoFit/>
          </a:bodyPr>
          <a:lstStyle/>
          <a:p>
            <a:pPr marL="164592" indent="-164592" algn="l">
              <a:spcAft>
                <a:spcPts val="500"/>
              </a:spcAft>
              <a:buClr>
                <a:srgbClr val="2F6B4F"/>
              </a:buClr>
              <a:buFont typeface="Arial"/>
              <a:buChar char="•"/>
            </a:pPr>
            <a:r>
              <a:rPr sz="1300" b="0" i="0">
                <a:solidFill>
                  <a:srgbClr val="1C2B24"/>
                </a:solidFill>
                <a:latin typeface="Calibri"/>
              </a:rPr>
              <a:t>Points classés par force : fraction, nombre d'enregistrements, jours</a:t>
            </a:r>
          </a:p>
          <a:p>
            <a:pPr marL="164592" indent="-164592" algn="l">
              <a:spcAft>
                <a:spcPts val="500"/>
              </a:spcAft>
              <a:buClr>
                <a:srgbClr val="2F6B4F"/>
              </a:buClr>
              <a:buFont typeface="Arial"/>
              <a:buChar char="•"/>
            </a:pPr>
            <a:r>
              <a:rPr sz="1300" b="0" i="0">
                <a:solidFill>
                  <a:srgbClr val="1C2B24"/>
                </a:solidFill>
                <a:latin typeface="Calibri"/>
              </a:rPr>
              <a:t>« À vérifier » → « présence confirmée » après validation</a:t>
            </a:r>
          </a:p>
          <a:p>
            <a:pPr marL="164592" indent="-164592" algn="l">
              <a:spcAft>
                <a:spcPts val="500"/>
              </a:spcAft>
              <a:buClr>
                <a:srgbClr val="2F6B4F"/>
              </a:buClr>
              <a:buFont typeface="Arial"/>
              <a:buChar char="•"/>
            </a:pPr>
            <a:r>
              <a:rPr sz="1300" b="0" i="0">
                <a:solidFill>
                  <a:srgbClr val="1C2B24"/>
                </a:solidFill>
                <a:latin typeface="Calibri"/>
              </a:rPr>
              <a:t>Sinon « non détecté », </a:t>
            </a:r>
            <a:r>
              <a:rPr sz="1300" b="1" i="0">
                <a:solidFill>
                  <a:srgbClr val="1C2B24"/>
                </a:solidFill>
                <a:latin typeface="Calibri"/>
              </a:rPr>
              <a:t>jamais « absent »</a:t>
            </a:r>
          </a:p>
        </p:txBody>
      </p:sp>
      <p:sp>
        <p:nvSpPr>
          <p:cNvPr id="44" name="Rounded Rectangle 43"/>
          <p:cNvSpPr/>
          <p:nvPr/>
        </p:nvSpPr>
        <p:spPr>
          <a:xfrm>
            <a:off x="8485632" y="480060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8</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Sélection des candidats : quoi faire écouter ?</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12</a:t>
            </a:r>
          </a:p>
        </p:txBody>
      </p:sp>
      <p:graphicFrame>
        <p:nvGraphicFramePr>
          <p:cNvPr id="31" name="Table 30"/>
          <p:cNvGraphicFramePr>
            <a:graphicFrameLocks noGrp="1"/>
          </p:cNvGraphicFramePr>
          <p:nvPr>
            <p:extLst>
              <p:ext uri="{D42A27DB-BD31-4B8C-83A1-F6EECF244321}">
                <p14:modId xmlns:p14="http://schemas.microsoft.com/office/powerpoint/2010/main" val="661008057"/>
              </p:ext>
            </p:extLst>
          </p:nvPr>
        </p:nvGraphicFramePr>
        <p:xfrm>
          <a:off x="457200" y="2395728"/>
          <a:ext cx="11274551" cy="3456432"/>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tblGrid>
              <a:tr h="384048">
                <a:tc>
                  <a:txBody>
                    <a:bodyPr/>
                    <a:lstStyle/>
                    <a:p>
                      <a:pPr algn="l">
                        <a:spcAft>
                          <a:spcPts val="0"/>
                        </a:spcAft>
                      </a:pPr>
                      <a:r>
                        <a:rPr sz="1150" b="1" i="0">
                          <a:solidFill>
                            <a:srgbClr val="FFFFFF"/>
                          </a:solidFill>
                          <a:latin typeface="Calibri"/>
                        </a:rPr>
                        <a:t>Méthode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Principe</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Quand l'utiliser</a:t>
                      </a:r>
                    </a:p>
                  </a:txBody>
                  <a:tcPr marL="73152" marR="73152" marT="36576" marB="36576" anchor="ctr">
                    <a:solidFill>
                      <a:srgbClr val="17332A"/>
                    </a:solidFill>
                  </a:tcPr>
                </a:tc>
                <a:tc>
                  <a:txBody>
                    <a:bodyPr/>
                    <a:lstStyle/>
                    <a:p>
                      <a:pPr algn="l">
                        <a:spcAft>
                          <a:spcPts val="0"/>
                        </a:spcAft>
                      </a:pPr>
                      <a:r>
                        <a:rPr sz="1150" b="1" i="0">
                          <a:solidFill>
                            <a:srgbClr val="FFFFFF"/>
                          </a:solidFill>
                          <a:latin typeface="Calibri"/>
                        </a:rPr>
                        <a:t>Statut</a:t>
                      </a:r>
                    </a:p>
                  </a:txBody>
                  <a:tcPr marL="73152" marR="73152" marT="36576" marB="36576" anchor="ctr">
                    <a:solidFill>
                      <a:srgbClr val="17332A"/>
                    </a:solidFill>
                  </a:tcPr>
                </a:tc>
                <a:extLst>
                  <a:ext uri="{0D108BD9-81ED-4DB2-BD59-A6C34878D82A}">
                    <a16:rowId xmlns:a16="http://schemas.microsoft.com/office/drawing/2014/main" val="10000"/>
                  </a:ext>
                </a:extLst>
              </a:tr>
              <a:tr h="384048">
                <a:tc>
                  <a:txBody>
                    <a:bodyPr/>
                    <a:lstStyle/>
                    <a:p>
                      <a:pPr algn="l">
                        <a:spcAft>
                          <a:spcPts val="0"/>
                        </a:spcAft>
                      </a:pPr>
                      <a:r>
                        <a:rPr sz="1100" b="1" i="0">
                          <a:solidFill>
                            <a:srgbClr val="17332A"/>
                          </a:solidFill>
                          <a:latin typeface="Calibri"/>
                        </a:rPr>
                        <a:t>File 60-20-20</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Incertains, meilleurs scores, aléatoire stratifié (micro, heure)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Baseline ; plus d'aléatoire en début d'entraînement</a:t>
                      </a:r>
                    </a:p>
                  </a:txBody>
                  <a:tcPr marL="73152" marR="73152" marT="36576" marB="36576" anchor="ctr">
                    <a:solidFill>
                      <a:srgbClr val="F4F8F5"/>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1"/>
                  </a:ext>
                </a:extLst>
              </a:tr>
              <a:tr h="384048">
                <a:tc>
                  <a:txBody>
                    <a:bodyPr/>
                    <a:lstStyle/>
                    <a:p>
                      <a:pPr algn="l">
                        <a:spcAft>
                          <a:spcPts val="0"/>
                        </a:spcAft>
                      </a:pPr>
                      <a:r>
                        <a:rPr sz="1100" b="1" i="0">
                          <a:solidFill>
                            <a:srgbClr val="17332A"/>
                          </a:solidFill>
                          <a:latin typeface="Calibri"/>
                        </a:rPr>
                        <a:t>Récolte par similarité</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Requêtes : positifs connus, prototype différentiel</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Positifs faciles ; amorcer un nouveau site</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2"/>
                  </a:ext>
                </a:extLst>
              </a:tr>
              <a:tr h="384048">
                <a:tc>
                  <a:txBody>
                    <a:bodyPr/>
                    <a:lstStyle/>
                    <a:p>
                      <a:pPr algn="l">
                        <a:spcAft>
                          <a:spcPts val="0"/>
                        </a:spcAft>
                      </a:pPr>
                      <a:r>
                        <a:rPr sz="1100" b="1" i="0">
                          <a:solidFill>
                            <a:srgbClr val="17332A"/>
                          </a:solidFill>
                          <a:latin typeface="Calibri"/>
                        </a:rPr>
                        <a:t>YAPAT</a:t>
                      </a:r>
                    </a:p>
                  </a:txBody>
                  <a:tcPr marL="73152" marR="73152" marT="36576" marB="36576" anchor="ctr">
                    <a:solidFill>
                      <a:srgbClr val="FFFFFF"/>
                    </a:solidFill>
                  </a:tcPr>
                </a:tc>
                <a:tc>
                  <a:txBody>
                    <a:bodyPr/>
                    <a:lstStyle/>
                    <a:p>
                      <a:pPr algn="l">
                        <a:spcAft>
                          <a:spcPts val="0"/>
                        </a:spcAft>
                      </a:pPr>
                      <a:r>
                        <a:rPr sz="1100" b="0" i="0" dirty="0" err="1">
                          <a:solidFill>
                            <a:srgbClr val="1C2B24"/>
                          </a:solidFill>
                          <a:latin typeface="Calibri"/>
                        </a:rPr>
                        <a:t>Outil</a:t>
                      </a:r>
                      <a:r>
                        <a:rPr sz="1100" b="0" i="0" dirty="0">
                          <a:solidFill>
                            <a:srgbClr val="1C2B24"/>
                          </a:solidFill>
                          <a:latin typeface="Calibri"/>
                        </a:rPr>
                        <a:t> </a:t>
                      </a:r>
                      <a:r>
                        <a:rPr sz="1100" b="0" i="0" dirty="0" err="1">
                          <a:solidFill>
                            <a:srgbClr val="1C2B24"/>
                          </a:solidFill>
                          <a:latin typeface="Calibri"/>
                        </a:rPr>
                        <a:t>d'annotation</a:t>
                      </a:r>
                      <a:r>
                        <a:rPr sz="1100" b="0" i="0" dirty="0">
                          <a:solidFill>
                            <a:srgbClr val="1C2B24"/>
                          </a:solidFill>
                          <a:latin typeface="Calibri"/>
                        </a:rPr>
                        <a:t> </a:t>
                      </a:r>
                      <a:r>
                        <a:rPr sz="1100" b="0" i="0" dirty="0" err="1">
                          <a:solidFill>
                            <a:srgbClr val="1C2B24"/>
                          </a:solidFill>
                          <a:latin typeface="Calibri"/>
                        </a:rPr>
                        <a:t>existant</a:t>
                      </a:r>
                      <a:endParaRPr sz="1100" b="0" i="0" dirty="0">
                        <a:solidFill>
                          <a:srgbClr val="1C2B24"/>
                        </a:solidFill>
                        <a:latin typeface="Calibri"/>
                      </a:endParaRP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À essayer contre notre poste (et Whombat)</a:t>
                      </a:r>
                    </a:p>
                  </a:txBody>
                  <a:tcPr marL="73152" marR="73152" marT="36576" marB="36576" anchor="ctr">
                    <a:solidFill>
                      <a:srgbClr val="FFFFFF"/>
                    </a:solidFill>
                  </a:tcPr>
                </a:tc>
                <a:tc>
                  <a:txBody>
                    <a:bodyPr/>
                    <a:lstStyle/>
                    <a:p>
                      <a:pPr algn="l">
                        <a:spcAft>
                          <a:spcPts val="0"/>
                        </a:spcAft>
                      </a:pPr>
                      <a:r>
                        <a:rPr sz="1100" b="1" i="0" dirty="0">
                          <a:solidFill>
                            <a:srgbClr val="3E7CB1"/>
                          </a:solidFill>
                          <a:latin typeface="Calibri"/>
                        </a:rPr>
                        <a:t>● À essayer</a:t>
                      </a:r>
                    </a:p>
                  </a:txBody>
                  <a:tcPr marL="73152" marR="73152" marT="36576" marB="36576" anchor="ctr">
                    <a:solidFill>
                      <a:srgbClr val="FFFFFF"/>
                    </a:solidFill>
                  </a:tcPr>
                </a:tc>
                <a:extLst>
                  <a:ext uri="{0D108BD9-81ED-4DB2-BD59-A6C34878D82A}">
                    <a16:rowId xmlns:a16="http://schemas.microsoft.com/office/drawing/2014/main" val="10004"/>
                  </a:ext>
                </a:extLst>
              </a:tr>
              <a:tr h="384048">
                <a:tc>
                  <a:txBody>
                    <a:bodyPr/>
                    <a:lstStyle/>
                    <a:p>
                      <a:pPr algn="l">
                        <a:spcAft>
                          <a:spcPts val="0"/>
                        </a:spcAft>
                      </a:pPr>
                      <a:r>
                        <a:rPr sz="1100" b="1" i="0">
                          <a:solidFill>
                            <a:srgbClr val="17332A"/>
                          </a:solidFill>
                          <a:latin typeface="Calibri"/>
                        </a:rPr>
                        <a:t>Étiquetage en bloc par cluster</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Groupe homogène après une dizaine d'écoutes : annoté en masse</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Négatifs en volume ; positifs si un groupe est pur</a:t>
                      </a:r>
                    </a:p>
                  </a:txBody>
                  <a:tcPr marL="73152" marR="73152" marT="36576" marB="36576" anchor="ctr">
                    <a:solidFill>
                      <a:srgbClr val="F4F8F5"/>
                    </a:solidFill>
                  </a:tcPr>
                </a:tc>
                <a:tc>
                  <a:txBody>
                    <a:bodyPr/>
                    <a:lstStyle/>
                    <a:p>
                      <a:pPr algn="l">
                        <a:spcAft>
                          <a:spcPts val="0"/>
                        </a:spcAft>
                      </a:pPr>
                      <a:r>
                        <a:rPr sz="1100" b="1" i="0">
                          <a:solidFill>
                            <a:srgbClr val="3E7CB1"/>
                          </a:solidFill>
                          <a:latin typeface="Calibri"/>
                        </a:rPr>
                        <a:t>● À essayer</a:t>
                      </a:r>
                    </a:p>
                  </a:txBody>
                  <a:tcPr marL="73152" marR="73152" marT="36576" marB="36576" anchor="ctr">
                    <a:solidFill>
                      <a:srgbClr val="F4F8F5"/>
                    </a:solidFill>
                  </a:tcPr>
                </a:tc>
                <a:extLst>
                  <a:ext uri="{0D108BD9-81ED-4DB2-BD59-A6C34878D82A}">
                    <a16:rowId xmlns:a16="http://schemas.microsoft.com/office/drawing/2014/main" val="10005"/>
                  </a:ext>
                </a:extLst>
              </a:tr>
              <a:tr h="384048">
                <a:tc>
                  <a:txBody>
                    <a:bodyPr/>
                    <a:lstStyle/>
                    <a:p>
                      <a:pPr algn="l">
                        <a:spcAft>
                          <a:spcPts val="0"/>
                        </a:spcAft>
                      </a:pPr>
                      <a:r>
                        <a:rPr sz="1100" b="1" i="0">
                          <a:solidFill>
                            <a:srgbClr val="17332A"/>
                          </a:solidFill>
                          <a:latin typeface="Calibri"/>
                        </a:rPr>
                        <a:t>Audit aléatoire</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Enregistrements entiers tirés au hasard</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Seule mesure du rappel indépendante de Blancinet</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6"/>
                  </a:ext>
                </a:extLst>
              </a:tr>
              <a:tr h="384048">
                <a:tc>
                  <a:txBody>
                    <a:bodyPr/>
                    <a:lstStyle/>
                    <a:p>
                      <a:pPr algn="l">
                        <a:spcAft>
                          <a:spcPts val="0"/>
                        </a:spcAft>
                      </a:pPr>
                      <a:r>
                        <a:rPr sz="1100" b="1" i="0">
                          <a:solidFill>
                            <a:srgbClr val="17332A"/>
                          </a:solidFill>
                          <a:latin typeface="Calibri"/>
                        </a:rPr>
                        <a:t>Negative mining</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Négatifs durs parmi les mieux classés</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Apprendre les confusions</a:t>
                      </a:r>
                    </a:p>
                  </a:txBody>
                  <a:tcPr marL="73152" marR="73152" marT="36576" marB="36576" anchor="ctr">
                    <a:solidFill>
                      <a:srgbClr val="F4F8F5"/>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4F8F5"/>
                    </a:solidFill>
                  </a:tcPr>
                </a:tc>
                <a:extLst>
                  <a:ext uri="{0D108BD9-81ED-4DB2-BD59-A6C34878D82A}">
                    <a16:rowId xmlns:a16="http://schemas.microsoft.com/office/drawing/2014/main" val="10007"/>
                  </a:ext>
                </a:extLst>
              </a:tr>
              <a:tr h="384048">
                <a:tc>
                  <a:txBody>
                    <a:bodyPr/>
                    <a:lstStyle/>
                    <a:p>
                      <a:pPr algn="l">
                        <a:spcAft>
                          <a:spcPts val="0"/>
                        </a:spcAft>
                      </a:pPr>
                      <a:r>
                        <a:rPr sz="1100" b="1" i="0" dirty="0" err="1">
                          <a:solidFill>
                            <a:srgbClr val="17332A"/>
                          </a:solidFill>
                          <a:latin typeface="Calibri"/>
                        </a:rPr>
                        <a:t>Échantillonnage</a:t>
                      </a:r>
                      <a:r>
                        <a:rPr sz="1100" b="1" i="0" dirty="0">
                          <a:solidFill>
                            <a:srgbClr val="17332A"/>
                          </a:solidFill>
                          <a:latin typeface="Calibri"/>
                        </a:rPr>
                        <a:t> </a:t>
                      </a:r>
                      <a:r>
                        <a:rPr sz="1100" b="1" i="0" dirty="0" err="1">
                          <a:solidFill>
                            <a:srgbClr val="17332A"/>
                          </a:solidFill>
                          <a:latin typeface="Calibri"/>
                        </a:rPr>
                        <a:t>phénologique</a:t>
                      </a:r>
                      <a:endParaRPr sz="1100" b="1" i="0" dirty="0">
                        <a:solidFill>
                          <a:srgbClr val="17332A"/>
                        </a:solidFill>
                        <a:latin typeface="Calibri"/>
                      </a:endParaRP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Heures de pic, saison haute ; Molokoi en janvier–avril</a:t>
                      </a:r>
                    </a:p>
                  </a:txBody>
                  <a:tcPr marL="73152" marR="73152" marT="36576" marB="36576" anchor="ctr">
                    <a:solidFill>
                      <a:srgbClr val="FFFFFF"/>
                    </a:solidFill>
                  </a:tcPr>
                </a:tc>
                <a:tc>
                  <a:txBody>
                    <a:bodyPr/>
                    <a:lstStyle/>
                    <a:p>
                      <a:pPr algn="l">
                        <a:spcAft>
                          <a:spcPts val="0"/>
                        </a:spcAft>
                      </a:pPr>
                      <a:r>
                        <a:rPr sz="1100" b="0" i="0">
                          <a:solidFill>
                            <a:srgbClr val="1C2B24"/>
                          </a:solidFill>
                          <a:latin typeface="Calibri"/>
                        </a:rPr>
                        <a:t>Récolter là où elle chante</a:t>
                      </a:r>
                    </a:p>
                  </a:txBody>
                  <a:tcPr marL="73152" marR="73152" marT="36576" marB="36576" anchor="ctr">
                    <a:solidFill>
                      <a:srgbClr val="FFFFFF"/>
                    </a:solidFill>
                  </a:tcPr>
                </a:tc>
                <a:tc>
                  <a:txBody>
                    <a:bodyPr/>
                    <a:lstStyle/>
                    <a:p>
                      <a:pPr algn="l">
                        <a:spcAft>
                          <a:spcPts val="0"/>
                        </a:spcAft>
                      </a:pPr>
                      <a:r>
                        <a:rPr sz="1100" b="1" i="0">
                          <a:solidFill>
                            <a:srgbClr val="2F8F5B"/>
                          </a:solidFill>
                          <a:latin typeface="Calibri"/>
                        </a:rPr>
                        <a:t>● Retenu</a:t>
                      </a:r>
                    </a:p>
                  </a:txBody>
                  <a:tcPr marL="73152" marR="73152" marT="36576" marB="36576" anchor="ctr">
                    <a:solidFill>
                      <a:srgbClr val="FFFFFF"/>
                    </a:solidFill>
                  </a:tcPr>
                </a:tc>
                <a:extLst>
                  <a:ext uri="{0D108BD9-81ED-4DB2-BD59-A6C34878D82A}">
                    <a16:rowId xmlns:a16="http://schemas.microsoft.com/office/drawing/2014/main" val="10008"/>
                  </a:ext>
                </a:extLst>
              </a:tr>
              <a:tr h="384048">
                <a:tc>
                  <a:txBody>
                    <a:bodyPr/>
                    <a:lstStyle/>
                    <a:p>
                      <a:pPr algn="l">
                        <a:spcAft>
                          <a:spcPts val="0"/>
                        </a:spcAft>
                      </a:pPr>
                      <a:r>
                        <a:rPr sz="1100" b="1" i="0" dirty="0">
                          <a:solidFill>
                            <a:srgbClr val="17332A"/>
                          </a:solidFill>
                          <a:latin typeface="Calibri"/>
                        </a:rPr>
                        <a:t>File « suspect »</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Détections isolées dans un enregistrement</a:t>
                      </a:r>
                    </a:p>
                  </a:txBody>
                  <a:tcPr marL="73152" marR="73152" marT="36576" marB="36576" anchor="ctr">
                    <a:solidFill>
                      <a:srgbClr val="F4F8F5"/>
                    </a:solidFill>
                  </a:tcPr>
                </a:tc>
                <a:tc>
                  <a:txBody>
                    <a:bodyPr/>
                    <a:lstStyle/>
                    <a:p>
                      <a:pPr algn="l">
                        <a:spcAft>
                          <a:spcPts val="0"/>
                        </a:spcAft>
                      </a:pPr>
                      <a:r>
                        <a:rPr sz="1100" b="0" i="0">
                          <a:solidFill>
                            <a:srgbClr val="1C2B24"/>
                          </a:solidFill>
                          <a:latin typeface="Calibri"/>
                        </a:rPr>
                        <a:t>Faux positifs probables, ou chant ponctuel</a:t>
                      </a:r>
                    </a:p>
                  </a:txBody>
                  <a:tcPr marL="73152" marR="73152" marT="36576" marB="36576" anchor="ctr">
                    <a:solidFill>
                      <a:srgbClr val="F4F8F5"/>
                    </a:solidFill>
                  </a:tcPr>
                </a:tc>
                <a:tc>
                  <a:txBody>
                    <a:bodyPr/>
                    <a:lstStyle/>
                    <a:p>
                      <a:pPr algn="l">
                        <a:spcAft>
                          <a:spcPts val="0"/>
                        </a:spcAft>
                      </a:pPr>
                      <a:r>
                        <a:rPr sz="1100" b="1" i="0" dirty="0">
                          <a:solidFill>
                            <a:srgbClr val="2F8F5B"/>
                          </a:solidFill>
                          <a:latin typeface="Calibri"/>
                        </a:rPr>
                        <a:t>● </a:t>
                      </a:r>
                      <a:r>
                        <a:rPr sz="1100" b="1" i="0" dirty="0" err="1">
                          <a:solidFill>
                            <a:srgbClr val="2F8F5B"/>
                          </a:solidFill>
                          <a:latin typeface="Calibri"/>
                        </a:rPr>
                        <a:t>Retenu</a:t>
                      </a:r>
                      <a:endParaRPr sz="1100" b="1" i="0" dirty="0">
                        <a:solidFill>
                          <a:srgbClr val="2F8F5B"/>
                        </a:solidFill>
                        <a:latin typeface="Calibri"/>
                      </a:endParaRPr>
                    </a:p>
                  </a:txBody>
                  <a:tcPr marL="73152" marR="73152" marT="36576" marB="36576" anchor="ctr">
                    <a:solidFill>
                      <a:srgbClr val="F4F8F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ÉTAPE 9</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Annotation et réentraînement : fermer la boucle</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1" i="0">
                <a:solidFill>
                  <a:srgbClr val="1C2B24"/>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0" i="0">
                <a:solidFill>
                  <a:srgbClr val="5E6E66"/>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13</a:t>
            </a:r>
          </a:p>
        </p:txBody>
      </p:sp>
      <p:sp>
        <p:nvSpPr>
          <p:cNvPr id="31" name="Rounded Rectangle 30"/>
          <p:cNvSpPr/>
          <p:nvPr/>
        </p:nvSpPr>
        <p:spPr>
          <a:xfrm>
            <a:off x="457200" y="2423160"/>
            <a:ext cx="5500116" cy="384048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TextBox 31"/>
          <p:cNvSpPr txBox="1"/>
          <p:nvPr/>
        </p:nvSpPr>
        <p:spPr>
          <a:xfrm>
            <a:off x="685800" y="2560320"/>
            <a:ext cx="5042916" cy="365760"/>
          </a:xfrm>
          <a:prstGeom prst="rect">
            <a:avLst/>
          </a:prstGeom>
          <a:noFill/>
        </p:spPr>
        <p:txBody>
          <a:bodyPr wrap="square" lIns="0" tIns="0" rIns="0" bIns="0" anchor="t">
            <a:spAutoFit/>
          </a:bodyPr>
          <a:lstStyle/>
          <a:p>
            <a:pPr algn="l">
              <a:spcAft>
                <a:spcPts val="400"/>
              </a:spcAft>
            </a:pPr>
            <a:r>
              <a:rPr sz="1700" b="1" i="0">
                <a:solidFill>
                  <a:srgbClr val="17332A"/>
                </a:solidFill>
                <a:latin typeface="Cambria"/>
              </a:rPr>
              <a:t>Annotation</a:t>
            </a:r>
          </a:p>
        </p:txBody>
      </p:sp>
      <p:sp>
        <p:nvSpPr>
          <p:cNvPr id="33" name="Rounded Rectangle 32"/>
          <p:cNvSpPr/>
          <p:nvPr/>
        </p:nvSpPr>
        <p:spPr>
          <a:xfrm>
            <a:off x="685800" y="3108960"/>
            <a:ext cx="960120" cy="237744"/>
          </a:xfrm>
          <a:prstGeom prst="roundRect">
            <a:avLst>
              <a:gd name="adj" fmla="val 5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trancher</a:t>
            </a:r>
          </a:p>
        </p:txBody>
      </p:sp>
      <p:sp>
        <p:nvSpPr>
          <p:cNvPr id="34" name="TextBox 33"/>
          <p:cNvSpPr txBox="1"/>
          <p:nvPr/>
        </p:nvSpPr>
        <p:spPr>
          <a:xfrm>
            <a:off x="1783080" y="3063240"/>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Unité : la fenêtre, ou l'enregistrement entier (chant continu : toutes ses fenêtres héritent du label)</a:t>
            </a:r>
          </a:p>
        </p:txBody>
      </p:sp>
      <p:sp>
        <p:nvSpPr>
          <p:cNvPr id="35" name="Rounded Rectangle 34"/>
          <p:cNvSpPr/>
          <p:nvPr/>
        </p:nvSpPr>
        <p:spPr>
          <a:xfrm>
            <a:off x="685800" y="3895344"/>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36" name="TextBox 35"/>
          <p:cNvSpPr txBox="1"/>
          <p:nvPr/>
        </p:nvSpPr>
        <p:spPr>
          <a:xfrm>
            <a:off x="1783080" y="3849624"/>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Labels : solo, chœur, incertain ; faux ami par espèce ; qualité A/B/C ; commentaire accolé à la fenêtre</a:t>
            </a:r>
          </a:p>
        </p:txBody>
      </p:sp>
      <p:sp>
        <p:nvSpPr>
          <p:cNvPr id="37" name="Rounded Rectangle 36"/>
          <p:cNvSpPr/>
          <p:nvPr/>
        </p:nvSpPr>
        <p:spPr>
          <a:xfrm>
            <a:off x="685800" y="4681728"/>
            <a:ext cx="960120" cy="237744"/>
          </a:xfrm>
          <a:prstGeom prst="roundRect">
            <a:avLst>
              <a:gd name="adj" fmla="val 50000"/>
            </a:avLst>
          </a:prstGeom>
          <a:solidFill>
            <a:srgbClr val="3E7CB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À essayer</a:t>
            </a:r>
          </a:p>
        </p:txBody>
      </p:sp>
      <p:sp>
        <p:nvSpPr>
          <p:cNvPr id="38" name="TextBox 37"/>
          <p:cNvSpPr txBox="1"/>
          <p:nvPr/>
        </p:nvSpPr>
        <p:spPr>
          <a:xfrm>
            <a:off x="1783080" y="4636008"/>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Outil : poste Streamlit, YAPAT ou Whombat</a:t>
            </a:r>
          </a:p>
        </p:txBody>
      </p:sp>
      <p:sp>
        <p:nvSpPr>
          <p:cNvPr id="39" name="Rounded Rectangle 38"/>
          <p:cNvSpPr/>
          <p:nvPr/>
        </p:nvSpPr>
        <p:spPr>
          <a:xfrm>
            <a:off x="685800" y="5468112"/>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0" name="TextBox 39"/>
          <p:cNvSpPr txBox="1"/>
          <p:nvPr/>
        </p:nvSpPr>
        <p:spPr>
          <a:xfrm>
            <a:off x="1783080" y="5422392"/>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Accord entre annotateurs, pour chiffrer la fiabilité des labels</a:t>
            </a:r>
          </a:p>
        </p:txBody>
      </p:sp>
      <p:sp>
        <p:nvSpPr>
          <p:cNvPr id="41" name="Rounded Rectangle 40"/>
          <p:cNvSpPr/>
          <p:nvPr/>
        </p:nvSpPr>
        <p:spPr>
          <a:xfrm>
            <a:off x="6231636" y="2423160"/>
            <a:ext cx="5500116" cy="384048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42" name="TextBox 41"/>
          <p:cNvSpPr txBox="1"/>
          <p:nvPr/>
        </p:nvSpPr>
        <p:spPr>
          <a:xfrm>
            <a:off x="6460236" y="2560320"/>
            <a:ext cx="5042916" cy="365760"/>
          </a:xfrm>
          <a:prstGeom prst="rect">
            <a:avLst/>
          </a:prstGeom>
          <a:noFill/>
        </p:spPr>
        <p:txBody>
          <a:bodyPr wrap="square" lIns="0" tIns="0" rIns="0" bIns="0" anchor="t">
            <a:spAutoFit/>
          </a:bodyPr>
          <a:lstStyle/>
          <a:p>
            <a:pPr algn="l">
              <a:spcAft>
                <a:spcPts val="400"/>
              </a:spcAft>
            </a:pPr>
            <a:r>
              <a:rPr sz="1700" b="1" i="0">
                <a:solidFill>
                  <a:srgbClr val="17332A"/>
                </a:solidFill>
                <a:latin typeface="Cambria"/>
              </a:rPr>
              <a:t>Réentraînement</a:t>
            </a:r>
          </a:p>
        </p:txBody>
      </p:sp>
      <p:sp>
        <p:nvSpPr>
          <p:cNvPr id="43" name="Rounded Rectangle 42"/>
          <p:cNvSpPr/>
          <p:nvPr/>
        </p:nvSpPr>
        <p:spPr>
          <a:xfrm>
            <a:off x="6460236" y="3108960"/>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4" name="TextBox 43"/>
          <p:cNvSpPr txBox="1"/>
          <p:nvPr/>
        </p:nvSpPr>
        <p:spPr>
          <a:xfrm>
            <a:off x="7557515" y="3063240"/>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La tête est réentraînée de zéro sur tous les labels ; l'encodeur reste figé</a:t>
            </a:r>
          </a:p>
        </p:txBody>
      </p:sp>
      <p:sp>
        <p:nvSpPr>
          <p:cNvPr id="45" name="Rounded Rectangle 44"/>
          <p:cNvSpPr/>
          <p:nvPr/>
        </p:nvSpPr>
        <p:spPr>
          <a:xfrm>
            <a:off x="6460236" y="3895344"/>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6" name="TextBox 45"/>
          <p:cNvSpPr txBox="1"/>
          <p:nvPr/>
        </p:nvSpPr>
        <p:spPr>
          <a:xfrm>
            <a:off x="7557515" y="3849624"/>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Nouvelle tête adoptée seulement si elle ne fait pas moins bien sur le jeu gelé</a:t>
            </a:r>
          </a:p>
        </p:txBody>
      </p:sp>
      <p:sp>
        <p:nvSpPr>
          <p:cNvPr id="47" name="Rounded Rectangle 46"/>
          <p:cNvSpPr/>
          <p:nvPr/>
        </p:nvSpPr>
        <p:spPr>
          <a:xfrm>
            <a:off x="6460236" y="4681728"/>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48" name="TextBox 47"/>
          <p:cNvSpPr txBox="1"/>
          <p:nvPr/>
        </p:nvSpPr>
        <p:spPr>
          <a:xfrm>
            <a:off x="7557515" y="4636008"/>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Changement d'encodeur : ré-encodage par lots, reprenable</a:t>
            </a:r>
          </a:p>
        </p:txBody>
      </p:sp>
      <p:sp>
        <p:nvSpPr>
          <p:cNvPr id="49" name="Rounded Rectangle 48"/>
          <p:cNvSpPr/>
          <p:nvPr/>
        </p:nvSpPr>
        <p:spPr>
          <a:xfrm>
            <a:off x="6460236" y="5468112"/>
            <a:ext cx="960120" cy="237744"/>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400"/>
              </a:spcAft>
            </a:pPr>
            <a:r>
              <a:rPr sz="950" b="1" i="0">
                <a:solidFill>
                  <a:srgbClr val="FFFFFF"/>
                </a:solidFill>
                <a:latin typeface="Calibri"/>
              </a:rPr>
              <a:t>Retenu</a:t>
            </a:r>
          </a:p>
        </p:txBody>
      </p:sp>
      <p:sp>
        <p:nvSpPr>
          <p:cNvPr id="50" name="TextBox 49"/>
          <p:cNvSpPr txBox="1"/>
          <p:nvPr/>
        </p:nvSpPr>
        <p:spPr>
          <a:xfrm>
            <a:off x="7557515" y="5422392"/>
            <a:ext cx="3945635" cy="731520"/>
          </a:xfrm>
          <a:prstGeom prst="rect">
            <a:avLst/>
          </a:prstGeom>
          <a:noFill/>
        </p:spPr>
        <p:txBody>
          <a:bodyPr wrap="square" lIns="0" tIns="0" rIns="0" bIns="0" anchor="t">
            <a:spAutoFit/>
          </a:bodyPr>
          <a:lstStyle/>
          <a:p>
            <a:pPr algn="l">
              <a:spcAft>
                <a:spcPts val="400"/>
              </a:spcAft>
            </a:pPr>
            <a:r>
              <a:rPr sz="1250" b="0" i="0">
                <a:solidFill>
                  <a:srgbClr val="1C2B24"/>
                </a:solidFill>
                <a:latin typeface="Calibri"/>
              </a:rPr>
              <a:t>Après le stage : l'ONF réentraîne seul, sans GPU ; une nuit de calcul est acceptable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PIPELINE · TRANSVERSE</a:t>
            </a:r>
          </a:p>
        </p:txBody>
      </p:sp>
      <p:sp>
        <p:nvSpPr>
          <p:cNvPr id="3" name="TextBox 2"/>
          <p:cNvSpPr txBox="1"/>
          <p:nvPr/>
        </p:nvSpPr>
        <p:spPr>
          <a:xfrm>
            <a:off x="457200" y="493776"/>
            <a:ext cx="11274552" cy="548640"/>
          </a:xfrm>
          <a:prstGeom prst="rect">
            <a:avLst/>
          </a:prstGeom>
          <a:noFill/>
        </p:spPr>
        <p:txBody>
          <a:bodyPr wrap="square" lIns="0" tIns="0" rIns="0" bIns="0" anchor="t">
            <a:spAutoFit/>
          </a:bodyPr>
          <a:lstStyle/>
          <a:p>
            <a:pPr algn="l">
              <a:spcAft>
                <a:spcPts val="400"/>
              </a:spcAft>
            </a:pPr>
            <a:r>
              <a:rPr sz="2600" b="1" i="0">
                <a:solidFill>
                  <a:srgbClr val="17332A"/>
                </a:solidFill>
                <a:latin typeface="Cambria"/>
              </a:rPr>
              <a:t>Évaluation : trois niveaux de généralisation</a:t>
            </a:r>
          </a:p>
        </p:txBody>
      </p:sp>
      <p:cxnSp>
        <p:nvCxnSpPr>
          <p:cNvPr id="4" name="Connector 3"/>
          <p:cNvCxnSpPr/>
          <p:nvPr/>
        </p:nvCxnSpPr>
        <p:spPr>
          <a:xfrm>
            <a:off x="1591056" y="1472184"/>
            <a:ext cx="315206"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040118" y="1472184"/>
            <a:ext cx="157604"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97722"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97722" y="1271016"/>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97722" y="1673352"/>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489181" y="1271016"/>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38244" y="1271016"/>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38244" y="1673352"/>
            <a:ext cx="157603" cy="0"/>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1271016"/>
            <a:ext cx="0" cy="402336"/>
          </a:xfrm>
          <a:prstGeom prst="line">
            <a:avLst/>
          </a:prstGeom>
          <a:ln w="15875">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1472184"/>
            <a:ext cx="157603"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87306"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6369"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85432" y="1472184"/>
            <a:ext cx="315207" cy="0"/>
          </a:xfrm>
          <a:prstGeom prst="line">
            <a:avLst/>
          </a:prstGeom>
          <a:ln w="15875">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67567" y="1627632"/>
            <a:ext cx="0" cy="292608"/>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24128" y="1920240"/>
            <a:ext cx="10143439" cy="0"/>
          </a:xfrm>
          <a:prstGeom prst="line">
            <a:avLst/>
          </a:prstGeom>
          <a:ln w="19050">
            <a:solidFill>
              <a:srgbClr val="9DB3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4128" y="1627632"/>
            <a:ext cx="0" cy="292608"/>
          </a:xfrm>
          <a:prstGeom prst="line">
            <a:avLst/>
          </a:prstGeom>
          <a:ln w="19050">
            <a:solidFill>
              <a:srgbClr val="9DB3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Corpus + QC</a:t>
            </a:r>
          </a:p>
        </p:txBody>
      </p:sp>
      <p:sp>
        <p:nvSpPr>
          <p:cNvPr id="21" name="Rounded Rectangle 20"/>
          <p:cNvSpPr/>
          <p:nvPr/>
        </p:nvSpPr>
        <p:spPr>
          <a:xfrm>
            <a:off x="1906262"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Fenêtrage</a:t>
            </a:r>
          </a:p>
        </p:txBody>
      </p:sp>
      <p:sp>
        <p:nvSpPr>
          <p:cNvPr id="22" name="Rounded Rectangle 21"/>
          <p:cNvSpPr/>
          <p:nvPr/>
        </p:nvSpPr>
        <p:spPr>
          <a:xfrm>
            <a:off x="3355325"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Encodeur</a:t>
            </a:r>
          </a:p>
        </p:txBody>
      </p:sp>
      <p:sp>
        <p:nvSpPr>
          <p:cNvPr id="23" name="Rounded Rectangle 22"/>
          <p:cNvSpPr/>
          <p:nvPr/>
        </p:nvSpPr>
        <p:spPr>
          <a:xfrm>
            <a:off x="4804388" y="1115568"/>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Head</a:t>
            </a:r>
          </a:p>
        </p:txBody>
      </p:sp>
      <p:sp>
        <p:nvSpPr>
          <p:cNvPr id="24" name="Rounded Rectangle 23"/>
          <p:cNvSpPr/>
          <p:nvPr/>
        </p:nvSpPr>
        <p:spPr>
          <a:xfrm>
            <a:off x="3355325" y="1517904"/>
            <a:ext cx="2582918"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Module séquentiel</a:t>
            </a:r>
          </a:p>
        </p:txBody>
      </p:sp>
      <p:sp>
        <p:nvSpPr>
          <p:cNvPr id="25" name="Rounded Rectangle 24"/>
          <p:cNvSpPr/>
          <p:nvPr/>
        </p:nvSpPr>
        <p:spPr>
          <a:xfrm>
            <a:off x="6253450"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Fusion</a:t>
            </a:r>
          </a:p>
        </p:txBody>
      </p:sp>
      <p:sp>
        <p:nvSpPr>
          <p:cNvPr id="26" name="Rounded Rectangle 25"/>
          <p:cNvSpPr/>
          <p:nvPr/>
        </p:nvSpPr>
        <p:spPr>
          <a:xfrm>
            <a:off x="7702513"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Agrégation</a:t>
            </a:r>
          </a:p>
        </p:txBody>
      </p:sp>
      <p:sp>
        <p:nvSpPr>
          <p:cNvPr id="27" name="Rounded Rectangle 26"/>
          <p:cNvSpPr/>
          <p:nvPr/>
        </p:nvSpPr>
        <p:spPr>
          <a:xfrm>
            <a:off x="9151576"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Sélection</a:t>
            </a:r>
          </a:p>
        </p:txBody>
      </p:sp>
      <p:sp>
        <p:nvSpPr>
          <p:cNvPr id="28" name="Rounded Rectangle 27"/>
          <p:cNvSpPr/>
          <p:nvPr/>
        </p:nvSpPr>
        <p:spPr>
          <a:xfrm>
            <a:off x="10600639" y="1316736"/>
            <a:ext cx="1133856" cy="310896"/>
          </a:xfrm>
          <a:prstGeom prst="roundRect">
            <a:avLst>
              <a:gd name="adj" fmla="val 14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950" b="0" i="0">
                <a:solidFill>
                  <a:srgbClr val="5E6E66"/>
                </a:solidFill>
                <a:latin typeface="Calibri"/>
              </a:rPr>
              <a:t>Annotation</a:t>
            </a:r>
          </a:p>
        </p:txBody>
      </p:sp>
      <p:sp>
        <p:nvSpPr>
          <p:cNvPr id="29" name="Rounded Rectangle 28"/>
          <p:cNvSpPr/>
          <p:nvPr/>
        </p:nvSpPr>
        <p:spPr>
          <a:xfrm>
            <a:off x="457200" y="1993392"/>
            <a:ext cx="11277295" cy="18288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spcAft>
                <a:spcPts val="400"/>
              </a:spcAft>
            </a:pPr>
            <a:r>
              <a:rPr sz="850" b="1" i="0">
                <a:solidFill>
                  <a:srgbClr val="1C2B24"/>
                </a:solidFill>
                <a:latin typeface="Calibri"/>
              </a:rPr>
              <a:t>Évaluation (transverse)</a:t>
            </a:r>
          </a:p>
        </p:txBody>
      </p:sp>
      <p:sp>
        <p:nvSpPr>
          <p:cNvPr id="30" name="TextBox 29"/>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14</a:t>
            </a:r>
          </a:p>
        </p:txBody>
      </p:sp>
      <p:sp>
        <p:nvSpPr>
          <p:cNvPr id="31" name="Rounded Rectangle 30"/>
          <p:cNvSpPr/>
          <p:nvPr/>
        </p:nvSpPr>
        <p:spPr>
          <a:xfrm>
            <a:off x="2362939" y="2402021"/>
            <a:ext cx="3575304" cy="16459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2" name="Oval 31"/>
          <p:cNvSpPr/>
          <p:nvPr/>
        </p:nvSpPr>
        <p:spPr>
          <a:xfrm>
            <a:off x="2591539" y="2584901"/>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1</a:t>
            </a:r>
          </a:p>
        </p:txBody>
      </p:sp>
      <p:sp>
        <p:nvSpPr>
          <p:cNvPr id="33" name="TextBox 32"/>
          <p:cNvSpPr txBox="1"/>
          <p:nvPr/>
        </p:nvSpPr>
        <p:spPr>
          <a:xfrm>
            <a:off x="3185899" y="2630621"/>
            <a:ext cx="2569464" cy="365760"/>
          </a:xfrm>
          <a:prstGeom prst="rect">
            <a:avLst/>
          </a:prstGeom>
          <a:noFill/>
        </p:spPr>
        <p:txBody>
          <a:bodyPr wrap="square" lIns="0" tIns="0" rIns="0" bIns="0" anchor="t">
            <a:spAutoFit/>
          </a:bodyPr>
          <a:lstStyle/>
          <a:p>
            <a:pPr algn="l">
              <a:spcAft>
                <a:spcPts val="400"/>
              </a:spcAft>
            </a:pPr>
            <a:r>
              <a:rPr sz="1600" b="1" i="0">
                <a:solidFill>
                  <a:srgbClr val="17332A"/>
                </a:solidFill>
                <a:latin typeface="Calibri"/>
              </a:rPr>
              <a:t>Intra-site</a:t>
            </a:r>
          </a:p>
        </p:txBody>
      </p:sp>
      <p:sp>
        <p:nvSpPr>
          <p:cNvPr id="34" name="TextBox 33"/>
          <p:cNvSpPr txBox="1"/>
          <p:nvPr/>
        </p:nvSpPr>
        <p:spPr>
          <a:xfrm>
            <a:off x="2609721" y="3200400"/>
            <a:ext cx="3118104" cy="914400"/>
          </a:xfrm>
          <a:prstGeom prst="rect">
            <a:avLst/>
          </a:prstGeom>
          <a:noFill/>
        </p:spPr>
        <p:txBody>
          <a:bodyPr wrap="square" lIns="0" tIns="0" rIns="0" bIns="0" anchor="t">
            <a:spAutoFit/>
          </a:bodyPr>
          <a:lstStyle/>
          <a:p>
            <a:pPr algn="l">
              <a:spcAft>
                <a:spcPts val="400"/>
              </a:spcAft>
            </a:pPr>
            <a:r>
              <a:rPr sz="1300" b="0" i="0" dirty="0">
                <a:solidFill>
                  <a:srgbClr val="1C2B24"/>
                </a:solidFill>
                <a:latin typeface="Calibri"/>
              </a:rPr>
              <a:t>Validation </a:t>
            </a:r>
            <a:r>
              <a:rPr sz="1300" b="0" i="0" dirty="0" err="1">
                <a:solidFill>
                  <a:srgbClr val="1C2B24"/>
                </a:solidFill>
                <a:latin typeface="Calibri"/>
              </a:rPr>
              <a:t>groupée</a:t>
            </a:r>
            <a:r>
              <a:rPr sz="1300" b="0" i="0" dirty="0">
                <a:solidFill>
                  <a:srgbClr val="1C2B24"/>
                </a:solidFill>
                <a:latin typeface="Calibri"/>
              </a:rPr>
              <a:t> par micro à </a:t>
            </a:r>
            <a:r>
              <a:rPr sz="1300" b="0" i="0" dirty="0" err="1">
                <a:solidFill>
                  <a:srgbClr val="1C2B24"/>
                </a:solidFill>
                <a:latin typeface="Calibri"/>
              </a:rPr>
              <a:t>Mataroni</a:t>
            </a:r>
            <a:r>
              <a:rPr sz="1300" b="0" i="0" dirty="0">
                <a:solidFill>
                  <a:srgbClr val="1C2B24"/>
                </a:solidFill>
                <a:latin typeface="Calibri"/>
              </a:rPr>
              <a:t> : on ne teste jamais sur un micro vu à </a:t>
            </a:r>
            <a:r>
              <a:rPr sz="1300" b="0" i="0" dirty="0" err="1">
                <a:solidFill>
                  <a:srgbClr val="1C2B24"/>
                </a:solidFill>
                <a:latin typeface="Calibri"/>
              </a:rPr>
              <a:t>l'entraînement</a:t>
            </a:r>
            <a:r>
              <a:rPr sz="1300" b="0" i="0" dirty="0">
                <a:solidFill>
                  <a:srgbClr val="1C2B24"/>
                </a:solidFill>
                <a:latin typeface="Calibri"/>
              </a:rPr>
              <a:t>.</a:t>
            </a:r>
          </a:p>
        </p:txBody>
      </p:sp>
      <p:sp>
        <p:nvSpPr>
          <p:cNvPr id="35" name="Rounded Rectangle 34"/>
          <p:cNvSpPr/>
          <p:nvPr/>
        </p:nvSpPr>
        <p:spPr>
          <a:xfrm>
            <a:off x="6253450" y="2402021"/>
            <a:ext cx="3575304" cy="16459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36" name="Oval 35"/>
          <p:cNvSpPr/>
          <p:nvPr/>
        </p:nvSpPr>
        <p:spPr>
          <a:xfrm>
            <a:off x="6482050" y="2584901"/>
            <a:ext cx="457200" cy="45720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600" b="1" i="0">
                <a:solidFill>
                  <a:srgbClr val="FFFFFF"/>
                </a:solidFill>
                <a:latin typeface="Calibri"/>
              </a:rPr>
              <a:t>2</a:t>
            </a:r>
          </a:p>
        </p:txBody>
      </p:sp>
      <p:sp>
        <p:nvSpPr>
          <p:cNvPr id="37" name="TextBox 36"/>
          <p:cNvSpPr txBox="1"/>
          <p:nvPr/>
        </p:nvSpPr>
        <p:spPr>
          <a:xfrm>
            <a:off x="7076410" y="2630621"/>
            <a:ext cx="2569464" cy="365760"/>
          </a:xfrm>
          <a:prstGeom prst="rect">
            <a:avLst/>
          </a:prstGeom>
          <a:noFill/>
        </p:spPr>
        <p:txBody>
          <a:bodyPr wrap="square" lIns="0" tIns="0" rIns="0" bIns="0" anchor="t">
            <a:spAutoFit/>
          </a:bodyPr>
          <a:lstStyle/>
          <a:p>
            <a:pPr algn="l">
              <a:spcAft>
                <a:spcPts val="400"/>
              </a:spcAft>
            </a:pPr>
            <a:r>
              <a:rPr sz="1600" b="1" i="0">
                <a:solidFill>
                  <a:srgbClr val="17332A"/>
                </a:solidFill>
                <a:latin typeface="Calibri"/>
              </a:rPr>
              <a:t>Nouveaux sites</a:t>
            </a:r>
          </a:p>
        </p:txBody>
      </p:sp>
      <p:sp>
        <p:nvSpPr>
          <p:cNvPr id="38" name="TextBox 37"/>
          <p:cNvSpPr txBox="1"/>
          <p:nvPr/>
        </p:nvSpPr>
        <p:spPr>
          <a:xfrm>
            <a:off x="6482050" y="3179261"/>
            <a:ext cx="3118104" cy="400110"/>
          </a:xfrm>
          <a:prstGeom prst="rect">
            <a:avLst/>
          </a:prstGeom>
          <a:noFill/>
        </p:spPr>
        <p:txBody>
          <a:bodyPr wrap="square" lIns="0" tIns="0" rIns="0" bIns="0" anchor="t">
            <a:spAutoFit/>
          </a:bodyPr>
          <a:lstStyle/>
          <a:p>
            <a:pPr algn="l">
              <a:spcAft>
                <a:spcPts val="400"/>
              </a:spcAft>
            </a:pPr>
            <a:r>
              <a:rPr sz="1300" b="0" i="0" dirty="0">
                <a:solidFill>
                  <a:srgbClr val="1C2B24"/>
                </a:solidFill>
                <a:latin typeface="Calibri"/>
              </a:rPr>
              <a:t>Trésor et Kaw 2026, </a:t>
            </a:r>
            <a:r>
              <a:rPr sz="1300" b="0" i="0" dirty="0" err="1">
                <a:solidFill>
                  <a:srgbClr val="1C2B24"/>
                </a:solidFill>
                <a:latin typeface="Calibri"/>
              </a:rPr>
              <a:t>positifs</a:t>
            </a:r>
            <a:r>
              <a:rPr sz="1300" b="0" i="0" dirty="0">
                <a:solidFill>
                  <a:srgbClr val="1C2B24"/>
                </a:solidFill>
                <a:latin typeface="Calibri"/>
              </a:rPr>
              <a:t> </a:t>
            </a:r>
            <a:r>
              <a:rPr sz="1300" b="0" i="0" dirty="0" err="1">
                <a:solidFill>
                  <a:srgbClr val="1C2B24"/>
                </a:solidFill>
                <a:latin typeface="Calibri"/>
              </a:rPr>
              <a:t>récoltés</a:t>
            </a:r>
            <a:r>
              <a:rPr sz="1300" b="0" i="0" dirty="0">
                <a:solidFill>
                  <a:srgbClr val="1C2B24"/>
                </a:solidFill>
                <a:latin typeface="Calibri"/>
              </a:rPr>
              <a:t> et </a:t>
            </a:r>
            <a:r>
              <a:rPr sz="1300" b="0" i="0" dirty="0" err="1">
                <a:solidFill>
                  <a:srgbClr val="1C2B24"/>
                </a:solidFill>
                <a:latin typeface="Calibri"/>
              </a:rPr>
              <a:t>validés</a:t>
            </a:r>
            <a:r>
              <a:rPr sz="1300" b="0" i="0" dirty="0">
                <a:solidFill>
                  <a:srgbClr val="1C2B24"/>
                </a:solidFill>
                <a:latin typeface="Calibri"/>
              </a:rPr>
              <a:t>, jamais </a:t>
            </a:r>
            <a:r>
              <a:rPr sz="1300" b="0" i="0" dirty="0" err="1">
                <a:solidFill>
                  <a:srgbClr val="1C2B24"/>
                </a:solidFill>
                <a:latin typeface="Calibri"/>
              </a:rPr>
              <a:t>entraînés</a:t>
            </a:r>
            <a:r>
              <a:rPr sz="1300" b="0" i="0" dirty="0">
                <a:solidFill>
                  <a:srgbClr val="1C2B24"/>
                </a:solidFill>
                <a:latin typeface="Calibri"/>
              </a:rPr>
              <a:t>.</a:t>
            </a:r>
          </a:p>
        </p:txBody>
      </p:sp>
      <p:sp>
        <p:nvSpPr>
          <p:cNvPr id="43" name="Rounded Rectangle 42"/>
          <p:cNvSpPr/>
          <p:nvPr/>
        </p:nvSpPr>
        <p:spPr>
          <a:xfrm>
            <a:off x="457200"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Jeu gelé</a:t>
            </a:r>
          </a:p>
          <a:p>
            <a:pPr algn="l">
              <a:spcAft>
                <a:spcPts val="400"/>
              </a:spcAft>
            </a:pPr>
            <a:r>
              <a:rPr sz="1200" b="0" i="0">
                <a:solidFill>
                  <a:srgbClr val="FFFFFF"/>
                </a:solidFill>
                <a:latin typeface="Calibri"/>
              </a:rPr>
              <a:t>le jeu de test, jamais entraîné</a:t>
            </a:r>
          </a:p>
        </p:txBody>
      </p:sp>
      <p:sp>
        <p:nvSpPr>
          <p:cNvPr id="44" name="Rounded Rectangle 43"/>
          <p:cNvSpPr/>
          <p:nvPr/>
        </p:nvSpPr>
        <p:spPr>
          <a:xfrm>
            <a:off x="3332988"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Audit aléatoire</a:t>
            </a:r>
          </a:p>
          <a:p>
            <a:pPr algn="l">
              <a:spcAft>
                <a:spcPts val="400"/>
              </a:spcAft>
            </a:pPr>
            <a:r>
              <a:rPr sz="1200" b="0" i="0">
                <a:solidFill>
                  <a:srgbClr val="FFFFFF"/>
                </a:solidFill>
                <a:latin typeface="Calibri"/>
              </a:rPr>
              <a:t>rappel hors du biais Blancinet</a:t>
            </a:r>
          </a:p>
        </p:txBody>
      </p:sp>
      <p:sp>
        <p:nvSpPr>
          <p:cNvPr id="45" name="Rounded Rectangle 44"/>
          <p:cNvSpPr/>
          <p:nvPr/>
        </p:nvSpPr>
        <p:spPr>
          <a:xfrm>
            <a:off x="6208776"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Métriques</a:t>
            </a:r>
          </a:p>
          <a:p>
            <a:pPr algn="l">
              <a:spcAft>
                <a:spcPts val="400"/>
              </a:spcAft>
            </a:pPr>
            <a:r>
              <a:rPr sz="1200" b="0" i="0">
                <a:solidFill>
                  <a:srgbClr val="FFFFFF"/>
                </a:solidFill>
                <a:latin typeface="Calibri"/>
              </a:rPr>
              <a:t>AP, rappel par enregistrement, par qualité, par site ; écartées : exactitude, AUROC, F1</a:t>
            </a:r>
          </a:p>
        </p:txBody>
      </p:sp>
      <p:sp>
        <p:nvSpPr>
          <p:cNvPr id="46" name="Rounded Rectangle 45"/>
          <p:cNvSpPr/>
          <p:nvPr/>
        </p:nvSpPr>
        <p:spPr>
          <a:xfrm>
            <a:off x="9084564" y="4343400"/>
            <a:ext cx="2647188"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400" b="1" i="0">
                <a:solidFill>
                  <a:srgbClr val="F2A541"/>
                </a:solidFill>
                <a:latin typeface="Calibri"/>
              </a:rPr>
              <a:t>Comparaison principale</a:t>
            </a:r>
          </a:p>
          <a:p>
            <a:pPr algn="l">
              <a:spcAft>
                <a:spcPts val="400"/>
              </a:spcAft>
            </a:pPr>
            <a:r>
              <a:rPr sz="1200" b="0" i="0">
                <a:solidFill>
                  <a:srgbClr val="FFFFFF"/>
                </a:solidFill>
                <a:latin typeface="Calibri"/>
              </a:rPr>
              <a:t>l'outil contre l'écoute humaine, par deux naturalistes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46888"/>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APRÈS LE PIPELINE</a:t>
            </a:r>
          </a:p>
        </p:txBody>
      </p:sp>
      <p:sp>
        <p:nvSpPr>
          <p:cNvPr id="3" name="TextBox 2"/>
          <p:cNvSpPr txBox="1"/>
          <p:nvPr/>
        </p:nvSpPr>
        <p:spPr>
          <a:xfrm>
            <a:off x="457200" y="512064"/>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Vers le livrable : un outil que l'ONF fait tourner seul</a:t>
            </a:r>
          </a:p>
        </p:txBody>
      </p:sp>
      <p:sp>
        <p:nvSpPr>
          <p:cNvPr id="4" name="Rounded Rectangle 3"/>
          <p:cNvSpPr/>
          <p:nvPr/>
        </p:nvSpPr>
        <p:spPr>
          <a:xfrm>
            <a:off x="457200" y="1325880"/>
            <a:ext cx="3575304" cy="20574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5" name="Oval 4"/>
          <p:cNvSpPr/>
          <p:nvPr/>
        </p:nvSpPr>
        <p:spPr>
          <a:xfrm>
            <a:off x="685800" y="1536192"/>
            <a:ext cx="548640" cy="54864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800" b="1" i="0">
                <a:solidFill>
                  <a:srgbClr val="F2A541"/>
                </a:solidFill>
                <a:latin typeface="Calibri"/>
              </a:rPr>
              <a:t>1</a:t>
            </a:r>
          </a:p>
        </p:txBody>
      </p:sp>
      <p:sp>
        <p:nvSpPr>
          <p:cNvPr id="6" name="TextBox 5"/>
          <p:cNvSpPr txBox="1"/>
          <p:nvPr/>
        </p:nvSpPr>
        <p:spPr>
          <a:xfrm>
            <a:off x="1417320" y="1627632"/>
            <a:ext cx="2432304" cy="411480"/>
          </a:xfrm>
          <a:prstGeom prst="rect">
            <a:avLst/>
          </a:prstGeom>
          <a:noFill/>
        </p:spPr>
        <p:txBody>
          <a:bodyPr wrap="square" lIns="0" tIns="0" rIns="0" bIns="0" anchor="t">
            <a:spAutoFit/>
          </a:bodyPr>
          <a:lstStyle/>
          <a:p>
            <a:pPr algn="l">
              <a:spcAft>
                <a:spcPts val="400"/>
              </a:spcAft>
            </a:pPr>
            <a:r>
              <a:rPr sz="1550" b="1" i="0">
                <a:solidFill>
                  <a:srgbClr val="17332A"/>
                </a:solidFill>
                <a:latin typeface="Calibri"/>
              </a:rPr>
              <a:t>Application Python + ONNX</a:t>
            </a:r>
          </a:p>
        </p:txBody>
      </p:sp>
      <p:sp>
        <p:nvSpPr>
          <p:cNvPr id="7" name="TextBox 6"/>
          <p:cNvSpPr txBox="1"/>
          <p:nvPr/>
        </p:nvSpPr>
        <p:spPr>
          <a:xfrm>
            <a:off x="685800" y="2286000"/>
            <a:ext cx="3118104" cy="1371600"/>
          </a:xfrm>
          <a:prstGeom prst="rect">
            <a:avLst/>
          </a:prstGeom>
          <a:noFill/>
        </p:spPr>
        <p:txBody>
          <a:bodyPr wrap="square" lIns="0" tIns="0" rIns="0" bIns="0" anchor="t">
            <a:spAutoFit/>
          </a:bodyPr>
          <a:lstStyle/>
          <a:p>
            <a:pPr algn="l">
              <a:spcAft>
                <a:spcPts val="400"/>
              </a:spcAft>
            </a:pPr>
            <a:r>
              <a:rPr sz="1300" b="0" i="0">
                <a:solidFill>
                  <a:srgbClr val="1C2B24"/>
                </a:solidFill>
                <a:latin typeface="Calibri"/>
              </a:rPr>
              <a:t>Hors ligne, interface de vérification, réentraînement intégré ; ni TensorFlow ni PyTorch à l'exécution.</a:t>
            </a:r>
          </a:p>
        </p:txBody>
      </p:sp>
      <p:sp>
        <p:nvSpPr>
          <p:cNvPr id="8" name="Rounded Rectangle 7"/>
          <p:cNvSpPr/>
          <p:nvPr/>
        </p:nvSpPr>
        <p:spPr>
          <a:xfrm>
            <a:off x="4306824" y="1325880"/>
            <a:ext cx="3575304" cy="20574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9" name="Oval 8"/>
          <p:cNvSpPr/>
          <p:nvPr/>
        </p:nvSpPr>
        <p:spPr>
          <a:xfrm>
            <a:off x="4535424" y="1536192"/>
            <a:ext cx="548640" cy="54864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800" b="1" i="0">
                <a:solidFill>
                  <a:srgbClr val="F2A541"/>
                </a:solidFill>
                <a:latin typeface="Calibri"/>
              </a:rPr>
              <a:t>2</a:t>
            </a:r>
          </a:p>
        </p:txBody>
      </p:sp>
      <p:sp>
        <p:nvSpPr>
          <p:cNvPr id="10" name="TextBox 9"/>
          <p:cNvSpPr txBox="1"/>
          <p:nvPr/>
        </p:nvSpPr>
        <p:spPr>
          <a:xfrm>
            <a:off x="5266944" y="1627632"/>
            <a:ext cx="2432304" cy="411480"/>
          </a:xfrm>
          <a:prstGeom prst="rect">
            <a:avLst/>
          </a:prstGeom>
          <a:noFill/>
        </p:spPr>
        <p:txBody>
          <a:bodyPr wrap="square" lIns="0" tIns="0" rIns="0" bIns="0" anchor="t">
            <a:spAutoFit/>
          </a:bodyPr>
          <a:lstStyle/>
          <a:p>
            <a:pPr algn="l">
              <a:spcAft>
                <a:spcPts val="400"/>
              </a:spcAft>
            </a:pPr>
            <a:r>
              <a:rPr sz="1550" b="1" i="0">
                <a:solidFill>
                  <a:srgbClr val="17332A"/>
                </a:solidFill>
                <a:latin typeface="Calibri"/>
              </a:rPr>
              <a:t>PAMGuard comme hôte</a:t>
            </a:r>
          </a:p>
        </p:txBody>
      </p:sp>
      <p:sp>
        <p:nvSpPr>
          <p:cNvPr id="11" name="TextBox 10"/>
          <p:cNvSpPr txBox="1"/>
          <p:nvPr/>
        </p:nvSpPr>
        <p:spPr>
          <a:xfrm>
            <a:off x="4535424" y="2286000"/>
            <a:ext cx="3118104" cy="1371600"/>
          </a:xfrm>
          <a:prstGeom prst="rect">
            <a:avLst/>
          </a:prstGeom>
          <a:noFill/>
        </p:spPr>
        <p:txBody>
          <a:bodyPr wrap="square" lIns="0" tIns="0" rIns="0" bIns="0" anchor="t">
            <a:spAutoFit/>
          </a:bodyPr>
          <a:lstStyle/>
          <a:p>
            <a:pPr algn="l">
              <a:spcAft>
                <a:spcPts val="400"/>
              </a:spcAft>
            </a:pPr>
            <a:r>
              <a:rPr sz="1300" b="0" i="0">
                <a:solidFill>
                  <a:srgbClr val="1C2B24"/>
                </a:solidFill>
                <a:latin typeface="Calibri"/>
              </a:rPr>
              <a:t>Logiciel de bureau sans code, accepte un modèle ONNX ; pas de réentraînement sur place, module séquentiel à porter.</a:t>
            </a:r>
          </a:p>
        </p:txBody>
      </p:sp>
      <p:sp>
        <p:nvSpPr>
          <p:cNvPr id="12" name="Rounded Rectangle 11"/>
          <p:cNvSpPr/>
          <p:nvPr/>
        </p:nvSpPr>
        <p:spPr>
          <a:xfrm>
            <a:off x="8156448" y="1325880"/>
            <a:ext cx="3575304" cy="205740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3" name="Oval 12"/>
          <p:cNvSpPr/>
          <p:nvPr/>
        </p:nvSpPr>
        <p:spPr>
          <a:xfrm>
            <a:off x="8385048" y="1536192"/>
            <a:ext cx="548640" cy="548640"/>
          </a:xfrm>
          <a:prstGeom prst="ellipse">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800" b="1" i="0">
                <a:solidFill>
                  <a:srgbClr val="F2A541"/>
                </a:solidFill>
                <a:latin typeface="Calibri"/>
              </a:rPr>
              <a:t>3</a:t>
            </a:r>
          </a:p>
        </p:txBody>
      </p:sp>
      <p:sp>
        <p:nvSpPr>
          <p:cNvPr id="14" name="TextBox 13"/>
          <p:cNvSpPr txBox="1"/>
          <p:nvPr/>
        </p:nvSpPr>
        <p:spPr>
          <a:xfrm>
            <a:off x="9116568" y="1627632"/>
            <a:ext cx="2432304" cy="411480"/>
          </a:xfrm>
          <a:prstGeom prst="rect">
            <a:avLst/>
          </a:prstGeom>
          <a:noFill/>
        </p:spPr>
        <p:txBody>
          <a:bodyPr wrap="square" lIns="0" tIns="0" rIns="0" bIns="0" anchor="t">
            <a:spAutoFit/>
          </a:bodyPr>
          <a:lstStyle/>
          <a:p>
            <a:pPr algn="l">
              <a:spcAft>
                <a:spcPts val="400"/>
              </a:spcAft>
            </a:pPr>
            <a:r>
              <a:rPr sz="1550" b="1" i="0">
                <a:solidFill>
                  <a:srgbClr val="17332A"/>
                </a:solidFill>
                <a:latin typeface="Calibri"/>
              </a:rPr>
              <a:t>Dossier portable + scripts</a:t>
            </a:r>
          </a:p>
        </p:txBody>
      </p:sp>
      <p:sp>
        <p:nvSpPr>
          <p:cNvPr id="15" name="TextBox 14"/>
          <p:cNvSpPr txBox="1"/>
          <p:nvPr/>
        </p:nvSpPr>
        <p:spPr>
          <a:xfrm>
            <a:off x="8385048" y="2286000"/>
            <a:ext cx="3118104" cy="1371600"/>
          </a:xfrm>
          <a:prstGeom prst="rect">
            <a:avLst/>
          </a:prstGeom>
          <a:noFill/>
        </p:spPr>
        <p:txBody>
          <a:bodyPr wrap="square" lIns="0" tIns="0" rIns="0" bIns="0" anchor="t">
            <a:spAutoFit/>
          </a:bodyPr>
          <a:lstStyle/>
          <a:p>
            <a:pPr algn="l">
              <a:spcAft>
                <a:spcPts val="400"/>
              </a:spcAft>
            </a:pPr>
            <a:r>
              <a:rPr sz="1300" b="0" i="0">
                <a:solidFill>
                  <a:srgbClr val="1C2B24"/>
                </a:solidFill>
                <a:latin typeface="Calibri"/>
              </a:rPr>
              <a:t>Repli simple : réentraînement en ligne de commande documentée.</a:t>
            </a:r>
          </a:p>
        </p:txBody>
      </p:sp>
      <p:sp>
        <p:nvSpPr>
          <p:cNvPr id="16" name="TextBox 15"/>
          <p:cNvSpPr txBox="1"/>
          <p:nvPr/>
        </p:nvSpPr>
        <p:spPr>
          <a:xfrm>
            <a:off x="457200" y="3703320"/>
            <a:ext cx="11274552" cy="365760"/>
          </a:xfrm>
          <a:prstGeom prst="rect">
            <a:avLst/>
          </a:prstGeom>
          <a:noFill/>
        </p:spPr>
        <p:txBody>
          <a:bodyPr wrap="square" lIns="0" tIns="0" rIns="0" bIns="0" anchor="t">
            <a:spAutoFit/>
          </a:bodyPr>
          <a:lstStyle/>
          <a:p>
            <a:pPr algn="l">
              <a:spcAft>
                <a:spcPts val="400"/>
              </a:spcAft>
            </a:pPr>
            <a:r>
              <a:rPr sz="1600" b="1" i="0">
                <a:solidFill>
                  <a:srgbClr val="17332A"/>
                </a:solidFill>
                <a:latin typeface="Calibri"/>
              </a:rPr>
              <a:t>Faire tourner l'encodeur sur l'i5, sans GPU</a:t>
            </a:r>
          </a:p>
        </p:txBody>
      </p:sp>
      <p:sp>
        <p:nvSpPr>
          <p:cNvPr id="17" name="Rounded Rectangle 16"/>
          <p:cNvSpPr/>
          <p:nvPr/>
        </p:nvSpPr>
        <p:spPr>
          <a:xfrm>
            <a:off x="457200"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Export ONNX et quantification</a:t>
            </a:r>
          </a:p>
        </p:txBody>
      </p:sp>
      <p:sp>
        <p:nvSpPr>
          <p:cNvPr id="18" name="Rounded Rectangle 17"/>
          <p:cNvSpPr/>
          <p:nvPr/>
        </p:nvSpPr>
        <p:spPr>
          <a:xfrm>
            <a:off x="3332988"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Heures de pic d'abord</a:t>
            </a:r>
          </a:p>
        </p:txBody>
      </p:sp>
      <p:sp>
        <p:nvSpPr>
          <p:cNvPr id="19" name="Rounded Rectangle 18"/>
          <p:cNvSpPr/>
          <p:nvPr/>
        </p:nvSpPr>
        <p:spPr>
          <a:xfrm>
            <a:off x="6208776"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Sous-échantillonner les fenêtres d'un enregistrement</a:t>
            </a:r>
          </a:p>
        </p:txBody>
      </p:sp>
      <p:sp>
        <p:nvSpPr>
          <p:cNvPr id="20" name="Rounded Rectangle 19"/>
          <p:cNvSpPr/>
          <p:nvPr/>
        </p:nvSpPr>
        <p:spPr>
          <a:xfrm>
            <a:off x="9084564" y="4160520"/>
            <a:ext cx="2647188" cy="868680"/>
          </a:xfrm>
          <a:prstGeom prst="roundRect">
            <a:avLst>
              <a:gd name="adj" fmla="val 8000"/>
            </a:avLst>
          </a:prstGeom>
          <a:solidFill>
            <a:srgbClr val="E6EFE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400"/>
              </a:spcAft>
            </a:pPr>
            <a:r>
              <a:rPr sz="1300" b="0" i="0">
                <a:solidFill>
                  <a:srgbClr val="1C2B24"/>
                </a:solidFill>
                <a:latin typeface="Calibri"/>
              </a:rPr>
              <a:t>Distillation en petit réseau</a:t>
            </a:r>
          </a:p>
        </p:txBody>
      </p:sp>
      <p:sp>
        <p:nvSpPr>
          <p:cNvPr id="21" name="Rounded Rectangle 20"/>
          <p:cNvSpPr/>
          <p:nvPr/>
        </p:nvSpPr>
        <p:spPr>
          <a:xfrm>
            <a:off x="457200" y="5349240"/>
            <a:ext cx="11274552" cy="6400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spcAft>
                <a:spcPts val="400"/>
              </a:spcAft>
            </a:pPr>
            <a:r>
              <a:rPr sz="1350" b="0" i="0">
                <a:solidFill>
                  <a:srgbClr val="FFFFFF"/>
                </a:solidFill>
                <a:latin typeface="Calibri"/>
              </a:rPr>
              <a:t>Choix entre 1 et 2 </a:t>
            </a:r>
            <a:r>
              <a:rPr sz="1350" b="1" i="0">
                <a:solidFill>
                  <a:srgbClr val="FFFFFF"/>
                </a:solidFill>
                <a:latin typeface="Calibri"/>
              </a:rPr>
              <a:t>plus tard</a:t>
            </a:r>
            <a:r>
              <a:rPr sz="1350" b="0" i="0">
                <a:solidFill>
                  <a:srgbClr val="FFFFFF"/>
                </a:solidFill>
                <a:latin typeface="Calibri"/>
              </a:rPr>
              <a:t>, testé par un naturaliste. Le réentraînement par l'ONF après le stage pèse pour 1.</a:t>
            </a:r>
          </a:p>
        </p:txBody>
      </p:sp>
      <p:sp>
        <p:nvSpPr>
          <p:cNvPr id="22" name="TextBox 21"/>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46888"/>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SYNTHÈSE</a:t>
            </a:r>
          </a:p>
        </p:txBody>
      </p:sp>
      <p:sp>
        <p:nvSpPr>
          <p:cNvPr id="3" name="TextBox 2"/>
          <p:cNvSpPr txBox="1"/>
          <p:nvPr/>
        </p:nvSpPr>
        <p:spPr>
          <a:xfrm>
            <a:off x="457200" y="512064"/>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Ce que le benchmark va trancher</a:t>
            </a:r>
          </a:p>
        </p:txBody>
      </p:sp>
      <p:sp>
        <p:nvSpPr>
          <p:cNvPr id="4" name="Rounded Rectangle 3"/>
          <p:cNvSpPr/>
          <p:nvPr/>
        </p:nvSpPr>
        <p:spPr>
          <a:xfrm>
            <a:off x="457200"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Encodeur</a:t>
            </a:r>
          </a:p>
          <a:p>
            <a:pPr algn="l">
              <a:spcAft>
                <a:spcPts val="400"/>
              </a:spcAft>
            </a:pPr>
            <a:r>
              <a:rPr sz="1200" b="0" i="0">
                <a:solidFill>
                  <a:srgbClr val="5E6E66"/>
                </a:solidFill>
                <a:latin typeface="Calibri"/>
              </a:rPr>
              <a:t>AP, vitesse sur l'i5, licence, prise en main</a:t>
            </a:r>
          </a:p>
        </p:txBody>
      </p:sp>
      <p:sp>
        <p:nvSpPr>
          <p:cNvPr id="5" name="Rounded Rectangle 4"/>
          <p:cNvSpPr/>
          <p:nvPr/>
        </p:nvSpPr>
        <p:spPr>
          <a:xfrm>
            <a:off x="3332988"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Tête</a:t>
            </a:r>
          </a:p>
          <a:p>
            <a:pPr algn="l">
              <a:spcAft>
                <a:spcPts val="400"/>
              </a:spcAft>
            </a:pPr>
            <a:r>
              <a:rPr sz="1200" b="0" i="0">
                <a:solidFill>
                  <a:srgbClr val="5E6E66"/>
                </a:solidFill>
                <a:latin typeface="Calibri"/>
              </a:rPr>
              <a:t>prototypes, linear, attentive, cascade</a:t>
            </a:r>
          </a:p>
        </p:txBody>
      </p:sp>
      <p:sp>
        <p:nvSpPr>
          <p:cNvPr id="6" name="Rounded Rectangle 5"/>
          <p:cNvSpPr/>
          <p:nvPr/>
        </p:nvSpPr>
        <p:spPr>
          <a:xfrm>
            <a:off x="6208776"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Pooling</a:t>
            </a:r>
          </a:p>
          <a:p>
            <a:pPr algn="l">
              <a:spcAft>
                <a:spcPts val="400"/>
              </a:spcAft>
            </a:pPr>
            <a:r>
              <a:rPr sz="1200" b="0" i="0">
                <a:solidFill>
                  <a:srgbClr val="5E6E66"/>
                </a:solidFill>
                <a:latin typeface="Calibri"/>
              </a:rPr>
              <a:t>moyenne, maximum, mixte</a:t>
            </a:r>
          </a:p>
        </p:txBody>
      </p:sp>
      <p:sp>
        <p:nvSpPr>
          <p:cNvPr id="7" name="Rounded Rectangle 6"/>
          <p:cNvSpPr/>
          <p:nvPr/>
        </p:nvSpPr>
        <p:spPr>
          <a:xfrm>
            <a:off x="9084564" y="137160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Fenêtre et grille</a:t>
            </a:r>
          </a:p>
          <a:p>
            <a:pPr algn="l">
              <a:spcAft>
                <a:spcPts val="400"/>
              </a:spcAft>
            </a:pPr>
            <a:r>
              <a:rPr sz="1200" b="0" i="0">
                <a:solidFill>
                  <a:srgbClr val="5E6E66"/>
                </a:solidFill>
                <a:latin typeface="Calibri"/>
              </a:rPr>
              <a:t>3 s ou 5 s ; protocoles A, B, C, E</a:t>
            </a:r>
          </a:p>
        </p:txBody>
      </p:sp>
      <p:sp>
        <p:nvSpPr>
          <p:cNvPr id="8" name="Rounded Rectangle 7"/>
          <p:cNvSpPr/>
          <p:nvPr/>
        </p:nvSpPr>
        <p:spPr>
          <a:xfrm>
            <a:off x="457200"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Canal stéréo</a:t>
            </a:r>
          </a:p>
          <a:p>
            <a:pPr algn="l">
              <a:spcAft>
                <a:spcPts val="400"/>
              </a:spcAft>
            </a:pPr>
            <a:r>
              <a:rPr sz="1200" b="0" i="0">
                <a:solidFill>
                  <a:srgbClr val="5E6E66"/>
                </a:solidFill>
                <a:latin typeface="Calibri"/>
              </a:rPr>
              <a:t>gain faible, gain fort ou moyenne</a:t>
            </a:r>
          </a:p>
        </p:txBody>
      </p:sp>
      <p:sp>
        <p:nvSpPr>
          <p:cNvPr id="9" name="Rounded Rectangle 8"/>
          <p:cNvSpPr/>
          <p:nvPr/>
        </p:nvSpPr>
        <p:spPr>
          <a:xfrm>
            <a:off x="3332988"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Bird-MAE</a:t>
            </a:r>
          </a:p>
          <a:p>
            <a:pPr algn="l">
              <a:spcAft>
                <a:spcPts val="400"/>
              </a:spcAft>
            </a:pPr>
            <a:r>
              <a:rPr sz="1200" b="0" i="0">
                <a:solidFill>
                  <a:srgbClr val="5E6E66"/>
                </a:solidFill>
                <a:latin typeface="Calibri"/>
              </a:rPr>
              <a:t>Base suffit-il, ou faut-il Huge ?</a:t>
            </a:r>
          </a:p>
        </p:txBody>
      </p:sp>
      <p:sp>
        <p:nvSpPr>
          <p:cNvPr id="10" name="Rounded Rectangle 9"/>
          <p:cNvSpPr/>
          <p:nvPr/>
        </p:nvSpPr>
        <p:spPr>
          <a:xfrm>
            <a:off x="6208776"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Généralisation</a:t>
            </a:r>
          </a:p>
          <a:p>
            <a:pPr algn="l">
              <a:spcAft>
                <a:spcPts val="400"/>
              </a:spcAft>
            </a:pPr>
            <a:r>
              <a:rPr sz="1200" b="0" i="0">
                <a:solidFill>
                  <a:srgbClr val="5E6E66"/>
                </a:solidFill>
                <a:latin typeface="Calibri"/>
              </a:rPr>
              <a:t>différentiel contre linear probe entre sites</a:t>
            </a:r>
          </a:p>
        </p:txBody>
      </p:sp>
      <p:sp>
        <p:nvSpPr>
          <p:cNvPr id="11" name="Rounded Rectangle 10"/>
          <p:cNvSpPr/>
          <p:nvPr/>
        </p:nvSpPr>
        <p:spPr>
          <a:xfrm>
            <a:off x="9084564" y="2788920"/>
            <a:ext cx="2647188" cy="1188720"/>
          </a:xfrm>
          <a:prstGeom prst="roundRect">
            <a:avLst>
              <a:gd name="adj" fmla="val 8000"/>
            </a:avLst>
          </a:prstGeom>
          <a:solidFill>
            <a:srgbClr val="F4F8F5"/>
          </a:solidFill>
          <a:ln w="12700">
            <a:solidFill>
              <a:srgbClr val="E6EFE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400"/>
              </a:spcAft>
            </a:pPr>
            <a:r>
              <a:rPr sz="1500" b="1" i="0">
                <a:solidFill>
                  <a:srgbClr val="17332A"/>
                </a:solidFill>
                <a:latin typeface="Calibri"/>
              </a:rPr>
              <a:t>Fusion</a:t>
            </a:r>
          </a:p>
          <a:p>
            <a:pPr algn="l">
              <a:spcAft>
                <a:spcPts val="400"/>
              </a:spcAft>
            </a:pPr>
            <a:r>
              <a:rPr sz="1200" b="0" i="0">
                <a:solidFill>
                  <a:srgbClr val="5E6E66"/>
                </a:solidFill>
                <a:latin typeface="Calibri"/>
              </a:rPr>
              <a:t>pondération, contre fusions simples</a:t>
            </a:r>
          </a:p>
        </p:txBody>
      </p:sp>
      <p:sp>
        <p:nvSpPr>
          <p:cNvPr id="12" name="Rounded Rectangle 11"/>
          <p:cNvSpPr/>
          <p:nvPr/>
        </p:nvSpPr>
        <p:spPr>
          <a:xfrm>
            <a:off x="457200" y="4206240"/>
            <a:ext cx="11274552" cy="169164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t"/>
          <a:lstStyle/>
          <a:p>
            <a:pPr algn="l">
              <a:spcAft>
                <a:spcPts val="800"/>
              </a:spcAft>
            </a:pPr>
            <a:r>
              <a:rPr sz="1800" b="1" i="0">
                <a:solidFill>
                  <a:srgbClr val="F2A541"/>
                </a:solidFill>
                <a:latin typeface="Calibri"/>
              </a:rPr>
              <a:t>Go / no-go en fin de semaine 3</a:t>
            </a:r>
          </a:p>
          <a:p>
            <a:pPr algn="l">
              <a:spcAft>
                <a:spcPts val="800"/>
              </a:spcAft>
            </a:pPr>
            <a:r>
              <a:rPr sz="1400" b="0" i="0">
                <a:solidFill>
                  <a:srgbClr val="FFFFFF"/>
                </a:solidFill>
                <a:latin typeface="Calibri"/>
              </a:rPr>
              <a:t>Un point de décision fixé à l'avance. </a:t>
            </a:r>
            <a:r>
              <a:rPr sz="1400" b="1" i="0">
                <a:solidFill>
                  <a:srgbClr val="FFFFFF"/>
                </a:solidFill>
                <a:latin typeface="Calibri"/>
              </a:rPr>
              <a:t>Go</a:t>
            </a:r>
            <a:r>
              <a:rPr sz="1400" b="0" i="0">
                <a:solidFill>
                  <a:srgbClr val="FFFFFF"/>
                </a:solidFill>
                <a:latin typeface="Calibri"/>
              </a:rPr>
              <a:t> : la voie encodeur + tête tient, on continue. </a:t>
            </a:r>
            <a:r>
              <a:rPr sz="1400" b="1" i="0">
                <a:solidFill>
                  <a:srgbClr val="FFFFFF"/>
                </a:solidFill>
                <a:latin typeface="Calibri"/>
              </a:rPr>
              <a:t>No-go</a:t>
            </a:r>
            <a:r>
              <a:rPr sz="1400" b="0" i="0">
                <a:solidFill>
                  <a:srgbClr val="FFFFFF"/>
                </a:solidFill>
                <a:latin typeface="Calibri"/>
              </a:rPr>
              <a:t> : on bascule sur le traitement du signal et le template matching.</a:t>
            </a:r>
          </a:p>
          <a:p>
            <a:pPr algn="l">
              <a:spcAft>
                <a:spcPts val="400"/>
              </a:spcAft>
            </a:pPr>
            <a:r>
              <a:rPr sz="1400" b="0" i="1">
                <a:solidFill>
                  <a:srgbClr val="C9DCCF"/>
                </a:solidFill>
                <a:latin typeface="Calibri"/>
              </a:rPr>
              <a:t>Le critère reste à fixer ensemble.</a:t>
            </a:r>
          </a:p>
        </p:txBody>
      </p:sp>
      <p:sp>
        <p:nvSpPr>
          <p:cNvPr id="13" name="TextBox 12"/>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46888"/>
            <a:ext cx="8229600" cy="256032"/>
          </a:xfrm>
          <a:prstGeom prst="rect">
            <a:avLst/>
          </a:prstGeom>
          <a:noFill/>
        </p:spPr>
        <p:txBody>
          <a:bodyPr wrap="square" lIns="0" tIns="0" rIns="0" bIns="0" anchor="t">
            <a:spAutoFit/>
          </a:bodyPr>
          <a:lstStyle/>
          <a:p>
            <a:pPr algn="l">
              <a:spcAft>
                <a:spcPts val="400"/>
              </a:spcAft>
            </a:pPr>
            <a:r>
              <a:rPr sz="1100" b="1" i="0">
                <a:solidFill>
                  <a:srgbClr val="9A5A06"/>
                </a:solidFill>
                <a:latin typeface="Calibri"/>
              </a:rPr>
              <a:t>À DISCUTER</a:t>
            </a:r>
          </a:p>
        </p:txBody>
      </p:sp>
      <p:sp>
        <p:nvSpPr>
          <p:cNvPr id="3" name="TextBox 2"/>
          <p:cNvSpPr txBox="1"/>
          <p:nvPr/>
        </p:nvSpPr>
        <p:spPr>
          <a:xfrm>
            <a:off x="457200" y="512064"/>
            <a:ext cx="11274552" cy="548640"/>
          </a:xfrm>
          <a:prstGeom prst="rect">
            <a:avLst/>
          </a:prstGeom>
          <a:noFill/>
        </p:spPr>
        <p:txBody>
          <a:bodyPr wrap="square" lIns="0" tIns="0" rIns="0" bIns="0" anchor="t">
            <a:spAutoFit/>
          </a:bodyPr>
          <a:lstStyle/>
          <a:p>
            <a:pPr algn="l">
              <a:spcAft>
                <a:spcPts val="400"/>
              </a:spcAft>
            </a:pPr>
            <a:r>
              <a:rPr sz="2800" b="1" i="0">
                <a:solidFill>
                  <a:srgbClr val="17332A"/>
                </a:solidFill>
                <a:latin typeface="Cambria"/>
              </a:rPr>
              <a:t>Questions pour aujourd'hui</a:t>
            </a:r>
          </a:p>
        </p:txBody>
      </p:sp>
      <p:sp>
        <p:nvSpPr>
          <p:cNvPr id="4" name="Oval 3"/>
          <p:cNvSpPr/>
          <p:nvPr/>
        </p:nvSpPr>
        <p:spPr>
          <a:xfrm>
            <a:off x="457200" y="13716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1</a:t>
            </a:r>
          </a:p>
        </p:txBody>
      </p:sp>
      <p:sp>
        <p:nvSpPr>
          <p:cNvPr id="5" name="TextBox 4"/>
          <p:cNvSpPr txBox="1"/>
          <p:nvPr/>
        </p:nvSpPr>
        <p:spPr>
          <a:xfrm>
            <a:off x="1234440" y="1152144"/>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Blancinet est-il bien le modèle de Biophonia ? Et celui de l'étude de 2025 ?</a:t>
            </a:r>
          </a:p>
        </p:txBody>
      </p:sp>
      <p:sp>
        <p:nvSpPr>
          <p:cNvPr id="6" name="Oval 5"/>
          <p:cNvSpPr/>
          <p:nvPr/>
        </p:nvSpPr>
        <p:spPr>
          <a:xfrm>
            <a:off x="6172200" y="13716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2</a:t>
            </a:r>
          </a:p>
        </p:txBody>
      </p:sp>
      <p:sp>
        <p:nvSpPr>
          <p:cNvPr id="7" name="TextBox 6"/>
          <p:cNvSpPr txBox="1"/>
          <p:nvPr/>
        </p:nvSpPr>
        <p:spPr>
          <a:xfrm>
            <a:off x="6949440" y="1152144"/>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Peut-on récupérer des annotations et des sorties de détecteur sur 2023 ?</a:t>
            </a:r>
          </a:p>
        </p:txBody>
      </p:sp>
      <p:sp>
        <p:nvSpPr>
          <p:cNvPr id="8" name="Oval 7"/>
          <p:cNvSpPr/>
          <p:nvPr/>
        </p:nvSpPr>
        <p:spPr>
          <a:xfrm>
            <a:off x="457200" y="256032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3</a:t>
            </a:r>
          </a:p>
        </p:txBody>
      </p:sp>
      <p:sp>
        <p:nvSpPr>
          <p:cNvPr id="9" name="TextBox 8"/>
          <p:cNvSpPr txBox="1"/>
          <p:nvPr/>
        </p:nvSpPr>
        <p:spPr>
          <a:xfrm>
            <a:off x="1234440" y="2340863"/>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Canal stéréo : gain faible, gain fort, ou la moyenne des deux ?</a:t>
            </a:r>
          </a:p>
        </p:txBody>
      </p:sp>
      <p:sp>
        <p:nvSpPr>
          <p:cNvPr id="10" name="Oval 9"/>
          <p:cNvSpPr/>
          <p:nvPr/>
        </p:nvSpPr>
        <p:spPr>
          <a:xfrm>
            <a:off x="6172200" y="256032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4</a:t>
            </a:r>
          </a:p>
        </p:txBody>
      </p:sp>
      <p:sp>
        <p:nvSpPr>
          <p:cNvPr id="11" name="TextBox 10"/>
          <p:cNvSpPr txBox="1"/>
          <p:nvPr/>
        </p:nvSpPr>
        <p:spPr>
          <a:xfrm>
            <a:off x="6949440" y="2340863"/>
            <a:ext cx="4754880" cy="1005840"/>
          </a:xfrm>
          <a:prstGeom prst="rect">
            <a:avLst/>
          </a:prstGeom>
          <a:noFill/>
        </p:spPr>
        <p:txBody>
          <a:bodyPr wrap="square" lIns="0" tIns="0" rIns="0" bIns="0" anchor="ctr">
            <a:spAutoFit/>
          </a:bodyPr>
          <a:lstStyle/>
          <a:p>
            <a:pPr algn="l">
              <a:spcAft>
                <a:spcPts val="400"/>
              </a:spcAft>
            </a:pPr>
            <a:r>
              <a:rPr sz="1550" b="0" i="1">
                <a:solidFill>
                  <a:srgbClr val="1C2B24"/>
                </a:solidFill>
                <a:latin typeface="Calibri"/>
              </a:rPr>
              <a:t>A. blanci</a:t>
            </a:r>
            <a:r>
              <a:rPr sz="1550" b="0" i="0">
                <a:solidFill>
                  <a:srgbClr val="1C2B24"/>
                </a:solidFill>
                <a:latin typeface="Calibri"/>
              </a:rPr>
              <a:t> chante-t-elle parfois de façon ponctuelle ? Solo et chœur se distinguent-ils à l'oreille ?</a:t>
            </a:r>
          </a:p>
        </p:txBody>
      </p:sp>
      <p:sp>
        <p:nvSpPr>
          <p:cNvPr id="12" name="Oval 11"/>
          <p:cNvSpPr/>
          <p:nvPr/>
        </p:nvSpPr>
        <p:spPr>
          <a:xfrm>
            <a:off x="457200" y="3749039"/>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5</a:t>
            </a:r>
          </a:p>
        </p:txBody>
      </p:sp>
      <p:sp>
        <p:nvSpPr>
          <p:cNvPr id="13" name="TextBox 12"/>
          <p:cNvSpPr txBox="1"/>
          <p:nvPr/>
        </p:nvSpPr>
        <p:spPr>
          <a:xfrm>
            <a:off x="1234440" y="3529583"/>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Qui tranche les licences à l'ONF, et avant quelle date ?</a:t>
            </a:r>
          </a:p>
        </p:txBody>
      </p:sp>
      <p:sp>
        <p:nvSpPr>
          <p:cNvPr id="14" name="Oval 13"/>
          <p:cNvSpPr/>
          <p:nvPr/>
        </p:nvSpPr>
        <p:spPr>
          <a:xfrm>
            <a:off x="6172200" y="3749039"/>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6</a:t>
            </a:r>
          </a:p>
        </p:txBody>
      </p:sp>
      <p:sp>
        <p:nvSpPr>
          <p:cNvPr id="15" name="TextBox 14"/>
          <p:cNvSpPr txBox="1"/>
          <p:nvPr/>
        </p:nvSpPr>
        <p:spPr>
          <a:xfrm>
            <a:off x="6949440" y="3529583"/>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Quelles espèces AnuraSet retenir pour le pré-benchmark ?</a:t>
            </a:r>
          </a:p>
        </p:txBody>
      </p:sp>
      <p:sp>
        <p:nvSpPr>
          <p:cNvPr id="16" name="Oval 15"/>
          <p:cNvSpPr/>
          <p:nvPr/>
        </p:nvSpPr>
        <p:spPr>
          <a:xfrm>
            <a:off x="457200" y="493776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700" b="1" i="0">
                <a:solidFill>
                  <a:srgbClr val="17332A"/>
                </a:solidFill>
                <a:latin typeface="Calibri"/>
              </a:rPr>
              <a:t>7</a:t>
            </a:r>
          </a:p>
        </p:txBody>
      </p:sp>
      <p:sp>
        <p:nvSpPr>
          <p:cNvPr id="17" name="TextBox 16"/>
          <p:cNvSpPr txBox="1"/>
          <p:nvPr/>
        </p:nvSpPr>
        <p:spPr>
          <a:xfrm>
            <a:off x="1234440" y="4718304"/>
            <a:ext cx="4754880" cy="1005840"/>
          </a:xfrm>
          <a:prstGeom prst="rect">
            <a:avLst/>
          </a:prstGeom>
          <a:noFill/>
        </p:spPr>
        <p:txBody>
          <a:bodyPr wrap="square" lIns="0" tIns="0" rIns="0" bIns="0" anchor="ctr">
            <a:spAutoFit/>
          </a:bodyPr>
          <a:lstStyle/>
          <a:p>
            <a:pPr algn="l">
              <a:spcAft>
                <a:spcPts val="400"/>
              </a:spcAft>
            </a:pPr>
            <a:r>
              <a:rPr sz="1550" b="0" i="0">
                <a:solidFill>
                  <a:srgbClr val="1C2B24"/>
                </a:solidFill>
                <a:latin typeface="Calibri"/>
              </a:rPr>
              <a:t>Quel critère pour le go/no-go ?</a:t>
            </a:r>
          </a:p>
        </p:txBody>
      </p:sp>
      <p:sp>
        <p:nvSpPr>
          <p:cNvPr id="18" name="TextBox 17"/>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5E6E66"/>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332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0972800" cy="640080"/>
          </a:xfrm>
          <a:prstGeom prst="rect">
            <a:avLst/>
          </a:prstGeom>
          <a:noFill/>
        </p:spPr>
        <p:txBody>
          <a:bodyPr wrap="square" lIns="0" tIns="0" rIns="0" bIns="0" anchor="t">
            <a:spAutoFit/>
          </a:bodyPr>
          <a:lstStyle/>
          <a:p>
            <a:pPr algn="l">
              <a:spcAft>
                <a:spcPts val="400"/>
              </a:spcAft>
            </a:pPr>
            <a:r>
              <a:rPr sz="3200" b="1" i="0">
                <a:solidFill>
                  <a:srgbClr val="FFFFFF"/>
                </a:solidFill>
                <a:latin typeface="Cambria"/>
              </a:rPr>
              <a:t>Mes prochaines étapes</a:t>
            </a:r>
          </a:p>
        </p:txBody>
      </p:sp>
      <p:cxnSp>
        <p:nvCxnSpPr>
          <p:cNvPr id="3" name="Connector 2"/>
          <p:cNvCxnSpPr/>
          <p:nvPr/>
        </p:nvCxnSpPr>
        <p:spPr>
          <a:xfrm>
            <a:off x="457200" y="1572768"/>
            <a:ext cx="11274552" cy="0"/>
          </a:xfrm>
          <a:prstGeom prst="line">
            <a:avLst/>
          </a:prstGeom>
          <a:ln w="25400">
            <a:solidFill>
              <a:srgbClr val="2F6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457200" y="1417320"/>
            <a:ext cx="310896" cy="31089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5" name="TextBox 4"/>
          <p:cNvSpPr txBox="1"/>
          <p:nvPr/>
        </p:nvSpPr>
        <p:spPr>
          <a:xfrm>
            <a:off x="457200" y="1920240"/>
            <a:ext cx="3544824" cy="411480"/>
          </a:xfrm>
          <a:prstGeom prst="rect">
            <a:avLst/>
          </a:prstGeom>
          <a:noFill/>
        </p:spPr>
        <p:txBody>
          <a:bodyPr wrap="square" lIns="0" tIns="0" rIns="0" bIns="0" anchor="t">
            <a:spAutoFit/>
          </a:bodyPr>
          <a:lstStyle/>
          <a:p>
            <a:pPr algn="l">
              <a:spcAft>
                <a:spcPts val="400"/>
              </a:spcAft>
            </a:pPr>
            <a:r>
              <a:rPr sz="2000" b="1" i="0">
                <a:solidFill>
                  <a:srgbClr val="F2A541"/>
                </a:solidFill>
                <a:latin typeface="Cambria"/>
              </a:rPr>
              <a:t>Maintenant</a:t>
            </a:r>
          </a:p>
        </p:txBody>
      </p:sp>
      <p:sp>
        <p:nvSpPr>
          <p:cNvPr id="6" name="TextBox 5"/>
          <p:cNvSpPr txBox="1"/>
          <p:nvPr/>
        </p:nvSpPr>
        <p:spPr>
          <a:xfrm>
            <a:off x="457200" y="2359152"/>
            <a:ext cx="3544824" cy="320040"/>
          </a:xfrm>
          <a:prstGeom prst="rect">
            <a:avLst/>
          </a:prstGeom>
          <a:noFill/>
        </p:spPr>
        <p:txBody>
          <a:bodyPr wrap="square" lIns="0" tIns="0" rIns="0" bIns="0" anchor="t">
            <a:spAutoFit/>
          </a:bodyPr>
          <a:lstStyle/>
          <a:p>
            <a:pPr algn="l">
              <a:spcAft>
                <a:spcPts val="400"/>
              </a:spcAft>
            </a:pPr>
            <a:r>
              <a:rPr sz="1300" b="0" i="0">
                <a:solidFill>
                  <a:srgbClr val="C9DCCF"/>
                </a:solidFill>
                <a:latin typeface="Calibri"/>
              </a:rPr>
              <a:t>semaines 2–3</a:t>
            </a:r>
          </a:p>
        </p:txBody>
      </p:sp>
      <p:sp>
        <p:nvSpPr>
          <p:cNvPr id="7" name="Rounded Rectangle 6"/>
          <p:cNvSpPr/>
          <p:nvPr/>
        </p:nvSpPr>
        <p:spPr>
          <a:xfrm>
            <a:off x="457200" y="2834640"/>
            <a:ext cx="3544824" cy="3246120"/>
          </a:xfrm>
          <a:prstGeom prst="roundRect">
            <a:avLst>
              <a:gd name="adj" fmla="val 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marL="164592" indent="-164592" algn="l">
              <a:spcAft>
                <a:spcPts val="1000"/>
              </a:spcAft>
              <a:buClr>
                <a:srgbClr val="F2A541"/>
              </a:buClr>
              <a:buFont typeface="Arial"/>
              <a:buChar char="•"/>
            </a:pPr>
            <a:r>
              <a:rPr sz="1500" b="0" i="0">
                <a:solidFill>
                  <a:srgbClr val="FFFFFF"/>
                </a:solidFill>
                <a:latin typeface="Calibri"/>
              </a:rPr>
              <a:t>M'approprier chaque module et le retester</a:t>
            </a:r>
          </a:p>
          <a:p>
            <a:pPr marL="164592" indent="-164592" algn="l">
              <a:spcAft>
                <a:spcPts val="1000"/>
              </a:spcAft>
              <a:buClr>
                <a:srgbClr val="F2A541"/>
              </a:buClr>
              <a:buFont typeface="Arial"/>
              <a:buChar char="•"/>
            </a:pPr>
            <a:r>
              <a:rPr sz="1500" b="0" i="0">
                <a:solidFill>
                  <a:srgbClr val="FFFFFF"/>
                </a:solidFill>
                <a:latin typeface="Calibri"/>
              </a:rPr>
              <a:t>Terminer l'inventaire de la phénologie 2023-2024</a:t>
            </a:r>
          </a:p>
          <a:p>
            <a:pPr marL="164592" indent="-164592" algn="l">
              <a:spcAft>
                <a:spcPts val="1000"/>
              </a:spcAft>
              <a:buClr>
                <a:srgbClr val="F2A541"/>
              </a:buClr>
              <a:buFont typeface="Arial"/>
              <a:buChar char="•"/>
            </a:pPr>
            <a:r>
              <a:rPr sz="1500" b="0" i="0">
                <a:solidFill>
                  <a:srgbClr val="FFFFFF"/>
                </a:solidFill>
                <a:latin typeface="Calibri"/>
              </a:rPr>
              <a:t>Premiers encodages : sous-ensemble ONF et AnuraSet</a:t>
            </a:r>
          </a:p>
          <a:p>
            <a:pPr marL="164592" indent="-164592" algn="l">
              <a:spcAft>
                <a:spcPts val="1000"/>
              </a:spcAft>
              <a:buClr>
                <a:srgbClr val="F2A541"/>
              </a:buClr>
              <a:buFont typeface="Arial"/>
              <a:buChar char="•"/>
            </a:pPr>
            <a:r>
              <a:rPr sz="1500" b="0" i="0">
                <a:solidFill>
                  <a:srgbClr val="FFFFFF"/>
                </a:solidFill>
                <a:latin typeface="Calibri"/>
              </a:rPr>
              <a:t>Produire le tableau de benchmark</a:t>
            </a:r>
          </a:p>
        </p:txBody>
      </p:sp>
      <p:sp>
        <p:nvSpPr>
          <p:cNvPr id="8" name="Oval 7"/>
          <p:cNvSpPr/>
          <p:nvPr/>
        </p:nvSpPr>
        <p:spPr>
          <a:xfrm>
            <a:off x="4322064" y="1417320"/>
            <a:ext cx="310896" cy="31089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9" name="TextBox 8"/>
          <p:cNvSpPr txBox="1"/>
          <p:nvPr/>
        </p:nvSpPr>
        <p:spPr>
          <a:xfrm>
            <a:off x="4322064" y="1920240"/>
            <a:ext cx="3544824" cy="411480"/>
          </a:xfrm>
          <a:prstGeom prst="rect">
            <a:avLst/>
          </a:prstGeom>
          <a:noFill/>
        </p:spPr>
        <p:txBody>
          <a:bodyPr wrap="square" lIns="0" tIns="0" rIns="0" bIns="0" anchor="t">
            <a:spAutoFit/>
          </a:bodyPr>
          <a:lstStyle/>
          <a:p>
            <a:pPr algn="l">
              <a:spcAft>
                <a:spcPts val="400"/>
              </a:spcAft>
            </a:pPr>
            <a:r>
              <a:rPr sz="2000" b="1" i="0">
                <a:solidFill>
                  <a:srgbClr val="F2A541"/>
                </a:solidFill>
                <a:latin typeface="Cambria"/>
              </a:rPr>
              <a:t>Ensuite</a:t>
            </a:r>
          </a:p>
        </p:txBody>
      </p:sp>
      <p:sp>
        <p:nvSpPr>
          <p:cNvPr id="10" name="TextBox 9"/>
          <p:cNvSpPr txBox="1"/>
          <p:nvPr/>
        </p:nvSpPr>
        <p:spPr>
          <a:xfrm>
            <a:off x="4322064" y="2359152"/>
            <a:ext cx="3544824" cy="320040"/>
          </a:xfrm>
          <a:prstGeom prst="rect">
            <a:avLst/>
          </a:prstGeom>
          <a:noFill/>
        </p:spPr>
        <p:txBody>
          <a:bodyPr wrap="square" lIns="0" tIns="0" rIns="0" bIns="0" anchor="t">
            <a:spAutoFit/>
          </a:bodyPr>
          <a:lstStyle/>
          <a:p>
            <a:pPr algn="l">
              <a:spcAft>
                <a:spcPts val="400"/>
              </a:spcAft>
            </a:pPr>
            <a:r>
              <a:rPr sz="1300" b="0" i="0">
                <a:solidFill>
                  <a:srgbClr val="C9DCCF"/>
                </a:solidFill>
                <a:latin typeface="Calibri"/>
              </a:rPr>
              <a:t>octobre</a:t>
            </a:r>
          </a:p>
        </p:txBody>
      </p:sp>
      <p:sp>
        <p:nvSpPr>
          <p:cNvPr id="11" name="Rounded Rectangle 10"/>
          <p:cNvSpPr/>
          <p:nvPr/>
        </p:nvSpPr>
        <p:spPr>
          <a:xfrm>
            <a:off x="4322064" y="2834640"/>
            <a:ext cx="3544824" cy="3246120"/>
          </a:xfrm>
          <a:prstGeom prst="roundRect">
            <a:avLst>
              <a:gd name="adj" fmla="val 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marL="164592" indent="-164592" algn="l">
              <a:spcAft>
                <a:spcPts val="1000"/>
              </a:spcAft>
              <a:buClr>
                <a:srgbClr val="F2A541"/>
              </a:buClr>
              <a:buFont typeface="Arial"/>
              <a:buChar char="•"/>
            </a:pPr>
            <a:r>
              <a:rPr sz="1500" b="0" i="0">
                <a:solidFill>
                  <a:srgbClr val="FFFFFF"/>
                </a:solidFill>
                <a:latin typeface="Calibri"/>
              </a:rPr>
              <a:t>Audit aléatoire d'enregistrements entiers</a:t>
            </a:r>
          </a:p>
          <a:p>
            <a:pPr marL="164592" indent="-164592" algn="l">
              <a:spcAft>
                <a:spcPts val="1000"/>
              </a:spcAft>
              <a:buClr>
                <a:srgbClr val="F2A541"/>
              </a:buClr>
              <a:buFont typeface="Arial"/>
              <a:buChar char="•"/>
            </a:pPr>
            <a:r>
              <a:rPr sz="1500" b="0" i="0">
                <a:solidFill>
                  <a:srgbClr val="FFFFFF"/>
                </a:solidFill>
                <a:latin typeface="Calibri"/>
              </a:rPr>
              <a:t>Récolter des positifs à Trésor et Kaw</a:t>
            </a:r>
          </a:p>
          <a:p>
            <a:pPr marL="164592" indent="-164592" algn="l">
              <a:spcAft>
                <a:spcPts val="1000"/>
              </a:spcAft>
              <a:buClr>
                <a:srgbClr val="F2A541"/>
              </a:buClr>
              <a:buFont typeface="Arial"/>
              <a:buChar char="•"/>
            </a:pPr>
            <a:r>
              <a:rPr sz="1500" b="0" i="0">
                <a:solidFill>
                  <a:srgbClr val="FFFFFF"/>
                </a:solidFill>
                <a:latin typeface="Calibri"/>
              </a:rPr>
              <a:t>Premiers tours d'annotation</a:t>
            </a:r>
          </a:p>
        </p:txBody>
      </p:sp>
      <p:sp>
        <p:nvSpPr>
          <p:cNvPr id="12" name="Oval 11"/>
          <p:cNvSpPr/>
          <p:nvPr/>
        </p:nvSpPr>
        <p:spPr>
          <a:xfrm>
            <a:off x="8186928" y="1417320"/>
            <a:ext cx="310896" cy="31089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lIns="137160" tIns="137160" rIns="137160" bIns="137160" rtlCol="0" anchor="t"/>
          <a:lstStyle/>
          <a:p>
            <a:pPr algn="ctr"/>
            <a:endParaRPr/>
          </a:p>
        </p:txBody>
      </p:sp>
      <p:sp>
        <p:nvSpPr>
          <p:cNvPr id="13" name="TextBox 12"/>
          <p:cNvSpPr txBox="1"/>
          <p:nvPr/>
        </p:nvSpPr>
        <p:spPr>
          <a:xfrm>
            <a:off x="8186928" y="1920240"/>
            <a:ext cx="3544824" cy="411480"/>
          </a:xfrm>
          <a:prstGeom prst="rect">
            <a:avLst/>
          </a:prstGeom>
          <a:noFill/>
        </p:spPr>
        <p:txBody>
          <a:bodyPr wrap="square" lIns="0" tIns="0" rIns="0" bIns="0" anchor="t">
            <a:spAutoFit/>
          </a:bodyPr>
          <a:lstStyle/>
          <a:p>
            <a:pPr algn="l">
              <a:spcAft>
                <a:spcPts val="400"/>
              </a:spcAft>
            </a:pPr>
            <a:r>
              <a:rPr sz="2000" b="1" i="0">
                <a:solidFill>
                  <a:srgbClr val="F2A541"/>
                </a:solidFill>
                <a:latin typeface="Cambria"/>
              </a:rPr>
              <a:t>Puis</a:t>
            </a:r>
          </a:p>
        </p:txBody>
      </p:sp>
      <p:sp>
        <p:nvSpPr>
          <p:cNvPr id="14" name="TextBox 13"/>
          <p:cNvSpPr txBox="1"/>
          <p:nvPr/>
        </p:nvSpPr>
        <p:spPr>
          <a:xfrm>
            <a:off x="8186928" y="2359152"/>
            <a:ext cx="3544824" cy="320040"/>
          </a:xfrm>
          <a:prstGeom prst="rect">
            <a:avLst/>
          </a:prstGeom>
          <a:noFill/>
        </p:spPr>
        <p:txBody>
          <a:bodyPr wrap="square" lIns="0" tIns="0" rIns="0" bIns="0" anchor="t">
            <a:spAutoFit/>
          </a:bodyPr>
          <a:lstStyle/>
          <a:p>
            <a:pPr algn="l">
              <a:spcAft>
                <a:spcPts val="400"/>
              </a:spcAft>
            </a:pPr>
            <a:r>
              <a:rPr sz="1300" b="0" i="0">
                <a:solidFill>
                  <a:srgbClr val="C9DCCF"/>
                </a:solidFill>
                <a:latin typeface="Calibri"/>
              </a:rPr>
              <a:t>novembre</a:t>
            </a:r>
          </a:p>
        </p:txBody>
      </p:sp>
      <p:sp>
        <p:nvSpPr>
          <p:cNvPr id="15" name="Rounded Rectangle 14"/>
          <p:cNvSpPr/>
          <p:nvPr/>
        </p:nvSpPr>
        <p:spPr>
          <a:xfrm>
            <a:off x="8186928" y="2834640"/>
            <a:ext cx="3544824" cy="3246120"/>
          </a:xfrm>
          <a:prstGeom prst="roundRect">
            <a:avLst>
              <a:gd name="adj" fmla="val 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marL="164592" indent="-164592" algn="l">
              <a:spcAft>
                <a:spcPts val="1000"/>
              </a:spcAft>
              <a:buClr>
                <a:srgbClr val="F2A541"/>
              </a:buClr>
              <a:buFont typeface="Arial"/>
              <a:buChar char="•"/>
            </a:pPr>
            <a:r>
              <a:rPr sz="1500" b="0" i="0">
                <a:solidFill>
                  <a:srgbClr val="FFFFFF"/>
                </a:solidFill>
                <a:latin typeface="Calibri"/>
              </a:rPr>
              <a:t>Constituer le jeu gelé</a:t>
            </a:r>
          </a:p>
          <a:p>
            <a:pPr marL="164592" indent="-164592" algn="l">
              <a:spcAft>
                <a:spcPts val="1000"/>
              </a:spcAft>
              <a:buClr>
                <a:srgbClr val="F2A541"/>
              </a:buClr>
              <a:buFont typeface="Arial"/>
              <a:buChar char="•"/>
            </a:pPr>
            <a:r>
              <a:rPr sz="1500" b="0" i="0">
                <a:solidFill>
                  <a:srgbClr val="FFFFFF"/>
                </a:solidFill>
                <a:latin typeface="Calibri"/>
              </a:rPr>
              <a:t>Courbes d'activité 2023 contre Courtois et al. 2025</a:t>
            </a:r>
          </a:p>
          <a:p>
            <a:pPr marL="164592" indent="-164592" algn="l">
              <a:spcAft>
                <a:spcPts val="1000"/>
              </a:spcAft>
              <a:buClr>
                <a:srgbClr val="F2A541"/>
              </a:buClr>
              <a:buFont typeface="Arial"/>
              <a:buChar char="•"/>
            </a:pPr>
            <a:r>
              <a:rPr sz="1500" b="0" i="0">
                <a:solidFill>
                  <a:srgbClr val="FFFFFF"/>
                </a:solidFill>
                <a:latin typeface="Calibri"/>
              </a:rPr>
              <a:t>Choisir l'encodeur</a:t>
            </a:r>
          </a:p>
        </p:txBody>
      </p:sp>
      <p:sp>
        <p:nvSpPr>
          <p:cNvPr id="16" name="TextBox 15"/>
          <p:cNvSpPr txBox="1"/>
          <p:nvPr/>
        </p:nvSpPr>
        <p:spPr>
          <a:xfrm>
            <a:off x="11277295" y="6473952"/>
            <a:ext cx="457200" cy="228600"/>
          </a:xfrm>
          <a:prstGeom prst="rect">
            <a:avLst/>
          </a:prstGeom>
          <a:noFill/>
        </p:spPr>
        <p:txBody>
          <a:bodyPr wrap="square" lIns="0" tIns="0" rIns="0" bIns="0" anchor="t">
            <a:spAutoFit/>
          </a:bodyPr>
          <a:lstStyle/>
          <a:p>
            <a:pPr algn="r">
              <a:spcAft>
                <a:spcPts val="400"/>
              </a:spcAft>
            </a:pPr>
            <a:r>
              <a:rPr sz="1000" b="0" i="0">
                <a:solidFill>
                  <a:srgbClr val="C9DCCF"/>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3594</Words>
  <Application>Microsoft Office PowerPoint</Application>
  <PresentationFormat>Grand écran</PresentationFormat>
  <Paragraphs>549</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LAPLACE-PALETTE Leonard</cp:lastModifiedBy>
  <cp:revision>6</cp:revision>
  <dcterms:created xsi:type="dcterms:W3CDTF">2013-01-27T09:14:16Z</dcterms:created>
  <dcterms:modified xsi:type="dcterms:W3CDTF">2026-09-24T15:43:53Z</dcterms:modified>
  <cp:category/>
</cp:coreProperties>
</file>