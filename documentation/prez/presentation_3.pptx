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point de suivi. Depuis la dernière réunion, le travail a porté sur deux chantiers longs : l'encodage de tout le corpus par les modèles de fondation, qui se termine, et l'annotation du premier lot, terminée. Plan : où en est l'encodage, où en est l'annotation, la méthode d'annotation telle qu'elle a été appliquée, le poste d'annotation que j'ai construit pour ça, le tableau de bord du projet, et la suite : enfin le benchmark des encodeurs et des têtes sur nos propres données, puis le module de traitement du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Encoder, c'est faire passer chaque enregistrement dans un modèle de fondation, un réseau déjà entraîné sur des millions de chants d'oiseaux, qui résume chaque fenêtre de quelques secondes en un vecteur de nombres, l'embedding. C'est sur ces vecteurs que les têtes de classification apprennent à reconnaître A. blanci. Il faut le faire une fois par encodeur, sur tout le corpus : 95 214 enregistrements de 2 min encodables. Et sur un portable sans carte graphique, un Intel Core i5, c'est très long. Perch 2.0 est terminé : 61 h de calcul. C'est le meilleur encodeur libre du pré-benchmark AnuraSet présenté la dernière fois. BirdNET 2.4 est terminé le 11 octobre : 52 h cumulées, environ 42 fenêtres par seconde, avec des relances après plantage. BirdNET 3.0, la nouvelle version, est en cours : 34 825 enregistrements faits au 21 octobre, soit 37 %, à environ 7,7 s par enregistrement. Il a peu avancé ces derniers jours, le PC servant à l'annotation : au même rythme, il reste environ 129 h de calcul, un peu plus de cinq jours en continu. L'encodage tourne la nuit et le week-end, dans une boucle qui reprend où elle s'était arrêtée ; si le disque des enregistrements est débranché en cours de route, l'encodage s'arrête net au lieu de marquer tout le reste en échec. Au total, près de 316 h de calcul pour trois encodeurs : c'est pourquoi on n'a pas pu tous les essayer sur nos données, et pourquoi AnuraSet a servi à faire le tri avant.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lot, c'est 424 extraits de 30 s pour l'entraînement : 274 sur les micros 2026, trois par micro, et 150 sur les stations de phénologie 2023, cinquante par station. Je les ai tous écoutés et annotés : terminé le 21 octobre. Puis vient le jeu de test : 250 enregistrements de 2 min écoutés en entier, sur des points d'écoute qui ne servent jamais à l'entraînement, soit un peu plus de 8 h d'écoute. Pour chaque extrait, je trace à la souris les intervalles où A. blanci chante, et je note les faux amis, les autres espèces qui lui ressemblent. Au total : 92 extraits avec A. blanci, dont 76 sûrs, 67 avec un faux ami, 350 intervalles tracés. Les trois quarts des extraits sont négatifs : c'est normal, le tirage ne cherche pas le chant, il imite ce qu'on rencontrera sur le terrain. Ensuite, Élodie et Benoît vérifient chacun 10 % de mes annotations, à l'aveugle.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règle qui structure tout : avant la moindre écoute, chaque point d'écoute est attribué soit à l'entraînement, soit au test, jamais aux deux. Un point d'écoute, c'est un micro posé à un endroit ; en 2023, une station de phénologie. Pourquoi : deux enregistrements d'un même micro partagent le même fond sonore, les mêmes insectes, le même ruisseau. Si un point servait aux deux, le modèle pourrait reconnaître le lieu plutôt que le chant, et on le croirait meilleur qu'il n'est : c'est une fuite de données. Sur 162 points, 95 vont à l'entraînement et 67 sont tenus à l'écart, à trois niveaux qui posent chacun une question. Niveau 1 : un micro sur cinq des sites 2026, 24 points : le détecteur marche-t-il sur un nouveau micro d'un site qu'il connaît ? Niveau 2 : un site entier, RNRT, 40 points : marche-t-il sur un site jamais entendu ? C'est la situation des futures campagnes. Niveau 3 : une station 2023 sur deux par site, 3 points : marche-t-il sur une autre année et d'autres saisons ? Le tirage des extraits est fait par script, sans aucun détecteur, sinon le jeu hériterait de ses angles morts. Il est stratifié par point et par tranche horaire : chaque point fournit un extrait au pic du matin, un au pic du soir et un autre à une autre heure, si bien que positifs et négatifs viennent des mêmes conditions et que la tête apprend le chant, pas l'heure. Pour le test, les heures de pic et la saison haute sont tirées deux fois plus souvent, et la probabilité de tirage de chaque enregistrement est notée : on peut donc corriger ce sur-échantillonnage et estimer le rappel tel qu'il serait sur tout le corpus. Enfin, pour régler les têtes sans toucher au test, une validation croisée en 5 plis par micro : chaque pli met de côté des micros entiers.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annoter, j'ai construit un logiciel d'écoute qui tourne dans le navigateur. En haut, le spectrogramme de l'extrait, zoomable, avec les deux micros de l'enregistreur. Je glisse la souris là où A. blanci chante pour tracer un intervalle, après avoir choisi son type : A. blanci, plusieurs A. blanci en chœur, A. blanci incertain, ou faux ami. On peut n'écouter que la bande du chant, 4,4 à 5,5 kHz : le reste est coupé par un filtre, ce qui fait ressortir des notes faibles sous le bruit des insectes. Pour chaque extrait, on note aussi la qualité du chant, A, B ou C, l'espèce du faux ami si on la connaît, et un commentaire. Le poste a été rendu rapide : l'extrait suivant est préparé pendant qu'on écoute le précédent, et un clic répond en moins d'une seconde côté serveur, contre 2 à 6 s avant. Les annotations s'exportent dans le dépôt et se réimportent sur une autre machine, sans doublon : Élodie et Benoît pourront faire leur vérification sur le même outil, avec le champ annotateur à leur nom.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de bord est une page web privée qui résume tout le projet, à jour : où en est chaque chantier, le jeu de données, la chaîne de traitement étape par étape, l'avancement de l'annotation, les temps d'encodage, les benchmarks AnuraSet avec un explorateur des encodeurs et des têtes, les rapports, et la bibliographie. Chaque carte a un bouton Commenter : les commentaires sont partagés entre tous ceux qui ont accès à la page, c'est le moyen le plus simple de me poser une question ou de corriger quelque chose sans attendre la réunion. Elle se met à jour en une commande, depuis le dépôt : les chiffres viennent directement des fichiers de résultats, jamais recopiés à la main. Je vous la partage, si ce n'est pas déjà fait.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qui vient, maintenant que l'encodage et l'annotation se terminent. Un, enfin, le benchmark des encodeurs et des têtes sur nos propres données. Jusqu'ici on n'avait qu'AnuraSet, des anoures du Brésil : c'était un indicateur, pas un verdict. On compare les trois encodeurs, Perch 2.0, BirdNET 2.4 et BirdNET 3.0, avec plusieurs têtes : la régression logistique, la tête par défaut ; le prototype différentiel, qui marche avec très peu d'exemples ; l'analyse discriminante à covariance rétrécie, la meilleure de certains encodeurs sur AnuraSet ; et la sonde attentive, qui pondère les morceaux du spectrogramme. Tout est jugé sur les points tenus à l'écart, niveau par niveau, avec l'AP et le rappel par enregistrement. L'objectif fixé : retrouver au moins 85 % des enregistrements où A. blanci chante, en acceptant jusqu'à neuf fausses alertes pour une vraie, ce qui reste raisonnable à réécouter. Deux, le module de traitement du signal, du traitement du son classique, sans apprentissage : un filtre qui ne garde que la bande du chant, une normalisation qui atténue le bruit de fond constant, le PCEN, un débruitage, et un repérage des fenêtres où l'énergie monte dans la bande, avec un seuil à hystérésis : un seuil haut pour déclencher, un plus bas pour mesurer la durée de la note, ce qui doit corriger le problème des chants faibles vu la dernière fois. Le benchmark dira où le placer : avant l'encodeur, pour écarter les fenêtres vides, ou à côté de la tête, comme un indice de plus. Une question pour vous : quand pouvez-vous faire la vérification à l'aveugle ? C'est elle qui débloque le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hyperlink" Target="https://claude.ai/artifact/DLfBZopGjpLyJPBi9ViLi8"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24"/>
        </a:solidFill>
      </p:bgPr>
    </p:bg>
    <p:spTree>
      <p:nvGrpSpPr>
        <p:cNvPr id="1" name=""/>
        <p:cNvGrpSpPr/>
        <p:nvPr/>
      </p:nvGrpSpPr>
      <p:grpSpPr>
        <a:xfrm>
          <a:off x="0" y="0"/>
          <a:ext cx="0" cy="0"/>
          <a:chOff x="0" y="0"/>
          <a:chExt cx="0" cy="0"/>
        </a:xfrm>
      </p:grpSpPr>
      <p:pic>
        <p:nvPicPr>
          <p:cNvPr id="2" name="Image 0" descr="/tmp/claude-0/-home-user-Grenouille/fa0dec92-0de5-568f-bc99-1cd8ca0cc78c/scratchpad/presentation-suivi-3/figures/titre.png">    </p:cNvPr>
          <p:cNvPicPr>
            <a:picLocks noChangeAspect="1"/>
          </p:cNvPicPr>
          <p:nvPr/>
        </p:nvPicPr>
        <p:blipFill>
          <a:blip r:embed="rId1"/>
          <a:srcRect l="0" r="0" t="0" b="0"/>
          <a:stretch/>
        </p:blipFill>
        <p:spPr>
          <a:xfrm>
            <a:off x="7863840" y="0"/>
            <a:ext cx="4327855" cy="6858000"/>
          </a:xfrm>
          <a:prstGeom prst="rect">
            <a:avLst/>
          </a:prstGeom>
        </p:spPr>
      </p:pic>
      <p:sp>
        <p:nvSpPr>
          <p:cNvPr id="3" name="Shape 0"/>
          <p:cNvSpPr/>
          <p:nvPr/>
        </p:nvSpPr>
        <p:spPr>
          <a:xfrm>
            <a:off x="548640" y="1143000"/>
            <a:ext cx="3566160" cy="329184"/>
          </a:xfrm>
          <a:prstGeom prst="roundRect">
            <a:avLst>
              <a:gd name="adj" fmla="val 50000"/>
            </a:avLst>
          </a:prstGeom>
          <a:solidFill>
            <a:srgbClr val="173D34"/>
          </a:solidFill>
          <a:ln w="12700">
            <a:solidFill>
              <a:srgbClr val="173D34"/>
            </a:solidFill>
            <a:prstDash val="solid"/>
          </a:ln>
        </p:spPr>
        <p:txBody>
          <a:bodyPr/>
          <a:p/>
        </p:txBody>
      </p:sp>
      <p:sp>
        <p:nvSpPr>
          <p:cNvPr id="4" name="Text 1"/>
          <p:cNvSpPr txBox="1"/>
          <p:nvPr/>
        </p:nvSpPr>
        <p:spPr>
          <a:xfrm>
            <a:off x="548640" y="1143000"/>
            <a:ext cx="3566160" cy="329184"/>
          </a:xfrm>
          <a:prstGeom prst="rect">
            <a:avLst/>
          </a:prstGeom>
          <a:noFill/>
          <a:ln/>
        </p:spPr>
        <p:txBody>
          <a:bodyPr wrap="square" lIns="0" tIns="0" rIns="0" bIns="0" rtlCol="0" anchor="ctr"/>
          <a:lstStyle/>
          <a:p>
            <a:pPr algn="ctr" indent="0" marL="0">
              <a:buNone/>
            </a:pPr>
            <a:r>
              <a:rPr lang="en-US" sz="1100" b="1" spc="100" kern="0" dirty="0">
                <a:solidFill>
                  <a:srgbClr val="E9B44C"/>
                </a:solidFill>
                <a:latin typeface="Calibri" pitchFamily="34" charset="0"/>
                <a:ea typeface="Calibri" pitchFamily="34" charset="-122"/>
                <a:cs typeface="Calibri" pitchFamily="34" charset="-120"/>
              </a:rPr>
              <a:t>STAGE ONF GUYANE · SUIVI N° 3</a:t>
            </a:r>
            <a:endParaRPr lang="en-US" sz="1100" dirty="0"/>
          </a:p>
        </p:txBody>
      </p:sp>
      <p:sp>
        <p:nvSpPr>
          <p:cNvPr id="5" name="Text 2"/>
          <p:cNvSpPr txBox="1"/>
          <p:nvPr/>
        </p:nvSpPr>
        <p:spPr>
          <a:xfrm>
            <a:off x="548640" y="1737360"/>
            <a:ext cx="7132320" cy="164592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Détection acoustique d'</a:t>
            </a:r>
            <a:endParaRPr lang="en-US" sz="4200" dirty="0"/>
          </a:p>
          <a:p>
            <a:pPr indent="0" marL="0">
              <a:buNone/>
            </a:pPr>
            <a:r>
              <a:rPr lang="en-US" sz="4200" b="1" i="1" dirty="0">
                <a:solidFill>
                  <a:srgbClr val="FFFFFF"/>
                </a:solidFill>
                <a:latin typeface="Cambria" pitchFamily="34" charset="0"/>
                <a:ea typeface="Cambria" pitchFamily="34" charset="-122"/>
                <a:cs typeface="Cambria" pitchFamily="34" charset="-120"/>
              </a:rPr>
              <a:t>Anomaloglossus blanci</a:t>
            </a:r>
            <a:endParaRPr lang="en-US" sz="4200" dirty="0"/>
          </a:p>
        </p:txBody>
      </p:sp>
      <p:sp>
        <p:nvSpPr>
          <p:cNvPr id="6" name="Text 3"/>
          <p:cNvSpPr txBox="1"/>
          <p:nvPr/>
        </p:nvSpPr>
        <p:spPr>
          <a:xfrm>
            <a:off x="548640" y="3520440"/>
            <a:ext cx="6949440" cy="640080"/>
          </a:xfrm>
          <a:prstGeom prst="rect">
            <a:avLst/>
          </a:prstGeom>
          <a:noFill/>
          <a:ln/>
        </p:spPr>
        <p:txBody>
          <a:bodyPr wrap="square" lIns="0" tIns="0" rIns="0" bIns="0" rtlCol="0" anchor="t"/>
          <a:lstStyle/>
          <a:p>
            <a:pPr indent="0" marL="0">
              <a:buNone/>
            </a:pPr>
            <a:r>
              <a:rPr lang="en-US" sz="1700" dirty="0">
                <a:solidFill>
                  <a:srgbClr val="A7BFB2"/>
                </a:solidFill>
                <a:latin typeface="Calibri" pitchFamily="34" charset="0"/>
                <a:ea typeface="Calibri" pitchFamily="34" charset="-122"/>
                <a:cs typeface="Calibri" pitchFamily="34" charset="-120"/>
              </a:rPr>
              <a:t>Encodage · annotation · poste d'annotation · tableau de bord · la suite : le benchmark sur nos données</a:t>
            </a:r>
            <a:endParaRPr lang="en-US" sz="1700" dirty="0"/>
          </a:p>
        </p:txBody>
      </p:sp>
      <p:sp>
        <p:nvSpPr>
          <p:cNvPr id="7" name="Text 4"/>
          <p:cNvSpPr txBox="1"/>
          <p:nvPr/>
        </p:nvSpPr>
        <p:spPr>
          <a:xfrm>
            <a:off x="548640" y="4343400"/>
            <a:ext cx="5486400" cy="320040"/>
          </a:xfrm>
          <a:prstGeom prst="rect">
            <a:avLst/>
          </a:prstGeom>
          <a:noFill/>
          <a:ln/>
        </p:spPr>
        <p:txBody>
          <a:bodyPr wrap="square" lIns="0" tIns="0" rIns="0" bIns="0" rtlCol="0" anchor="t"/>
          <a:lstStyle/>
          <a:p>
            <a:pPr indent="0" marL="0">
              <a:buNone/>
            </a:pPr>
            <a:r>
              <a:rPr lang="en-US" sz="1300" dirty="0">
                <a:solidFill>
                  <a:srgbClr val="A7BFB2"/>
                </a:solidFill>
                <a:latin typeface="Calibri" pitchFamily="34" charset="0"/>
                <a:ea typeface="Calibri" pitchFamily="34" charset="-122"/>
                <a:cs typeface="Calibri" pitchFamily="34" charset="-120"/>
              </a:rPr>
              <a:t>Léonard Laplace-Palette · 22 octobre 2026</a:t>
            </a:r>
            <a:endParaRPr lang="en-US" sz="1300" dirty="0"/>
          </a:p>
        </p:txBody>
      </p:sp>
      <p:sp>
        <p:nvSpPr>
          <p:cNvPr id="8" name="Text 5"/>
          <p:cNvSpPr txBox="1"/>
          <p:nvPr/>
        </p:nvSpPr>
        <p:spPr>
          <a:xfrm>
            <a:off x="8001000" y="6446520"/>
            <a:ext cx="4023360" cy="274320"/>
          </a:xfrm>
          <a:prstGeom prst="rect">
            <a:avLst/>
          </a:prstGeom>
          <a:noFill/>
          <a:ln/>
        </p:spPr>
        <p:txBody>
          <a:bodyPr wrap="square" lIns="0" tIns="0" rIns="0" bIns="0" rtlCol="0" anchor="t"/>
          <a:lstStyle/>
          <a:p>
            <a:pPr indent="0" marL="0">
              <a:buNone/>
            </a:pPr>
            <a:r>
              <a:rPr lang="en-US" sz="900" i="1" dirty="0">
                <a:solidFill>
                  <a:srgbClr val="FFFFFF"/>
                </a:solidFill>
                <a:latin typeface="Calibri" pitchFamily="34" charset="0"/>
                <a:ea typeface="Calibri" pitchFamily="34" charset="-122"/>
                <a:cs typeface="Calibri" pitchFamily="34" charset="-120"/>
              </a:rPr>
              <a:t>Fond : un chant d'A. blanci enregistré à Mataroni (spectrogramme, 1–9 kHz)</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804672" cy="292608"/>
          </a:xfrm>
          <a:prstGeom prst="roundRect">
            <a:avLst>
              <a:gd name="adj" fmla="val 50000"/>
            </a:avLst>
          </a:prstGeom>
          <a:solidFill>
            <a:srgbClr val="E4EEE8"/>
          </a:solidFill>
          <a:ln w="12700">
            <a:solidFill>
              <a:srgbClr val="E4EEE8"/>
            </a:solidFill>
            <a:prstDash val="solid"/>
          </a:ln>
        </p:spPr>
        <p:txBody>
          <a:bodyPr/>
          <a:p/>
        </p:txBody>
      </p:sp>
      <p:sp>
        <p:nvSpPr>
          <p:cNvPr id="3" name="Text 1"/>
          <p:cNvSpPr txBox="1"/>
          <p:nvPr/>
        </p:nvSpPr>
        <p:spPr>
          <a:xfrm>
            <a:off x="548640" y="365760"/>
            <a:ext cx="804672"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ENCODAGE</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L'encodage touche à sa fin : deux encodeurs sur trois terminés</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2</a:t>
            </a:r>
            <a:endParaRPr lang="en-US" sz="900" dirty="0"/>
          </a:p>
        </p:txBody>
      </p:sp>
      <p:sp>
        <p:nvSpPr>
          <p:cNvPr id="7" name="Text 4"/>
          <p:cNvSpPr txBox="1"/>
          <p:nvPr/>
        </p:nvSpPr>
        <p:spPr>
          <a:xfrm>
            <a:off x="548640" y="1691640"/>
            <a:ext cx="2103120" cy="365760"/>
          </a:xfrm>
          <a:prstGeom prst="rect">
            <a:avLst/>
          </a:prstGeom>
          <a:noFill/>
          <a:ln/>
        </p:spPr>
        <p:txBody>
          <a:bodyPr wrap="square" lIns="0" tIns="0" rIns="0" bIns="0" rtlCol="0" anchor="t"/>
          <a:lstStyle/>
          <a:p>
            <a:pPr indent="0" marL="0">
              <a:buNone/>
            </a:pPr>
            <a:r>
              <a:rPr lang="en-US" sz="1800" b="1" dirty="0">
                <a:solidFill>
                  <a:srgbClr val="1B2A24"/>
                </a:solidFill>
                <a:latin typeface="Calibri" pitchFamily="34" charset="0"/>
                <a:ea typeface="Calibri" pitchFamily="34" charset="-122"/>
                <a:cs typeface="Calibri" pitchFamily="34" charset="-120"/>
              </a:rPr>
              <a:t>Perch 2.0</a:t>
            </a:r>
            <a:endParaRPr lang="en-US" sz="1800" dirty="0"/>
          </a:p>
        </p:txBody>
      </p:sp>
      <p:sp>
        <p:nvSpPr>
          <p:cNvPr id="8" name="Text 5"/>
          <p:cNvSpPr txBox="1"/>
          <p:nvPr/>
        </p:nvSpPr>
        <p:spPr>
          <a:xfrm>
            <a:off x="548640" y="2075688"/>
            <a:ext cx="2194560" cy="548640"/>
          </a:xfrm>
          <a:prstGeom prst="rect">
            <a:avLst/>
          </a:prstGeom>
          <a:noFill/>
          <a:ln/>
        </p:spPr>
        <p:txBody>
          <a:bodyPr wrap="square" lIns="0" tIns="0" rIns="0" bIns="0" rtlCol="0" anchor="t"/>
          <a:lstStyle/>
          <a:p>
            <a:pPr indent="0" marL="0">
              <a:buNone/>
            </a:pPr>
            <a:r>
              <a:rPr lang="en-US" sz="1150" dirty="0">
                <a:solidFill>
                  <a:srgbClr val="5B6B63"/>
                </a:solidFill>
                <a:latin typeface="Calibri" pitchFamily="34" charset="0"/>
                <a:ea typeface="Calibri" pitchFamily="34" charset="-122"/>
                <a:cs typeface="Calibri" pitchFamily="34" charset="-120"/>
              </a:rPr>
              <a:t>meilleur encodeur libre du pré-benchmark AnuraSet</a:t>
            </a:r>
            <a:endParaRPr lang="en-US" sz="1150" dirty="0"/>
          </a:p>
        </p:txBody>
      </p:sp>
      <p:sp>
        <p:nvSpPr>
          <p:cNvPr id="9" name="Shape 6"/>
          <p:cNvSpPr/>
          <p:nvPr/>
        </p:nvSpPr>
        <p:spPr>
          <a:xfrm>
            <a:off x="2880360" y="1801368"/>
            <a:ext cx="4480560" cy="329184"/>
          </a:xfrm>
          <a:prstGeom prst="roundRect">
            <a:avLst>
              <a:gd name="adj" fmla="val 50000"/>
            </a:avLst>
          </a:prstGeom>
          <a:solidFill>
            <a:srgbClr val="E4EEE8"/>
          </a:solidFill>
          <a:ln w="12700">
            <a:solidFill>
              <a:srgbClr val="E4EEE8"/>
            </a:solidFill>
            <a:prstDash val="solid"/>
          </a:ln>
        </p:spPr>
        <p:txBody>
          <a:bodyPr/>
          <a:p/>
        </p:txBody>
      </p:sp>
      <p:sp>
        <p:nvSpPr>
          <p:cNvPr id="10" name="Shape 7"/>
          <p:cNvSpPr/>
          <p:nvPr/>
        </p:nvSpPr>
        <p:spPr>
          <a:xfrm>
            <a:off x="2880360" y="1801368"/>
            <a:ext cx="4480560" cy="329184"/>
          </a:xfrm>
          <a:prstGeom prst="roundRect">
            <a:avLst>
              <a:gd name="adj" fmla="val 50000"/>
            </a:avLst>
          </a:prstGeom>
          <a:solidFill>
            <a:srgbClr val="2E8B57"/>
          </a:solidFill>
          <a:ln w="12700">
            <a:solidFill>
              <a:srgbClr val="2E8B57"/>
            </a:solidFill>
            <a:prstDash val="solid"/>
          </a:ln>
        </p:spPr>
        <p:txBody>
          <a:bodyPr/>
          <a:p/>
        </p:txBody>
      </p:sp>
      <p:sp>
        <p:nvSpPr>
          <p:cNvPr id="11" name="Text 8"/>
          <p:cNvSpPr txBox="1"/>
          <p:nvPr/>
        </p:nvSpPr>
        <p:spPr>
          <a:xfrm>
            <a:off x="2880360" y="2203704"/>
            <a:ext cx="4480560" cy="320040"/>
          </a:xfrm>
          <a:prstGeom prst="rect">
            <a:avLst/>
          </a:prstGeom>
          <a:noFill/>
          <a:ln/>
        </p:spPr>
        <p:txBody>
          <a:bodyPr wrap="square" lIns="0" tIns="0" rIns="0" bIns="0" rtlCol="0" anchor="t"/>
          <a:lstStyle/>
          <a:p>
            <a:pPr indent="0" marL="0">
              <a:buNone/>
            </a:pPr>
            <a:r>
              <a:rPr lang="en-US" sz="1300" b="1" dirty="0">
                <a:solidFill>
                  <a:srgbClr val="2A7F72"/>
                </a:solidFill>
                <a:latin typeface="Calibri" pitchFamily="34" charset="0"/>
                <a:ea typeface="Calibri" pitchFamily="34" charset="-122"/>
                <a:cs typeface="Calibri" pitchFamily="34" charset="-120"/>
              </a:rPr>
              <a:t>61 h · terminé</a:t>
            </a:r>
            <a:endParaRPr lang="en-US" sz="1300" dirty="0"/>
          </a:p>
        </p:txBody>
      </p:sp>
      <p:sp>
        <p:nvSpPr>
          <p:cNvPr id="12" name="Text 9"/>
          <p:cNvSpPr txBox="1"/>
          <p:nvPr/>
        </p:nvSpPr>
        <p:spPr>
          <a:xfrm>
            <a:off x="548640" y="2807208"/>
            <a:ext cx="2103120" cy="365760"/>
          </a:xfrm>
          <a:prstGeom prst="rect">
            <a:avLst/>
          </a:prstGeom>
          <a:noFill/>
          <a:ln/>
        </p:spPr>
        <p:txBody>
          <a:bodyPr wrap="square" lIns="0" tIns="0" rIns="0" bIns="0" rtlCol="0" anchor="t"/>
          <a:lstStyle/>
          <a:p>
            <a:pPr indent="0" marL="0">
              <a:buNone/>
            </a:pPr>
            <a:r>
              <a:rPr lang="en-US" sz="1800" b="1" dirty="0">
                <a:solidFill>
                  <a:srgbClr val="1B2A24"/>
                </a:solidFill>
                <a:latin typeface="Calibri" pitchFamily="34" charset="0"/>
                <a:ea typeface="Calibri" pitchFamily="34" charset="-122"/>
                <a:cs typeface="Calibri" pitchFamily="34" charset="-120"/>
              </a:rPr>
              <a:t>BirdNET 2.4</a:t>
            </a:r>
            <a:endParaRPr lang="en-US" sz="1800" dirty="0"/>
          </a:p>
        </p:txBody>
      </p:sp>
      <p:sp>
        <p:nvSpPr>
          <p:cNvPr id="13" name="Text 10"/>
          <p:cNvSpPr txBox="1"/>
          <p:nvPr/>
        </p:nvSpPr>
        <p:spPr>
          <a:xfrm>
            <a:off x="548640" y="3191256"/>
            <a:ext cx="2194560" cy="548640"/>
          </a:xfrm>
          <a:prstGeom prst="rect">
            <a:avLst/>
          </a:prstGeom>
          <a:noFill/>
          <a:ln/>
        </p:spPr>
        <p:txBody>
          <a:bodyPr wrap="square" lIns="0" tIns="0" rIns="0" bIns="0" rtlCol="0" anchor="t"/>
          <a:lstStyle/>
          <a:p>
            <a:pPr indent="0" marL="0">
              <a:buNone/>
            </a:pPr>
            <a:r>
              <a:rPr lang="en-US" sz="1150" dirty="0">
                <a:solidFill>
                  <a:srgbClr val="5B6B63"/>
                </a:solidFill>
                <a:latin typeface="Calibri" pitchFamily="34" charset="0"/>
                <a:ea typeface="Calibri" pitchFamily="34" charset="-122"/>
                <a:cs typeface="Calibri" pitchFamily="34" charset="-120"/>
              </a:rPr>
              <a:t>le modèle que les naturalistes connaissent</a:t>
            </a:r>
            <a:endParaRPr lang="en-US" sz="1150" dirty="0"/>
          </a:p>
        </p:txBody>
      </p:sp>
      <p:sp>
        <p:nvSpPr>
          <p:cNvPr id="14" name="Shape 11"/>
          <p:cNvSpPr/>
          <p:nvPr/>
        </p:nvSpPr>
        <p:spPr>
          <a:xfrm>
            <a:off x="2880360" y="2916936"/>
            <a:ext cx="4480560" cy="329184"/>
          </a:xfrm>
          <a:prstGeom prst="roundRect">
            <a:avLst>
              <a:gd name="adj" fmla="val 50000"/>
            </a:avLst>
          </a:prstGeom>
          <a:solidFill>
            <a:srgbClr val="E4EEE8"/>
          </a:solidFill>
          <a:ln w="12700">
            <a:solidFill>
              <a:srgbClr val="E4EEE8"/>
            </a:solidFill>
            <a:prstDash val="solid"/>
          </a:ln>
        </p:spPr>
        <p:txBody>
          <a:bodyPr/>
          <a:p/>
        </p:txBody>
      </p:sp>
      <p:sp>
        <p:nvSpPr>
          <p:cNvPr id="15" name="Shape 12"/>
          <p:cNvSpPr/>
          <p:nvPr/>
        </p:nvSpPr>
        <p:spPr>
          <a:xfrm>
            <a:off x="2880360" y="2916936"/>
            <a:ext cx="4480560" cy="329184"/>
          </a:xfrm>
          <a:prstGeom prst="roundRect">
            <a:avLst>
              <a:gd name="adj" fmla="val 50000"/>
            </a:avLst>
          </a:prstGeom>
          <a:solidFill>
            <a:srgbClr val="3E7CB1"/>
          </a:solidFill>
          <a:ln w="12700">
            <a:solidFill>
              <a:srgbClr val="3E7CB1"/>
            </a:solidFill>
            <a:prstDash val="solid"/>
          </a:ln>
        </p:spPr>
        <p:txBody>
          <a:bodyPr/>
          <a:p/>
        </p:txBody>
      </p:sp>
      <p:sp>
        <p:nvSpPr>
          <p:cNvPr id="16" name="Text 13"/>
          <p:cNvSpPr txBox="1"/>
          <p:nvPr/>
        </p:nvSpPr>
        <p:spPr>
          <a:xfrm>
            <a:off x="2880360" y="3319272"/>
            <a:ext cx="4480560" cy="320040"/>
          </a:xfrm>
          <a:prstGeom prst="rect">
            <a:avLst/>
          </a:prstGeom>
          <a:noFill/>
          <a:ln/>
        </p:spPr>
        <p:txBody>
          <a:bodyPr wrap="square" lIns="0" tIns="0" rIns="0" bIns="0" rtlCol="0" anchor="t"/>
          <a:lstStyle/>
          <a:p>
            <a:pPr indent="0" marL="0">
              <a:buNone/>
            </a:pPr>
            <a:r>
              <a:rPr lang="en-US" sz="1300" b="1" dirty="0">
                <a:solidFill>
                  <a:srgbClr val="2A7F72"/>
                </a:solidFill>
                <a:latin typeface="Calibri" pitchFamily="34" charset="0"/>
                <a:ea typeface="Calibri" pitchFamily="34" charset="-122"/>
                <a:cs typeface="Calibri" pitchFamily="34" charset="-120"/>
              </a:rPr>
              <a:t>52 h · terminé le 11 octobre</a:t>
            </a:r>
            <a:endParaRPr lang="en-US" sz="1300" dirty="0"/>
          </a:p>
        </p:txBody>
      </p:sp>
      <p:sp>
        <p:nvSpPr>
          <p:cNvPr id="17" name="Text 14"/>
          <p:cNvSpPr txBox="1"/>
          <p:nvPr/>
        </p:nvSpPr>
        <p:spPr>
          <a:xfrm>
            <a:off x="548640" y="3922776"/>
            <a:ext cx="2103120" cy="365760"/>
          </a:xfrm>
          <a:prstGeom prst="rect">
            <a:avLst/>
          </a:prstGeom>
          <a:noFill/>
          <a:ln/>
        </p:spPr>
        <p:txBody>
          <a:bodyPr wrap="square" lIns="0" tIns="0" rIns="0" bIns="0" rtlCol="0" anchor="t"/>
          <a:lstStyle/>
          <a:p>
            <a:pPr indent="0" marL="0">
              <a:buNone/>
            </a:pPr>
            <a:r>
              <a:rPr lang="en-US" sz="1800" b="1" dirty="0">
                <a:solidFill>
                  <a:srgbClr val="1B2A24"/>
                </a:solidFill>
                <a:latin typeface="Calibri" pitchFamily="34" charset="0"/>
                <a:ea typeface="Calibri" pitchFamily="34" charset="-122"/>
                <a:cs typeface="Calibri" pitchFamily="34" charset="-120"/>
              </a:rPr>
              <a:t>BirdNET 3.0</a:t>
            </a:r>
            <a:endParaRPr lang="en-US" sz="1800" dirty="0"/>
          </a:p>
        </p:txBody>
      </p:sp>
      <p:sp>
        <p:nvSpPr>
          <p:cNvPr id="18" name="Text 15"/>
          <p:cNvSpPr txBox="1"/>
          <p:nvPr/>
        </p:nvSpPr>
        <p:spPr>
          <a:xfrm>
            <a:off x="548640" y="4306824"/>
            <a:ext cx="2194560" cy="548640"/>
          </a:xfrm>
          <a:prstGeom prst="rect">
            <a:avLst/>
          </a:prstGeom>
          <a:noFill/>
          <a:ln/>
        </p:spPr>
        <p:txBody>
          <a:bodyPr wrap="square" lIns="0" tIns="0" rIns="0" bIns="0" rtlCol="0" anchor="t"/>
          <a:lstStyle/>
          <a:p>
            <a:pPr indent="0" marL="0">
              <a:buNone/>
            </a:pPr>
            <a:r>
              <a:rPr lang="en-US" sz="1150" dirty="0">
                <a:solidFill>
                  <a:srgbClr val="5B6B63"/>
                </a:solidFill>
                <a:latin typeface="Calibri" pitchFamily="34" charset="0"/>
                <a:ea typeface="Calibri" pitchFamily="34" charset="-122"/>
                <a:cs typeface="Calibri" pitchFamily="34" charset="-120"/>
              </a:rPr>
              <a:t>nouvelle version, ≈ 11 000 espèces</a:t>
            </a:r>
            <a:endParaRPr lang="en-US" sz="1150" dirty="0"/>
          </a:p>
        </p:txBody>
      </p:sp>
      <p:sp>
        <p:nvSpPr>
          <p:cNvPr id="19" name="Shape 16"/>
          <p:cNvSpPr/>
          <p:nvPr/>
        </p:nvSpPr>
        <p:spPr>
          <a:xfrm>
            <a:off x="2880360" y="4032504"/>
            <a:ext cx="4480560" cy="329184"/>
          </a:xfrm>
          <a:prstGeom prst="roundRect">
            <a:avLst>
              <a:gd name="adj" fmla="val 50000"/>
            </a:avLst>
          </a:prstGeom>
          <a:solidFill>
            <a:srgbClr val="E4EEE8"/>
          </a:solidFill>
          <a:ln w="12700">
            <a:solidFill>
              <a:srgbClr val="E4EEE8"/>
            </a:solidFill>
            <a:prstDash val="solid"/>
          </a:ln>
        </p:spPr>
        <p:txBody>
          <a:bodyPr/>
          <a:p/>
        </p:txBody>
      </p:sp>
      <p:sp>
        <p:nvSpPr>
          <p:cNvPr id="20" name="Shape 17"/>
          <p:cNvSpPr/>
          <p:nvPr/>
        </p:nvSpPr>
        <p:spPr>
          <a:xfrm>
            <a:off x="2880360" y="4032504"/>
            <a:ext cx="1638787" cy="329184"/>
          </a:xfrm>
          <a:prstGeom prst="roundRect">
            <a:avLst>
              <a:gd name="adj" fmla="val 50000"/>
            </a:avLst>
          </a:prstGeom>
          <a:solidFill>
            <a:srgbClr val="D9822B"/>
          </a:solidFill>
          <a:ln w="12700">
            <a:solidFill>
              <a:srgbClr val="D9822B"/>
            </a:solidFill>
            <a:prstDash val="solid"/>
          </a:ln>
        </p:spPr>
        <p:txBody>
          <a:bodyPr/>
          <a:p/>
        </p:txBody>
      </p:sp>
      <p:sp>
        <p:nvSpPr>
          <p:cNvPr id="21" name="Text 18"/>
          <p:cNvSpPr txBox="1"/>
          <p:nvPr/>
        </p:nvSpPr>
        <p:spPr>
          <a:xfrm>
            <a:off x="2880360" y="4434840"/>
            <a:ext cx="4480560" cy="320040"/>
          </a:xfrm>
          <a:prstGeom prst="rect">
            <a:avLst/>
          </a:prstGeom>
          <a:noFill/>
          <a:ln/>
        </p:spPr>
        <p:txBody>
          <a:bodyPr wrap="square" lIns="0" tIns="0" rIns="0" bIns="0" rtlCol="0" anchor="t"/>
          <a:lstStyle/>
          <a:p>
            <a:pPr indent="0" marL="0">
              <a:buNone/>
            </a:pPr>
            <a:r>
              <a:rPr lang="en-US" sz="1300" b="1" dirty="0">
                <a:solidFill>
                  <a:srgbClr val="8A5A00"/>
                </a:solidFill>
                <a:latin typeface="Calibri" pitchFamily="34" charset="0"/>
                <a:ea typeface="Calibri" pitchFamily="34" charset="-122"/>
                <a:cs typeface="Calibri" pitchFamily="34" charset="-120"/>
              </a:rPr>
              <a:t>37 % au 21 octobre · ≈ 129 h de calcul restantes</a:t>
            </a:r>
            <a:endParaRPr lang="en-US" sz="1300" dirty="0"/>
          </a:p>
        </p:txBody>
      </p:sp>
      <p:sp>
        <p:nvSpPr>
          <p:cNvPr id="22" name="Shape 19"/>
          <p:cNvSpPr/>
          <p:nvPr/>
        </p:nvSpPr>
        <p:spPr>
          <a:xfrm>
            <a:off x="7772400" y="1691640"/>
            <a:ext cx="3867912" cy="960120"/>
          </a:xfrm>
          <a:prstGeom prst="roundRect">
            <a:avLst>
              <a:gd name="adj" fmla="val 9524"/>
            </a:avLst>
          </a:prstGeom>
          <a:solidFill>
            <a:srgbClr val="F3F7F4"/>
          </a:solidFill>
          <a:ln w="12700">
            <a:solidFill>
              <a:srgbClr val="F3F7F4"/>
            </a:solidFill>
            <a:prstDash val="solid"/>
          </a:ln>
        </p:spPr>
        <p:txBody>
          <a:bodyPr/>
          <a:p/>
        </p:txBody>
      </p:sp>
      <p:sp>
        <p:nvSpPr>
          <p:cNvPr id="23" name="Text 20"/>
          <p:cNvSpPr txBox="1"/>
          <p:nvPr/>
        </p:nvSpPr>
        <p:spPr>
          <a:xfrm>
            <a:off x="7955280" y="1783080"/>
            <a:ext cx="3566160" cy="411480"/>
          </a:xfrm>
          <a:prstGeom prst="rect">
            <a:avLst/>
          </a:prstGeom>
          <a:noFill/>
          <a:ln/>
        </p:spPr>
        <p:txBody>
          <a:bodyPr wrap="square" lIns="0" tIns="0" rIns="0" bIns="0" rtlCol="0" anchor="t"/>
          <a:lstStyle/>
          <a:p>
            <a:pPr indent="0" marL="0">
              <a:buNone/>
            </a:pPr>
            <a:r>
              <a:rPr lang="en-US" sz="2100" b="1" dirty="0">
                <a:solidFill>
                  <a:srgbClr val="8A5A00"/>
                </a:solidFill>
                <a:latin typeface="Cambria" pitchFamily="34" charset="0"/>
                <a:ea typeface="Cambria" pitchFamily="34" charset="-122"/>
                <a:cs typeface="Cambria" pitchFamily="34" charset="-120"/>
              </a:rPr>
              <a:t>95 214</a:t>
            </a:r>
            <a:endParaRPr lang="en-US" sz="2100" dirty="0"/>
          </a:p>
        </p:txBody>
      </p:sp>
      <p:sp>
        <p:nvSpPr>
          <p:cNvPr id="24" name="Text 21"/>
          <p:cNvSpPr txBox="1"/>
          <p:nvPr/>
        </p:nvSpPr>
        <p:spPr>
          <a:xfrm>
            <a:off x="7955280" y="2203704"/>
            <a:ext cx="3566160" cy="411480"/>
          </a:xfrm>
          <a:prstGeom prst="rect">
            <a:avLst/>
          </a:prstGeom>
          <a:noFill/>
          <a:ln/>
        </p:spPr>
        <p:txBody>
          <a:bodyPr wrap="square" lIns="0" tIns="0" rIns="0" bIns="0" rtlCol="0" anchor="t"/>
          <a:lstStyle/>
          <a:p>
            <a:pPr indent="0" marL="0">
              <a:buNone/>
            </a:pPr>
            <a:r>
              <a:rPr lang="en-US" sz="1200" dirty="0">
                <a:solidFill>
                  <a:srgbClr val="5B6B63"/>
                </a:solidFill>
                <a:latin typeface="Calibri" pitchFamily="34" charset="0"/>
                <a:ea typeface="Calibri" pitchFamily="34" charset="-122"/>
                <a:cs typeface="Calibri" pitchFamily="34" charset="-120"/>
              </a:rPr>
              <a:t>enregistrements de 2 min à encoder, par encodeur</a:t>
            </a:r>
            <a:endParaRPr lang="en-US" sz="1200" dirty="0"/>
          </a:p>
        </p:txBody>
      </p:sp>
      <p:sp>
        <p:nvSpPr>
          <p:cNvPr id="25" name="Shape 22"/>
          <p:cNvSpPr/>
          <p:nvPr/>
        </p:nvSpPr>
        <p:spPr>
          <a:xfrm>
            <a:off x="7772400" y="2807208"/>
            <a:ext cx="3867912" cy="960120"/>
          </a:xfrm>
          <a:prstGeom prst="roundRect">
            <a:avLst>
              <a:gd name="adj" fmla="val 9524"/>
            </a:avLst>
          </a:prstGeom>
          <a:solidFill>
            <a:srgbClr val="0E2A24"/>
          </a:solidFill>
          <a:ln w="12700">
            <a:solidFill>
              <a:srgbClr val="0E2A24"/>
            </a:solidFill>
            <a:prstDash val="solid"/>
          </a:ln>
        </p:spPr>
        <p:txBody>
          <a:bodyPr/>
          <a:p/>
        </p:txBody>
      </p:sp>
      <p:sp>
        <p:nvSpPr>
          <p:cNvPr id="26" name="Text 23"/>
          <p:cNvSpPr txBox="1"/>
          <p:nvPr/>
        </p:nvSpPr>
        <p:spPr>
          <a:xfrm>
            <a:off x="7955280" y="2898648"/>
            <a:ext cx="3566160" cy="411480"/>
          </a:xfrm>
          <a:prstGeom prst="rect">
            <a:avLst/>
          </a:prstGeom>
          <a:noFill/>
          <a:ln/>
        </p:spPr>
        <p:txBody>
          <a:bodyPr wrap="square" lIns="0" tIns="0" rIns="0" bIns="0" rtlCol="0" anchor="t"/>
          <a:lstStyle/>
          <a:p>
            <a:pPr indent="0" marL="0">
              <a:buNone/>
            </a:pPr>
            <a:r>
              <a:rPr lang="en-US" sz="2100" b="1" dirty="0">
                <a:solidFill>
                  <a:srgbClr val="E9B44C"/>
                </a:solidFill>
                <a:latin typeface="Cambria" pitchFamily="34" charset="0"/>
                <a:ea typeface="Cambria" pitchFamily="34" charset="-122"/>
                <a:cs typeface="Cambria" pitchFamily="34" charset="-120"/>
              </a:rPr>
              <a:t>≈ 316 h</a:t>
            </a:r>
            <a:endParaRPr lang="en-US" sz="2100" dirty="0"/>
          </a:p>
        </p:txBody>
      </p:sp>
      <p:sp>
        <p:nvSpPr>
          <p:cNvPr id="27" name="Text 24"/>
          <p:cNvSpPr txBox="1"/>
          <p:nvPr/>
        </p:nvSpPr>
        <p:spPr>
          <a:xfrm>
            <a:off x="7955280" y="3319272"/>
            <a:ext cx="356616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de calcul pour les trois, sur un i5 sans carte graphique</a:t>
            </a:r>
            <a:endParaRPr lang="en-US" sz="1200" dirty="0"/>
          </a:p>
        </p:txBody>
      </p:sp>
      <p:sp>
        <p:nvSpPr>
          <p:cNvPr id="28" name="Shape 25"/>
          <p:cNvSpPr/>
          <p:nvPr/>
        </p:nvSpPr>
        <p:spPr>
          <a:xfrm>
            <a:off x="7772400" y="3922776"/>
            <a:ext cx="3867912" cy="960120"/>
          </a:xfrm>
          <a:prstGeom prst="roundRect">
            <a:avLst>
              <a:gd name="adj" fmla="val 9524"/>
            </a:avLst>
          </a:prstGeom>
          <a:solidFill>
            <a:srgbClr val="F3F7F4"/>
          </a:solidFill>
          <a:ln w="12700">
            <a:solidFill>
              <a:srgbClr val="F3F7F4"/>
            </a:solidFill>
            <a:prstDash val="solid"/>
          </a:ln>
        </p:spPr>
        <p:txBody>
          <a:bodyPr/>
          <a:p/>
        </p:txBody>
      </p:sp>
      <p:sp>
        <p:nvSpPr>
          <p:cNvPr id="29" name="Text 26"/>
          <p:cNvSpPr txBox="1"/>
          <p:nvPr/>
        </p:nvSpPr>
        <p:spPr>
          <a:xfrm>
            <a:off x="7955280" y="4014216"/>
            <a:ext cx="3566160" cy="411480"/>
          </a:xfrm>
          <a:prstGeom prst="rect">
            <a:avLst/>
          </a:prstGeom>
          <a:noFill/>
          <a:ln/>
        </p:spPr>
        <p:txBody>
          <a:bodyPr wrap="square" lIns="0" tIns="0" rIns="0" bIns="0" rtlCol="0" anchor="t"/>
          <a:lstStyle/>
          <a:p>
            <a:pPr indent="0" marL="0">
              <a:buNone/>
            </a:pPr>
            <a:r>
              <a:rPr lang="en-US" sz="2100" b="1" dirty="0">
                <a:solidFill>
                  <a:srgbClr val="8A5A00"/>
                </a:solidFill>
                <a:latin typeface="Cambria" pitchFamily="34" charset="0"/>
                <a:ea typeface="Cambria" pitchFamily="34" charset="-122"/>
                <a:cs typeface="Cambria" pitchFamily="34" charset="-120"/>
              </a:rPr>
              <a:t>nuits, week-ends</a:t>
            </a:r>
            <a:endParaRPr lang="en-US" sz="2100" dirty="0"/>
          </a:p>
        </p:txBody>
      </p:sp>
      <p:sp>
        <p:nvSpPr>
          <p:cNvPr id="30" name="Text 27"/>
          <p:cNvSpPr txBox="1"/>
          <p:nvPr/>
        </p:nvSpPr>
        <p:spPr>
          <a:xfrm>
            <a:off x="7955280" y="4434840"/>
            <a:ext cx="3566160" cy="411480"/>
          </a:xfrm>
          <a:prstGeom prst="rect">
            <a:avLst/>
          </a:prstGeom>
          <a:noFill/>
          <a:ln/>
        </p:spPr>
        <p:txBody>
          <a:bodyPr wrap="square" lIns="0" tIns="0" rIns="0" bIns="0" rtlCol="0" anchor="t"/>
          <a:lstStyle/>
          <a:p>
            <a:pPr indent="0" marL="0">
              <a:buNone/>
            </a:pPr>
            <a:r>
              <a:rPr lang="en-US" sz="1200" dirty="0">
                <a:solidFill>
                  <a:srgbClr val="5B6B63"/>
                </a:solidFill>
                <a:latin typeface="Calibri" pitchFamily="34" charset="0"/>
                <a:ea typeface="Calibri" pitchFamily="34" charset="-122"/>
                <a:cs typeface="Calibri" pitchFamily="34" charset="-120"/>
              </a:rPr>
              <a:t>une boucle qui reprend où elle s'était arrêtée, et s'arrête net si le disque est débranché</a:t>
            </a:r>
            <a:endParaRPr lang="en-US" sz="1200" dirty="0"/>
          </a:p>
        </p:txBody>
      </p:sp>
      <p:sp>
        <p:nvSpPr>
          <p:cNvPr id="31" name="Shape 28"/>
          <p:cNvSpPr/>
          <p:nvPr/>
        </p:nvSpPr>
        <p:spPr>
          <a:xfrm>
            <a:off x="548640" y="5257800"/>
            <a:ext cx="11094415" cy="1005840"/>
          </a:xfrm>
          <a:prstGeom prst="roundRect">
            <a:avLst>
              <a:gd name="adj" fmla="val 9091"/>
            </a:avLst>
          </a:prstGeom>
          <a:solidFill>
            <a:srgbClr val="E4EEE8"/>
          </a:solidFill>
          <a:ln w="12700">
            <a:solidFill>
              <a:srgbClr val="E4EEE8"/>
            </a:solidFill>
            <a:prstDash val="solid"/>
          </a:ln>
        </p:spPr>
        <p:txBody>
          <a:bodyPr/>
          <a:p/>
        </p:txBody>
      </p:sp>
      <p:sp>
        <p:nvSpPr>
          <p:cNvPr id="32" name="Text 29"/>
          <p:cNvSpPr txBox="1"/>
          <p:nvPr/>
        </p:nvSpPr>
        <p:spPr>
          <a:xfrm>
            <a:off x="822960" y="5257800"/>
            <a:ext cx="10545775" cy="1005840"/>
          </a:xfrm>
          <a:prstGeom prst="rect">
            <a:avLst/>
          </a:prstGeom>
          <a:noFill/>
          <a:ln/>
        </p:spPr>
        <p:txBody>
          <a:bodyPr wrap="square" lIns="0" tIns="0" rIns="0" bIns="0" rtlCol="0" anchor="ctr"/>
          <a:lstStyle/>
          <a:p>
            <a:pPr indent="0" marL="0">
              <a:buNone/>
            </a:pPr>
            <a:r>
              <a:rPr lang="en-US" sz="1450" b="1" dirty="0">
                <a:solidFill>
                  <a:srgbClr val="2A7F72"/>
                </a:solidFill>
                <a:latin typeface="Calibri" pitchFamily="34" charset="0"/>
                <a:ea typeface="Calibri" pitchFamily="34" charset="-122"/>
                <a:cs typeface="Calibri" pitchFamily="34" charset="-120"/>
              </a:rPr>
              <a:t>Pourquoi c'est long : </a:t>
            </a:r>
            <a:pPr indent="0" marL="0">
              <a:buNone/>
            </a:pPr>
            <a:r>
              <a:rPr lang="en-US" sz="1450" dirty="0">
                <a:solidFill>
                  <a:srgbClr val="1B2A24"/>
                </a:solidFill>
                <a:latin typeface="Calibri" pitchFamily="34" charset="0"/>
                <a:ea typeface="Calibri" pitchFamily="34" charset="-122"/>
                <a:cs typeface="Calibri" pitchFamily="34" charset="-120"/>
              </a:rPr>
              <a:t>chaque encodeur relit tout le corpus, fenêtre par fenêtre. On ne le fait qu'une fois : ensuite, entraîner une tête sur ces vecteurs prend quelques secondes, ce que l'ONF pourra refaire seul.</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960120" cy="292608"/>
          </a:xfrm>
          <a:prstGeom prst="roundRect">
            <a:avLst>
              <a:gd name="adj" fmla="val 50000"/>
            </a:avLst>
          </a:prstGeom>
          <a:solidFill>
            <a:srgbClr val="E4EEE8"/>
          </a:solidFill>
          <a:ln w="12700">
            <a:solidFill>
              <a:srgbClr val="E4EEE8"/>
            </a:solidFill>
            <a:prstDash val="solid"/>
          </a:ln>
        </p:spPr>
        <p:txBody>
          <a:bodyPr/>
          <a:p/>
        </p:txBody>
      </p:sp>
      <p:sp>
        <p:nvSpPr>
          <p:cNvPr id="3" name="Text 1"/>
          <p:cNvSpPr txBox="1"/>
          <p:nvPr/>
        </p:nvSpPr>
        <p:spPr>
          <a:xfrm>
            <a:off x="548640" y="365760"/>
            <a:ext cx="960120"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ANNOTATION</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Le premier lot est entièrement annoté</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3</a:t>
            </a:r>
            <a:endParaRPr lang="en-US" sz="900" dirty="0"/>
          </a:p>
        </p:txBody>
      </p:sp>
      <p:sp>
        <p:nvSpPr>
          <p:cNvPr id="7" name="Text 4"/>
          <p:cNvSpPr txBox="1"/>
          <p:nvPr/>
        </p:nvSpPr>
        <p:spPr>
          <a:xfrm>
            <a:off x="548640" y="1645920"/>
            <a:ext cx="2377440" cy="365760"/>
          </a:xfrm>
          <a:prstGeom prst="rect">
            <a:avLst/>
          </a:prstGeom>
          <a:noFill/>
          <a:ln/>
        </p:spPr>
        <p:txBody>
          <a:bodyPr wrap="square" lIns="0" tIns="0" rIns="0" bIns="0" rtlCol="0" anchor="t"/>
          <a:lstStyle/>
          <a:p>
            <a:pPr indent="0" marL="0">
              <a:buNone/>
            </a:pPr>
            <a:r>
              <a:rPr lang="en-US" sz="1800" b="1" dirty="0">
                <a:solidFill>
                  <a:srgbClr val="1B2A24"/>
                </a:solidFill>
                <a:latin typeface="Calibri" pitchFamily="34" charset="0"/>
                <a:ea typeface="Calibri" pitchFamily="34" charset="-122"/>
                <a:cs typeface="Calibri" pitchFamily="34" charset="-120"/>
              </a:rPr>
              <a:t>Lot 1 · 2026</a:t>
            </a:r>
            <a:endParaRPr lang="en-US" sz="1800" dirty="0"/>
          </a:p>
        </p:txBody>
      </p:sp>
      <p:sp>
        <p:nvSpPr>
          <p:cNvPr id="8" name="Text 5"/>
          <p:cNvSpPr txBox="1"/>
          <p:nvPr/>
        </p:nvSpPr>
        <p:spPr>
          <a:xfrm>
            <a:off x="548640" y="2029968"/>
            <a:ext cx="2468880" cy="548640"/>
          </a:xfrm>
          <a:prstGeom prst="rect">
            <a:avLst/>
          </a:prstGeom>
          <a:noFill/>
          <a:ln/>
        </p:spPr>
        <p:txBody>
          <a:bodyPr wrap="square" lIns="0" tIns="0" rIns="0" bIns="0" rtlCol="0" anchor="t"/>
          <a:lstStyle/>
          <a:p>
            <a:pPr indent="0" marL="0">
              <a:buNone/>
            </a:pPr>
            <a:r>
              <a:rPr lang="en-US" sz="1150" dirty="0">
                <a:solidFill>
                  <a:srgbClr val="5B6B63"/>
                </a:solidFill>
                <a:latin typeface="Calibri" pitchFamily="34" charset="0"/>
                <a:ea typeface="Calibri" pitchFamily="34" charset="-122"/>
                <a:cs typeface="Calibri" pitchFamily="34" charset="-120"/>
              </a:rPr>
              <a:t>3 par micro, sur les 5 sites 2026</a:t>
            </a:r>
            <a:endParaRPr lang="en-US" sz="1150" dirty="0"/>
          </a:p>
        </p:txBody>
      </p:sp>
      <p:sp>
        <p:nvSpPr>
          <p:cNvPr id="9" name="Shape 6"/>
          <p:cNvSpPr/>
          <p:nvPr/>
        </p:nvSpPr>
        <p:spPr>
          <a:xfrm>
            <a:off x="3108960" y="1755648"/>
            <a:ext cx="4251960" cy="329184"/>
          </a:xfrm>
          <a:prstGeom prst="roundRect">
            <a:avLst>
              <a:gd name="adj" fmla="val 50000"/>
            </a:avLst>
          </a:prstGeom>
          <a:solidFill>
            <a:srgbClr val="E4EEE8"/>
          </a:solidFill>
          <a:ln w="12700">
            <a:solidFill>
              <a:srgbClr val="E4EEE8"/>
            </a:solidFill>
            <a:prstDash val="solid"/>
          </a:ln>
        </p:spPr>
        <p:txBody>
          <a:bodyPr/>
          <a:p/>
        </p:txBody>
      </p:sp>
      <p:sp>
        <p:nvSpPr>
          <p:cNvPr id="10" name="Shape 7"/>
          <p:cNvSpPr/>
          <p:nvPr/>
        </p:nvSpPr>
        <p:spPr>
          <a:xfrm>
            <a:off x="3108960" y="1755648"/>
            <a:ext cx="4251960" cy="329184"/>
          </a:xfrm>
          <a:prstGeom prst="roundRect">
            <a:avLst>
              <a:gd name="adj" fmla="val 50000"/>
            </a:avLst>
          </a:prstGeom>
          <a:solidFill>
            <a:srgbClr val="2E8B57"/>
          </a:solidFill>
          <a:ln w="12700">
            <a:solidFill>
              <a:srgbClr val="2E8B57"/>
            </a:solidFill>
            <a:prstDash val="solid"/>
          </a:ln>
        </p:spPr>
        <p:txBody>
          <a:bodyPr/>
          <a:p/>
        </p:txBody>
      </p:sp>
      <p:sp>
        <p:nvSpPr>
          <p:cNvPr id="11" name="Text 8"/>
          <p:cNvSpPr txBox="1"/>
          <p:nvPr/>
        </p:nvSpPr>
        <p:spPr>
          <a:xfrm>
            <a:off x="3108960" y="2157984"/>
            <a:ext cx="4251960" cy="320040"/>
          </a:xfrm>
          <a:prstGeom prst="rect">
            <a:avLst/>
          </a:prstGeom>
          <a:noFill/>
          <a:ln/>
        </p:spPr>
        <p:txBody>
          <a:bodyPr wrap="square" lIns="0" tIns="0" rIns="0" bIns="0" rtlCol="0" anchor="t"/>
          <a:lstStyle/>
          <a:p>
            <a:pPr indent="0" marL="0">
              <a:buNone/>
            </a:pPr>
            <a:r>
              <a:rPr lang="en-US" sz="1300" b="1" dirty="0">
                <a:solidFill>
                  <a:srgbClr val="8A5A00"/>
                </a:solidFill>
                <a:latin typeface="Calibri" pitchFamily="34" charset="0"/>
                <a:ea typeface="Calibri" pitchFamily="34" charset="-122"/>
                <a:cs typeface="Calibri" pitchFamily="34" charset="-120"/>
              </a:rPr>
              <a:t>274 / 274 extraits de 30 s</a:t>
            </a:r>
            <a:endParaRPr lang="en-US" sz="1300" dirty="0"/>
          </a:p>
        </p:txBody>
      </p:sp>
      <p:sp>
        <p:nvSpPr>
          <p:cNvPr id="12" name="Text 9"/>
          <p:cNvSpPr txBox="1"/>
          <p:nvPr/>
        </p:nvSpPr>
        <p:spPr>
          <a:xfrm>
            <a:off x="548640" y="2788920"/>
            <a:ext cx="2377440" cy="365760"/>
          </a:xfrm>
          <a:prstGeom prst="rect">
            <a:avLst/>
          </a:prstGeom>
          <a:noFill/>
          <a:ln/>
        </p:spPr>
        <p:txBody>
          <a:bodyPr wrap="square" lIns="0" tIns="0" rIns="0" bIns="0" rtlCol="0" anchor="t"/>
          <a:lstStyle/>
          <a:p>
            <a:pPr indent="0" marL="0">
              <a:buNone/>
            </a:pPr>
            <a:r>
              <a:rPr lang="en-US" sz="1800" b="1" dirty="0">
                <a:solidFill>
                  <a:srgbClr val="1B2A24"/>
                </a:solidFill>
                <a:latin typeface="Calibri" pitchFamily="34" charset="0"/>
                <a:ea typeface="Calibri" pitchFamily="34" charset="-122"/>
                <a:cs typeface="Calibri" pitchFamily="34" charset="-120"/>
              </a:rPr>
              <a:t>Lot 2 · 2023</a:t>
            </a:r>
            <a:endParaRPr lang="en-US" sz="1800" dirty="0"/>
          </a:p>
        </p:txBody>
      </p:sp>
      <p:sp>
        <p:nvSpPr>
          <p:cNvPr id="13" name="Text 10"/>
          <p:cNvSpPr txBox="1"/>
          <p:nvPr/>
        </p:nvSpPr>
        <p:spPr>
          <a:xfrm>
            <a:off x="548640" y="3172968"/>
            <a:ext cx="2468880" cy="548640"/>
          </a:xfrm>
          <a:prstGeom prst="rect">
            <a:avLst/>
          </a:prstGeom>
          <a:noFill/>
          <a:ln/>
        </p:spPr>
        <p:txBody>
          <a:bodyPr wrap="square" lIns="0" tIns="0" rIns="0" bIns="0" rtlCol="0" anchor="t"/>
          <a:lstStyle/>
          <a:p>
            <a:pPr indent="0" marL="0">
              <a:buNone/>
            </a:pPr>
            <a:r>
              <a:rPr lang="en-US" sz="1150" dirty="0">
                <a:solidFill>
                  <a:srgbClr val="5B6B63"/>
                </a:solidFill>
                <a:latin typeface="Calibri" pitchFamily="34" charset="0"/>
                <a:ea typeface="Calibri" pitchFamily="34" charset="-122"/>
                <a:cs typeface="Calibri" pitchFamily="34" charset="-120"/>
              </a:rPr>
              <a:t>50 par station de phénologie, sur l'année</a:t>
            </a:r>
            <a:endParaRPr lang="en-US" sz="1150" dirty="0"/>
          </a:p>
        </p:txBody>
      </p:sp>
      <p:sp>
        <p:nvSpPr>
          <p:cNvPr id="14" name="Shape 11"/>
          <p:cNvSpPr/>
          <p:nvPr/>
        </p:nvSpPr>
        <p:spPr>
          <a:xfrm>
            <a:off x="3108960" y="2898648"/>
            <a:ext cx="4251960" cy="329184"/>
          </a:xfrm>
          <a:prstGeom prst="roundRect">
            <a:avLst>
              <a:gd name="adj" fmla="val 50000"/>
            </a:avLst>
          </a:prstGeom>
          <a:solidFill>
            <a:srgbClr val="E4EEE8"/>
          </a:solidFill>
          <a:ln w="12700">
            <a:solidFill>
              <a:srgbClr val="E4EEE8"/>
            </a:solidFill>
            <a:prstDash val="solid"/>
          </a:ln>
        </p:spPr>
        <p:txBody>
          <a:bodyPr/>
          <a:p/>
        </p:txBody>
      </p:sp>
      <p:sp>
        <p:nvSpPr>
          <p:cNvPr id="15" name="Shape 12"/>
          <p:cNvSpPr/>
          <p:nvPr/>
        </p:nvSpPr>
        <p:spPr>
          <a:xfrm>
            <a:off x="3108960" y="2898648"/>
            <a:ext cx="4251960" cy="329184"/>
          </a:xfrm>
          <a:prstGeom prst="roundRect">
            <a:avLst>
              <a:gd name="adj" fmla="val 50000"/>
            </a:avLst>
          </a:prstGeom>
          <a:solidFill>
            <a:srgbClr val="2E8B57"/>
          </a:solidFill>
          <a:ln w="12700">
            <a:solidFill>
              <a:srgbClr val="3E7CB1"/>
            </a:solidFill>
            <a:prstDash val="solid"/>
          </a:ln>
        </p:spPr>
        <p:txBody>
          <a:bodyPr/>
          <a:p/>
        </p:txBody>
      </p:sp>
      <p:sp>
        <p:nvSpPr>
          <p:cNvPr id="16" name="Text 13"/>
          <p:cNvSpPr txBox="1"/>
          <p:nvPr/>
        </p:nvSpPr>
        <p:spPr>
          <a:xfrm>
            <a:off x="3108960" y="3300984"/>
            <a:ext cx="4251960" cy="320040"/>
          </a:xfrm>
          <a:prstGeom prst="rect">
            <a:avLst/>
          </a:prstGeom>
          <a:noFill/>
          <a:ln/>
        </p:spPr>
        <p:txBody>
          <a:bodyPr wrap="square" lIns="0" tIns="0" rIns="0" bIns="0" rtlCol="0" anchor="t"/>
          <a:lstStyle/>
          <a:p>
            <a:pPr indent="0" marL="0">
              <a:buNone/>
            </a:pPr>
            <a:r>
              <a:rPr lang="en-US" sz="1300" b="1" dirty="0">
                <a:solidFill>
                  <a:srgbClr val="8A5A00"/>
                </a:solidFill>
                <a:latin typeface="Calibri" pitchFamily="34" charset="0"/>
                <a:ea typeface="Calibri" pitchFamily="34" charset="-122"/>
                <a:cs typeface="Calibri" pitchFamily="34" charset="-120"/>
              </a:rPr>
              <a:t>150 / 150 extraits de 30 s</a:t>
            </a:r>
            <a:endParaRPr lang="en-US" sz="1300" dirty="0"/>
          </a:p>
        </p:txBody>
      </p:sp>
      <p:sp>
        <p:nvSpPr>
          <p:cNvPr id="17" name="Text 14"/>
          <p:cNvSpPr txBox="1"/>
          <p:nvPr/>
        </p:nvSpPr>
        <p:spPr>
          <a:xfrm>
            <a:off x="548640" y="3931920"/>
            <a:ext cx="2377440" cy="365760"/>
          </a:xfrm>
          <a:prstGeom prst="rect">
            <a:avLst/>
          </a:prstGeom>
          <a:noFill/>
          <a:ln/>
        </p:spPr>
        <p:txBody>
          <a:bodyPr wrap="square" lIns="0" tIns="0" rIns="0" bIns="0" rtlCol="0" anchor="t"/>
          <a:lstStyle/>
          <a:p>
            <a:pPr indent="0" marL="0">
              <a:buNone/>
            </a:pPr>
            <a:r>
              <a:rPr lang="en-US" sz="1800" b="1" dirty="0">
                <a:solidFill>
                  <a:srgbClr val="1B2A24"/>
                </a:solidFill>
                <a:latin typeface="Calibri" pitchFamily="34" charset="0"/>
                <a:ea typeface="Calibri" pitchFamily="34" charset="-122"/>
                <a:cs typeface="Calibri" pitchFamily="34" charset="-120"/>
              </a:rPr>
              <a:t>Jeu de test</a:t>
            </a:r>
            <a:endParaRPr lang="en-US" sz="1800" dirty="0"/>
          </a:p>
        </p:txBody>
      </p:sp>
      <p:sp>
        <p:nvSpPr>
          <p:cNvPr id="18" name="Text 15"/>
          <p:cNvSpPr txBox="1"/>
          <p:nvPr/>
        </p:nvSpPr>
        <p:spPr>
          <a:xfrm>
            <a:off x="548640" y="4315968"/>
            <a:ext cx="2468880" cy="548640"/>
          </a:xfrm>
          <a:prstGeom prst="rect">
            <a:avLst/>
          </a:prstGeom>
          <a:noFill/>
          <a:ln/>
        </p:spPr>
        <p:txBody>
          <a:bodyPr wrap="square" lIns="0" tIns="0" rIns="0" bIns="0" rtlCol="0" anchor="t"/>
          <a:lstStyle/>
          <a:p>
            <a:pPr indent="0" marL="0">
              <a:buNone/>
            </a:pPr>
            <a:r>
              <a:rPr lang="en-US" sz="1150" dirty="0">
                <a:solidFill>
                  <a:srgbClr val="5B6B63"/>
                </a:solidFill>
                <a:latin typeface="Calibri" pitchFamily="34" charset="0"/>
                <a:ea typeface="Calibri" pitchFamily="34" charset="-122"/>
                <a:cs typeface="Calibri" pitchFamily="34" charset="-120"/>
              </a:rPr>
              <a:t>points jamais vus à l'entraînement</a:t>
            </a:r>
            <a:endParaRPr lang="en-US" sz="1150" dirty="0"/>
          </a:p>
        </p:txBody>
      </p:sp>
      <p:sp>
        <p:nvSpPr>
          <p:cNvPr id="19" name="Shape 16"/>
          <p:cNvSpPr/>
          <p:nvPr/>
        </p:nvSpPr>
        <p:spPr>
          <a:xfrm>
            <a:off x="3108960" y="4041648"/>
            <a:ext cx="4251960" cy="329184"/>
          </a:xfrm>
          <a:prstGeom prst="roundRect">
            <a:avLst>
              <a:gd name="adj" fmla="val 50000"/>
            </a:avLst>
          </a:prstGeom>
          <a:solidFill>
            <a:srgbClr val="E4EEE8"/>
          </a:solidFill>
          <a:ln w="12700">
            <a:solidFill>
              <a:srgbClr val="E4EEE8"/>
            </a:solidFill>
            <a:prstDash val="solid"/>
          </a:ln>
        </p:spPr>
        <p:txBody>
          <a:bodyPr/>
          <a:p/>
        </p:txBody>
      </p:sp>
      <p:sp>
        <p:nvSpPr>
          <p:cNvPr id="20" name="Text 17"/>
          <p:cNvSpPr txBox="1"/>
          <p:nvPr/>
        </p:nvSpPr>
        <p:spPr>
          <a:xfrm>
            <a:off x="3108960" y="4443984"/>
            <a:ext cx="4251960" cy="320040"/>
          </a:xfrm>
          <a:prstGeom prst="rect">
            <a:avLst/>
          </a:prstGeom>
          <a:noFill/>
          <a:ln/>
        </p:spPr>
        <p:txBody>
          <a:bodyPr wrap="square" lIns="0" tIns="0" rIns="0" bIns="0" rtlCol="0" anchor="t"/>
          <a:lstStyle/>
          <a:p>
            <a:pPr indent="0" marL="0">
              <a:buNone/>
            </a:pPr>
            <a:r>
              <a:rPr lang="en-US" sz="1300" b="1" dirty="0">
                <a:solidFill>
                  <a:srgbClr val="8A5A00"/>
                </a:solidFill>
                <a:latin typeface="Calibri" pitchFamily="34" charset="0"/>
                <a:ea typeface="Calibri" pitchFamily="34" charset="-122"/>
                <a:cs typeface="Calibri" pitchFamily="34" charset="-120"/>
              </a:rPr>
              <a:t>0 / 250 enregistrements de 2 min entiers</a:t>
            </a:r>
            <a:endParaRPr lang="en-US" sz="1300" dirty="0"/>
          </a:p>
        </p:txBody>
      </p:sp>
      <p:sp>
        <p:nvSpPr>
          <p:cNvPr id="21" name="Shape 18"/>
          <p:cNvSpPr/>
          <p:nvPr/>
        </p:nvSpPr>
        <p:spPr>
          <a:xfrm>
            <a:off x="7772400" y="1691640"/>
            <a:ext cx="3867912" cy="960120"/>
          </a:xfrm>
          <a:prstGeom prst="roundRect">
            <a:avLst>
              <a:gd name="adj" fmla="val 9524"/>
            </a:avLst>
          </a:prstGeom>
          <a:solidFill>
            <a:srgbClr val="F3F7F4"/>
          </a:solidFill>
          <a:ln w="12700">
            <a:solidFill>
              <a:srgbClr val="F3F7F4"/>
            </a:solidFill>
            <a:prstDash val="solid"/>
          </a:ln>
        </p:spPr>
        <p:txBody>
          <a:bodyPr/>
          <a:p/>
        </p:txBody>
      </p:sp>
      <p:sp>
        <p:nvSpPr>
          <p:cNvPr id="22" name="Text 19"/>
          <p:cNvSpPr txBox="1"/>
          <p:nvPr/>
        </p:nvSpPr>
        <p:spPr>
          <a:xfrm>
            <a:off x="7955280" y="1783080"/>
            <a:ext cx="1188720" cy="777240"/>
          </a:xfrm>
          <a:prstGeom prst="rect">
            <a:avLst/>
          </a:prstGeom>
          <a:noFill/>
          <a:ln/>
        </p:spPr>
        <p:txBody>
          <a:bodyPr wrap="square" lIns="0" tIns="0" rIns="0" bIns="0" rtlCol="0" anchor="ctr"/>
          <a:lstStyle/>
          <a:p>
            <a:pPr indent="0" marL="0">
              <a:buNone/>
            </a:pPr>
            <a:r>
              <a:rPr lang="en-US" sz="2800" b="1" dirty="0">
                <a:solidFill>
                  <a:srgbClr val="8A5A00"/>
                </a:solidFill>
                <a:latin typeface="Cambria" pitchFamily="34" charset="0"/>
                <a:ea typeface="Cambria" pitchFamily="34" charset="-122"/>
                <a:cs typeface="Cambria" pitchFamily="34" charset="-120"/>
              </a:rPr>
              <a:t>92</a:t>
            </a:r>
            <a:endParaRPr lang="en-US" sz="2800" dirty="0"/>
          </a:p>
        </p:txBody>
      </p:sp>
      <p:sp>
        <p:nvSpPr>
          <p:cNvPr id="23" name="Text 20"/>
          <p:cNvSpPr txBox="1"/>
          <p:nvPr/>
        </p:nvSpPr>
        <p:spPr>
          <a:xfrm>
            <a:off x="9144000" y="1783080"/>
            <a:ext cx="2377440" cy="777240"/>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extraits avec A. blanci (sûr ou incertain)</a:t>
            </a:r>
            <a:endParaRPr lang="en-US" sz="1300" dirty="0"/>
          </a:p>
        </p:txBody>
      </p:sp>
      <p:sp>
        <p:nvSpPr>
          <p:cNvPr id="24" name="Shape 21"/>
          <p:cNvSpPr/>
          <p:nvPr/>
        </p:nvSpPr>
        <p:spPr>
          <a:xfrm>
            <a:off x="7772400" y="2807208"/>
            <a:ext cx="3867912" cy="960120"/>
          </a:xfrm>
          <a:prstGeom prst="roundRect">
            <a:avLst>
              <a:gd name="adj" fmla="val 9524"/>
            </a:avLst>
          </a:prstGeom>
          <a:solidFill>
            <a:srgbClr val="F3F7F4"/>
          </a:solidFill>
          <a:ln w="12700">
            <a:solidFill>
              <a:srgbClr val="F3F7F4"/>
            </a:solidFill>
            <a:prstDash val="solid"/>
          </a:ln>
        </p:spPr>
        <p:txBody>
          <a:bodyPr/>
          <a:p/>
        </p:txBody>
      </p:sp>
      <p:sp>
        <p:nvSpPr>
          <p:cNvPr id="25" name="Text 22"/>
          <p:cNvSpPr txBox="1"/>
          <p:nvPr/>
        </p:nvSpPr>
        <p:spPr>
          <a:xfrm>
            <a:off x="7955280" y="2898648"/>
            <a:ext cx="1188720" cy="777240"/>
          </a:xfrm>
          <a:prstGeom prst="rect">
            <a:avLst/>
          </a:prstGeom>
          <a:noFill/>
          <a:ln/>
        </p:spPr>
        <p:txBody>
          <a:bodyPr wrap="square" lIns="0" tIns="0" rIns="0" bIns="0" rtlCol="0" anchor="ctr"/>
          <a:lstStyle/>
          <a:p>
            <a:pPr indent="0" marL="0">
              <a:buNone/>
            </a:pPr>
            <a:r>
              <a:rPr lang="en-US" sz="2800" b="1" dirty="0">
                <a:solidFill>
                  <a:srgbClr val="8A5A00"/>
                </a:solidFill>
                <a:latin typeface="Cambria" pitchFamily="34" charset="0"/>
                <a:ea typeface="Cambria" pitchFamily="34" charset="-122"/>
                <a:cs typeface="Cambria" pitchFamily="34" charset="-120"/>
              </a:rPr>
              <a:t>67</a:t>
            </a:r>
            <a:endParaRPr lang="en-US" sz="2800" dirty="0"/>
          </a:p>
        </p:txBody>
      </p:sp>
      <p:sp>
        <p:nvSpPr>
          <p:cNvPr id="26" name="Text 23"/>
          <p:cNvSpPr txBox="1"/>
          <p:nvPr/>
        </p:nvSpPr>
        <p:spPr>
          <a:xfrm>
            <a:off x="9144000" y="2898648"/>
            <a:ext cx="2377440" cy="777240"/>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extraits avec un faux ami</a:t>
            </a:r>
            <a:endParaRPr lang="en-US" sz="1300" dirty="0"/>
          </a:p>
        </p:txBody>
      </p:sp>
      <p:sp>
        <p:nvSpPr>
          <p:cNvPr id="27" name="Shape 24"/>
          <p:cNvSpPr/>
          <p:nvPr/>
        </p:nvSpPr>
        <p:spPr>
          <a:xfrm>
            <a:off x="7772400" y="3922776"/>
            <a:ext cx="3867912" cy="960120"/>
          </a:xfrm>
          <a:prstGeom prst="roundRect">
            <a:avLst>
              <a:gd name="adj" fmla="val 9524"/>
            </a:avLst>
          </a:prstGeom>
          <a:solidFill>
            <a:srgbClr val="F3F7F4"/>
          </a:solidFill>
          <a:ln w="12700">
            <a:solidFill>
              <a:srgbClr val="F3F7F4"/>
            </a:solidFill>
            <a:prstDash val="solid"/>
          </a:ln>
        </p:spPr>
        <p:txBody>
          <a:bodyPr/>
          <a:p/>
        </p:txBody>
      </p:sp>
      <p:sp>
        <p:nvSpPr>
          <p:cNvPr id="28" name="Text 25"/>
          <p:cNvSpPr txBox="1"/>
          <p:nvPr/>
        </p:nvSpPr>
        <p:spPr>
          <a:xfrm>
            <a:off x="7955280" y="4014216"/>
            <a:ext cx="1188720" cy="777240"/>
          </a:xfrm>
          <a:prstGeom prst="rect">
            <a:avLst/>
          </a:prstGeom>
          <a:noFill/>
          <a:ln/>
        </p:spPr>
        <p:txBody>
          <a:bodyPr wrap="square" lIns="0" tIns="0" rIns="0" bIns="0" rtlCol="0" anchor="ctr"/>
          <a:lstStyle/>
          <a:p>
            <a:pPr indent="0" marL="0">
              <a:buNone/>
            </a:pPr>
            <a:r>
              <a:rPr lang="en-US" sz="2800" b="1" dirty="0">
                <a:solidFill>
                  <a:srgbClr val="8A5A00"/>
                </a:solidFill>
                <a:latin typeface="Cambria" pitchFamily="34" charset="0"/>
                <a:ea typeface="Cambria" pitchFamily="34" charset="-122"/>
                <a:cs typeface="Cambria" pitchFamily="34" charset="-120"/>
              </a:rPr>
              <a:t>350</a:t>
            </a:r>
            <a:endParaRPr lang="en-US" sz="2800" dirty="0"/>
          </a:p>
        </p:txBody>
      </p:sp>
      <p:sp>
        <p:nvSpPr>
          <p:cNvPr id="29" name="Text 26"/>
          <p:cNvSpPr txBox="1"/>
          <p:nvPr/>
        </p:nvSpPr>
        <p:spPr>
          <a:xfrm>
            <a:off x="9144000" y="4014216"/>
            <a:ext cx="2377440" cy="777240"/>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intervalles de chant tracés</a:t>
            </a:r>
            <a:endParaRPr lang="en-US" sz="1300" dirty="0"/>
          </a:p>
        </p:txBody>
      </p:sp>
      <p:sp>
        <p:nvSpPr>
          <p:cNvPr id="30" name="Shape 27"/>
          <p:cNvSpPr/>
          <p:nvPr/>
        </p:nvSpPr>
        <p:spPr>
          <a:xfrm>
            <a:off x="548640" y="5257800"/>
            <a:ext cx="11094415" cy="1005840"/>
          </a:xfrm>
          <a:prstGeom prst="roundRect">
            <a:avLst>
              <a:gd name="adj" fmla="val 9091"/>
            </a:avLst>
          </a:prstGeom>
          <a:solidFill>
            <a:srgbClr val="0E2A24"/>
          </a:solidFill>
          <a:ln w="12700">
            <a:solidFill>
              <a:srgbClr val="0E2A24"/>
            </a:solidFill>
            <a:prstDash val="solid"/>
          </a:ln>
        </p:spPr>
        <p:txBody>
          <a:bodyPr/>
          <a:p/>
        </p:txBody>
      </p:sp>
      <p:sp>
        <p:nvSpPr>
          <p:cNvPr id="31" name="Text 28"/>
          <p:cNvSpPr txBox="1"/>
          <p:nvPr/>
        </p:nvSpPr>
        <p:spPr>
          <a:xfrm>
            <a:off x="822960" y="5257800"/>
            <a:ext cx="10545775" cy="1005840"/>
          </a:xfrm>
          <a:prstGeom prst="rect">
            <a:avLst/>
          </a:prstGeom>
          <a:noFill/>
          <a:ln/>
        </p:spPr>
        <p:txBody>
          <a:bodyPr wrap="square" lIns="0" tIns="0" rIns="0" bIns="0" rtlCol="0" anchor="ctr"/>
          <a:lstStyle/>
          <a:p>
            <a:pPr indent="0" marL="0">
              <a:buNone/>
            </a:pPr>
            <a:r>
              <a:rPr lang="en-US" sz="1500" b="1" dirty="0">
                <a:solidFill>
                  <a:srgbClr val="E9B44C"/>
                </a:solidFill>
                <a:latin typeface="Calibri" pitchFamily="34" charset="0"/>
                <a:ea typeface="Calibri" pitchFamily="34" charset="-122"/>
                <a:cs typeface="Calibri" pitchFamily="34" charset="-120"/>
              </a:rPr>
              <a:t>Ensuite : </a:t>
            </a:r>
            <a:pPr indent="0" marL="0">
              <a:buNone/>
            </a:pPr>
            <a:r>
              <a:rPr lang="en-US" sz="1500" dirty="0">
                <a:solidFill>
                  <a:srgbClr val="FFFFFF"/>
                </a:solidFill>
                <a:latin typeface="Calibri" pitchFamily="34" charset="0"/>
                <a:ea typeface="Calibri" pitchFamily="34" charset="-122"/>
                <a:cs typeface="Calibri" pitchFamily="34" charset="-120"/>
              </a:rPr>
              <a:t>Élodie et Benoît écoutent chacun 10 % de mes annotations, à l'aveugle (mon label caché, ordre mélangé). Aucun benchmark sur ces données avant leur accord.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737360"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737360"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MÉTHODE D'ANNOTATION</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Séparer les points d'écoute avant d'écouter quoi que ce soit</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766560" cy="914400"/>
        </p:xfrm>
        <a:graphic>
          <a:graphicData uri="http://schemas.openxmlformats.org/drawingml/2006/table">
            <a:tbl>
              <a:tblPr/>
              <a:tblGrid>
                <a:gridCol w="2011680"/>
                <a:gridCol w="777240"/>
                <a:gridCol w="3977640"/>
              </a:tblGrid>
              <a:tr h="603504">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Points d'écoute</a:t>
                      </a:r>
                      <a:endParaRPr lang="en-US" sz="125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0E2A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Nombre</a:t>
                      </a:r>
                      <a:endParaRPr lang="en-US" sz="125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0E2A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La question posée</a:t>
                      </a:r>
                      <a:endParaRPr lang="en-US" sz="125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0E2A24"/>
                    </a:solidFill>
                  </a:tcPr>
                </a:tc>
              </a:tr>
              <a:tr h="603504">
                <a:tc>
                  <a:txBody>
                    <a:bodyPr/>
                    <a:lstStyle/>
                    <a:p>
                      <a:pPr indent="0" marL="0">
                        <a:buNone/>
                      </a:pPr>
                      <a:r>
                        <a:rPr lang="en-US" sz="1250" dirty="0">
                          <a:solidFill>
                            <a:srgbClr val="1B2A24"/>
                          </a:solidFill>
                          <a:latin typeface="Calibri" pitchFamily="34" charset="0"/>
                          <a:ea typeface="Calibri" pitchFamily="34" charset="-122"/>
                          <a:cs typeface="Calibri" pitchFamily="34" charset="-120"/>
                        </a:rPr>
                        <a:t>Entraînement</a:t>
                      </a:r>
                      <a:endParaRPr lang="en-US" sz="125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250" dirty="0">
                          <a:solidFill>
                            <a:srgbClr val="1B2A24"/>
                          </a:solidFill>
                          <a:latin typeface="Calibri" pitchFamily="34" charset="0"/>
                          <a:ea typeface="Calibri" pitchFamily="34" charset="-122"/>
                          <a:cs typeface="Calibri" pitchFamily="34" charset="-120"/>
                        </a:rPr>
                        <a:t>95</a:t>
                      </a:r>
                      <a:endParaRPr lang="en-US" sz="125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250" dirty="0">
                          <a:solidFill>
                            <a:srgbClr val="1B2A24"/>
                          </a:solidFill>
                          <a:latin typeface="Calibri" pitchFamily="34" charset="0"/>
                          <a:ea typeface="Calibri" pitchFamily="34" charset="-122"/>
                          <a:cs typeface="Calibri" pitchFamily="34" charset="-120"/>
                        </a:rPr>
                        <a:t>sert à apprendre et à régler la tête (5 plis par micro)</a:t>
                      </a:r>
                      <a:endParaRPr lang="en-US" sz="125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r>
              <a:tr h="603504">
                <a:tc>
                  <a:txBody>
                    <a:bodyPr/>
                    <a:lstStyle/>
                    <a:p>
                      <a:pPr indent="0" marL="0">
                        <a:buNone/>
                      </a:pPr>
                      <a:r>
                        <a:rPr lang="en-US" sz="1250" dirty="0">
                          <a:solidFill>
                            <a:srgbClr val="1B2A24"/>
                          </a:solidFill>
                          <a:latin typeface="Calibri" pitchFamily="34" charset="0"/>
                          <a:ea typeface="Calibri" pitchFamily="34" charset="-122"/>
                          <a:cs typeface="Calibri" pitchFamily="34" charset="-120"/>
                        </a:rPr>
                        <a:t>Niveau 1 · nouveau micro</a:t>
                      </a:r>
                      <a:endParaRPr lang="en-US" sz="125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c>
                  <a:txBody>
                    <a:bodyPr/>
                    <a:lstStyle/>
                    <a:p>
                      <a:pPr indent="0" marL="0">
                        <a:buNone/>
                      </a:pPr>
                      <a:r>
                        <a:rPr lang="en-US" sz="1250" dirty="0">
                          <a:solidFill>
                            <a:srgbClr val="1B2A24"/>
                          </a:solidFill>
                          <a:latin typeface="Calibri" pitchFamily="34" charset="0"/>
                          <a:ea typeface="Calibri" pitchFamily="34" charset="-122"/>
                          <a:cs typeface="Calibri" pitchFamily="34" charset="-120"/>
                        </a:rPr>
                        <a:t>24</a:t>
                      </a:r>
                      <a:endParaRPr lang="en-US" sz="125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c>
                  <a:txBody>
                    <a:bodyPr/>
                    <a:lstStyle/>
                    <a:p>
                      <a:pPr indent="0" marL="0">
                        <a:buNone/>
                      </a:pPr>
                      <a:r>
                        <a:rPr lang="en-US" sz="1250" dirty="0">
                          <a:solidFill>
                            <a:srgbClr val="1B2A24"/>
                          </a:solidFill>
                          <a:latin typeface="Calibri" pitchFamily="34" charset="0"/>
                          <a:ea typeface="Calibri" pitchFamily="34" charset="-122"/>
                          <a:cs typeface="Calibri" pitchFamily="34" charset="-120"/>
                        </a:rPr>
                        <a:t>1 micro sur 5 des sites 2026 : un nouveau micro sur un site connu ?</a:t>
                      </a:r>
                      <a:endParaRPr lang="en-US" sz="125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r>
              <a:tr h="603504">
                <a:tc>
                  <a:txBody>
                    <a:bodyPr/>
                    <a:lstStyle/>
                    <a:p>
                      <a:pPr indent="0" marL="0">
                        <a:buNone/>
                      </a:pPr>
                      <a:r>
                        <a:rPr lang="en-US" sz="1250" dirty="0">
                          <a:solidFill>
                            <a:srgbClr val="1B2A24"/>
                          </a:solidFill>
                          <a:latin typeface="Calibri" pitchFamily="34" charset="0"/>
                          <a:ea typeface="Calibri" pitchFamily="34" charset="-122"/>
                          <a:cs typeface="Calibri" pitchFamily="34" charset="-120"/>
                        </a:rPr>
                        <a:t>Niveau 2 · nouveau site</a:t>
                      </a:r>
                      <a:endParaRPr lang="en-US" sz="125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250" dirty="0">
                          <a:solidFill>
                            <a:srgbClr val="1B2A24"/>
                          </a:solidFill>
                          <a:latin typeface="Calibri" pitchFamily="34" charset="0"/>
                          <a:ea typeface="Calibri" pitchFamily="34" charset="-122"/>
                          <a:cs typeface="Calibri" pitchFamily="34" charset="-120"/>
                        </a:rPr>
                        <a:t>40</a:t>
                      </a:r>
                      <a:endParaRPr lang="en-US" sz="125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250" dirty="0">
                          <a:solidFill>
                            <a:srgbClr val="1B2A24"/>
                          </a:solidFill>
                          <a:latin typeface="Calibri" pitchFamily="34" charset="0"/>
                          <a:ea typeface="Calibri" pitchFamily="34" charset="-122"/>
                          <a:cs typeface="Calibri" pitchFamily="34" charset="-120"/>
                        </a:rPr>
                        <a:t>RNRT entier : un site jamais entendu (les futures campagnes) ?</a:t>
                      </a:r>
                      <a:endParaRPr lang="en-US" sz="125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r>
              <a:tr h="603504">
                <a:tc>
                  <a:txBody>
                    <a:bodyPr/>
                    <a:lstStyle/>
                    <a:p>
                      <a:pPr indent="0" marL="0">
                        <a:buNone/>
                      </a:pPr>
                      <a:r>
                        <a:rPr lang="en-US" sz="1250" dirty="0">
                          <a:solidFill>
                            <a:srgbClr val="1B2A24"/>
                          </a:solidFill>
                          <a:latin typeface="Calibri" pitchFamily="34" charset="0"/>
                          <a:ea typeface="Calibri" pitchFamily="34" charset="-122"/>
                          <a:cs typeface="Calibri" pitchFamily="34" charset="-120"/>
                        </a:rPr>
                        <a:t>Niveau 3 · autre année</a:t>
                      </a:r>
                      <a:endParaRPr lang="en-US" sz="125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c>
                  <a:txBody>
                    <a:bodyPr/>
                    <a:lstStyle/>
                    <a:p>
                      <a:pPr indent="0" marL="0">
                        <a:buNone/>
                      </a:pPr>
                      <a:r>
                        <a:rPr lang="en-US" sz="1250" dirty="0">
                          <a:solidFill>
                            <a:srgbClr val="1B2A24"/>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c>
                  <a:txBody>
                    <a:bodyPr/>
                    <a:lstStyle/>
                    <a:p>
                      <a:pPr indent="0" marL="0">
                        <a:buNone/>
                      </a:pPr>
                      <a:r>
                        <a:rPr lang="en-US" sz="1250" dirty="0">
                          <a:solidFill>
                            <a:srgbClr val="1B2A24"/>
                          </a:solidFill>
                          <a:latin typeface="Calibri" pitchFamily="34" charset="0"/>
                          <a:ea typeface="Calibri" pitchFamily="34" charset="-122"/>
                          <a:cs typeface="Calibri" pitchFamily="34" charset="-120"/>
                        </a:rPr>
                        <a:t>1 station 2023 sur 2 : d'autres saisons, une autre année ?</a:t>
                      </a:r>
                      <a:endParaRPr lang="en-US" sz="125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4754880"/>
            <a:ext cx="6766560" cy="320040"/>
          </a:xfrm>
          <a:prstGeom prst="rect">
            <a:avLst/>
          </a:prstGeom>
          <a:noFill/>
          <a:ln/>
        </p:spPr>
        <p:txBody>
          <a:bodyPr wrap="square" lIns="0" tIns="0" rIns="0" bIns="0" rtlCol="0" anchor="t"/>
          <a:lstStyle/>
          <a:p>
            <a:pPr indent="0" marL="0">
              <a:buNone/>
            </a:pPr>
            <a:r>
              <a:rPr lang="en-US" sz="1150" i="1" dirty="0">
                <a:solidFill>
                  <a:srgbClr val="5B6B63"/>
                </a:solidFill>
                <a:latin typeface="Calibri" pitchFamily="34" charset="0"/>
                <a:ea typeface="Calibri" pitchFamily="34" charset="-122"/>
                <a:cs typeface="Calibri" pitchFamily="34" charset="-120"/>
              </a:rPr>
              <a:t>162 points d'écoute, répartis une fois pour toutes, par tirage à graine fixée, avant toute écoute.</a:t>
            </a:r>
            <a:endParaRPr lang="en-US" sz="1150" dirty="0"/>
          </a:p>
        </p:txBody>
      </p:sp>
      <p:sp>
        <p:nvSpPr>
          <p:cNvPr id="9" name="Shape 5"/>
          <p:cNvSpPr/>
          <p:nvPr/>
        </p:nvSpPr>
        <p:spPr>
          <a:xfrm>
            <a:off x="7589520" y="1600200"/>
            <a:ext cx="4050792" cy="749808"/>
          </a:xfrm>
          <a:prstGeom prst="roundRect">
            <a:avLst>
              <a:gd name="adj" fmla="val 12195"/>
            </a:avLst>
          </a:prstGeom>
          <a:solidFill>
            <a:srgbClr val="F3F7F4"/>
          </a:solidFill>
          <a:ln w="12700">
            <a:solidFill>
              <a:srgbClr val="F3F7F4"/>
            </a:solidFill>
            <a:prstDash val="solid"/>
          </a:ln>
        </p:spPr>
      </p:sp>
      <p:sp>
        <p:nvSpPr>
          <p:cNvPr id="10" name="Text 6"/>
          <p:cNvSpPr txBox="1"/>
          <p:nvPr/>
        </p:nvSpPr>
        <p:spPr>
          <a:xfrm>
            <a:off x="7772400" y="1600200"/>
            <a:ext cx="3749040" cy="749808"/>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Aucun détecteur dans le tirage</a:t>
            </a:r>
            <a:endParaRPr lang="en-US" sz="1300" dirty="0"/>
          </a:p>
          <a:p>
            <a:pPr indent="0" marL="0">
              <a:buNone/>
            </a:pPr>
            <a:r>
              <a:rPr lang="en-US" sz="1150" dirty="0">
                <a:solidFill>
                  <a:srgbClr val="5B6B63"/>
                </a:solidFill>
                <a:latin typeface="Calibri" pitchFamily="34" charset="0"/>
                <a:ea typeface="Calibri" pitchFamily="34" charset="-122"/>
                <a:cs typeface="Calibri" pitchFamily="34" charset="-120"/>
              </a:rPr>
              <a:t>sinon le jeu hérite de ses angles morts</a:t>
            </a:r>
            <a:endParaRPr lang="en-US" sz="1300" dirty="0"/>
          </a:p>
        </p:txBody>
      </p:sp>
      <p:sp>
        <p:nvSpPr>
          <p:cNvPr id="11" name="Shape 7"/>
          <p:cNvSpPr/>
          <p:nvPr/>
        </p:nvSpPr>
        <p:spPr>
          <a:xfrm>
            <a:off x="7589520" y="2441448"/>
            <a:ext cx="4050792" cy="749808"/>
          </a:xfrm>
          <a:prstGeom prst="roundRect">
            <a:avLst>
              <a:gd name="adj" fmla="val 12195"/>
            </a:avLst>
          </a:prstGeom>
          <a:solidFill>
            <a:srgbClr val="F3F7F4"/>
          </a:solidFill>
          <a:ln w="12700">
            <a:solidFill>
              <a:srgbClr val="F3F7F4"/>
            </a:solidFill>
            <a:prstDash val="solid"/>
          </a:ln>
        </p:spPr>
      </p:sp>
      <p:sp>
        <p:nvSpPr>
          <p:cNvPr id="12" name="Text 8"/>
          <p:cNvSpPr txBox="1"/>
          <p:nvPr/>
        </p:nvSpPr>
        <p:spPr>
          <a:xfrm>
            <a:off x="7772400" y="2441448"/>
            <a:ext cx="3749040" cy="749808"/>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Stratifié par point et par heure</a:t>
            </a:r>
            <a:endParaRPr lang="en-US" sz="1300" dirty="0"/>
          </a:p>
          <a:p>
            <a:pPr indent="0" marL="0">
              <a:buNone/>
            </a:pPr>
            <a:r>
              <a:rPr lang="en-US" sz="1150" dirty="0">
                <a:solidFill>
                  <a:srgbClr val="5B6B63"/>
                </a:solidFill>
                <a:latin typeface="Calibri" pitchFamily="34" charset="0"/>
                <a:ea typeface="Calibri" pitchFamily="34" charset="-122"/>
                <a:cs typeface="Calibri" pitchFamily="34" charset="-120"/>
              </a:rPr>
              <a:t>pic du matin, pic du soir, une autre tranche : la tête apprend le chant, pas l'heure</a:t>
            </a:r>
            <a:endParaRPr lang="en-US" sz="1300" dirty="0"/>
          </a:p>
        </p:txBody>
      </p:sp>
      <p:sp>
        <p:nvSpPr>
          <p:cNvPr id="13" name="Shape 9"/>
          <p:cNvSpPr/>
          <p:nvPr/>
        </p:nvSpPr>
        <p:spPr>
          <a:xfrm>
            <a:off x="7589520" y="3282696"/>
            <a:ext cx="4050792" cy="749808"/>
          </a:xfrm>
          <a:prstGeom prst="roundRect">
            <a:avLst>
              <a:gd name="adj" fmla="val 12195"/>
            </a:avLst>
          </a:prstGeom>
          <a:solidFill>
            <a:srgbClr val="F3F7F4"/>
          </a:solidFill>
          <a:ln w="12700">
            <a:solidFill>
              <a:srgbClr val="F3F7F4"/>
            </a:solidFill>
            <a:prstDash val="solid"/>
          </a:ln>
        </p:spPr>
      </p:sp>
      <p:sp>
        <p:nvSpPr>
          <p:cNvPr id="14" name="Text 10"/>
          <p:cNvSpPr txBox="1"/>
          <p:nvPr/>
        </p:nvSpPr>
        <p:spPr>
          <a:xfrm>
            <a:off x="7772400" y="3282696"/>
            <a:ext cx="3749040" cy="749808"/>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Test pondéré, probabilités notées</a:t>
            </a:r>
            <a:endParaRPr lang="en-US" sz="1300" dirty="0"/>
          </a:p>
          <a:p>
            <a:pPr indent="0" marL="0">
              <a:buNone/>
            </a:pPr>
            <a:r>
              <a:rPr lang="en-US" sz="1150" dirty="0">
                <a:solidFill>
                  <a:srgbClr val="5B6B63"/>
                </a:solidFill>
                <a:latin typeface="Calibri" pitchFamily="34" charset="0"/>
                <a:ea typeface="Calibri" pitchFamily="34" charset="-122"/>
                <a:cs typeface="Calibri" pitchFamily="34" charset="-120"/>
              </a:rPr>
              <a:t>pics et saison haute tirés 2 × plus, puis corrigés</a:t>
            </a:r>
            <a:endParaRPr lang="en-US" sz="1300" dirty="0"/>
          </a:p>
        </p:txBody>
      </p:sp>
      <p:sp>
        <p:nvSpPr>
          <p:cNvPr id="15" name="Shape 11"/>
          <p:cNvSpPr/>
          <p:nvPr/>
        </p:nvSpPr>
        <p:spPr>
          <a:xfrm>
            <a:off x="7589520" y="4123944"/>
            <a:ext cx="4050792" cy="749808"/>
          </a:xfrm>
          <a:prstGeom prst="roundRect">
            <a:avLst>
              <a:gd name="adj" fmla="val 12195"/>
            </a:avLst>
          </a:prstGeom>
          <a:solidFill>
            <a:srgbClr val="F3F7F4"/>
          </a:solidFill>
          <a:ln w="12700">
            <a:solidFill>
              <a:srgbClr val="F3F7F4"/>
            </a:solidFill>
            <a:prstDash val="solid"/>
          </a:ln>
        </p:spPr>
      </p:sp>
      <p:sp>
        <p:nvSpPr>
          <p:cNvPr id="16" name="Text 12"/>
          <p:cNvSpPr txBox="1"/>
          <p:nvPr/>
        </p:nvSpPr>
        <p:spPr>
          <a:xfrm>
            <a:off x="7772400" y="4123944"/>
            <a:ext cx="3749040" cy="749808"/>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Peu d'extraits sur beaucoup de points</a:t>
            </a:r>
            <a:endParaRPr lang="en-US" sz="1300" dirty="0"/>
          </a:p>
          <a:p>
            <a:pPr indent="0" marL="0">
              <a:buNone/>
            </a:pPr>
            <a:r>
              <a:rPr lang="en-US" sz="1150" dirty="0">
                <a:solidFill>
                  <a:srgbClr val="5B6B63"/>
                </a:solidFill>
                <a:latin typeface="Calibri" pitchFamily="34" charset="0"/>
                <a:ea typeface="Calibri" pitchFamily="34" charset="-122"/>
                <a:cs typeface="Calibri" pitchFamily="34" charset="-120"/>
              </a:rPr>
              <a:t>varier les paysages sonores aide à généraliser</a:t>
            </a:r>
            <a:endParaRPr lang="en-US" sz="1300" dirty="0"/>
          </a:p>
        </p:txBody>
      </p:sp>
      <p:sp>
        <p:nvSpPr>
          <p:cNvPr id="17" name="Shape 13"/>
          <p:cNvSpPr/>
          <p:nvPr/>
        </p:nvSpPr>
        <p:spPr>
          <a:xfrm>
            <a:off x="548640" y="5257800"/>
            <a:ext cx="11094415" cy="1005840"/>
          </a:xfrm>
          <a:prstGeom prst="roundRect">
            <a:avLst>
              <a:gd name="adj" fmla="val 9091"/>
            </a:avLst>
          </a:prstGeom>
          <a:solidFill>
            <a:srgbClr val="0E2A24"/>
          </a:solidFill>
          <a:ln w="12700">
            <a:solidFill>
              <a:srgbClr val="0E2A24"/>
            </a:solidFill>
            <a:prstDash val="solid"/>
          </a:ln>
        </p:spPr>
      </p:sp>
      <p:sp>
        <p:nvSpPr>
          <p:cNvPr id="18" name="Text 14"/>
          <p:cNvSpPr txBox="1"/>
          <p:nvPr/>
        </p:nvSpPr>
        <p:spPr>
          <a:xfrm>
            <a:off x="822960" y="5257800"/>
            <a:ext cx="10545775" cy="1005840"/>
          </a:xfrm>
          <a:prstGeom prst="rect">
            <a:avLst/>
          </a:prstGeom>
          <a:noFill/>
          <a:ln/>
        </p:spPr>
        <p:txBody>
          <a:bodyPr wrap="square" lIns="0" tIns="0" rIns="0" bIns="0" rtlCol="0" anchor="ctr"/>
          <a:lstStyle/>
          <a:p>
            <a:pPr indent="0" marL="0">
              <a:buNone/>
            </a:pPr>
            <a:r>
              <a:rPr lang="en-US" sz="1500" b="1" dirty="0">
                <a:solidFill>
                  <a:srgbClr val="E9B44C"/>
                </a:solidFill>
                <a:latin typeface="Calibri" pitchFamily="34" charset="0"/>
                <a:ea typeface="Calibri" pitchFamily="34" charset="-122"/>
                <a:cs typeface="Calibri" pitchFamily="34" charset="-120"/>
              </a:rPr>
              <a:t>La règle : </a:t>
            </a:r>
            <a:pPr indent="0" marL="0">
              <a:buNone/>
            </a:pPr>
            <a:r>
              <a:rPr lang="en-US" sz="1500" dirty="0">
                <a:solidFill>
                  <a:srgbClr val="FFFFFF"/>
                </a:solidFill>
                <a:latin typeface="Calibri" pitchFamily="34" charset="0"/>
                <a:ea typeface="Calibri" pitchFamily="34" charset="-122"/>
                <a:cs typeface="Calibri" pitchFamily="34" charset="-120"/>
              </a:rPr>
              <a:t>un point d'écoute sert à l'entraînement ou au test, jamais aux deux. Sinon le modèle reconnaît le lieu au lieu du chant, et on le croit meilleur qu'il n'est.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581912"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581912"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POSTE D'ANNOTATION</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Un logiciel d'écoute fait pour un chant bref et aigu</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5</a:t>
            </a:r>
            <a:endParaRPr lang="en-US" sz="900" dirty="0"/>
          </a:p>
        </p:txBody>
      </p:sp>
      <p:pic>
        <p:nvPicPr>
          <p:cNvPr id="7" name="Image 0" descr="/tmp/claude-0/-home-user-Grenouille/fa0dec92-0de5-568f-bc99-1cd8ca0cc78c/scratchpad/presentation-suivi-3/figures/poste-annotation.png">    </p:cNvPr>
          <p:cNvPicPr>
            <a:picLocks noChangeAspect="1"/>
          </p:cNvPicPr>
          <p:nvPr/>
        </p:nvPicPr>
        <p:blipFill>
          <a:blip r:embed="rId1"/>
          <a:stretch>
            <a:fillRect/>
          </a:stretch>
        </p:blipFill>
        <p:spPr>
          <a:xfrm>
            <a:off x="548640" y="1554480"/>
            <a:ext cx="6858000" cy="4286250"/>
          </a:xfrm>
          <a:prstGeom prst="rect">
            <a:avLst/>
          </a:prstGeom>
        </p:spPr>
      </p:pic>
      <p:sp>
        <p:nvSpPr>
          <p:cNvPr id="8" name="Shape 4"/>
          <p:cNvSpPr/>
          <p:nvPr/>
        </p:nvSpPr>
        <p:spPr>
          <a:xfrm>
            <a:off x="548640" y="1554480"/>
            <a:ext cx="6858000" cy="4286250"/>
          </a:xfrm>
          <a:prstGeom prst="rect">
            <a:avLst/>
          </a:prstGeom>
          <a:ln w="9525">
            <a:solidFill>
              <a:srgbClr val="CFDDD5"/>
            </a:solidFill>
            <a:prstDash val="solid"/>
          </a:ln>
        </p:spPr>
      </p:sp>
      <p:sp>
        <p:nvSpPr>
          <p:cNvPr id="9" name="Shape 5"/>
          <p:cNvSpPr/>
          <p:nvPr/>
        </p:nvSpPr>
        <p:spPr>
          <a:xfrm>
            <a:off x="7680960" y="1554480"/>
            <a:ext cx="3959352" cy="768096"/>
          </a:xfrm>
          <a:prstGeom prst="roundRect">
            <a:avLst>
              <a:gd name="adj" fmla="val 11905"/>
            </a:avLst>
          </a:prstGeom>
          <a:solidFill>
            <a:srgbClr val="F3F7F4"/>
          </a:solidFill>
          <a:ln w="12700">
            <a:solidFill>
              <a:srgbClr val="F3F7F4"/>
            </a:solidFill>
            <a:prstDash val="solid"/>
          </a:ln>
        </p:spPr>
      </p:sp>
      <p:sp>
        <p:nvSpPr>
          <p:cNvPr id="10" name="Text 6"/>
          <p:cNvSpPr txBox="1"/>
          <p:nvPr/>
        </p:nvSpPr>
        <p:spPr>
          <a:xfrm>
            <a:off x="7863840" y="1554480"/>
            <a:ext cx="3657600" cy="768096"/>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Intervalles tracés à la souris</a:t>
            </a:r>
            <a:endParaRPr lang="en-US" sz="1300" dirty="0"/>
          </a:p>
          <a:p>
            <a:pPr indent="0" marL="0">
              <a:buNone/>
            </a:pPr>
            <a:r>
              <a:rPr lang="en-US" sz="1150" dirty="0">
                <a:solidFill>
                  <a:srgbClr val="5B6B63"/>
                </a:solidFill>
                <a:latin typeface="Calibri" pitchFamily="34" charset="0"/>
                <a:ea typeface="Calibri" pitchFamily="34" charset="-122"/>
                <a:cs typeface="Calibri" pitchFamily="34" charset="-120"/>
              </a:rPr>
              <a:t>A. blanci, chœur, incertain, faux ami</a:t>
            </a:r>
            <a:endParaRPr lang="en-US" sz="1300" dirty="0"/>
          </a:p>
        </p:txBody>
      </p:sp>
      <p:sp>
        <p:nvSpPr>
          <p:cNvPr id="11" name="Shape 7"/>
          <p:cNvSpPr/>
          <p:nvPr/>
        </p:nvSpPr>
        <p:spPr>
          <a:xfrm>
            <a:off x="7680960" y="2414016"/>
            <a:ext cx="3959352" cy="768096"/>
          </a:xfrm>
          <a:prstGeom prst="roundRect">
            <a:avLst>
              <a:gd name="adj" fmla="val 11905"/>
            </a:avLst>
          </a:prstGeom>
          <a:solidFill>
            <a:srgbClr val="F3F7F4"/>
          </a:solidFill>
          <a:ln w="12700">
            <a:solidFill>
              <a:srgbClr val="F3F7F4"/>
            </a:solidFill>
            <a:prstDash val="solid"/>
          </a:ln>
        </p:spPr>
      </p:sp>
      <p:sp>
        <p:nvSpPr>
          <p:cNvPr id="12" name="Text 8"/>
          <p:cNvSpPr txBox="1"/>
          <p:nvPr/>
        </p:nvSpPr>
        <p:spPr>
          <a:xfrm>
            <a:off x="7863840" y="2414016"/>
            <a:ext cx="3657600" cy="768096"/>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Écoute de la seule bande du chant</a:t>
            </a:r>
            <a:endParaRPr lang="en-US" sz="1300" dirty="0"/>
          </a:p>
          <a:p>
            <a:pPr indent="0" marL="0">
              <a:buNone/>
            </a:pPr>
            <a:r>
              <a:rPr lang="en-US" sz="1150" dirty="0">
                <a:solidFill>
                  <a:srgbClr val="5B6B63"/>
                </a:solidFill>
                <a:latin typeface="Calibri" pitchFamily="34" charset="0"/>
                <a:ea typeface="Calibri" pitchFamily="34" charset="-122"/>
                <a:cs typeface="Calibri" pitchFamily="34" charset="-120"/>
              </a:rPr>
              <a:t>4,4–5,5 kHz : les notes faibles ressortent du bruit</a:t>
            </a:r>
            <a:endParaRPr lang="en-US" sz="1300" dirty="0"/>
          </a:p>
        </p:txBody>
      </p:sp>
      <p:sp>
        <p:nvSpPr>
          <p:cNvPr id="13" name="Shape 9"/>
          <p:cNvSpPr/>
          <p:nvPr/>
        </p:nvSpPr>
        <p:spPr>
          <a:xfrm>
            <a:off x="7680960" y="3273552"/>
            <a:ext cx="3959352" cy="768096"/>
          </a:xfrm>
          <a:prstGeom prst="roundRect">
            <a:avLst>
              <a:gd name="adj" fmla="val 11905"/>
            </a:avLst>
          </a:prstGeom>
          <a:solidFill>
            <a:srgbClr val="F3F7F4"/>
          </a:solidFill>
          <a:ln w="12700">
            <a:solidFill>
              <a:srgbClr val="F3F7F4"/>
            </a:solidFill>
            <a:prstDash val="solid"/>
          </a:ln>
        </p:spPr>
      </p:sp>
      <p:sp>
        <p:nvSpPr>
          <p:cNvPr id="14" name="Text 10"/>
          <p:cNvSpPr txBox="1"/>
          <p:nvPr/>
        </p:nvSpPr>
        <p:spPr>
          <a:xfrm>
            <a:off x="7863840" y="3273552"/>
            <a:ext cx="3657600" cy="768096"/>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Qualité A / B / C, espèce, commentaire</a:t>
            </a:r>
            <a:endParaRPr lang="en-US" sz="1300" dirty="0"/>
          </a:p>
          <a:p>
            <a:pPr indent="0" marL="0">
              <a:buNone/>
            </a:pPr>
            <a:r>
              <a:rPr lang="en-US" sz="1150" dirty="0">
                <a:solidFill>
                  <a:srgbClr val="5B6B63"/>
                </a:solidFill>
                <a:latin typeface="Calibri" pitchFamily="34" charset="0"/>
                <a:ea typeface="Calibri" pitchFamily="34" charset="-122"/>
                <a:cs typeface="Calibri" pitchFamily="34" charset="-120"/>
              </a:rPr>
              <a:t>par extrait</a:t>
            </a:r>
            <a:endParaRPr lang="en-US" sz="1300" dirty="0"/>
          </a:p>
        </p:txBody>
      </p:sp>
      <p:sp>
        <p:nvSpPr>
          <p:cNvPr id="15" name="Shape 11"/>
          <p:cNvSpPr/>
          <p:nvPr/>
        </p:nvSpPr>
        <p:spPr>
          <a:xfrm>
            <a:off x="7680960" y="4133088"/>
            <a:ext cx="3959352" cy="768096"/>
          </a:xfrm>
          <a:prstGeom prst="roundRect">
            <a:avLst>
              <a:gd name="adj" fmla="val 11905"/>
            </a:avLst>
          </a:prstGeom>
          <a:solidFill>
            <a:srgbClr val="F3F7F4"/>
          </a:solidFill>
          <a:ln w="12700">
            <a:solidFill>
              <a:srgbClr val="F3F7F4"/>
            </a:solidFill>
            <a:prstDash val="solid"/>
          </a:ln>
        </p:spPr>
      </p:sp>
      <p:sp>
        <p:nvSpPr>
          <p:cNvPr id="16" name="Text 12"/>
          <p:cNvSpPr txBox="1"/>
          <p:nvPr/>
        </p:nvSpPr>
        <p:spPr>
          <a:xfrm>
            <a:off x="7863840" y="4133088"/>
            <a:ext cx="3657600" cy="768096"/>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Rapide</a:t>
            </a:r>
            <a:endParaRPr lang="en-US" sz="1300" dirty="0"/>
          </a:p>
          <a:p>
            <a:pPr indent="0" marL="0">
              <a:buNone/>
            </a:pPr>
            <a:r>
              <a:rPr lang="en-US" sz="1150" dirty="0">
                <a:solidFill>
                  <a:srgbClr val="5B6B63"/>
                </a:solidFill>
                <a:latin typeface="Calibri" pitchFamily="34" charset="0"/>
                <a:ea typeface="Calibri" pitchFamily="34" charset="-122"/>
                <a:cs typeface="Calibri" pitchFamily="34" charset="-120"/>
              </a:rPr>
              <a:t>extrait suivant préparé pendant l'écoute ; un clic &lt; 1 s (2 à 6 s avant)</a:t>
            </a:r>
            <a:endParaRPr lang="en-US" sz="1300" dirty="0"/>
          </a:p>
        </p:txBody>
      </p:sp>
      <p:sp>
        <p:nvSpPr>
          <p:cNvPr id="17" name="Shape 13"/>
          <p:cNvSpPr/>
          <p:nvPr/>
        </p:nvSpPr>
        <p:spPr>
          <a:xfrm>
            <a:off x="7680960" y="4992624"/>
            <a:ext cx="3959352" cy="768096"/>
          </a:xfrm>
          <a:prstGeom prst="roundRect">
            <a:avLst>
              <a:gd name="adj" fmla="val 11905"/>
            </a:avLst>
          </a:prstGeom>
          <a:solidFill>
            <a:srgbClr val="F3F7F4"/>
          </a:solidFill>
          <a:ln w="12700">
            <a:solidFill>
              <a:srgbClr val="F3F7F4"/>
            </a:solidFill>
            <a:prstDash val="solid"/>
          </a:ln>
        </p:spPr>
      </p:sp>
      <p:sp>
        <p:nvSpPr>
          <p:cNvPr id="18" name="Text 14"/>
          <p:cNvSpPr txBox="1"/>
          <p:nvPr/>
        </p:nvSpPr>
        <p:spPr>
          <a:xfrm>
            <a:off x="7863840" y="4992624"/>
            <a:ext cx="3657600" cy="768096"/>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Reprendre ailleurs</a:t>
            </a:r>
            <a:endParaRPr lang="en-US" sz="1300" dirty="0"/>
          </a:p>
          <a:p>
            <a:pPr indent="0" marL="0">
              <a:buNone/>
            </a:pPr>
            <a:r>
              <a:rPr lang="en-US" sz="1150" dirty="0">
                <a:solidFill>
                  <a:srgbClr val="5B6B63"/>
                </a:solidFill>
                <a:latin typeface="Calibri" pitchFamily="34" charset="0"/>
                <a:ea typeface="Calibri" pitchFamily="34" charset="-122"/>
                <a:cs typeface="Calibri" pitchFamily="34" charset="-120"/>
              </a:rPr>
              <a:t>export dans le dépôt, réimport sur une autre machine</a:t>
            </a:r>
            <a:endParaRPr lang="en-US" sz="1300" dirty="0"/>
          </a:p>
        </p:txBody>
      </p:sp>
      <p:sp>
        <p:nvSpPr>
          <p:cNvPr id="19" name="Shape 15"/>
          <p:cNvSpPr/>
          <p:nvPr/>
        </p:nvSpPr>
        <p:spPr>
          <a:xfrm>
            <a:off x="548640" y="5943600"/>
            <a:ext cx="11094415" cy="457200"/>
          </a:xfrm>
          <a:prstGeom prst="roundRect">
            <a:avLst>
              <a:gd name="adj" fmla="val 20000"/>
            </a:avLst>
          </a:prstGeom>
          <a:solidFill>
            <a:srgbClr val="E4EEE8"/>
          </a:solidFill>
          <a:ln w="12700">
            <a:solidFill>
              <a:srgbClr val="E4EEE8"/>
            </a:solidFill>
            <a:prstDash val="solid"/>
          </a:ln>
        </p:spPr>
      </p:sp>
      <p:sp>
        <p:nvSpPr>
          <p:cNvPr id="20" name="Text 16"/>
          <p:cNvSpPr txBox="1"/>
          <p:nvPr/>
        </p:nvSpPr>
        <p:spPr>
          <a:xfrm>
            <a:off x="822960" y="5943600"/>
            <a:ext cx="10545775" cy="457200"/>
          </a:xfrm>
          <a:prstGeom prst="rect">
            <a:avLst/>
          </a:prstGeom>
          <a:noFill/>
          <a:ln/>
        </p:spPr>
        <p:txBody>
          <a:bodyPr wrap="square" lIns="0" tIns="0" rIns="0" bIns="0" rtlCol="0" anchor="ctr"/>
          <a:lstStyle/>
          <a:p>
            <a:pPr indent="0" marL="0">
              <a:buNone/>
            </a:pPr>
            <a:r>
              <a:rPr lang="en-US" sz="1350" b="1" dirty="0">
                <a:solidFill>
                  <a:srgbClr val="2A7F72"/>
                </a:solidFill>
                <a:latin typeface="Calibri" pitchFamily="34" charset="0"/>
                <a:ea typeface="Calibri" pitchFamily="34" charset="-122"/>
                <a:cs typeface="Calibri" pitchFamily="34" charset="-120"/>
              </a:rPr>
              <a:t>Pour la vérification : </a:t>
            </a:r>
            <a:pPr indent="0" marL="0">
              <a:buNone/>
            </a:pPr>
            <a:r>
              <a:rPr lang="en-US" sz="1350" dirty="0">
                <a:solidFill>
                  <a:srgbClr val="1B2A24"/>
                </a:solidFill>
                <a:latin typeface="Calibri" pitchFamily="34" charset="0"/>
                <a:ea typeface="Calibri" pitchFamily="34" charset="-122"/>
                <a:cs typeface="Calibri" pitchFamily="34" charset="-120"/>
              </a:rPr>
              <a:t>Élodie et Benoît écouteront sur le même poste, mon label caché.</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348740"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348740"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TABLEAU DE BORD</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Le tableau de bord : tout le projet sur une page, à commenter</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6</a:t>
            </a:r>
            <a:endParaRPr lang="en-US" sz="900" dirty="0"/>
          </a:p>
        </p:txBody>
      </p:sp>
      <p:pic>
        <p:nvPicPr>
          <p:cNvPr id="7" name="Image 0" descr="/tmp/claude-0/-home-user-Grenouille/fa0dec92-0de5-568f-bc99-1cd8ca0cc78c/scratchpad/presentation-suivi-3/figures/tableau-de-bord.png">    </p:cNvPr>
          <p:cNvPicPr>
            <a:picLocks noChangeAspect="1"/>
          </p:cNvPicPr>
          <p:nvPr/>
        </p:nvPicPr>
        <p:blipFill>
          <a:blip r:embed="rId1"/>
          <a:stretch>
            <a:fillRect/>
          </a:stretch>
        </p:blipFill>
        <p:spPr>
          <a:xfrm>
            <a:off x="548640" y="1554480"/>
            <a:ext cx="6858000" cy="4286250"/>
          </a:xfrm>
          <a:prstGeom prst="rect">
            <a:avLst/>
          </a:prstGeom>
        </p:spPr>
      </p:pic>
      <p:sp>
        <p:nvSpPr>
          <p:cNvPr id="8" name="Shape 4"/>
          <p:cNvSpPr/>
          <p:nvPr/>
        </p:nvSpPr>
        <p:spPr>
          <a:xfrm>
            <a:off x="548640" y="1554480"/>
            <a:ext cx="6858000" cy="4286250"/>
          </a:xfrm>
          <a:prstGeom prst="rect">
            <a:avLst/>
          </a:prstGeom>
          <a:ln w="9525">
            <a:solidFill>
              <a:srgbClr val="CFDDD5"/>
            </a:solidFill>
            <a:prstDash val="solid"/>
          </a:ln>
        </p:spPr>
      </p:sp>
      <p:sp>
        <p:nvSpPr>
          <p:cNvPr id="9" name="Shape 5"/>
          <p:cNvSpPr/>
          <p:nvPr/>
        </p:nvSpPr>
        <p:spPr>
          <a:xfrm>
            <a:off x="7680960" y="1554480"/>
            <a:ext cx="3959352" cy="768096"/>
          </a:xfrm>
          <a:prstGeom prst="roundRect">
            <a:avLst>
              <a:gd name="adj" fmla="val 11905"/>
            </a:avLst>
          </a:prstGeom>
          <a:solidFill>
            <a:srgbClr val="F3F7F4"/>
          </a:solidFill>
          <a:ln w="12700">
            <a:solidFill>
              <a:srgbClr val="F3F7F4"/>
            </a:solidFill>
            <a:prstDash val="solid"/>
          </a:ln>
        </p:spPr>
      </p:sp>
      <p:sp>
        <p:nvSpPr>
          <p:cNvPr id="10" name="Text 6"/>
          <p:cNvSpPr txBox="1"/>
          <p:nvPr/>
        </p:nvSpPr>
        <p:spPr>
          <a:xfrm>
            <a:off x="7863840" y="1554480"/>
            <a:ext cx="3657600" cy="768096"/>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Où en est chaque chantier</a:t>
            </a:r>
            <a:endParaRPr lang="en-US" sz="1300" dirty="0"/>
          </a:p>
          <a:p>
            <a:pPr indent="0" marL="0">
              <a:buNone/>
            </a:pPr>
            <a:r>
              <a:rPr lang="en-US" sz="1150" dirty="0">
                <a:solidFill>
                  <a:srgbClr val="5B6B63"/>
                </a:solidFill>
                <a:latin typeface="Calibri" pitchFamily="34" charset="0"/>
                <a:ea typeface="Calibri" pitchFamily="34" charset="-122"/>
                <a:cs typeface="Calibri" pitchFamily="34" charset="-120"/>
              </a:rPr>
              <a:t>en cours, à venir, terminé, avec la prochaine action</a:t>
            </a:r>
            <a:endParaRPr lang="en-US" sz="1300" dirty="0"/>
          </a:p>
        </p:txBody>
      </p:sp>
      <p:sp>
        <p:nvSpPr>
          <p:cNvPr id="11" name="Shape 7"/>
          <p:cNvSpPr/>
          <p:nvPr/>
        </p:nvSpPr>
        <p:spPr>
          <a:xfrm>
            <a:off x="7680960" y="2414016"/>
            <a:ext cx="3959352" cy="768096"/>
          </a:xfrm>
          <a:prstGeom prst="roundRect">
            <a:avLst>
              <a:gd name="adj" fmla="val 11905"/>
            </a:avLst>
          </a:prstGeom>
          <a:solidFill>
            <a:srgbClr val="F3F7F4"/>
          </a:solidFill>
          <a:ln w="12700">
            <a:solidFill>
              <a:srgbClr val="F3F7F4"/>
            </a:solidFill>
            <a:prstDash val="solid"/>
          </a:ln>
        </p:spPr>
      </p:sp>
      <p:sp>
        <p:nvSpPr>
          <p:cNvPr id="12" name="Text 8"/>
          <p:cNvSpPr txBox="1"/>
          <p:nvPr/>
        </p:nvSpPr>
        <p:spPr>
          <a:xfrm>
            <a:off x="7863840" y="2414016"/>
            <a:ext cx="3657600" cy="768096"/>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Données, chaîne, annotation</a:t>
            </a:r>
            <a:endParaRPr lang="en-US" sz="1300" dirty="0"/>
          </a:p>
          <a:p>
            <a:pPr indent="0" marL="0">
              <a:buNone/>
            </a:pPr>
            <a:r>
              <a:rPr lang="en-US" sz="1150" dirty="0">
                <a:solidFill>
                  <a:srgbClr val="5B6B63"/>
                </a:solidFill>
                <a:latin typeface="Calibri" pitchFamily="34" charset="0"/>
                <a:ea typeface="Calibri" pitchFamily="34" charset="-122"/>
                <a:cs typeface="Calibri" pitchFamily="34" charset="-120"/>
              </a:rPr>
              <a:t>l'état de chaque étape, compté depuis le dépôt</a:t>
            </a:r>
            <a:endParaRPr lang="en-US" sz="1300" dirty="0"/>
          </a:p>
        </p:txBody>
      </p:sp>
      <p:sp>
        <p:nvSpPr>
          <p:cNvPr id="13" name="Shape 9"/>
          <p:cNvSpPr/>
          <p:nvPr/>
        </p:nvSpPr>
        <p:spPr>
          <a:xfrm>
            <a:off x="7680960" y="3273552"/>
            <a:ext cx="3959352" cy="768096"/>
          </a:xfrm>
          <a:prstGeom prst="roundRect">
            <a:avLst>
              <a:gd name="adj" fmla="val 11905"/>
            </a:avLst>
          </a:prstGeom>
          <a:solidFill>
            <a:srgbClr val="F3F7F4"/>
          </a:solidFill>
          <a:ln w="12700">
            <a:solidFill>
              <a:srgbClr val="F3F7F4"/>
            </a:solidFill>
            <a:prstDash val="solid"/>
          </a:ln>
        </p:spPr>
      </p:sp>
      <p:sp>
        <p:nvSpPr>
          <p:cNvPr id="14" name="Text 10"/>
          <p:cNvSpPr txBox="1"/>
          <p:nvPr/>
        </p:nvSpPr>
        <p:spPr>
          <a:xfrm>
            <a:off x="7863840" y="3273552"/>
            <a:ext cx="3657600" cy="768096"/>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Benchmarks AnuraSet</a:t>
            </a:r>
            <a:endParaRPr lang="en-US" sz="1300" dirty="0"/>
          </a:p>
          <a:p>
            <a:pPr indent="0" marL="0">
              <a:buNone/>
            </a:pPr>
            <a:r>
              <a:rPr lang="en-US" sz="1150" dirty="0">
                <a:solidFill>
                  <a:srgbClr val="5B6B63"/>
                </a:solidFill>
                <a:latin typeface="Calibri" pitchFamily="34" charset="0"/>
                <a:ea typeface="Calibri" pitchFamily="34" charset="-122"/>
                <a:cs typeface="Calibri" pitchFamily="34" charset="-120"/>
              </a:rPr>
              <a:t>encodeurs et têtes à la carte, amorçage d'un site neuf</a:t>
            </a:r>
            <a:endParaRPr lang="en-US" sz="1300" dirty="0"/>
          </a:p>
        </p:txBody>
      </p:sp>
      <p:sp>
        <p:nvSpPr>
          <p:cNvPr id="15" name="Shape 11"/>
          <p:cNvSpPr/>
          <p:nvPr/>
        </p:nvSpPr>
        <p:spPr>
          <a:xfrm>
            <a:off x="7680960" y="4133088"/>
            <a:ext cx="3959352" cy="768096"/>
          </a:xfrm>
          <a:prstGeom prst="roundRect">
            <a:avLst>
              <a:gd name="adj" fmla="val 11905"/>
            </a:avLst>
          </a:prstGeom>
          <a:solidFill>
            <a:srgbClr val="F3F7F4"/>
          </a:solidFill>
          <a:ln w="12700">
            <a:solidFill>
              <a:srgbClr val="F3F7F4"/>
            </a:solidFill>
            <a:prstDash val="solid"/>
          </a:ln>
        </p:spPr>
      </p:sp>
      <p:sp>
        <p:nvSpPr>
          <p:cNvPr id="16" name="Text 12"/>
          <p:cNvSpPr txBox="1"/>
          <p:nvPr/>
        </p:nvSpPr>
        <p:spPr>
          <a:xfrm>
            <a:off x="7863840" y="4133088"/>
            <a:ext cx="3657600" cy="768096"/>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Un bouton « Commenter » par carte</a:t>
            </a:r>
            <a:endParaRPr lang="en-US" sz="1300" dirty="0"/>
          </a:p>
          <a:p>
            <a:pPr indent="0" marL="0">
              <a:buNone/>
            </a:pPr>
            <a:r>
              <a:rPr lang="en-US" sz="1150" dirty="0">
                <a:solidFill>
                  <a:srgbClr val="5B6B63"/>
                </a:solidFill>
                <a:latin typeface="Calibri" pitchFamily="34" charset="0"/>
                <a:ea typeface="Calibri" pitchFamily="34" charset="-122"/>
                <a:cs typeface="Calibri" pitchFamily="34" charset="-120"/>
              </a:rPr>
              <a:t>commentaires partagés entre tous les lecteurs</a:t>
            </a:r>
            <a:endParaRPr lang="en-US" sz="1300" dirty="0"/>
          </a:p>
        </p:txBody>
      </p:sp>
      <p:sp>
        <p:nvSpPr>
          <p:cNvPr id="17" name="Shape 13"/>
          <p:cNvSpPr/>
          <p:nvPr/>
        </p:nvSpPr>
        <p:spPr>
          <a:xfrm>
            <a:off x="7680960" y="5029200"/>
            <a:ext cx="3959352" cy="768096"/>
          </a:xfrm>
          <a:prstGeom prst="roundRect">
            <a:avLst>
              <a:gd name="adj" fmla="val 11905"/>
            </a:avLst>
          </a:prstGeom>
          <a:solidFill>
            <a:srgbClr val="0E2A24"/>
          </a:solidFill>
          <a:ln w="12700">
            <a:solidFill>
              <a:srgbClr val="0E2A24"/>
            </a:solidFill>
            <a:prstDash val="solid"/>
          </a:ln>
        </p:spPr>
      </p:sp>
      <p:sp>
        <p:nvSpPr>
          <p:cNvPr id="18" name="Text 14"/>
          <p:cNvSpPr txBox="1"/>
          <p:nvPr/>
        </p:nvSpPr>
        <p:spPr>
          <a:xfrm>
            <a:off x="7863840" y="5029200"/>
            <a:ext cx="3657600" cy="768096"/>
          </a:xfrm>
          <a:prstGeom prst="rect">
            <a:avLst/>
          </a:prstGeom>
          <a:noFill/>
          <a:ln/>
        </p:spPr>
        <p:txBody>
          <a:bodyPr wrap="square" lIns="0" tIns="0" rIns="0" bIns="0" rtlCol="0" anchor="ctr"/>
          <a:lstStyle/>
          <a:p>
            <a:pPr indent="0" marL="0">
              <a:buNone/>
            </a:pPr>
            <a:r>
              <a:rPr lang="en-US" sz="1250" b="1"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claude.ai/artifact/DLfBZopGjpLyJPBi9ViLi8</a:t>
            </a:r>
            <a:endParaRPr lang="en-US" sz="1250" dirty="0"/>
          </a:p>
        </p:txBody>
      </p:sp>
      <p:sp>
        <p:nvSpPr>
          <p:cNvPr id="19" name="Shape 15"/>
          <p:cNvSpPr/>
          <p:nvPr/>
        </p:nvSpPr>
        <p:spPr>
          <a:xfrm>
            <a:off x="548640" y="5943600"/>
            <a:ext cx="11094415" cy="457200"/>
          </a:xfrm>
          <a:prstGeom prst="roundRect">
            <a:avLst>
              <a:gd name="adj" fmla="val 20000"/>
            </a:avLst>
          </a:prstGeom>
          <a:solidFill>
            <a:srgbClr val="E4EEE8"/>
          </a:solidFill>
          <a:ln w="12700">
            <a:solidFill>
              <a:srgbClr val="E4EEE8"/>
            </a:solidFill>
            <a:prstDash val="solid"/>
          </a:ln>
        </p:spPr>
      </p:sp>
      <p:sp>
        <p:nvSpPr>
          <p:cNvPr id="20" name="Text 16"/>
          <p:cNvSpPr txBox="1"/>
          <p:nvPr/>
        </p:nvSpPr>
        <p:spPr>
          <a:xfrm>
            <a:off x="822960" y="5943600"/>
            <a:ext cx="10545775" cy="457200"/>
          </a:xfrm>
          <a:prstGeom prst="rect">
            <a:avLst/>
          </a:prstGeom>
          <a:noFill/>
          <a:ln/>
        </p:spPr>
        <p:txBody>
          <a:bodyPr wrap="square" lIns="0" tIns="0" rIns="0" bIns="0" rtlCol="0" anchor="ctr"/>
          <a:lstStyle/>
          <a:p>
            <a:pPr indent="0" marL="0">
              <a:buNone/>
            </a:pPr>
            <a:r>
              <a:rPr lang="en-US" sz="1350" b="1" dirty="0">
                <a:solidFill>
                  <a:srgbClr val="2A7F72"/>
                </a:solidFill>
                <a:latin typeface="Calibri" pitchFamily="34" charset="0"/>
                <a:ea typeface="Calibri" pitchFamily="34" charset="-122"/>
                <a:cs typeface="Calibri" pitchFamily="34" charset="-120"/>
              </a:rPr>
              <a:t>Mis à jour en une commande </a:t>
            </a:r>
            <a:pPr indent="0" marL="0">
              <a:buNone/>
            </a:pPr>
            <a:r>
              <a:rPr lang="en-US" sz="1350" dirty="0">
                <a:solidFill>
                  <a:srgbClr val="1B2A24"/>
                </a:solidFill>
                <a:latin typeface="Calibri" pitchFamily="34" charset="0"/>
                <a:ea typeface="Calibri" pitchFamily="34" charset="-122"/>
                <a:cs typeface="Calibri" pitchFamily="34" charset="-120"/>
              </a:rPr>
              <a:t>depuis le dépôt : les chiffres viennent des fichiers de résultats, jamais recopiés.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2A24"/>
        </a:solidFill>
      </p:bgPr>
    </p:bg>
    <p:spTree>
      <p:nvGrpSpPr>
        <p:cNvPr id="1" name=""/>
        <p:cNvGrpSpPr/>
        <p:nvPr/>
      </p:nvGrpSpPr>
      <p:grpSpPr>
        <a:xfrm>
          <a:off x="0" y="0"/>
          <a:ext cx="0" cy="0"/>
          <a:chOff x="0" y="0"/>
          <a:chExt cx="0" cy="0"/>
        </a:xfrm>
      </p:grpSpPr>
      <p:sp>
        <p:nvSpPr>
          <p:cNvPr id="2" name="Shape 0"/>
          <p:cNvSpPr/>
          <p:nvPr/>
        </p:nvSpPr>
        <p:spPr>
          <a:xfrm>
            <a:off x="548640" y="502920"/>
            <a:ext cx="2377440" cy="329184"/>
          </a:xfrm>
          <a:prstGeom prst="roundRect">
            <a:avLst>
              <a:gd name="adj" fmla="val 50000"/>
            </a:avLst>
          </a:prstGeom>
          <a:solidFill>
            <a:srgbClr val="173D34"/>
          </a:solidFill>
          <a:ln w="12700">
            <a:solidFill>
              <a:srgbClr val="173D34"/>
            </a:solidFill>
            <a:prstDash val="solid"/>
          </a:ln>
        </p:spPr>
      </p:sp>
      <p:sp>
        <p:nvSpPr>
          <p:cNvPr id="3" name="Text 1"/>
          <p:cNvSpPr txBox="1"/>
          <p:nvPr/>
        </p:nvSpPr>
        <p:spPr>
          <a:xfrm>
            <a:off x="548640" y="502920"/>
            <a:ext cx="2377440" cy="329184"/>
          </a:xfrm>
          <a:prstGeom prst="rect">
            <a:avLst/>
          </a:prstGeom>
          <a:noFill/>
          <a:ln/>
        </p:spPr>
        <p:txBody>
          <a:bodyPr wrap="square" lIns="0" tIns="0" rIns="0" bIns="0" rtlCol="0" anchor="ctr"/>
          <a:lstStyle/>
          <a:p>
            <a:pPr algn="ctr" indent="0" marL="0">
              <a:buNone/>
            </a:pPr>
            <a:r>
              <a:rPr lang="en-US" sz="1100" b="1" spc="100" kern="0" dirty="0">
                <a:solidFill>
                  <a:srgbClr val="E9B44C"/>
                </a:solidFill>
                <a:latin typeface="Calibri" pitchFamily="34" charset="0"/>
                <a:ea typeface="Calibri" pitchFamily="34" charset="-122"/>
                <a:cs typeface="Calibri" pitchFamily="34" charset="-120"/>
              </a:rPr>
              <a:t>PROCHAINEMENT</a:t>
            </a:r>
            <a:endParaRPr lang="en-US" sz="1100" dirty="0"/>
          </a:p>
        </p:txBody>
      </p:sp>
      <p:sp>
        <p:nvSpPr>
          <p:cNvPr id="4" name="Text 2"/>
          <p:cNvSpPr txBox="1"/>
          <p:nvPr/>
        </p:nvSpPr>
        <p:spPr>
          <a:xfrm>
            <a:off x="548640" y="960120"/>
            <a:ext cx="10972800" cy="7315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Enfin, le benchmark sur nos données</a:t>
            </a:r>
            <a:endParaRPr lang="en-US" sz="3200" dirty="0"/>
          </a:p>
        </p:txBody>
      </p:sp>
      <p:sp>
        <p:nvSpPr>
          <p:cNvPr id="5" name="Shape 3"/>
          <p:cNvSpPr/>
          <p:nvPr/>
        </p:nvSpPr>
        <p:spPr>
          <a:xfrm>
            <a:off x="548640" y="1920240"/>
            <a:ext cx="5410048" cy="3291840"/>
          </a:xfrm>
          <a:prstGeom prst="roundRect">
            <a:avLst>
              <a:gd name="adj" fmla="val 2778"/>
            </a:avLst>
          </a:prstGeom>
          <a:solidFill>
            <a:srgbClr val="173D34"/>
          </a:solidFill>
          <a:ln w="12700">
            <a:solidFill>
              <a:srgbClr val="173D34"/>
            </a:solidFill>
            <a:prstDash val="solid"/>
          </a:ln>
        </p:spPr>
      </p:sp>
      <p:sp>
        <p:nvSpPr>
          <p:cNvPr id="6" name="Shape 4"/>
          <p:cNvSpPr/>
          <p:nvPr/>
        </p:nvSpPr>
        <p:spPr>
          <a:xfrm>
            <a:off x="822960" y="2148840"/>
            <a:ext cx="438912" cy="438912"/>
          </a:xfrm>
          <a:prstGeom prst="ellipse">
            <a:avLst/>
          </a:prstGeom>
          <a:solidFill>
            <a:srgbClr val="E9B44C"/>
          </a:solidFill>
          <a:ln w="12700">
            <a:solidFill>
              <a:srgbClr val="E9B44C"/>
            </a:solidFill>
            <a:prstDash val="solid"/>
          </a:ln>
        </p:spPr>
      </p:sp>
      <p:sp>
        <p:nvSpPr>
          <p:cNvPr id="7" name="Text 5"/>
          <p:cNvSpPr txBox="1"/>
          <p:nvPr/>
        </p:nvSpPr>
        <p:spPr>
          <a:xfrm>
            <a:off x="822960" y="21488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417320" y="2103120"/>
            <a:ext cx="4312768" cy="777240"/>
          </a:xfrm>
          <a:prstGeom prst="rect">
            <a:avLst/>
          </a:prstGeom>
          <a:noFill/>
          <a:ln/>
        </p:spPr>
        <p:txBody>
          <a:bodyPr wrap="square" lIns="0" tIns="0" rIns="0" bIns="0" rtlCol="0" anchor="ctr"/>
          <a:lstStyle/>
          <a:p>
            <a:pPr indent="0" marL="0">
              <a:buNone/>
            </a:pPr>
            <a:r>
              <a:rPr lang="en-US" sz="1800" b="1" dirty="0">
                <a:solidFill>
                  <a:srgbClr val="E9B44C"/>
                </a:solidFill>
                <a:latin typeface="Calibri" pitchFamily="34" charset="0"/>
                <a:ea typeface="Calibri" pitchFamily="34" charset="-122"/>
                <a:cs typeface="Calibri" pitchFamily="34" charset="-120"/>
              </a:rPr>
              <a:t>Benchmark des encodeurs et des têtes sur mon jeu de données</a:t>
            </a:r>
            <a:endParaRPr lang="en-US" sz="1800" dirty="0"/>
          </a:p>
        </p:txBody>
      </p:sp>
      <p:sp>
        <p:nvSpPr>
          <p:cNvPr id="9" name="Text 7"/>
          <p:cNvSpPr txBox="1"/>
          <p:nvPr/>
        </p:nvSpPr>
        <p:spPr>
          <a:xfrm>
            <a:off x="868680" y="3063240"/>
            <a:ext cx="4815688" cy="205740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A7BFB2"/>
                </a:solidFill>
                <a:latin typeface="Calibri" pitchFamily="34" charset="0"/>
                <a:ea typeface="Calibri" pitchFamily="34" charset="-122"/>
                <a:cs typeface="Calibri" pitchFamily="34" charset="-120"/>
              </a:rPr>
              <a:t>3 encodeurs : Perch 2.0, BirdNET 2.4, BirdNET 3.0</a:t>
            </a:r>
            <a:endParaRPr lang="en-US" sz="1400" dirty="0"/>
          </a:p>
          <a:p>
            <a:pPr marL="177800" indent="-177800">
              <a:spcAft>
                <a:spcPts val="1000"/>
              </a:spcAft>
              <a:buSzPct val="100000"/>
              <a:buChar char="•"/>
            </a:pPr>
            <a:r>
              <a:rPr lang="en-US" sz="1400" dirty="0">
                <a:solidFill>
                  <a:srgbClr val="A7BFB2"/>
                </a:solidFill>
                <a:latin typeface="Calibri" pitchFamily="34" charset="0"/>
                <a:ea typeface="Calibri" pitchFamily="34" charset="-122"/>
                <a:cs typeface="Calibri" pitchFamily="34" charset="-120"/>
              </a:rPr>
              <a:t>têtes : logistique, prototype différentiel, LDA rétrécie, sonde attentive</a:t>
            </a:r>
            <a:endParaRPr lang="en-US" sz="1400" dirty="0"/>
          </a:p>
          <a:p>
            <a:pPr marL="177800" indent="-177800">
              <a:spcAft>
                <a:spcPts val="1000"/>
              </a:spcAft>
              <a:buSzPct val="100000"/>
              <a:buChar char="•"/>
            </a:pPr>
            <a:r>
              <a:rPr lang="en-US" sz="1400" dirty="0">
                <a:solidFill>
                  <a:srgbClr val="A7BFB2"/>
                </a:solidFill>
                <a:latin typeface="Calibri" pitchFamily="34" charset="0"/>
                <a:ea typeface="Calibri" pitchFamily="34" charset="-122"/>
                <a:cs typeface="Calibri" pitchFamily="34" charset="-120"/>
              </a:rPr>
              <a:t>jugées sur les 3 niveaux de points tenus à l'écart</a:t>
            </a:r>
            <a:endParaRPr lang="en-US" sz="1400" dirty="0"/>
          </a:p>
          <a:p>
            <a:pPr marL="177800" indent="-177800">
              <a:spcAft>
                <a:spcPts val="1000"/>
              </a:spcAft>
              <a:buSzPct val="100000"/>
              <a:buChar char="•"/>
            </a:pPr>
            <a:r>
              <a:rPr lang="en-US" sz="1400" dirty="0">
                <a:solidFill>
                  <a:srgbClr val="A7BFB2"/>
                </a:solidFill>
                <a:latin typeface="Calibri" pitchFamily="34" charset="0"/>
                <a:ea typeface="Calibri" pitchFamily="34" charset="-122"/>
                <a:cs typeface="Calibri" pitchFamily="34" charset="-120"/>
              </a:rPr>
              <a:t>AP et rappel par enregistrement ; visé : rappel ≥ 0,85 à précision ≥ 0,1</a:t>
            </a:r>
            <a:endParaRPr lang="en-US" sz="1400" dirty="0"/>
          </a:p>
        </p:txBody>
      </p:sp>
      <p:sp>
        <p:nvSpPr>
          <p:cNvPr id="10" name="Shape 8"/>
          <p:cNvSpPr/>
          <p:nvPr/>
        </p:nvSpPr>
        <p:spPr>
          <a:xfrm>
            <a:off x="6233008" y="1920240"/>
            <a:ext cx="5410048" cy="3291840"/>
          </a:xfrm>
          <a:prstGeom prst="roundRect">
            <a:avLst>
              <a:gd name="adj" fmla="val 2778"/>
            </a:avLst>
          </a:prstGeom>
          <a:solidFill>
            <a:srgbClr val="173D34"/>
          </a:solidFill>
          <a:ln w="12700">
            <a:solidFill>
              <a:srgbClr val="173D34"/>
            </a:solidFill>
            <a:prstDash val="solid"/>
          </a:ln>
        </p:spPr>
      </p:sp>
      <p:sp>
        <p:nvSpPr>
          <p:cNvPr id="11" name="Shape 9"/>
          <p:cNvSpPr/>
          <p:nvPr/>
        </p:nvSpPr>
        <p:spPr>
          <a:xfrm>
            <a:off x="6507328" y="2148840"/>
            <a:ext cx="438912" cy="438912"/>
          </a:xfrm>
          <a:prstGeom prst="ellipse">
            <a:avLst/>
          </a:prstGeom>
          <a:solidFill>
            <a:srgbClr val="2A7F72"/>
          </a:solidFill>
          <a:ln w="12700">
            <a:solidFill>
              <a:srgbClr val="2A7F72"/>
            </a:solidFill>
            <a:prstDash val="solid"/>
          </a:ln>
        </p:spPr>
      </p:sp>
      <p:sp>
        <p:nvSpPr>
          <p:cNvPr id="12" name="Text 10"/>
          <p:cNvSpPr txBox="1"/>
          <p:nvPr/>
        </p:nvSpPr>
        <p:spPr>
          <a:xfrm>
            <a:off x="6507328" y="21488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7101688" y="2103120"/>
            <a:ext cx="4312768"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Module de traitement du signal</a:t>
            </a:r>
            <a:endParaRPr lang="en-US" sz="1800" dirty="0"/>
          </a:p>
        </p:txBody>
      </p:sp>
      <p:sp>
        <p:nvSpPr>
          <p:cNvPr id="14" name="Text 12"/>
          <p:cNvSpPr txBox="1"/>
          <p:nvPr/>
        </p:nvSpPr>
        <p:spPr>
          <a:xfrm>
            <a:off x="6553048" y="3063240"/>
            <a:ext cx="4815688" cy="205740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A7BFB2"/>
                </a:solidFill>
                <a:latin typeface="Calibri" pitchFamily="34" charset="0"/>
                <a:ea typeface="Calibri" pitchFamily="34" charset="-122"/>
                <a:cs typeface="Calibri" pitchFamily="34" charset="-120"/>
              </a:rPr>
              <a:t>filtre passe-bande, PCEN, log-mel, débruitage spectral</a:t>
            </a:r>
            <a:endParaRPr lang="en-US" sz="1400" dirty="0"/>
          </a:p>
          <a:p>
            <a:pPr marL="177800" indent="-177800">
              <a:spcAft>
                <a:spcPts val="1000"/>
              </a:spcAft>
              <a:buSzPct val="100000"/>
              <a:buChar char="•"/>
            </a:pPr>
            <a:r>
              <a:rPr lang="en-US" sz="1400" dirty="0">
                <a:solidFill>
                  <a:srgbClr val="A7BFB2"/>
                </a:solidFill>
                <a:latin typeface="Calibri" pitchFamily="34" charset="0"/>
                <a:ea typeface="Calibri" pitchFamily="34" charset="-122"/>
                <a:cs typeface="Calibri" pitchFamily="34" charset="-120"/>
              </a:rPr>
              <a:t>fenêtres candidates repérées par l'énergie, seuil à hystérésis</a:t>
            </a:r>
            <a:endParaRPr lang="en-US" sz="1400" dirty="0"/>
          </a:p>
          <a:p>
            <a:pPr marL="177800" indent="-177800">
              <a:spcAft>
                <a:spcPts val="1000"/>
              </a:spcAft>
              <a:buSzPct val="100000"/>
              <a:buChar char="•"/>
            </a:pPr>
            <a:r>
              <a:rPr lang="en-US" sz="1400" dirty="0">
                <a:solidFill>
                  <a:srgbClr val="A7BFB2"/>
                </a:solidFill>
                <a:latin typeface="Calibri" pitchFamily="34" charset="0"/>
                <a:ea typeface="Calibri" pitchFamily="34" charset="-122"/>
                <a:cs typeface="Calibri" pitchFamily="34" charset="-120"/>
              </a:rPr>
              <a:t>placé avant l'encodeur ou en parallèle de la tête : le benchmark tranche</a:t>
            </a:r>
            <a:endParaRPr lang="en-US" sz="1400" dirty="0"/>
          </a:p>
          <a:p>
            <a:pPr marL="177800" indent="-177800">
              <a:spcAft>
                <a:spcPts val="1000"/>
              </a:spcAft>
              <a:buSzPct val="100000"/>
              <a:buChar char="•"/>
            </a:pPr>
            <a:r>
              <a:rPr lang="en-US" sz="1400" dirty="0">
                <a:solidFill>
                  <a:srgbClr val="A7BFB2"/>
                </a:solidFill>
                <a:latin typeface="Calibri" pitchFamily="34" charset="0"/>
                <a:ea typeface="Calibri" pitchFamily="34" charset="-122"/>
                <a:cs typeface="Calibri" pitchFamily="34" charset="-120"/>
              </a:rPr>
              <a:t>il module la décision, sans jamais mettre de veto</a:t>
            </a:r>
            <a:endParaRPr lang="en-US" sz="1400" dirty="0"/>
          </a:p>
        </p:txBody>
      </p:sp>
      <p:sp>
        <p:nvSpPr>
          <p:cNvPr id="15" name="Shape 13"/>
          <p:cNvSpPr/>
          <p:nvPr/>
        </p:nvSpPr>
        <p:spPr>
          <a:xfrm>
            <a:off x="548640" y="5440680"/>
            <a:ext cx="11094415" cy="822960"/>
          </a:xfrm>
          <a:prstGeom prst="roundRect">
            <a:avLst>
              <a:gd name="adj" fmla="val 11111"/>
            </a:avLst>
          </a:prstGeom>
          <a:solidFill>
            <a:srgbClr val="E9B44C"/>
          </a:solidFill>
          <a:ln w="12700">
            <a:solidFill>
              <a:srgbClr val="E9B44C"/>
            </a:solidFill>
            <a:prstDash val="solid"/>
          </a:ln>
        </p:spPr>
      </p:sp>
      <p:sp>
        <p:nvSpPr>
          <p:cNvPr id="16" name="Text 14"/>
          <p:cNvSpPr txBox="1"/>
          <p:nvPr/>
        </p:nvSpPr>
        <p:spPr>
          <a:xfrm>
            <a:off x="822960" y="5440680"/>
            <a:ext cx="10545775" cy="822960"/>
          </a:xfrm>
          <a:prstGeom prst="rect">
            <a:avLst/>
          </a:prstGeom>
          <a:noFill/>
          <a:ln/>
        </p:spPr>
        <p:txBody>
          <a:bodyPr wrap="square" lIns="0" tIns="0" rIns="0" bIns="0" rtlCol="0" anchor="ctr"/>
          <a:lstStyle/>
          <a:p>
            <a:pPr indent="0" marL="0">
              <a:buNone/>
            </a:pPr>
            <a:r>
              <a:rPr lang="en-US" sz="1500" b="1" dirty="0">
                <a:solidFill>
                  <a:srgbClr val="0E2A24"/>
                </a:solidFill>
                <a:latin typeface="Calibri" pitchFamily="34" charset="0"/>
                <a:ea typeface="Calibri" pitchFamily="34" charset="-122"/>
                <a:cs typeface="Calibri" pitchFamily="34" charset="-120"/>
              </a:rPr>
              <a:t>Pour vous : </a:t>
            </a:r>
            <a:pPr indent="0" marL="0">
              <a:buNone/>
            </a:pPr>
            <a:r>
              <a:rPr lang="en-US" sz="1500" dirty="0">
                <a:solidFill>
                  <a:srgbClr val="0E2A24"/>
                </a:solidFill>
                <a:latin typeface="Calibri" pitchFamily="34" charset="0"/>
                <a:ea typeface="Calibri" pitchFamily="34" charset="-122"/>
                <a:cs typeface="Calibri" pitchFamily="34" charset="-120"/>
              </a:rPr>
              <a:t>quand pouvez-vous faire la vérification à l'aveugle (10 % des annotations chacun, sur le poste d'annotation) ?</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Détection acoustique d'Anomaloglossus blanci — suivi n° 3</dc:title>
  <dc:subject>PptxGenJS Presentation</dc:subject>
  <dc:creator>Léonard Laplace-Palette</dc:creator>
  <cp:lastModifiedBy>Léonard Laplace-Palette</cp:lastModifiedBy>
  <cp:revision>1</cp:revision>
  <dcterms:created xsi:type="dcterms:W3CDTF">2026-10-22T11:55:36Z</dcterms:created>
  <dcterms:modified xsi:type="dcterms:W3CDTF">2026-10-22T11:55:36Z</dcterms:modified>
</cp:coreProperties>
</file>