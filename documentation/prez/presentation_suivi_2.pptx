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av" ContentType="audio/wav"/>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attention</c:v>
                </c:pt>
              </c:strCache>
            </c:strRef>
          </c:tx>
          <c:spPr>
            <a:solidFill>
              <a:srgbClr val="D9822B"/>
            </a:solidFill>
            <a:effectLst/>
          </c:spPr>
          <c:invertIfNegative val="0"/>
          <c:dLbls>
            <c:numFmt formatCode="0.00" sourceLinked="0"/>
            <c:txPr>
              <a:bodyPr/>
              <a:lstStyle/>
              <a:p>
                <a:pPr>
                  <a:defRPr b="0" i="0" strike="noStrike" sz="1000" u="none">
                    <a:solidFill>
                      <a:srgbClr val="1B2A24"/>
                    </a:solidFill>
                    <a:latin typeface="Arial"/>
                  </a:defRPr>
                </a:pPr>
              </a:p>
            </c:txPr>
            <c:showLegendKey val="0"/>
            <c:showVal val="1"/>
            <c:showCatName val="0"/>
            <c:showSerName val="0"/>
            <c:showPercent val="0"/>
            <c:showBubbleSize val="0"/>
            <c:showLeaderLines val="0"/>
          </c:dLbls>
          <c:cat>
            <c:multiLvlStrRef>
              <c:f>Sheet1!$A$2:$A$5</c:f>
              <c:multiLvlStrCache>
                <c:ptCount val="4"/>
                <c:lvl>
                  <c:pt idx="0">
                    <c:v>x₁ fond</c:v>
                  </c:pt>
                  <c:pt idx="1">
                    <c:v>x₂ fond</c:v>
                  </c:pt>
                  <c:pt idx="2">
                    <c:v>x₃ note</c:v>
                  </c:pt>
                  <c:pt idx="3">
                    <c:v>x₄ oiseau</c:v>
                  </c:pt>
                </c:lvl>
              </c:multiLvlStrCache>
            </c:multiLvlStrRef>
          </c:cat>
          <c:val>
            <c:numRef>
              <c:f>Sheet1!$B$2:$B$5</c:f>
              <c:numCache>
                <c:formatCode>General</c:formatCode>
                <c:ptCount val="4"/>
                <c:pt idx="0">
                  <c:v>0.09</c:v>
                </c:pt>
                <c:pt idx="1">
                  <c:v>0.11</c:v>
                </c:pt>
                <c:pt idx="2">
                  <c:v>0.66</c:v>
                </c:pt>
                <c:pt idx="3">
                  <c:v>0.14</c:v>
                </c:pt>
              </c:numCache>
            </c:numRef>
          </c:val>
        </c:ser>
        <c:ser>
          <c:idx val="1"/>
          <c:order val="1"/>
          <c:tx>
            <c:strRef>
              <c:f>Sheet1!$C$1</c:f>
              <c:strCache>
                <c:ptCount val="1"/>
                <c:pt idx="0">
                  <c:v>moyenne</c:v>
                </c:pt>
              </c:strCache>
            </c:strRef>
          </c:tx>
          <c:spPr>
            <a:solidFill>
              <a:srgbClr val="B8C4BD"/>
            </a:solidFill>
            <a:effectLst/>
          </c:spPr>
          <c:invertIfNegative val="0"/>
          <c:dLbls>
            <c:numFmt formatCode="0.00" sourceLinked="0"/>
            <c:txPr>
              <a:bodyPr/>
              <a:lstStyle/>
              <a:p>
                <a:pPr>
                  <a:defRPr b="0" i="0" strike="noStrike" sz="1000" u="none">
                    <a:solidFill>
                      <a:srgbClr val="1B2A24"/>
                    </a:solidFill>
                    <a:latin typeface="Arial"/>
                  </a:defRPr>
                </a:pPr>
              </a:p>
            </c:txPr>
            <c:showLegendKey val="0"/>
            <c:showVal val="1"/>
            <c:showCatName val="0"/>
            <c:showSerName val="0"/>
            <c:showPercent val="0"/>
            <c:showBubbleSize val="0"/>
            <c:showLeaderLines val="0"/>
          </c:dLbls>
          <c:cat>
            <c:multiLvlStrRef>
              <c:f>Sheet1!$A$2:$A$5</c:f>
              <c:multiLvlStrCache>
                <c:ptCount val="4"/>
                <c:lvl>
                  <c:pt idx="0">
                    <c:v>x₁ fond</c:v>
                  </c:pt>
                  <c:pt idx="1">
                    <c:v>x₂ fond</c:v>
                  </c:pt>
                  <c:pt idx="2">
                    <c:v>x₃ note</c:v>
                  </c:pt>
                  <c:pt idx="3">
                    <c:v>x₄ oiseau</c:v>
                  </c:pt>
                </c:lvl>
              </c:multiLvlStrCache>
            </c:multiLvlStrRef>
          </c:cat>
          <c:val>
            <c:numRef>
              <c:f>Sheet1!$C$2:$C$5</c:f>
              <c:numCache>
                <c:formatCode>General</c:formatCode>
                <c:ptCount val="4"/>
                <c:pt idx="0">
                  <c:v>0.25</c:v>
                </c:pt>
                <c:pt idx="1">
                  <c:v>0.25</c:v>
                </c:pt>
                <c:pt idx="2">
                  <c:v>0.25</c:v>
                </c:pt>
                <c:pt idx="3">
                  <c:v>0.25</c:v>
                </c:pt>
              </c:numCache>
            </c:numRef>
          </c:val>
        </c:ser>
        <c:dLbls>
          <c:numFmt formatCode="0.00" sourceLinked="0"/>
          <c:txPr>
            <a:bodyPr/>
            <a:lstStyle/>
            <a:p>
              <a:pPr>
                <a:defRPr b="0" i="0" strike="noStrike" sz="1000" u="none">
                  <a:solidFill>
                    <a:srgbClr val="1B2A24"/>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63"/>
                </a:solidFill>
                <a:latin typeface="Arial"/>
              </a:defRPr>
            </a:pPr>
            <a:endParaRPr lang="en-US"/>
          </a:p>
        </c:txPr>
        <c:crossAx val="2094734552"/>
        <c:crosses val="autoZero"/>
        <c:auto val="1"/>
        <c:lblAlgn val="ctr"/>
        <c:noMultiLvlLbl val="1"/>
      </c:catAx>
      <c:valAx>
        <c:axId val="2094734552"/>
        <c:scaling>
          <c:orientation val="minMax"/>
          <c:max val="0.8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5B6B63"/>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point de suivi. Plan : un cours sur l'attention en trois diapos, ce qui se fait de mieux aujourd'hui en bioacoustique, BirdCLEF+ 2026, le dépôt GitHub, le jeu de données et la nouvelle stratégie d'annotation décidée avec Élodie, le module séquentiel, le pré-benchmark AnuraSet, les régularisations, et ce que je fais d'ici la prochaine réunion. L'image de fond est un vrai chant d'A. blanci enregistré à Mataroni : les petites notes vers 4,5 kHz.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commence par ce qu'on voit. Un encodeur découpe le spectrogramme d'une fenêtre en morceaux, les jetons : perch_v2 en rend 16 × 4 = 64 pour une fenêtre de 5 s. En haut à gauche, une vraie fenêtre de Mataroni découpée en 64 jetons. À droite, des poids d'attention en illustration : je les ai calculés à la main sur la nouveauté de chaque morceau pour montrer l'idée. Les jetons qui portent les notes d'A. blanci, vers 4,5 kHz, prennent le poids ; la bande d'insectes à 8 kHz, constante, n'en prend pas. Le problème que ça résout : avec la moyenne, chaque jeton pèse 1/64, et la note, qui occupe 2 à 4 jetons, est noyée dans le fond. Le graphique est un calcul à la main sur quatre jetons : le jeton de la note reçoit 0,66 du poids, contre 0,25 avec la moyenne. Et la bonne nouvelle : ces cartes, on peut les tracer avec une vraie tête d'attention entraînée. C'est fait dans le notebook 04 : il superpose les poids de la tête au spectrogramme et en tire une mesure, la part d'attention dans la bande de la note comparée à une attention uniforme. Une tête qui écoute le fond se voit à l'œil, même si son AP est bonne.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Comment la tête choisit ces poids. Chaque jeton x_i est projeté trois fois par des matrices apprises. La clé k_i dit « ce que je contiens », la valeur v_i « ce que je transmets », la requête q « ce que je cherche ». Étape 1 : le score d'un jeton est le produit scalaire q · k_i, divisé par la racine de la dimension d pour que les scores ne grandissent pas avec la dimension (sinon le softmax sature). Étape 2 : le softmax transforme les scores en poids positifs de somme 1 : ce sont les poids de la diapo précédente. Étape 3 : la sortie est la somme des valeurs pondérées, un vecteur par fenêtre, puis une couche linéaire donne le score. Analogie : une bibliothèque. La requête est ma question, les clés sont les titres des livres, les valeurs leur contenu ; je lis surtout les livres dont le titre répond à ma question. Deux usages : dans un transformer, c'est de l'auto-attention, chaque jeton émet sa propre requête et les jetons se « parlent ». Dans notre sonde attentive, l'encodeur est gelé et on n'apprend qu'une seule requête, « où est A. blanci ? », plus la couche linéaire.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Avantages. Un : la note d'A. blanci dure 0,09 s et occupe 2 à 4 jetons sur 64 ; la moyenne la noie, l'attention peut la retrouver. Deux : plusieurs encodeurs candidats sont des transformers, Bird-MAE, BEATs, NatureBEATs. Jugés avec une tête linéaire sur leur embedding moyen, ils sont sous-estimés : BEATs passe de 94,10 à 97,98 AUROC sur BEANS en changeant seulement de tête. Sans sonde attentive, on écarterait à tort des encodeurs peut-être meilleurs, et peut-être libres. Trois : la carte des poids se contrôle à l'œil et donne une mesure de plus (notebook 04). Inconvénients. Un : il faut stocker les jetons, 64 vecteurs par fenêtre au lieu d'un. Deux : la tête apprend une requête de 1 536 valeurs en plus des 1 536 poids de la logistique, soit deux fois plus de paramètres pour le même petit nombre d'enregistrements positifs ; avec peu d'exemples, elle risque d'apprendre par cœur le fond de ses exemples d'entraînement au lieu du chant : c'est le sur-apprentissage. Trois : le gain n'est pas garanti. Dans BirdCLEF+ 2026, l'équipe DS@GT a perdu 0,013 à 0,035 point de score avec une tête à attention ; ils l'attribuent à des fenêtres d'entraînement et d'inférence de durées différentes. Ce n'est pas lié à l'amorçage d'un site. Verdict : la logistique reste la tête par défaut. La sonde attentive s'essaie sur tout encodeur qui fournit ses jetons, pas seulement les transformers : perch_v2, un CNN, les fournit déjà. On ne la garde que si elle fait mieux sur des points d'écoute tenus à l'écart, c'est-à-dire des couples site et micro qui n'ont servi ni à l'entraînement ni au réglage : la situation d'une future campagne sur de nouveaux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angles. Les encodeurs : Perch 2.0 (Google DeepMind, 2025) est la référence en sondage linéaire, avec une ROC-AUC de 0,908 sur BirdSet ; MetaPerch (ICML 2026) fait jeu égal en moyenne et mieux en Amérique du Sud, grâce aux métadonnées apprises pendant l'entraînement ; Bird-MAE et NatureBEATs sont excellents mais seulement avec une tête sur leurs jetons ; BirdNET+ V3 est en préversion, 11 000 espèces. Les chaînes de traitement, telles que les ont construites les cinq premiers de BirdCLEF+ 2026 : Perch v2 sert de professeur, ses embeddings sont copiés (distillés) dans des réseaux convolutifs plus rapides ; le modèle annote ensuite lui-même les heures d'audio non étiquetées (pseudo-labels) et on le réentraîne dessus ; enfin des a priori de site et d'heure et un lissage dans le temps. Les ensembles : les cinq premiers combinent tous de 3 à 10 modèles différents, et la diversité des modèles rapporte plus que le meilleur modèle seul. Les anoures : il n'existe pas de modèle de fondation dédié ; les embeddings appris sur les oiseaux transfèrent aux anoures (BirdNET et Perch sur AnuraSet) ; une étude de 2025 dans Ecological Informatics sur un anoure tropical en danger critique trouve que le transfert d'un modèle de fondation plus une tête simple bat les gabarits, un CNN dédié, la recherche par similarité et le zéro-shot ; à BirdCLEF+ 2026, le premier a ajouté un spécialiste amphibiens et insectes et un modèle au niveau du genre pour les amphibiens rares. Ce qu'on en garde : la base de toutes ces solutions est la nôtre, Perch v2 gelé plus une tête. Ce qui s'ajoute au-dessus, distillation, pseudo-labels, ensembles, demande un GPU et des centaines d'heures non étiquetées : on le garde pour après le choix de l'encodeur, et seulement si l'i5 de l'ONF peut le faire tourner.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concours. BirdCLEF+ 2026, sur Kaggle, organisé par le Cornell Lab of Ornithology dans le cadre de LifeCLEF, du 11 mars au 3 juin 2026 ; 4 094 équipes ; working notes présentées à CLEF 2026, à Iéna, du 21 au 24 septembre. Les données : 234 classes. Ce sont surtout des espèces : 162 oiseaux, 35 amphibiens, 8 mammifères, 1 reptile ; plus 28 « sonotypes » d'insectes, des types de sons reconnus mais sans espèce nommée. Pour l'entraînement : 344 h d'enregistrements ciblés venant de Xeno-canto et d'iNaturalist, un animal au premier plan, et 178 h de paysages sonores de 23 sites du Pantanal, dont une heure seulement étiquetée. Le test : environ 600 enregistrements d'une minute, cachés. La contrainte : la soumission est un notebook Kaggle sur processeur seul, 4 cœurs, sans GPU ni internet, qui doit prédire tout le jeu de test en 90 minutes au plus. L'entraînement se fait ailleurs, sans limite. Le score : ROC-AUC macro, par fenêtre de 5 s. Le « score final » du tableau est celui du classement dit privé : le jeu de test est coupé en deux parties : l'une sert au classement affiché pendant le concours, l'autre reste cachée et ne sert qu'au classement final, pour punir ceux qui ont réglé leur modèle sur le classement affiché. Les approches du top 5, lues dans leurs comptes rendus. Premier, Nikita Babych, 0,966 : neuf réseaux convolutifs dont on copie d'abord les embeddings de Perch v2 (un seul copie AudioProtoPNet), puis affinés et entraînés en Noisy Student ; plus un spécialiste amphibiens et insectes entraîné sur 1 903 espèces de Xeno-canto et d'iNaturalist, un modèle qui prédit le genre plutôt que l'espèce pour les amphibiens rares, et Perch v2 tel quel. Noisy Student, c'est de l'auto-apprentissage : un modèle professeur annote l'audio non étiqueté, un élève apprend sur ces annotations avec du bruit ajouté (augmentations), puis l'élève devient le professeur du tour suivant ; chez lui, 0,935 sans, 0,950 après deux tours. Deuxième, tennogh, 0,960 : cinq tours de pseudo-labels, des réseaux pré-entraînés sur Xeno-canto par la deuxième équipe de 2025, une perte qui optimise directement l'AUC, un spécialiste insectes, et deux chaînes publiques (Perch et un SED distillé) ; il a volontairement renoncé à distiller Perch dans ses modèles pour qu'ils restent différents. Troisième, kapenon, 0,960 : trois modèles seulement, deux EfficientNetV2 repris de la deuxième place 2025 et un SEResNeXt distillé de Perch v2, un seul tour de pseudo-labels, des a priori de site et d'heure, et le moteur OpenVINO pour aller vite sur CPU. Quatrième, Tony Li, Yiheng Wang et Starry, 0,959 : Perch v2 tel quel pour 40 % de l'ensemble, deux SED et deux SED distillés de Perch ; seuls les pseudo-labels tirés de Perch ont aidé ; ajouter AnuraSet en données externes a fait baisser leur score, par écart de domaine. Cinquième, Jiacheng Ma, 0,958 : quatre CNN (HGNetV2, EfficientNetV2 en 5 et 10 s, EfficientNet-B3) plus une chaîne ProtoSSM et un SED distillé ; distillation de Perch, auto-distillation, pseudo-labels, et une augmentation qui change le gain par bande de fréquence ; son code est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 Miyaguchi, Gustineli et Cheung (Georgia Tech, équipe DS@GT), « Can Tokens Compete? », arXiv 2607.14474. Leur constat de départ ressemble au nôtre : les amphibiens font 1,3 % des enregistrements ciblés d'entraînement, mais on en entend dans 76,6 % des fenêtres de paysages sonores étiquetées. Et 72 des 234 classes ne sont pas dans les classes de Perch. Pour elles, ils construisent une tête à prototypes sur les embeddings de Perch v2 gelé : mu plus est la moyenne des fenêtres où l'espèce est présente, mu moins la moyenne de celles où elle est absente, et le score est cos(e, mu plus) − cos(e, mu moins). C'est notre prototype différentiel, en similarité cosinus. Résultat : AP macro de 0,895 sur les non-oiseaux, contre 0,074 pour leur réseau entraîné seul, et +0,011 au score final. Deux réserves. Un : cette AP est mesurée sur les 66 fichiers étiquetés qui servent aussi à construire les prototypes ; aucun découpage entraînement / test n'est indiqué, donc le chiffre est probablement trop beau. Deux : dans une autre expérience de leur annexe, validée site par site, pour les 28 espèces qui n'ont aucun enregistrement ciblé, les prototypes tombent au hasard, et leur régression ridge aussi : sans exemple de l'espèce, aucune tête ne la trouve. Pour nous : A. blanci n'est pas dans les classes de Perch. Cet article montre que les prototypes fonctionnent sur les embeddings de Perch même pour des espèces qu'il n'a pas appris à nommer : c'est ce qui justifie le prototype différentiel pour amorcer un nouveau point, et la logistique dès qu'il y a des exemples.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dépôt du projet est sur GitHub, à mon nom : Rumble-Paw-Patrol, dépôt Grenouille. Vous y trouvez le code, la feuille de route, le journal de toutes les décisions, les rapports de benchmarks et cette présentation. Les enregistrements audio de l'ONF restent sur les disques : seuls 66 extraits de 10 s servent d'échantillon de test. Il me faut vos identifiants GitHub pour vous ajouter au dépôt.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L'inventaire est complet depuis le 29 septembre. Deux jeux. La phénologie 2023-2024 : trois sites (Kaw, Molokoï, Trésor), deux enregistreurs par site, un an de décembre 2023 à novembre 2024, 66 779 enregistrements, 2 225 h. La campagne 2026 : cinq sites (Mataroni, RNRT, CDR, Patawa Est, Patawa Ouest), un relevé d'environ une semaine par site, 29 513 enregistrements, 979 h. Tous les enregistrements font 2 min, toutes les 30 min de 5 h à 20 h, en 48 kHz stéréo. Au total 3 204 h et 2,2 To. Après les drapeaux (durée anormale, hors relevé, micro dans le sac, horloge douteuse), 94 588 enregistrements restent encodables, soit 4,5 millions de fenêtres de 5 s au pas de 2,5 s. Deux conséquences. En 2026, chaque site n'a été enregistré qu'une semaine : le mois est confondu avec le site, seul le jeu 2023 couvre toutes les saisons. Et les 345 positifs et 150 négatifs importés de Blancinet sortent de l'entraînement et de l'évaluation : ils avaient été choisis par un détecteur et ne couvraient que Mataroni.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Décision de l'entretien avec Élodie, le 29 septembre : on repart de zéro. J'annote seul ; Élodie et Benoît vérifient un sous-échantillon ; aucun benchmark sur ces données avant leur go. Un fait structure tout le tirage : les prochaines campagnes seront toutes d'une semaine, en saison des pluies, à Mataroni, sur de nouveaux points d'écoute. Le jeu de test doit donc imiter cette situation : des points de Mataroni jamais vus à l'entraînement, enregistrés en saison des pluies. Étape 1, avant toute écoute, je répartis les points d'écoute entre entraînement et test : aucun point ne sert aux deux. Étape 2, le jeu d'entraînement : environ 450 extraits de 30 s, trois par point (pic du matin, pic du soir, une autre tranche) ; la validation, qui sert à régler la tête, se fait à l'intérieur par validation croisée groupée par point. Étape 3, le jeu de test : environ 250 enregistrements de 2 min écoutés en entier sur les points tenus à l'écart, avec au moins 60 positifs. Étape 4, la vérification à l'aveugle par Élodie et Benoît : mon label est caché et l'ordre mélangé ; environ 2 h 30 d'écoute chacun. Étape 5, le go : zéro erreur sur 60 positifs, au plus un chant manqué sur 100 négatifs. Trois principes. Aucun détecteur dans le tirage, sinon le jeu hérite de ses angles morts. Le point d'écoute, c'est-à-dire le couple site et micro, compte plus que le nombre d'enregistrements : quarante enregistrements d'un même micro partagent le même fond sonore et n'apprennent presque rien de plus qu'un seul ; mieux vaut trois enregistrements sur cent points que trois cents sur un. Enfin, positifs et négatifs sont tirés dans les mêmes conditions, même point et même tranche horaire : si les positifs venaient tous du matin et les négatifs de l'après-midi, la tête apprendrait « matin » au lieu du chant.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module séquentiel mesure sur l'audio ce que l'encodeur ne voit pas dans une fenêtre de 5 s : le rythme. Une note d'A. blanci dure 0,09 à 0,10 s, dans la bande 4,4–5,5 kHz, et les notes reviennent toutes les 1,2 à 1,9 s. Le module détecte les débuts de notes dans cette bande (traits cyan) et mesure les intervalles entre elles, sans aucun apprentissage. En bas de chaque spectrogramme, l'énergie dans la bande et le seuil de détection en orange. Cliquez sur l'icône pour écouter chaque extrait de 10 s. À gauche, un chant net : 5 notes retenues, intervalle médian 1,61 s, 75 % des intervalles dans la plage d'A. blanci. Au centre, un faux ami, Adenomera andreae : même bande, intervalle médian 1,66 s, 50 % des intervalles dans la plage. Le rythme seul ne sépare donc pas les deux : c'est pour ça que le module ne met jamais de veto et que ses descripteurs sont combinés au score de la tête, qui, lui, voit la forme de la note. À droite, un chant faible au point RB04, bien audible : aucune note retenue. Les notes ne dépassent le seuil que 10 à 60 ms, alors que le filtre de durée en demande 70 à 130. À corriger avant de s'en servir : mesurer la durée à un seuil plus bas que celui qui déclenche la détection (seuil à hystérésis).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en cours de mise à jour dans une autre session : à compléter.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régularisation classique, la L2, tire les poids vers zéro. Les trois méthodes présentées ici les tirent vers une solution qu'on sait déjà raisonnable : on parle de rétrécissement vers un a priori (shrinkage). En langage bayésien, c'est un a priori gaussien centré sur une référence au lieu de zéro. Un : rétrécir la logistique vers le prototype. On ajoute à la perte lambda fois la distance au carré entre les poids w et le prototype différentiel, mu plus moins mu moins. Avec lambda grand, la tête reste le prototype, qui marche avec très peu d'exemples ; avec lambda petit, elle devient une logistique libre. Lambda se règle par validation croisée groupée par point d'écoute : avec peu d'annotations sur un point neuf, la tête reste près du prototype, puis s'en écarte à mesure que les exemples arrivent. Deux : l'analyse discriminante linéaire à covariance rétrécie. Ses poids sont l'inverse de la covariance fois l'écart des moyennes. On mélange la covariance estimée S avec une covariance sphérique : gamma égal un donne exactement le prototype différentiel, gamma égal zéro une covariance entièrement apprise, proche de la logistique. Gamma se calcule directement par la formule de Ledoit et Wolf, sans réglage. Sur AnuraSet, c'est la meilleure tête pour Bird-MAE et ProtoCLR. Trois : L2-SP, pour le jour où l'on affine l'encodeur lui-même (LoRA, distillation) : on pénalise l'écart des poids du réseau aux poids pré-entraînés, au lieu de leur norme. Le réseau s'adapte à nos données sans oublier ce qu'il a appris sur 1,5 million d'enregistrements. L'outil est prêt, pour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problème : la note d'A. blanci occupe environ 2 % d'une fenêtre de 3 s ; le reste, c'est le fond du site et du micro. Les embeddings se regroupent alors par site plutôt que par espèce, et une tête peut apprendre le site au lieu du chant. Ces régularisations retirent de l'embedding ce qui dit le point d'écoute. Centrage par point : soustraire la moyenne des embeddings du point, dans l'esprit du prototype différentiel. AdaBN : centrer et réduire chaque site. Retrait de directions : effacer les directions qui prédisent le micro, par les méthodes INLP ou LEACE ; jamais combiné au centrage par point, car la combinaison efface le chant. Biais par point : un décalage par point d'écoute, rétréci vers zéro, comme dans un modèle mixte. DANN : apprendre une représentation dont on ne peut pas deviner le micro. Mélange de fond : coller des notes sur le fond d'autres sites. Et une régularisation qui vient de la nouvelle stratégie d'annotation : noter solo ou chœur et la qualité A/B/C, puis les apprendre comme tâches auxiliaires, oblige la tête à s'appuyer sur ce qui est commun à tous les A. blanci, la note et le rythme ; essayé seulement si chaque sous-classe compte au moins 30 enregistrements indépendants. Toutes se jugent sur des points tenus à l'écart, jamais en validation croisée sur des points connus : dans ce cas, le raccourci du site reste vrai et les classements s'inversent.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D'ici la prochaine réunion, dans deux à trois semaines. Un : annoter mon jeu, le jeu d'entraînement et le jeu de test, tirés par script sans aucun détecteur. Deux : faire vérifier un sous-échantillon par Élodie et Benoît, à l'aveugle, corriger, et écrire le go. Trois : lancer le benchmark sur mes propres données, avec le même gabarit que le benchmark AnuraSet, sur des points tenus à l'écart. Quatre : présenter ce benchmark et conclure à la prochaine réunion. Deux questions pour vous : vos identifiants GitHub pour ouvrir le dépôt, et la possibilité d'encoder dans le cloud plutôt que sur mon portable ou sur les machines de l'ONF.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Rumble-Paw-Patrol/Grenouille" TargetMode="External"/><Relationship Id="rId1" Type="http://schemas.openxmlformats.org/officeDocument/2006/relationships/image" Target="../media/image-8-1.jp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audio" Target="../media/media-11-2.wav"/><Relationship Id="rId3" Type="http://schemas.microsoft.com/office/2007/relationships/media" Target="../media/media-11-2.wav"/><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audio" Target="../media/media-11-6.wav"/><Relationship Id="rId7" Type="http://schemas.microsoft.com/office/2007/relationships/media" Target="../media/media-11-6.wav"/><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audio" Target="../media/media-11-10.wav"/><Relationship Id="rId11" Type="http://schemas.microsoft.com/office/2007/relationships/media" Target="../media/media-11-10.wav"/><Relationship Id="rId12" Type="http://schemas.openxmlformats.org/officeDocument/2006/relationships/image" Target="../media/image-11-12.png"/><Relationship Id="rId13" Type="http://schemas.openxmlformats.org/officeDocument/2006/relationships/slideLayout" Target="../slideLayouts/slideLayout1.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24"/>
        </a:solidFill>
      </p:bgPr>
    </p:bg>
    <p:spTree>
      <p:nvGrpSpPr>
        <p:cNvPr id="1" name=""/>
        <p:cNvGrpSpPr/>
        <p:nvPr/>
      </p:nvGrpSpPr>
      <p:grpSpPr>
        <a:xfrm>
          <a:off x="0" y="0"/>
          <a:ext cx="0" cy="0"/>
          <a:chOff x="0" y="0"/>
          <a:chExt cx="0" cy="0"/>
        </a:xfrm>
      </p:grpSpPr>
      <p:pic>
        <p:nvPicPr>
          <p:cNvPr id="2" name="Image 0" descr="/home/user/Grenouille/documentation/presentation-suivi-2/figures/titre.png">    </p:cNvPr>
          <p:cNvPicPr>
            <a:picLocks noChangeAspect="1"/>
          </p:cNvPicPr>
          <p:nvPr/>
        </p:nvPicPr>
        <p:blipFill>
          <a:blip r:embed="rId1"/>
          <a:srcRect l="0" r="0" t="0" b="0"/>
          <a:stretch/>
        </p:blipFill>
        <p:spPr>
          <a:xfrm>
            <a:off x="7863840" y="0"/>
            <a:ext cx="4327855" cy="6858000"/>
          </a:xfrm>
          <a:prstGeom prst="rect">
            <a:avLst/>
          </a:prstGeom>
        </p:spPr>
      </p:pic>
      <p:sp>
        <p:nvSpPr>
          <p:cNvPr id="3" name="Shape 0"/>
          <p:cNvSpPr/>
          <p:nvPr/>
        </p:nvSpPr>
        <p:spPr>
          <a:xfrm>
            <a:off x="548640" y="1143000"/>
            <a:ext cx="3566160" cy="329184"/>
          </a:xfrm>
          <a:prstGeom prst="roundRect">
            <a:avLst>
              <a:gd name="adj" fmla="val 50000"/>
            </a:avLst>
          </a:prstGeom>
          <a:solidFill>
            <a:srgbClr val="173D34"/>
          </a:solidFill>
          <a:ln w="12700">
            <a:solidFill>
              <a:srgbClr val="173D34"/>
            </a:solidFill>
            <a:prstDash val="solid"/>
          </a:ln>
        </p:spPr>
      </p:sp>
      <p:sp>
        <p:nvSpPr>
          <p:cNvPr id="4" name="Text 1"/>
          <p:cNvSpPr txBox="1"/>
          <p:nvPr/>
        </p:nvSpPr>
        <p:spPr>
          <a:xfrm>
            <a:off x="548640" y="1143000"/>
            <a:ext cx="3566160" cy="329184"/>
          </a:xfrm>
          <a:prstGeom prst="rect">
            <a:avLst/>
          </a:prstGeom>
          <a:noFill/>
          <a:ln/>
        </p:spPr>
        <p:txBody>
          <a:bodyPr wrap="square" lIns="0" tIns="0" rIns="0" bIns="0" rtlCol="0" anchor="ctr"/>
          <a:lstStyle/>
          <a:p>
            <a:pPr algn="ctr" indent="0" marL="0">
              <a:buNone/>
            </a:pPr>
            <a:r>
              <a:rPr lang="en-US" sz="1100" b="1" spc="100" kern="0" dirty="0">
                <a:solidFill>
                  <a:srgbClr val="E9B44C"/>
                </a:solidFill>
                <a:latin typeface="Calibri" pitchFamily="34" charset="0"/>
                <a:ea typeface="Calibri" pitchFamily="34" charset="-122"/>
                <a:cs typeface="Calibri" pitchFamily="34" charset="-120"/>
              </a:rPr>
              <a:t>STAGE ONF GUYANE · SUIVI N° 2</a:t>
            </a:r>
            <a:endParaRPr lang="en-US" sz="1100" dirty="0"/>
          </a:p>
        </p:txBody>
      </p:sp>
      <p:sp>
        <p:nvSpPr>
          <p:cNvPr id="5" name="Text 2"/>
          <p:cNvSpPr txBox="1"/>
          <p:nvPr/>
        </p:nvSpPr>
        <p:spPr>
          <a:xfrm>
            <a:off x="548640" y="1737360"/>
            <a:ext cx="713232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Détection acoustique d'</a:t>
            </a:r>
            <a:endParaRPr lang="en-US" sz="4200" dirty="0"/>
          </a:p>
          <a:p>
            <a:pPr indent="0" marL="0">
              <a:buNone/>
            </a:pPr>
            <a:r>
              <a:rPr lang="en-US" sz="4200" b="1" i="1" dirty="0">
                <a:solidFill>
                  <a:srgbClr val="FFFFFF"/>
                </a:solidFill>
                <a:latin typeface="Cambria" pitchFamily="34" charset="0"/>
                <a:ea typeface="Cambria" pitchFamily="34" charset="-122"/>
                <a:cs typeface="Cambria" pitchFamily="34" charset="-120"/>
              </a:rPr>
              <a:t>Anomaloglossus blanci</a:t>
            </a:r>
            <a:endParaRPr lang="en-US" sz="4200" dirty="0"/>
          </a:p>
        </p:txBody>
      </p:sp>
      <p:sp>
        <p:nvSpPr>
          <p:cNvPr id="6" name="Text 3"/>
          <p:cNvSpPr txBox="1"/>
          <p:nvPr/>
        </p:nvSpPr>
        <p:spPr>
          <a:xfrm>
            <a:off x="548640" y="3520440"/>
            <a:ext cx="6949440" cy="640080"/>
          </a:xfrm>
          <a:prstGeom prst="rect">
            <a:avLst/>
          </a:prstGeom>
          <a:noFill/>
          <a:ln/>
        </p:spPr>
        <p:txBody>
          <a:bodyPr wrap="square" lIns="0" tIns="0" rIns="0" bIns="0" rtlCol="0" anchor="t"/>
          <a:lstStyle/>
          <a:p>
            <a:pPr indent="0" marL="0">
              <a:buNone/>
            </a:pPr>
            <a:r>
              <a:rPr lang="en-US" sz="1700" dirty="0">
                <a:solidFill>
                  <a:srgbClr val="A7BFB2"/>
                </a:solidFill>
                <a:latin typeface="Calibri" pitchFamily="34" charset="0"/>
                <a:ea typeface="Calibri" pitchFamily="34" charset="-122"/>
                <a:cs typeface="Calibri" pitchFamily="34" charset="-120"/>
              </a:rPr>
              <a:t>Attention · état de l'art · BirdCLEF+ 2026 · données et annotation · module séquentiel · régularisations</a:t>
            </a:r>
            <a:endParaRPr lang="en-US" sz="1700" dirty="0"/>
          </a:p>
        </p:txBody>
      </p:sp>
      <p:sp>
        <p:nvSpPr>
          <p:cNvPr id="7" name="Text 4"/>
          <p:cNvSpPr txBox="1"/>
          <p:nvPr/>
        </p:nvSpPr>
        <p:spPr>
          <a:xfrm>
            <a:off x="548640" y="4343400"/>
            <a:ext cx="5486400" cy="320040"/>
          </a:xfrm>
          <a:prstGeom prst="rect">
            <a:avLst/>
          </a:prstGeom>
          <a:noFill/>
          <a:ln/>
        </p:spPr>
        <p:txBody>
          <a:bodyPr wrap="square" lIns="0" tIns="0" rIns="0" bIns="0" rtlCol="0" anchor="t"/>
          <a:lstStyle/>
          <a:p>
            <a:pPr indent="0" marL="0">
              <a:buNone/>
            </a:pPr>
            <a:r>
              <a:rPr lang="en-US" sz="1300" dirty="0">
                <a:solidFill>
                  <a:srgbClr val="A7BFB2"/>
                </a:solidFill>
                <a:latin typeface="Calibri" pitchFamily="34" charset="0"/>
                <a:ea typeface="Calibri" pitchFamily="34" charset="-122"/>
                <a:cs typeface="Calibri" pitchFamily="34" charset="-120"/>
              </a:rPr>
              <a:t>Léonard Laplace-Palette · 30 septembre 2026</a:t>
            </a:r>
            <a:endParaRPr lang="en-US" sz="1300" dirty="0"/>
          </a:p>
        </p:txBody>
      </p:sp>
      <p:sp>
        <p:nvSpPr>
          <p:cNvPr id="8" name="Text 5"/>
          <p:cNvSpPr txBox="1"/>
          <p:nvPr/>
        </p:nvSpPr>
        <p:spPr>
          <a:xfrm>
            <a:off x="8001000" y="6446520"/>
            <a:ext cx="4023360" cy="274320"/>
          </a:xfrm>
          <a:prstGeom prst="rect">
            <a:avLst/>
          </a:prstGeom>
          <a:noFill/>
          <a:ln/>
        </p:spPr>
        <p:txBody>
          <a:bodyPr wrap="square" lIns="0" tIns="0" rIns="0" bIns="0" rtlCol="0" anchor="t"/>
          <a:lstStyle/>
          <a:p>
            <a:pPr indent="0" marL="0">
              <a:buNone/>
            </a:pPr>
            <a:r>
              <a:rPr lang="en-US" sz="900" i="1" dirty="0">
                <a:solidFill>
                  <a:srgbClr val="FFFFFF"/>
                </a:solidFill>
                <a:latin typeface="Calibri" pitchFamily="34" charset="0"/>
                <a:ea typeface="Calibri" pitchFamily="34" charset="-122"/>
                <a:cs typeface="Calibri" pitchFamily="34" charset="-120"/>
              </a:rPr>
              <a:t>Fond : un chant d'A. blanci enregistré à Mataroni (spectrogramme, 1–9 kHz)</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48740"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1348740"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ATTENTION · 1/3</a:t>
            </a:r>
            <a:endParaRPr lang="en-US" sz="1000" dirty="0"/>
          </a:p>
        </p:txBody>
      </p:sp>
      <p:sp>
        <p:nvSpPr>
          <p:cNvPr id="4" name="Text 2"/>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2800" b="1" dirty="0">
                <a:solidFill>
                  <a:srgbClr val="1B2A24"/>
                </a:solidFill>
                <a:latin typeface="Cambria" pitchFamily="34" charset="0"/>
                <a:ea typeface="Cambria" pitchFamily="34" charset="-122"/>
                <a:cs typeface="Cambria" pitchFamily="34" charset="-120"/>
              </a:rPr>
              <a:t>Ce que fait l'attention : pondérer les jetons au lieu de les moyenner</a:t>
            </a:r>
            <a:endParaRPr lang="en-US" sz="2800" dirty="0"/>
          </a:p>
        </p:txBody>
      </p:sp>
      <p:sp>
        <p:nvSpPr>
          <p:cNvPr id="5" name="Text 3"/>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2</a:t>
            </a:r>
            <a:endParaRPr lang="en-US" sz="900" dirty="0"/>
          </a:p>
        </p:txBody>
      </p:sp>
      <p:pic>
        <p:nvPicPr>
          <p:cNvPr id="7" name="Image 0" descr="/home/user/Grenouille/documentation/presentation-suivi-2/figures/patchs_attention.png">    </p:cNvPr>
          <p:cNvPicPr>
            <a:picLocks noChangeAspect="1"/>
          </p:cNvPicPr>
          <p:nvPr/>
        </p:nvPicPr>
        <p:blipFill>
          <a:blip r:embed="rId1"/>
          <a:stretch>
            <a:fillRect/>
          </a:stretch>
        </p:blipFill>
        <p:spPr>
          <a:xfrm>
            <a:off x="1051560" y="1463040"/>
            <a:ext cx="10058400" cy="3108960"/>
          </a:xfrm>
          <a:prstGeom prst="rect">
            <a:avLst/>
          </a:prstGeom>
        </p:spPr>
      </p:pic>
      <p:graphicFrame>
        <p:nvGraphicFramePr>
          <p:cNvPr id="8" name="Chart 0" descr=""/>
          <p:cNvGraphicFramePr/>
          <p:nvPr/>
        </p:nvGraphicFramePr>
        <p:xfrm>
          <a:off x="548640" y="4709160"/>
          <a:ext cx="4937760" cy="1645920"/>
        </p:xfrm>
        <a:graphic xmlns:a="http://schemas.openxmlformats.org/drawingml/2006/main">
          <a:graphicData uri="http://schemas.openxmlformats.org/drawingml/2006/chart">
            <c:chart xmlns:c="http://schemas.openxmlformats.org/drawingml/2006/chart" r:id="rId2"/>
          </a:graphicData>
        </a:graphic>
      </p:graphicFrame>
      <p:sp>
        <p:nvSpPr>
          <p:cNvPr id="9" name="Shape 4"/>
          <p:cNvSpPr/>
          <p:nvPr/>
        </p:nvSpPr>
        <p:spPr>
          <a:xfrm>
            <a:off x="5760720" y="4754880"/>
            <a:ext cx="5879592" cy="1508760"/>
          </a:xfrm>
          <a:prstGeom prst="roundRect">
            <a:avLst>
              <a:gd name="adj" fmla="val 6061"/>
            </a:avLst>
          </a:prstGeom>
          <a:solidFill>
            <a:srgbClr val="0E2A24"/>
          </a:solidFill>
          <a:ln w="12700">
            <a:solidFill>
              <a:srgbClr val="0E2A24"/>
            </a:solidFill>
            <a:prstDash val="solid"/>
          </a:ln>
        </p:spPr>
      </p:sp>
      <p:sp>
        <p:nvSpPr>
          <p:cNvPr id="10" name="Text 5"/>
          <p:cNvSpPr txBox="1"/>
          <p:nvPr/>
        </p:nvSpPr>
        <p:spPr>
          <a:xfrm>
            <a:off x="5989320" y="4754880"/>
            <a:ext cx="5486400" cy="1508760"/>
          </a:xfrm>
          <a:prstGeom prst="rect">
            <a:avLst/>
          </a:prstGeom>
          <a:noFill/>
          <a:ln/>
        </p:spPr>
        <p:txBody>
          <a:bodyPr wrap="square" lIns="0" tIns="0" rIns="0" bIns="0" rtlCol="0" anchor="ctr"/>
          <a:lstStyle/>
          <a:p>
            <a:pPr indent="0" marL="0">
              <a:buNone/>
            </a:pPr>
            <a:r>
              <a:rPr lang="en-US" sz="1400" b="1" dirty="0">
                <a:solidFill>
                  <a:srgbClr val="E9B44C"/>
                </a:solidFill>
                <a:latin typeface="Calibri" pitchFamily="34" charset="0"/>
                <a:ea typeface="Calibri" pitchFamily="34" charset="-122"/>
                <a:cs typeface="Calibri" pitchFamily="34" charset="-120"/>
              </a:rPr>
              <a:t>Visible avec une vraie tête : </a:t>
            </a:r>
            <a:pPr indent="0" marL="0">
              <a:buNone/>
            </a:pPr>
            <a:r>
              <a:rPr lang="en-US" sz="1400" dirty="0">
                <a:solidFill>
                  <a:srgbClr val="FFFFFF"/>
                </a:solidFill>
                <a:latin typeface="Calibri" pitchFamily="34" charset="0"/>
                <a:ea typeface="Calibri" pitchFamily="34" charset="-122"/>
                <a:cs typeface="Calibri" pitchFamily="34" charset="-120"/>
              </a:rPr>
              <a:t>le notebook 04 trace les poids de la tête attentive sur le spectrogramme et mesure la part d'attention posée sur la bande de la note. Une tête qui écoute le fond se voit à l'œil.</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48740"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1348740"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ATTENTION · 2/3</a:t>
            </a:r>
            <a:endParaRPr lang="en-US" sz="1000" dirty="0"/>
          </a:p>
        </p:txBody>
      </p:sp>
      <p:sp>
        <p:nvSpPr>
          <p:cNvPr id="4" name="Text 2"/>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2800" b="1" dirty="0">
                <a:solidFill>
                  <a:srgbClr val="1B2A24"/>
                </a:solidFill>
                <a:latin typeface="Cambria" pitchFamily="34" charset="0"/>
                <a:ea typeface="Cambria" pitchFamily="34" charset="-122"/>
                <a:cs typeface="Cambria" pitchFamily="34" charset="-120"/>
              </a:rPr>
              <a:t>En arrière-plan : requêtes, clés, valeurs</a:t>
            </a:r>
            <a:endParaRPr lang="en-US" sz="2800" dirty="0"/>
          </a:p>
        </p:txBody>
      </p:sp>
      <p:sp>
        <p:nvSpPr>
          <p:cNvPr id="5" name="Text 3"/>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3</a:t>
            </a:r>
            <a:endParaRPr lang="en-US" sz="900" dirty="0"/>
          </a:p>
        </p:txBody>
      </p:sp>
      <p:sp>
        <p:nvSpPr>
          <p:cNvPr id="7" name="Text 4"/>
          <p:cNvSpPr txBox="1"/>
          <p:nvPr/>
        </p:nvSpPr>
        <p:spPr>
          <a:xfrm>
            <a:off x="548640" y="1691640"/>
            <a:ext cx="2011680" cy="274320"/>
          </a:xfrm>
          <a:prstGeom prst="rect">
            <a:avLst/>
          </a:prstGeom>
          <a:noFill/>
          <a:ln/>
        </p:spPr>
        <p:txBody>
          <a:bodyPr wrap="square" lIns="0" tIns="0" rIns="0" bIns="0" rtlCol="0" anchor="t"/>
          <a:lstStyle/>
          <a:p>
            <a:pPr indent="0" marL="0">
              <a:buNone/>
            </a:pPr>
            <a:r>
              <a:rPr lang="en-US" sz="1200" b="1" dirty="0">
                <a:solidFill>
                  <a:srgbClr val="5B6B63"/>
                </a:solidFill>
                <a:latin typeface="Calibri" pitchFamily="34" charset="0"/>
                <a:ea typeface="Calibri" pitchFamily="34" charset="-122"/>
                <a:cs typeface="Calibri" pitchFamily="34" charset="-120"/>
              </a:rPr>
              <a:t>64 jetons d'une fenêtre</a:t>
            </a:r>
            <a:endParaRPr lang="en-US" sz="1200" dirty="0"/>
          </a:p>
        </p:txBody>
      </p:sp>
      <p:sp>
        <p:nvSpPr>
          <p:cNvPr id="8" name="Shape 5"/>
          <p:cNvSpPr/>
          <p:nvPr/>
        </p:nvSpPr>
        <p:spPr>
          <a:xfrm>
            <a:off x="731520" y="2057400"/>
            <a:ext cx="1280160" cy="438912"/>
          </a:xfrm>
          <a:prstGeom prst="roundRect">
            <a:avLst>
              <a:gd name="adj" fmla="val 16667"/>
            </a:avLst>
          </a:prstGeom>
          <a:solidFill>
            <a:srgbClr val="E4EEE8"/>
          </a:solidFill>
          <a:ln w="9525">
            <a:solidFill>
              <a:srgbClr val="CFDDD5"/>
            </a:solidFill>
            <a:prstDash val="solid"/>
          </a:ln>
        </p:spPr>
      </p:sp>
      <p:sp>
        <p:nvSpPr>
          <p:cNvPr id="9" name="Text 6"/>
          <p:cNvSpPr txBox="1"/>
          <p:nvPr/>
        </p:nvSpPr>
        <p:spPr>
          <a:xfrm>
            <a:off x="731520" y="2057400"/>
            <a:ext cx="1280160" cy="438912"/>
          </a:xfrm>
          <a:prstGeom prst="rect">
            <a:avLst/>
          </a:prstGeom>
          <a:noFill/>
          <a:ln/>
        </p:spPr>
        <p:txBody>
          <a:bodyPr wrap="square" lIns="0" tIns="0" rIns="0" bIns="0" rtlCol="0" anchor="ctr"/>
          <a:lstStyle/>
          <a:p>
            <a:pPr algn="ctr" indent="0" marL="0">
              <a:buNone/>
            </a:pPr>
            <a:r>
              <a:rPr lang="en-US" sz="1400" dirty="0">
                <a:solidFill>
                  <a:srgbClr val="1B2A24"/>
                </a:solidFill>
                <a:latin typeface="Calibri" pitchFamily="34" charset="0"/>
                <a:ea typeface="Calibri" pitchFamily="34" charset="-122"/>
                <a:cs typeface="Calibri" pitchFamily="34" charset="-120"/>
              </a:rPr>
              <a:t>x₁</a:t>
            </a:r>
            <a:endParaRPr lang="en-US" sz="1400" dirty="0"/>
          </a:p>
        </p:txBody>
      </p:sp>
      <p:sp>
        <p:nvSpPr>
          <p:cNvPr id="10" name="Shape 7"/>
          <p:cNvSpPr/>
          <p:nvPr/>
        </p:nvSpPr>
        <p:spPr>
          <a:xfrm>
            <a:off x="731520" y="2624328"/>
            <a:ext cx="1280160" cy="438912"/>
          </a:xfrm>
          <a:prstGeom prst="roundRect">
            <a:avLst>
              <a:gd name="adj" fmla="val 16667"/>
            </a:avLst>
          </a:prstGeom>
          <a:solidFill>
            <a:srgbClr val="E4EEE8"/>
          </a:solidFill>
          <a:ln w="9525">
            <a:solidFill>
              <a:srgbClr val="CFDDD5"/>
            </a:solidFill>
            <a:prstDash val="solid"/>
          </a:ln>
        </p:spPr>
      </p:sp>
      <p:sp>
        <p:nvSpPr>
          <p:cNvPr id="11" name="Text 8"/>
          <p:cNvSpPr txBox="1"/>
          <p:nvPr/>
        </p:nvSpPr>
        <p:spPr>
          <a:xfrm>
            <a:off x="731520" y="2624328"/>
            <a:ext cx="1280160" cy="438912"/>
          </a:xfrm>
          <a:prstGeom prst="rect">
            <a:avLst/>
          </a:prstGeom>
          <a:noFill/>
          <a:ln/>
        </p:spPr>
        <p:txBody>
          <a:bodyPr wrap="square" lIns="0" tIns="0" rIns="0" bIns="0" rtlCol="0" anchor="ctr"/>
          <a:lstStyle/>
          <a:p>
            <a:pPr algn="ctr" indent="0" marL="0">
              <a:buNone/>
            </a:pPr>
            <a:r>
              <a:rPr lang="en-US" sz="1400" dirty="0">
                <a:solidFill>
                  <a:srgbClr val="1B2A24"/>
                </a:solidFill>
                <a:latin typeface="Calibri" pitchFamily="34" charset="0"/>
                <a:ea typeface="Calibri" pitchFamily="34" charset="-122"/>
                <a:cs typeface="Calibri" pitchFamily="34" charset="-120"/>
              </a:rPr>
              <a:t>x₂</a:t>
            </a:r>
            <a:endParaRPr lang="en-US" sz="1400" dirty="0"/>
          </a:p>
        </p:txBody>
      </p:sp>
      <p:sp>
        <p:nvSpPr>
          <p:cNvPr id="12" name="Shape 9"/>
          <p:cNvSpPr/>
          <p:nvPr/>
        </p:nvSpPr>
        <p:spPr>
          <a:xfrm>
            <a:off x="731520" y="3191256"/>
            <a:ext cx="1280160" cy="438912"/>
          </a:xfrm>
          <a:prstGeom prst="roundRect">
            <a:avLst>
              <a:gd name="adj" fmla="val 16667"/>
            </a:avLst>
          </a:prstGeom>
          <a:solidFill>
            <a:srgbClr val="E9B44C"/>
          </a:solidFill>
          <a:ln w="9525">
            <a:solidFill>
              <a:srgbClr val="E9B44C"/>
            </a:solidFill>
            <a:prstDash val="solid"/>
          </a:ln>
        </p:spPr>
      </p:sp>
      <p:sp>
        <p:nvSpPr>
          <p:cNvPr id="13" name="Text 10"/>
          <p:cNvSpPr txBox="1"/>
          <p:nvPr/>
        </p:nvSpPr>
        <p:spPr>
          <a:xfrm>
            <a:off x="731520" y="3191256"/>
            <a:ext cx="1280160" cy="438912"/>
          </a:xfrm>
          <a:prstGeom prst="rect">
            <a:avLst/>
          </a:prstGeom>
          <a:noFill/>
          <a:ln/>
        </p:spPr>
        <p:txBody>
          <a:bodyPr wrap="square" lIns="0" tIns="0" rIns="0" bIns="0" rtlCol="0" anchor="ctr"/>
          <a:lstStyle/>
          <a:p>
            <a:pPr algn="ctr" indent="0" marL="0">
              <a:buNone/>
            </a:pPr>
            <a:r>
              <a:rPr lang="en-US" sz="1400" b="1" dirty="0">
                <a:solidFill>
                  <a:srgbClr val="1B2A24"/>
                </a:solidFill>
                <a:latin typeface="Calibri" pitchFamily="34" charset="0"/>
                <a:ea typeface="Calibri" pitchFamily="34" charset="-122"/>
                <a:cs typeface="Calibri" pitchFamily="34" charset="-120"/>
              </a:rPr>
              <a:t>x₃</a:t>
            </a:r>
            <a:endParaRPr lang="en-US" sz="1400" dirty="0"/>
          </a:p>
        </p:txBody>
      </p:sp>
      <p:sp>
        <p:nvSpPr>
          <p:cNvPr id="14" name="Shape 11"/>
          <p:cNvSpPr/>
          <p:nvPr/>
        </p:nvSpPr>
        <p:spPr>
          <a:xfrm>
            <a:off x="731520" y="3758184"/>
            <a:ext cx="1280160" cy="438912"/>
          </a:xfrm>
          <a:prstGeom prst="roundRect">
            <a:avLst>
              <a:gd name="adj" fmla="val 16667"/>
            </a:avLst>
          </a:prstGeom>
          <a:solidFill>
            <a:srgbClr val="E4EEE8"/>
          </a:solidFill>
          <a:ln w="9525">
            <a:solidFill>
              <a:srgbClr val="CFDDD5"/>
            </a:solidFill>
            <a:prstDash val="solid"/>
          </a:ln>
        </p:spPr>
      </p:sp>
      <p:sp>
        <p:nvSpPr>
          <p:cNvPr id="15" name="Text 12"/>
          <p:cNvSpPr txBox="1"/>
          <p:nvPr/>
        </p:nvSpPr>
        <p:spPr>
          <a:xfrm>
            <a:off x="731520" y="3758184"/>
            <a:ext cx="1280160" cy="438912"/>
          </a:xfrm>
          <a:prstGeom prst="rect">
            <a:avLst/>
          </a:prstGeom>
          <a:noFill/>
          <a:ln/>
        </p:spPr>
        <p:txBody>
          <a:bodyPr wrap="square" lIns="0" tIns="0" rIns="0" bIns="0" rtlCol="0" anchor="ctr"/>
          <a:lstStyle/>
          <a:p>
            <a:pPr algn="ctr" indent="0" marL="0">
              <a:buNone/>
            </a:pPr>
            <a:r>
              <a:rPr lang="en-US" sz="1400" dirty="0">
                <a:solidFill>
                  <a:srgbClr val="1B2A24"/>
                </a:solidFill>
                <a:latin typeface="Calibri" pitchFamily="34" charset="0"/>
                <a:ea typeface="Calibri" pitchFamily="34" charset="-122"/>
                <a:cs typeface="Calibri" pitchFamily="34" charset="-120"/>
              </a:rPr>
              <a:t>x₄</a:t>
            </a:r>
            <a:endParaRPr lang="en-US" sz="1400" dirty="0"/>
          </a:p>
        </p:txBody>
      </p:sp>
      <p:sp>
        <p:nvSpPr>
          <p:cNvPr id="16" name="Shape 13"/>
          <p:cNvSpPr/>
          <p:nvPr/>
        </p:nvSpPr>
        <p:spPr>
          <a:xfrm>
            <a:off x="731520" y="4325112"/>
            <a:ext cx="1280160" cy="438912"/>
          </a:xfrm>
          <a:prstGeom prst="roundRect">
            <a:avLst>
              <a:gd name="adj" fmla="val 16667"/>
            </a:avLst>
          </a:prstGeom>
          <a:solidFill>
            <a:srgbClr val="E4EEE8"/>
          </a:solidFill>
          <a:ln w="9525">
            <a:solidFill>
              <a:srgbClr val="CFDDD5"/>
            </a:solidFill>
            <a:prstDash val="solid"/>
          </a:ln>
        </p:spPr>
      </p:sp>
      <p:sp>
        <p:nvSpPr>
          <p:cNvPr id="17" name="Text 14"/>
          <p:cNvSpPr txBox="1"/>
          <p:nvPr/>
        </p:nvSpPr>
        <p:spPr>
          <a:xfrm>
            <a:off x="731520" y="4325112"/>
            <a:ext cx="1280160" cy="438912"/>
          </a:xfrm>
          <a:prstGeom prst="rect">
            <a:avLst/>
          </a:prstGeom>
          <a:noFill/>
          <a:ln/>
        </p:spPr>
        <p:txBody>
          <a:bodyPr wrap="square" lIns="0" tIns="0" rIns="0" bIns="0" rtlCol="0" anchor="ctr"/>
          <a:lstStyle/>
          <a:p>
            <a:pPr algn="ctr" indent="0" marL="0">
              <a:buNone/>
            </a:pPr>
            <a:r>
              <a:rPr lang="en-US" sz="1400" dirty="0">
                <a:solidFill>
                  <a:srgbClr val="1B2A24"/>
                </a:solidFill>
                <a:latin typeface="Calibri" pitchFamily="34" charset="0"/>
                <a:ea typeface="Calibri" pitchFamily="34" charset="-122"/>
                <a:cs typeface="Calibri" pitchFamily="34" charset="-120"/>
              </a:rPr>
              <a:t>x₆₄</a:t>
            </a:r>
            <a:endParaRPr lang="en-US" sz="1400" dirty="0"/>
          </a:p>
        </p:txBody>
      </p:sp>
      <p:sp>
        <p:nvSpPr>
          <p:cNvPr id="18" name="Text 15"/>
          <p:cNvSpPr txBox="1"/>
          <p:nvPr/>
        </p:nvSpPr>
        <p:spPr>
          <a:xfrm>
            <a:off x="731520" y="4937760"/>
            <a:ext cx="1463040" cy="274320"/>
          </a:xfrm>
          <a:prstGeom prst="rect">
            <a:avLst/>
          </a:prstGeom>
          <a:noFill/>
          <a:ln/>
        </p:spPr>
        <p:txBody>
          <a:bodyPr wrap="square" lIns="0" tIns="0" rIns="0" bIns="0" rtlCol="0" anchor="t"/>
          <a:lstStyle/>
          <a:p>
            <a:pPr indent="0" marL="0">
              <a:buNone/>
            </a:pPr>
            <a:r>
              <a:rPr lang="en-US" sz="1100" i="1" dirty="0">
                <a:solidFill>
                  <a:srgbClr val="8A5A00"/>
                </a:solidFill>
                <a:latin typeface="Calibri" pitchFamily="34" charset="0"/>
                <a:ea typeface="Calibri" pitchFamily="34" charset="-122"/>
                <a:cs typeface="Calibri" pitchFamily="34" charset="-120"/>
              </a:rPr>
              <a:t>x₃ : la note</a:t>
            </a:r>
            <a:endParaRPr lang="en-US" sz="1100" dirty="0"/>
          </a:p>
        </p:txBody>
      </p:sp>
      <p:sp>
        <p:nvSpPr>
          <p:cNvPr id="19" name="Shape 16"/>
          <p:cNvSpPr/>
          <p:nvPr/>
        </p:nvSpPr>
        <p:spPr>
          <a:xfrm>
            <a:off x="2057400" y="3429000"/>
            <a:ext cx="457200" cy="-1033272"/>
          </a:xfrm>
          <a:prstGeom prst="line">
            <a:avLst/>
          </a:prstGeom>
          <a:noFill/>
          <a:ln w="12700">
            <a:solidFill>
              <a:srgbClr val="A7BFB2"/>
            </a:solidFill>
            <a:prstDash val="solid"/>
            <a:tailEnd type="triangle"/>
          </a:ln>
        </p:spPr>
      </p:sp>
      <p:sp>
        <p:nvSpPr>
          <p:cNvPr id="20" name="Shape 17"/>
          <p:cNvSpPr/>
          <p:nvPr/>
        </p:nvSpPr>
        <p:spPr>
          <a:xfrm>
            <a:off x="2514600" y="2011680"/>
            <a:ext cx="2377440" cy="768096"/>
          </a:xfrm>
          <a:prstGeom prst="roundRect">
            <a:avLst>
              <a:gd name="adj" fmla="val 11905"/>
            </a:avLst>
          </a:prstGeom>
          <a:solidFill>
            <a:srgbClr val="FFFFFF"/>
          </a:solidFill>
          <a:ln w="12700">
            <a:solidFill>
              <a:srgbClr val="8A5A00"/>
            </a:solidFill>
            <a:prstDash val="solid"/>
          </a:ln>
        </p:spPr>
      </p:sp>
      <p:sp>
        <p:nvSpPr>
          <p:cNvPr id="21" name="Text 18"/>
          <p:cNvSpPr txBox="1"/>
          <p:nvPr/>
        </p:nvSpPr>
        <p:spPr>
          <a:xfrm>
            <a:off x="2651760" y="2103120"/>
            <a:ext cx="2148840" cy="640080"/>
          </a:xfrm>
          <a:prstGeom prst="rect">
            <a:avLst/>
          </a:prstGeom>
          <a:noFill/>
          <a:ln/>
        </p:spPr>
        <p:txBody>
          <a:bodyPr wrap="square" lIns="0" tIns="0" rIns="0" bIns="0" rtlCol="0" anchor="t"/>
          <a:lstStyle/>
          <a:p>
            <a:pPr indent="0" marL="0">
              <a:buNone/>
            </a:pPr>
            <a:r>
              <a:rPr lang="en-US" sz="1400" b="1" dirty="0">
                <a:solidFill>
                  <a:srgbClr val="8A5A00"/>
                </a:solidFill>
                <a:latin typeface="Calibri" pitchFamily="34" charset="0"/>
                <a:ea typeface="Calibri" pitchFamily="34" charset="-122"/>
                <a:cs typeface="Calibri" pitchFamily="34" charset="-120"/>
              </a:rPr>
              <a:t>W_Q → requête q</a:t>
            </a:r>
            <a:endParaRPr lang="en-US" sz="1400" dirty="0"/>
          </a:p>
          <a:p>
            <a:pPr indent="0" marL="0">
              <a:buNone/>
            </a:pPr>
            <a:r>
              <a:rPr lang="en-US" sz="1100" dirty="0">
                <a:solidFill>
                  <a:srgbClr val="5B6B63"/>
                </a:solidFill>
                <a:latin typeface="Calibri" pitchFamily="34" charset="0"/>
                <a:ea typeface="Calibri" pitchFamily="34" charset="-122"/>
                <a:cs typeface="Calibri" pitchFamily="34" charset="-120"/>
              </a:rPr>
              <a:t>ce que je cherche</a:t>
            </a:r>
            <a:endParaRPr lang="en-US" sz="1400" dirty="0"/>
          </a:p>
        </p:txBody>
      </p:sp>
      <p:sp>
        <p:nvSpPr>
          <p:cNvPr id="22" name="Shape 19"/>
          <p:cNvSpPr/>
          <p:nvPr/>
        </p:nvSpPr>
        <p:spPr>
          <a:xfrm>
            <a:off x="2057400" y="3429000"/>
            <a:ext cx="457200" cy="-27432"/>
          </a:xfrm>
          <a:prstGeom prst="line">
            <a:avLst/>
          </a:prstGeom>
          <a:noFill/>
          <a:ln w="12700">
            <a:solidFill>
              <a:srgbClr val="A7BFB2"/>
            </a:solidFill>
            <a:prstDash val="solid"/>
            <a:tailEnd type="triangle"/>
          </a:ln>
        </p:spPr>
      </p:sp>
      <p:sp>
        <p:nvSpPr>
          <p:cNvPr id="23" name="Shape 20"/>
          <p:cNvSpPr/>
          <p:nvPr/>
        </p:nvSpPr>
        <p:spPr>
          <a:xfrm>
            <a:off x="2514600" y="3017520"/>
            <a:ext cx="2377440" cy="768096"/>
          </a:xfrm>
          <a:prstGeom prst="roundRect">
            <a:avLst>
              <a:gd name="adj" fmla="val 11905"/>
            </a:avLst>
          </a:prstGeom>
          <a:solidFill>
            <a:srgbClr val="FFFFFF"/>
          </a:solidFill>
          <a:ln w="12700">
            <a:solidFill>
              <a:srgbClr val="2A7F72"/>
            </a:solidFill>
            <a:prstDash val="solid"/>
          </a:ln>
        </p:spPr>
      </p:sp>
      <p:sp>
        <p:nvSpPr>
          <p:cNvPr id="24" name="Text 21"/>
          <p:cNvSpPr txBox="1"/>
          <p:nvPr/>
        </p:nvSpPr>
        <p:spPr>
          <a:xfrm>
            <a:off x="2651760" y="3108960"/>
            <a:ext cx="2148840" cy="640080"/>
          </a:xfrm>
          <a:prstGeom prst="rect">
            <a:avLst/>
          </a:prstGeom>
          <a:noFill/>
          <a:ln/>
        </p:spPr>
        <p:txBody>
          <a:bodyPr wrap="square" lIns="0" tIns="0" rIns="0" bIns="0" rtlCol="0" anchor="t"/>
          <a:lstStyle/>
          <a:p>
            <a:pPr indent="0" marL="0">
              <a:buNone/>
            </a:pPr>
            <a:r>
              <a:rPr lang="en-US" sz="1400" b="1" dirty="0">
                <a:solidFill>
                  <a:srgbClr val="2A7F72"/>
                </a:solidFill>
                <a:latin typeface="Calibri" pitchFamily="34" charset="0"/>
                <a:ea typeface="Calibri" pitchFamily="34" charset="-122"/>
                <a:cs typeface="Calibri" pitchFamily="34" charset="-120"/>
              </a:rPr>
              <a:t>W_K → clés kᵢ</a:t>
            </a:r>
            <a:endParaRPr lang="en-US" sz="1400" dirty="0"/>
          </a:p>
          <a:p>
            <a:pPr indent="0" marL="0">
              <a:buNone/>
            </a:pPr>
            <a:r>
              <a:rPr lang="en-US" sz="1100" dirty="0">
                <a:solidFill>
                  <a:srgbClr val="5B6B63"/>
                </a:solidFill>
                <a:latin typeface="Calibri" pitchFamily="34" charset="0"/>
                <a:ea typeface="Calibri" pitchFamily="34" charset="-122"/>
                <a:cs typeface="Calibri" pitchFamily="34" charset="-120"/>
              </a:rPr>
              <a:t>ce que je contiens</a:t>
            </a:r>
            <a:endParaRPr lang="en-US" sz="1400" dirty="0"/>
          </a:p>
        </p:txBody>
      </p:sp>
      <p:sp>
        <p:nvSpPr>
          <p:cNvPr id="25" name="Shape 22"/>
          <p:cNvSpPr/>
          <p:nvPr/>
        </p:nvSpPr>
        <p:spPr>
          <a:xfrm>
            <a:off x="2057400" y="3429000"/>
            <a:ext cx="457200" cy="978408"/>
          </a:xfrm>
          <a:prstGeom prst="line">
            <a:avLst/>
          </a:prstGeom>
          <a:noFill/>
          <a:ln w="12700">
            <a:solidFill>
              <a:srgbClr val="A7BFB2"/>
            </a:solidFill>
            <a:prstDash val="solid"/>
            <a:tailEnd type="triangle"/>
          </a:ln>
        </p:spPr>
      </p:sp>
      <p:sp>
        <p:nvSpPr>
          <p:cNvPr id="26" name="Shape 23"/>
          <p:cNvSpPr/>
          <p:nvPr/>
        </p:nvSpPr>
        <p:spPr>
          <a:xfrm>
            <a:off x="2514600" y="4023360"/>
            <a:ext cx="2377440" cy="768096"/>
          </a:xfrm>
          <a:prstGeom prst="roundRect">
            <a:avLst>
              <a:gd name="adj" fmla="val 11905"/>
            </a:avLst>
          </a:prstGeom>
          <a:solidFill>
            <a:srgbClr val="FFFFFF"/>
          </a:solidFill>
          <a:ln w="12700">
            <a:solidFill>
              <a:srgbClr val="3E7CB1"/>
            </a:solidFill>
            <a:prstDash val="solid"/>
          </a:ln>
        </p:spPr>
      </p:sp>
      <p:sp>
        <p:nvSpPr>
          <p:cNvPr id="27" name="Text 24"/>
          <p:cNvSpPr txBox="1"/>
          <p:nvPr/>
        </p:nvSpPr>
        <p:spPr>
          <a:xfrm>
            <a:off x="2651760" y="4114800"/>
            <a:ext cx="2148840" cy="640080"/>
          </a:xfrm>
          <a:prstGeom prst="rect">
            <a:avLst/>
          </a:prstGeom>
          <a:noFill/>
          <a:ln/>
        </p:spPr>
        <p:txBody>
          <a:bodyPr wrap="square" lIns="0" tIns="0" rIns="0" bIns="0" rtlCol="0" anchor="t"/>
          <a:lstStyle/>
          <a:p>
            <a:pPr indent="0" marL="0">
              <a:buNone/>
            </a:pPr>
            <a:r>
              <a:rPr lang="en-US" sz="1400" b="1" dirty="0">
                <a:solidFill>
                  <a:srgbClr val="3E7CB1"/>
                </a:solidFill>
                <a:latin typeface="Calibri" pitchFamily="34" charset="0"/>
                <a:ea typeface="Calibri" pitchFamily="34" charset="-122"/>
                <a:cs typeface="Calibri" pitchFamily="34" charset="-120"/>
              </a:rPr>
              <a:t>W_V → valeurs vᵢ</a:t>
            </a:r>
            <a:endParaRPr lang="en-US" sz="1400" dirty="0"/>
          </a:p>
          <a:p>
            <a:pPr indent="0" marL="0">
              <a:buNone/>
            </a:pPr>
            <a:r>
              <a:rPr lang="en-US" sz="1100" dirty="0">
                <a:solidFill>
                  <a:srgbClr val="5B6B63"/>
                </a:solidFill>
                <a:latin typeface="Calibri" pitchFamily="34" charset="0"/>
                <a:ea typeface="Calibri" pitchFamily="34" charset="-122"/>
                <a:cs typeface="Calibri" pitchFamily="34" charset="-120"/>
              </a:rPr>
              <a:t>ce que je transmets</a:t>
            </a:r>
            <a:endParaRPr lang="en-US" sz="1400" dirty="0"/>
          </a:p>
        </p:txBody>
      </p:sp>
      <p:sp>
        <p:nvSpPr>
          <p:cNvPr id="28" name="Shape 25"/>
          <p:cNvSpPr/>
          <p:nvPr/>
        </p:nvSpPr>
        <p:spPr>
          <a:xfrm>
            <a:off x="4846320" y="2862072"/>
            <a:ext cx="365760" cy="0"/>
          </a:xfrm>
          <a:prstGeom prst="line">
            <a:avLst/>
          </a:prstGeom>
          <a:noFill/>
          <a:ln w="19050">
            <a:solidFill>
              <a:srgbClr val="A7BFB2"/>
            </a:solidFill>
            <a:prstDash val="solid"/>
            <a:tailEnd type="triangle"/>
          </a:ln>
        </p:spPr>
      </p:sp>
      <p:sp>
        <p:nvSpPr>
          <p:cNvPr id="29" name="Shape 26"/>
          <p:cNvSpPr/>
          <p:nvPr/>
        </p:nvSpPr>
        <p:spPr>
          <a:xfrm>
            <a:off x="5257800" y="2057400"/>
            <a:ext cx="1920240" cy="1600200"/>
          </a:xfrm>
          <a:prstGeom prst="roundRect">
            <a:avLst>
              <a:gd name="adj" fmla="val 5714"/>
            </a:avLst>
          </a:prstGeom>
          <a:solidFill>
            <a:srgbClr val="F3F7F4"/>
          </a:solidFill>
          <a:ln w="12700">
            <a:solidFill>
              <a:srgbClr val="F3F7F4"/>
            </a:solidFill>
            <a:prstDash val="solid"/>
          </a:ln>
        </p:spPr>
      </p:sp>
      <p:sp>
        <p:nvSpPr>
          <p:cNvPr id="30" name="Text 27"/>
          <p:cNvSpPr txBox="1"/>
          <p:nvPr/>
        </p:nvSpPr>
        <p:spPr>
          <a:xfrm>
            <a:off x="5394960" y="2194560"/>
            <a:ext cx="1691640" cy="274320"/>
          </a:xfrm>
          <a:prstGeom prst="rect">
            <a:avLst/>
          </a:prstGeom>
          <a:noFill/>
          <a:ln/>
        </p:spPr>
        <p:txBody>
          <a:bodyPr wrap="square" lIns="0" tIns="0" rIns="0" bIns="0" rtlCol="0" anchor="t"/>
          <a:lstStyle/>
          <a:p>
            <a:pPr indent="0" marL="0">
              <a:buNone/>
            </a:pPr>
            <a:r>
              <a:rPr lang="en-US" sz="1200" b="1" dirty="0">
                <a:solidFill>
                  <a:srgbClr val="8A5A00"/>
                </a:solidFill>
                <a:latin typeface="Calibri" pitchFamily="34" charset="0"/>
                <a:ea typeface="Calibri" pitchFamily="34" charset="-122"/>
                <a:cs typeface="Calibri" pitchFamily="34" charset="-120"/>
              </a:rPr>
              <a:t>1 · scores</a:t>
            </a:r>
            <a:endParaRPr lang="en-US" sz="1200" dirty="0"/>
          </a:p>
        </p:txBody>
      </p:sp>
      <p:sp>
        <p:nvSpPr>
          <p:cNvPr id="31" name="Text 28"/>
          <p:cNvSpPr txBox="1"/>
          <p:nvPr/>
        </p:nvSpPr>
        <p:spPr>
          <a:xfrm>
            <a:off x="5394960" y="2532888"/>
            <a:ext cx="1691640" cy="411480"/>
          </a:xfrm>
          <a:prstGeom prst="rect">
            <a:avLst/>
          </a:prstGeom>
          <a:noFill/>
          <a:ln/>
        </p:spPr>
        <p:txBody>
          <a:bodyPr wrap="square" lIns="0" tIns="0" rIns="0" bIns="0" rtlCol="0" anchor="t"/>
          <a:lstStyle/>
          <a:p>
            <a:pPr indent="0" marL="0">
              <a:buNone/>
            </a:pPr>
            <a:r>
              <a:rPr lang="en-US" sz="1500" b="1" dirty="0">
                <a:solidFill>
                  <a:srgbClr val="1B2A24"/>
                </a:solidFill>
                <a:latin typeface="Cambria" pitchFamily="34" charset="0"/>
                <a:ea typeface="Cambria" pitchFamily="34" charset="-122"/>
                <a:cs typeface="Cambria" pitchFamily="34" charset="-120"/>
              </a:rPr>
              <a:t>sᵢ = q · kᵢ / √d</a:t>
            </a:r>
            <a:endParaRPr lang="en-US" sz="1500" dirty="0"/>
          </a:p>
        </p:txBody>
      </p:sp>
      <p:sp>
        <p:nvSpPr>
          <p:cNvPr id="32" name="Text 29"/>
          <p:cNvSpPr txBox="1"/>
          <p:nvPr/>
        </p:nvSpPr>
        <p:spPr>
          <a:xfrm>
            <a:off x="5394960" y="3017520"/>
            <a:ext cx="1691640" cy="548640"/>
          </a:xfrm>
          <a:prstGeom prst="rect">
            <a:avLst/>
          </a:prstGeom>
          <a:noFill/>
          <a:ln/>
        </p:spPr>
        <p:txBody>
          <a:bodyPr wrap="square" lIns="0" tIns="0" rIns="0" bIns="0" rtlCol="0" anchor="t"/>
          <a:lstStyle/>
          <a:p>
            <a:pPr indent="0" marL="0">
              <a:buNone/>
            </a:pPr>
            <a:r>
              <a:rPr lang="en-US" sz="1150" dirty="0">
                <a:solidFill>
                  <a:srgbClr val="5B6B63"/>
                </a:solidFill>
                <a:latin typeface="Calibri" pitchFamily="34" charset="0"/>
                <a:ea typeface="Calibri" pitchFamily="34" charset="-122"/>
                <a:cs typeface="Calibri" pitchFamily="34" charset="-120"/>
              </a:rPr>
              <a:t>le jeton répond-il à la question ?</a:t>
            </a:r>
            <a:endParaRPr lang="en-US" sz="1150" dirty="0"/>
          </a:p>
        </p:txBody>
      </p:sp>
      <p:sp>
        <p:nvSpPr>
          <p:cNvPr id="33" name="Shape 30"/>
          <p:cNvSpPr/>
          <p:nvPr/>
        </p:nvSpPr>
        <p:spPr>
          <a:xfrm>
            <a:off x="7178040" y="2862072"/>
            <a:ext cx="228600" cy="0"/>
          </a:xfrm>
          <a:prstGeom prst="line">
            <a:avLst/>
          </a:prstGeom>
          <a:noFill/>
          <a:ln w="19050">
            <a:solidFill>
              <a:srgbClr val="A7BFB2"/>
            </a:solidFill>
            <a:prstDash val="solid"/>
            <a:tailEnd type="triangle"/>
          </a:ln>
        </p:spPr>
      </p:sp>
      <p:sp>
        <p:nvSpPr>
          <p:cNvPr id="34" name="Shape 31"/>
          <p:cNvSpPr/>
          <p:nvPr/>
        </p:nvSpPr>
        <p:spPr>
          <a:xfrm>
            <a:off x="7406640" y="2057400"/>
            <a:ext cx="1920240" cy="1600200"/>
          </a:xfrm>
          <a:prstGeom prst="roundRect">
            <a:avLst>
              <a:gd name="adj" fmla="val 5714"/>
            </a:avLst>
          </a:prstGeom>
          <a:solidFill>
            <a:srgbClr val="F3F7F4"/>
          </a:solidFill>
          <a:ln w="12700">
            <a:solidFill>
              <a:srgbClr val="F3F7F4"/>
            </a:solidFill>
            <a:prstDash val="solid"/>
          </a:ln>
        </p:spPr>
      </p:sp>
      <p:sp>
        <p:nvSpPr>
          <p:cNvPr id="35" name="Text 32"/>
          <p:cNvSpPr txBox="1"/>
          <p:nvPr/>
        </p:nvSpPr>
        <p:spPr>
          <a:xfrm>
            <a:off x="7543800" y="2194560"/>
            <a:ext cx="1691640" cy="274320"/>
          </a:xfrm>
          <a:prstGeom prst="rect">
            <a:avLst/>
          </a:prstGeom>
          <a:noFill/>
          <a:ln/>
        </p:spPr>
        <p:txBody>
          <a:bodyPr wrap="square" lIns="0" tIns="0" rIns="0" bIns="0" rtlCol="0" anchor="t"/>
          <a:lstStyle/>
          <a:p>
            <a:pPr indent="0" marL="0">
              <a:buNone/>
            </a:pPr>
            <a:r>
              <a:rPr lang="en-US" sz="1200" b="1" dirty="0">
                <a:solidFill>
                  <a:srgbClr val="8A5A00"/>
                </a:solidFill>
                <a:latin typeface="Calibri" pitchFamily="34" charset="0"/>
                <a:ea typeface="Calibri" pitchFamily="34" charset="-122"/>
                <a:cs typeface="Calibri" pitchFamily="34" charset="-120"/>
              </a:rPr>
              <a:t>2 · softmax</a:t>
            </a:r>
            <a:endParaRPr lang="en-US" sz="1200" dirty="0"/>
          </a:p>
        </p:txBody>
      </p:sp>
      <p:sp>
        <p:nvSpPr>
          <p:cNvPr id="36" name="Text 33"/>
          <p:cNvSpPr txBox="1"/>
          <p:nvPr/>
        </p:nvSpPr>
        <p:spPr>
          <a:xfrm>
            <a:off x="7543800" y="2532888"/>
            <a:ext cx="1691640" cy="411480"/>
          </a:xfrm>
          <a:prstGeom prst="rect">
            <a:avLst/>
          </a:prstGeom>
          <a:noFill/>
          <a:ln/>
        </p:spPr>
        <p:txBody>
          <a:bodyPr wrap="square" lIns="0" tIns="0" rIns="0" bIns="0" rtlCol="0" anchor="t"/>
          <a:lstStyle/>
          <a:p>
            <a:pPr indent="0" marL="0">
              <a:buNone/>
            </a:pPr>
            <a:r>
              <a:rPr lang="en-US" sz="1500" b="1" dirty="0">
                <a:solidFill>
                  <a:srgbClr val="1B2A24"/>
                </a:solidFill>
                <a:latin typeface="Cambria" pitchFamily="34" charset="0"/>
                <a:ea typeface="Cambria" pitchFamily="34" charset="-122"/>
                <a:cs typeface="Cambria" pitchFamily="34" charset="-120"/>
              </a:rPr>
              <a:t>αᵢ = e^sᵢ / Σⱼ e^sⱼ</a:t>
            </a:r>
            <a:endParaRPr lang="en-US" sz="1500" dirty="0"/>
          </a:p>
        </p:txBody>
      </p:sp>
      <p:sp>
        <p:nvSpPr>
          <p:cNvPr id="37" name="Text 34"/>
          <p:cNvSpPr txBox="1"/>
          <p:nvPr/>
        </p:nvSpPr>
        <p:spPr>
          <a:xfrm>
            <a:off x="7543800" y="3017520"/>
            <a:ext cx="1691640" cy="548640"/>
          </a:xfrm>
          <a:prstGeom prst="rect">
            <a:avLst/>
          </a:prstGeom>
          <a:noFill/>
          <a:ln/>
        </p:spPr>
        <p:txBody>
          <a:bodyPr wrap="square" lIns="0" tIns="0" rIns="0" bIns="0" rtlCol="0" anchor="t"/>
          <a:lstStyle/>
          <a:p>
            <a:pPr indent="0" marL="0">
              <a:buNone/>
            </a:pPr>
            <a:r>
              <a:rPr lang="en-US" sz="1150" dirty="0">
                <a:solidFill>
                  <a:srgbClr val="5B6B63"/>
                </a:solidFill>
                <a:latin typeface="Calibri" pitchFamily="34" charset="0"/>
                <a:ea typeface="Calibri" pitchFamily="34" charset="-122"/>
                <a:cs typeface="Calibri" pitchFamily="34" charset="-120"/>
              </a:rPr>
              <a:t>poids ≥ 0, de somme 1</a:t>
            </a:r>
            <a:endParaRPr lang="en-US" sz="1150" dirty="0"/>
          </a:p>
        </p:txBody>
      </p:sp>
      <p:sp>
        <p:nvSpPr>
          <p:cNvPr id="38" name="Shape 35"/>
          <p:cNvSpPr/>
          <p:nvPr/>
        </p:nvSpPr>
        <p:spPr>
          <a:xfrm>
            <a:off x="9326880" y="2862072"/>
            <a:ext cx="228600" cy="0"/>
          </a:xfrm>
          <a:prstGeom prst="line">
            <a:avLst/>
          </a:prstGeom>
          <a:noFill/>
          <a:ln w="19050">
            <a:solidFill>
              <a:srgbClr val="A7BFB2"/>
            </a:solidFill>
            <a:prstDash val="solid"/>
            <a:tailEnd type="triangle"/>
          </a:ln>
        </p:spPr>
      </p:sp>
      <p:sp>
        <p:nvSpPr>
          <p:cNvPr id="39" name="Shape 36"/>
          <p:cNvSpPr/>
          <p:nvPr/>
        </p:nvSpPr>
        <p:spPr>
          <a:xfrm>
            <a:off x="9555480" y="2057400"/>
            <a:ext cx="1920240" cy="1600200"/>
          </a:xfrm>
          <a:prstGeom prst="roundRect">
            <a:avLst>
              <a:gd name="adj" fmla="val 5714"/>
            </a:avLst>
          </a:prstGeom>
          <a:solidFill>
            <a:srgbClr val="0E2A24"/>
          </a:solidFill>
          <a:ln w="12700">
            <a:solidFill>
              <a:srgbClr val="0E2A24"/>
            </a:solidFill>
            <a:prstDash val="solid"/>
          </a:ln>
        </p:spPr>
      </p:sp>
      <p:sp>
        <p:nvSpPr>
          <p:cNvPr id="40" name="Text 37"/>
          <p:cNvSpPr txBox="1"/>
          <p:nvPr/>
        </p:nvSpPr>
        <p:spPr>
          <a:xfrm>
            <a:off x="9692640" y="2194560"/>
            <a:ext cx="1691640" cy="274320"/>
          </a:xfrm>
          <a:prstGeom prst="rect">
            <a:avLst/>
          </a:prstGeom>
          <a:noFill/>
          <a:ln/>
        </p:spPr>
        <p:txBody>
          <a:bodyPr wrap="square" lIns="0" tIns="0" rIns="0" bIns="0" rtlCol="0" anchor="t"/>
          <a:lstStyle/>
          <a:p>
            <a:pPr indent="0" marL="0">
              <a:buNone/>
            </a:pPr>
            <a:r>
              <a:rPr lang="en-US" sz="1200" b="1" dirty="0">
                <a:solidFill>
                  <a:srgbClr val="E9B44C"/>
                </a:solidFill>
                <a:latin typeface="Calibri" pitchFamily="34" charset="0"/>
                <a:ea typeface="Calibri" pitchFamily="34" charset="-122"/>
                <a:cs typeface="Calibri" pitchFamily="34" charset="-120"/>
              </a:rPr>
              <a:t>3 · somme pondérée</a:t>
            </a:r>
            <a:endParaRPr lang="en-US" sz="1200" dirty="0"/>
          </a:p>
        </p:txBody>
      </p:sp>
      <p:sp>
        <p:nvSpPr>
          <p:cNvPr id="41" name="Text 38"/>
          <p:cNvSpPr txBox="1"/>
          <p:nvPr/>
        </p:nvSpPr>
        <p:spPr>
          <a:xfrm>
            <a:off x="9692640" y="2532888"/>
            <a:ext cx="1691640" cy="411480"/>
          </a:xfrm>
          <a:prstGeom prst="rect">
            <a:avLst/>
          </a:prstGeom>
          <a:noFill/>
          <a:ln/>
        </p:spPr>
        <p:txBody>
          <a:bodyPr wrap="square" lIns="0" tIns="0" rIns="0" bIns="0" rtlCol="0" anchor="t"/>
          <a:lstStyle/>
          <a:p>
            <a:pPr indent="0" marL="0">
              <a:buNone/>
            </a:pPr>
            <a:r>
              <a:rPr lang="en-US" sz="1500" b="1" dirty="0">
                <a:solidFill>
                  <a:srgbClr val="FFFFFF"/>
                </a:solidFill>
                <a:latin typeface="Cambria" pitchFamily="34" charset="0"/>
                <a:ea typeface="Cambria" pitchFamily="34" charset="-122"/>
                <a:cs typeface="Cambria" pitchFamily="34" charset="-120"/>
              </a:rPr>
              <a:t>z = Σᵢ αᵢ vᵢ</a:t>
            </a:r>
            <a:endParaRPr lang="en-US" sz="1500" dirty="0"/>
          </a:p>
        </p:txBody>
      </p:sp>
      <p:sp>
        <p:nvSpPr>
          <p:cNvPr id="42" name="Text 39"/>
          <p:cNvSpPr txBox="1"/>
          <p:nvPr/>
        </p:nvSpPr>
        <p:spPr>
          <a:xfrm>
            <a:off x="9692640" y="3017520"/>
            <a:ext cx="1691640" cy="548640"/>
          </a:xfrm>
          <a:prstGeom prst="rect">
            <a:avLst/>
          </a:prstGeom>
          <a:noFill/>
          <a:ln/>
        </p:spPr>
        <p:txBody>
          <a:bodyPr wrap="square" lIns="0" tIns="0" rIns="0" bIns="0" rtlCol="0" anchor="t"/>
          <a:lstStyle/>
          <a:p>
            <a:pPr indent="0" marL="0">
              <a:buNone/>
            </a:pPr>
            <a:r>
              <a:rPr lang="en-US" sz="1150" dirty="0">
                <a:solidFill>
                  <a:srgbClr val="A7BFB2"/>
                </a:solidFill>
                <a:latin typeface="Calibri" pitchFamily="34" charset="0"/>
                <a:ea typeface="Calibri" pitchFamily="34" charset="-122"/>
                <a:cs typeface="Calibri" pitchFamily="34" charset="-120"/>
              </a:rPr>
              <a:t>un vecteur par fenêtre → score</a:t>
            </a:r>
            <a:endParaRPr lang="en-US" sz="1150" dirty="0"/>
          </a:p>
        </p:txBody>
      </p:sp>
      <p:sp>
        <p:nvSpPr>
          <p:cNvPr id="43" name="Shape 40"/>
          <p:cNvSpPr/>
          <p:nvPr/>
        </p:nvSpPr>
        <p:spPr>
          <a:xfrm>
            <a:off x="5257800" y="3931920"/>
            <a:ext cx="6355080" cy="685800"/>
          </a:xfrm>
          <a:prstGeom prst="roundRect">
            <a:avLst>
              <a:gd name="adj" fmla="val 13333"/>
            </a:avLst>
          </a:prstGeom>
          <a:solidFill>
            <a:srgbClr val="E4EEE8"/>
          </a:solidFill>
          <a:ln w="12700">
            <a:solidFill>
              <a:srgbClr val="E4EEE8"/>
            </a:solidFill>
            <a:prstDash val="solid"/>
          </a:ln>
        </p:spPr>
      </p:sp>
      <p:sp>
        <p:nvSpPr>
          <p:cNvPr id="44" name="Text 41"/>
          <p:cNvSpPr txBox="1"/>
          <p:nvPr/>
        </p:nvSpPr>
        <p:spPr>
          <a:xfrm>
            <a:off x="5440680" y="3931920"/>
            <a:ext cx="6035040" cy="685800"/>
          </a:xfrm>
          <a:prstGeom prst="rect">
            <a:avLst/>
          </a:prstGeom>
          <a:noFill/>
          <a:ln/>
        </p:spPr>
        <p:txBody>
          <a:bodyPr wrap="square" lIns="0" tIns="0" rIns="0" bIns="0" rtlCol="0" anchor="ctr"/>
          <a:lstStyle/>
          <a:p>
            <a:pPr indent="0" marL="0">
              <a:buNone/>
            </a:pPr>
            <a:r>
              <a:rPr lang="en-US" sz="1500" b="1" dirty="0">
                <a:solidFill>
                  <a:srgbClr val="1B2A24"/>
                </a:solidFill>
                <a:latin typeface="Calibri" pitchFamily="34" charset="0"/>
                <a:ea typeface="Calibri" pitchFamily="34" charset="-122"/>
                <a:cs typeface="Calibri" pitchFamily="34" charset="-120"/>
              </a:rPr>
              <a:t>En une ligne : </a:t>
            </a:r>
            <a:pPr indent="0" marL="0">
              <a:buNone/>
            </a:pPr>
            <a:r>
              <a:rPr lang="en-US" sz="1500" dirty="0">
                <a:solidFill>
                  <a:srgbClr val="1B2A24"/>
                </a:solidFill>
                <a:latin typeface="Cambria" pitchFamily="34" charset="0"/>
                <a:ea typeface="Cambria" pitchFamily="34" charset="-122"/>
                <a:cs typeface="Cambria" pitchFamily="34" charset="-120"/>
              </a:rPr>
              <a:t>Attention(Q, K, V) = softmax(Q Kᵀ / √d) · V</a:t>
            </a:r>
            <a:pPr indent="0" marL="0">
              <a:buNone/>
            </a:pPr>
            <a:r>
              <a:rPr lang="en-US" sz="1100" dirty="0">
                <a:solidFill>
                  <a:srgbClr val="5B6B63"/>
                </a:solidFill>
                <a:latin typeface="Calibri" pitchFamily="34" charset="0"/>
                <a:ea typeface="Calibri" pitchFamily="34" charset="-122"/>
                <a:cs typeface="Calibri" pitchFamily="34" charset="-120"/>
              </a:rPr>
              <a:t>   Vaswani et al. 2017</a:t>
            </a:r>
            <a:endParaRPr lang="en-US" sz="1500" dirty="0"/>
          </a:p>
        </p:txBody>
      </p:sp>
      <p:sp>
        <p:nvSpPr>
          <p:cNvPr id="45" name="Shape 42"/>
          <p:cNvSpPr/>
          <p:nvPr/>
        </p:nvSpPr>
        <p:spPr>
          <a:xfrm>
            <a:off x="548640" y="5303520"/>
            <a:ext cx="5486400" cy="960120"/>
          </a:xfrm>
          <a:prstGeom prst="roundRect">
            <a:avLst>
              <a:gd name="adj" fmla="val 9524"/>
            </a:avLst>
          </a:prstGeom>
          <a:solidFill>
            <a:srgbClr val="F3F7F4"/>
          </a:solidFill>
          <a:ln w="12700">
            <a:solidFill>
              <a:srgbClr val="F3F7F4"/>
            </a:solidFill>
            <a:prstDash val="solid"/>
          </a:ln>
        </p:spPr>
      </p:sp>
      <p:sp>
        <p:nvSpPr>
          <p:cNvPr id="46" name="Text 43"/>
          <p:cNvSpPr txBox="1"/>
          <p:nvPr/>
        </p:nvSpPr>
        <p:spPr>
          <a:xfrm>
            <a:off x="777240" y="5303520"/>
            <a:ext cx="5120640" cy="960120"/>
          </a:xfrm>
          <a:prstGeom prst="rect">
            <a:avLst/>
          </a:prstGeom>
          <a:noFill/>
          <a:ln/>
        </p:spPr>
        <p:txBody>
          <a:bodyPr wrap="square" lIns="0" tIns="0" rIns="0" bIns="0" rtlCol="0" anchor="ctr"/>
          <a:lstStyle/>
          <a:p>
            <a:pPr indent="0" marL="0">
              <a:buNone/>
            </a:pPr>
            <a:r>
              <a:rPr lang="en-US" sz="1400" b="1" dirty="0">
                <a:solidFill>
                  <a:srgbClr val="1B2A24"/>
                </a:solidFill>
                <a:latin typeface="Calibri" pitchFamily="34" charset="0"/>
                <a:ea typeface="Calibri" pitchFamily="34" charset="-122"/>
                <a:cs typeface="Calibri" pitchFamily="34" charset="-120"/>
              </a:rPr>
              <a:t>Auto-attention (transformer) : </a:t>
            </a:r>
            <a:pPr indent="0" marL="0">
              <a:buNone/>
            </a:pPr>
            <a:r>
              <a:rPr lang="en-US" sz="1400" dirty="0">
                <a:solidFill>
                  <a:srgbClr val="5B6B63"/>
                </a:solidFill>
                <a:latin typeface="Calibri" pitchFamily="34" charset="0"/>
                <a:ea typeface="Calibri" pitchFamily="34" charset="-122"/>
                <a:cs typeface="Calibri" pitchFamily="34" charset="-120"/>
              </a:rPr>
              <a:t>chaque jeton émet sa requête ; les jetons se « parlent ».</a:t>
            </a:r>
            <a:endParaRPr lang="en-US" sz="1400" dirty="0"/>
          </a:p>
        </p:txBody>
      </p:sp>
      <p:sp>
        <p:nvSpPr>
          <p:cNvPr id="47" name="Shape 44"/>
          <p:cNvSpPr/>
          <p:nvPr/>
        </p:nvSpPr>
        <p:spPr>
          <a:xfrm>
            <a:off x="6263640" y="5303520"/>
            <a:ext cx="5349240" cy="960120"/>
          </a:xfrm>
          <a:prstGeom prst="roundRect">
            <a:avLst>
              <a:gd name="adj" fmla="val 9524"/>
            </a:avLst>
          </a:prstGeom>
          <a:solidFill>
            <a:srgbClr val="F3F7F4"/>
          </a:solidFill>
          <a:ln w="12700">
            <a:solidFill>
              <a:srgbClr val="F3F7F4"/>
            </a:solidFill>
            <a:prstDash val="solid"/>
          </a:ln>
        </p:spPr>
      </p:sp>
      <p:sp>
        <p:nvSpPr>
          <p:cNvPr id="48" name="Text 45"/>
          <p:cNvSpPr txBox="1"/>
          <p:nvPr/>
        </p:nvSpPr>
        <p:spPr>
          <a:xfrm>
            <a:off x="6492240" y="5303520"/>
            <a:ext cx="4983480" cy="960120"/>
          </a:xfrm>
          <a:prstGeom prst="rect">
            <a:avLst/>
          </a:prstGeom>
          <a:noFill/>
          <a:ln/>
        </p:spPr>
        <p:txBody>
          <a:bodyPr wrap="square" lIns="0" tIns="0" rIns="0" bIns="0" rtlCol="0" anchor="ctr"/>
          <a:lstStyle/>
          <a:p>
            <a:pPr indent="0" marL="0">
              <a:buNone/>
            </a:pPr>
            <a:r>
              <a:rPr lang="en-US" sz="1400" b="1" dirty="0">
                <a:solidFill>
                  <a:srgbClr val="1B2A24"/>
                </a:solidFill>
                <a:latin typeface="Calibri" pitchFamily="34" charset="0"/>
                <a:ea typeface="Calibri" pitchFamily="34" charset="-122"/>
                <a:cs typeface="Calibri" pitchFamily="34" charset="-120"/>
              </a:rPr>
              <a:t>Sonde attentive (notre tête) : </a:t>
            </a:r>
            <a:pPr indent="0" marL="0">
              <a:buNone/>
            </a:pPr>
            <a:r>
              <a:rPr lang="en-US" sz="1400" dirty="0">
                <a:solidFill>
                  <a:srgbClr val="5B6B63"/>
                </a:solidFill>
                <a:latin typeface="Calibri" pitchFamily="34" charset="0"/>
                <a:ea typeface="Calibri" pitchFamily="34" charset="-122"/>
                <a:cs typeface="Calibri" pitchFamily="34" charset="-120"/>
              </a:rPr>
              <a:t>une seule requête apprise, encodeur gelé.</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48740"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1348740"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ATTENTION · 3/3</a:t>
            </a:r>
            <a:endParaRPr lang="en-US" sz="1000" dirty="0"/>
          </a:p>
        </p:txBody>
      </p:sp>
      <p:sp>
        <p:nvSpPr>
          <p:cNvPr id="4" name="Text 2"/>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2800" b="1" dirty="0">
                <a:solidFill>
                  <a:srgbClr val="1B2A24"/>
                </a:solidFill>
                <a:latin typeface="Cambria" pitchFamily="34" charset="0"/>
                <a:ea typeface="Cambria" pitchFamily="34" charset="-122"/>
                <a:cs typeface="Cambria" pitchFamily="34" charset="-120"/>
              </a:rPr>
              <a:t>Dans notre projet : avantages et inconvénients</a:t>
            </a:r>
            <a:endParaRPr lang="en-US" sz="2800" dirty="0"/>
          </a:p>
        </p:txBody>
      </p:sp>
      <p:sp>
        <p:nvSpPr>
          <p:cNvPr id="5" name="Text 3"/>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4</a:t>
            </a:r>
            <a:endParaRPr lang="en-US" sz="900" dirty="0"/>
          </a:p>
        </p:txBody>
      </p:sp>
      <p:sp>
        <p:nvSpPr>
          <p:cNvPr id="7" name="Text 4"/>
          <p:cNvSpPr txBox="1"/>
          <p:nvPr/>
        </p:nvSpPr>
        <p:spPr>
          <a:xfrm>
            <a:off x="548640" y="1554480"/>
            <a:ext cx="5410048" cy="365760"/>
          </a:xfrm>
          <a:prstGeom prst="rect">
            <a:avLst/>
          </a:prstGeom>
          <a:noFill/>
          <a:ln/>
        </p:spPr>
        <p:txBody>
          <a:bodyPr wrap="square" lIns="0" tIns="0" rIns="0" bIns="0" rtlCol="0" anchor="t"/>
          <a:lstStyle/>
          <a:p>
            <a:pPr indent="0" marL="0">
              <a:buNone/>
            </a:pPr>
            <a:r>
              <a:rPr lang="en-US" sz="1800" b="1" dirty="0">
                <a:solidFill>
                  <a:srgbClr val="2A7F72"/>
                </a:solidFill>
                <a:latin typeface="Calibri" pitchFamily="34" charset="0"/>
                <a:ea typeface="Calibri" pitchFamily="34" charset="-122"/>
                <a:cs typeface="Calibri" pitchFamily="34" charset="-120"/>
              </a:rPr>
              <a:t>Avantages</a:t>
            </a:r>
            <a:endParaRPr lang="en-US" sz="1800" dirty="0"/>
          </a:p>
        </p:txBody>
      </p:sp>
      <p:sp>
        <p:nvSpPr>
          <p:cNvPr id="8" name="Shape 5"/>
          <p:cNvSpPr/>
          <p:nvPr/>
        </p:nvSpPr>
        <p:spPr>
          <a:xfrm>
            <a:off x="548640" y="2011680"/>
            <a:ext cx="5410048" cy="896112"/>
          </a:xfrm>
          <a:prstGeom prst="roundRect">
            <a:avLst>
              <a:gd name="adj" fmla="val 10204"/>
            </a:avLst>
          </a:prstGeom>
          <a:solidFill>
            <a:srgbClr val="F3F7F4"/>
          </a:solidFill>
          <a:ln w="12700">
            <a:solidFill>
              <a:srgbClr val="F3F7F4"/>
            </a:solidFill>
            <a:prstDash val="solid"/>
          </a:ln>
        </p:spPr>
      </p:sp>
      <p:sp>
        <p:nvSpPr>
          <p:cNvPr id="9" name="Shape 6"/>
          <p:cNvSpPr/>
          <p:nvPr/>
        </p:nvSpPr>
        <p:spPr>
          <a:xfrm>
            <a:off x="749808" y="2313432"/>
            <a:ext cx="292608" cy="292608"/>
          </a:xfrm>
          <a:prstGeom prst="ellipse">
            <a:avLst/>
          </a:prstGeom>
          <a:solidFill>
            <a:srgbClr val="2A7F72"/>
          </a:solidFill>
          <a:ln w="12700">
            <a:solidFill>
              <a:srgbClr val="2A7F72"/>
            </a:solidFill>
            <a:prstDash val="solid"/>
          </a:ln>
        </p:spPr>
      </p:sp>
      <p:sp>
        <p:nvSpPr>
          <p:cNvPr id="10" name="Text 7"/>
          <p:cNvSpPr txBox="1"/>
          <p:nvPr/>
        </p:nvSpPr>
        <p:spPr>
          <a:xfrm>
            <a:off x="749808" y="2313432"/>
            <a:ext cx="29260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txBox="1"/>
          <p:nvPr/>
        </p:nvSpPr>
        <p:spPr>
          <a:xfrm>
            <a:off x="1207008" y="2121408"/>
            <a:ext cx="4587088" cy="320040"/>
          </a:xfrm>
          <a:prstGeom prst="rect">
            <a:avLst/>
          </a:prstGeom>
          <a:noFill/>
          <a:ln/>
        </p:spPr>
        <p:txBody>
          <a:bodyPr wrap="square" lIns="0" tIns="0" rIns="0" bIns="0" rtlCol="0" anchor="t"/>
          <a:lstStyle/>
          <a:p>
            <a:pPr indent="0" marL="0">
              <a:buNone/>
            </a:pPr>
            <a:r>
              <a:rPr lang="en-US" sz="1500" b="1" dirty="0">
                <a:solidFill>
                  <a:srgbClr val="1B2A24"/>
                </a:solidFill>
                <a:latin typeface="Calibri" pitchFamily="34" charset="0"/>
                <a:ea typeface="Calibri" pitchFamily="34" charset="-122"/>
                <a:cs typeface="Calibri" pitchFamily="34" charset="-120"/>
              </a:rPr>
              <a:t>Fait pour une note brève</a:t>
            </a:r>
            <a:endParaRPr lang="en-US" sz="1500" dirty="0"/>
          </a:p>
        </p:txBody>
      </p:sp>
      <p:sp>
        <p:nvSpPr>
          <p:cNvPr id="12" name="Text 9"/>
          <p:cNvSpPr txBox="1"/>
          <p:nvPr/>
        </p:nvSpPr>
        <p:spPr>
          <a:xfrm>
            <a:off x="1207008" y="2468880"/>
            <a:ext cx="4587088" cy="365760"/>
          </a:xfrm>
          <a:prstGeom prst="rect">
            <a:avLst/>
          </a:prstGeom>
          <a:noFill/>
          <a:ln/>
        </p:spPr>
        <p:txBody>
          <a:bodyPr wrap="square" lIns="0" tIns="0" rIns="0" bIns="0" rtlCol="0" anchor="t"/>
          <a:lstStyle/>
          <a:p>
            <a:pPr indent="0" marL="0">
              <a:buNone/>
            </a:pPr>
            <a:r>
              <a:rPr lang="en-US" sz="1250" dirty="0">
                <a:solidFill>
                  <a:srgbClr val="5B6B63"/>
                </a:solidFill>
                <a:latin typeface="Calibri" pitchFamily="34" charset="0"/>
                <a:ea typeface="Calibri" pitchFamily="34" charset="-122"/>
                <a:cs typeface="Calibri" pitchFamily="34" charset="-120"/>
              </a:rPr>
              <a:t>0,09 s : 2 à 4 jetons sur 64, noyés par la moyenne</a:t>
            </a:r>
            <a:endParaRPr lang="en-US" sz="1250" dirty="0"/>
          </a:p>
        </p:txBody>
      </p:sp>
      <p:sp>
        <p:nvSpPr>
          <p:cNvPr id="13" name="Shape 10"/>
          <p:cNvSpPr/>
          <p:nvPr/>
        </p:nvSpPr>
        <p:spPr>
          <a:xfrm>
            <a:off x="548640" y="3035808"/>
            <a:ext cx="5410048" cy="896112"/>
          </a:xfrm>
          <a:prstGeom prst="roundRect">
            <a:avLst>
              <a:gd name="adj" fmla="val 10204"/>
            </a:avLst>
          </a:prstGeom>
          <a:solidFill>
            <a:srgbClr val="F3F7F4"/>
          </a:solidFill>
          <a:ln w="12700">
            <a:solidFill>
              <a:srgbClr val="F3F7F4"/>
            </a:solidFill>
            <a:prstDash val="solid"/>
          </a:ln>
        </p:spPr>
      </p:sp>
      <p:sp>
        <p:nvSpPr>
          <p:cNvPr id="14" name="Shape 11"/>
          <p:cNvSpPr/>
          <p:nvPr/>
        </p:nvSpPr>
        <p:spPr>
          <a:xfrm>
            <a:off x="749808" y="3337560"/>
            <a:ext cx="292608" cy="292608"/>
          </a:xfrm>
          <a:prstGeom prst="ellipse">
            <a:avLst/>
          </a:prstGeom>
          <a:solidFill>
            <a:srgbClr val="2A7F72"/>
          </a:solidFill>
          <a:ln w="12700">
            <a:solidFill>
              <a:srgbClr val="2A7F72"/>
            </a:solidFill>
            <a:prstDash val="solid"/>
          </a:ln>
        </p:spPr>
      </p:sp>
      <p:sp>
        <p:nvSpPr>
          <p:cNvPr id="15" name="Text 12"/>
          <p:cNvSpPr txBox="1"/>
          <p:nvPr/>
        </p:nvSpPr>
        <p:spPr>
          <a:xfrm>
            <a:off x="749808" y="3337560"/>
            <a:ext cx="29260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6" name="Text 13"/>
          <p:cNvSpPr txBox="1"/>
          <p:nvPr/>
        </p:nvSpPr>
        <p:spPr>
          <a:xfrm>
            <a:off x="1207008" y="3145536"/>
            <a:ext cx="4587088" cy="320040"/>
          </a:xfrm>
          <a:prstGeom prst="rect">
            <a:avLst/>
          </a:prstGeom>
          <a:noFill/>
          <a:ln/>
        </p:spPr>
        <p:txBody>
          <a:bodyPr wrap="square" lIns="0" tIns="0" rIns="0" bIns="0" rtlCol="0" anchor="t"/>
          <a:lstStyle/>
          <a:p>
            <a:pPr indent="0" marL="0">
              <a:buNone/>
            </a:pPr>
            <a:r>
              <a:rPr lang="en-US" sz="1500" b="1" dirty="0">
                <a:solidFill>
                  <a:srgbClr val="1B2A24"/>
                </a:solidFill>
                <a:latin typeface="Calibri" pitchFamily="34" charset="0"/>
                <a:ea typeface="Calibri" pitchFamily="34" charset="-122"/>
                <a:cs typeface="Calibri" pitchFamily="34" charset="-120"/>
              </a:rPr>
              <a:t>Juger équitablement les transformers</a:t>
            </a:r>
            <a:endParaRPr lang="en-US" sz="1500" dirty="0"/>
          </a:p>
        </p:txBody>
      </p:sp>
      <p:sp>
        <p:nvSpPr>
          <p:cNvPr id="17" name="Text 14"/>
          <p:cNvSpPr txBox="1"/>
          <p:nvPr/>
        </p:nvSpPr>
        <p:spPr>
          <a:xfrm>
            <a:off x="1207008" y="3493008"/>
            <a:ext cx="4587088" cy="365760"/>
          </a:xfrm>
          <a:prstGeom prst="rect">
            <a:avLst/>
          </a:prstGeom>
          <a:noFill/>
          <a:ln/>
        </p:spPr>
        <p:txBody>
          <a:bodyPr wrap="square" lIns="0" tIns="0" rIns="0" bIns="0" rtlCol="0" anchor="t"/>
          <a:lstStyle/>
          <a:p>
            <a:pPr indent="0" marL="0">
              <a:buNone/>
            </a:pPr>
            <a:r>
              <a:rPr lang="en-US" sz="1250" dirty="0">
                <a:solidFill>
                  <a:srgbClr val="5B6B63"/>
                </a:solidFill>
                <a:latin typeface="Calibri" pitchFamily="34" charset="0"/>
                <a:ea typeface="Calibri" pitchFamily="34" charset="-122"/>
                <a:cs typeface="Calibri" pitchFamily="34" charset="-120"/>
              </a:rPr>
              <a:t>Bird-MAE, BEATs : sous-estimés en linéaire (BEATs 94,10 → 97,98 AUROC)</a:t>
            </a:r>
            <a:endParaRPr lang="en-US" sz="1250" dirty="0"/>
          </a:p>
        </p:txBody>
      </p:sp>
      <p:sp>
        <p:nvSpPr>
          <p:cNvPr id="18" name="Shape 15"/>
          <p:cNvSpPr/>
          <p:nvPr/>
        </p:nvSpPr>
        <p:spPr>
          <a:xfrm>
            <a:off x="548640" y="4059936"/>
            <a:ext cx="5410048" cy="896112"/>
          </a:xfrm>
          <a:prstGeom prst="roundRect">
            <a:avLst>
              <a:gd name="adj" fmla="val 10204"/>
            </a:avLst>
          </a:prstGeom>
          <a:solidFill>
            <a:srgbClr val="F3F7F4"/>
          </a:solidFill>
          <a:ln w="12700">
            <a:solidFill>
              <a:srgbClr val="F3F7F4"/>
            </a:solidFill>
            <a:prstDash val="solid"/>
          </a:ln>
        </p:spPr>
      </p:sp>
      <p:sp>
        <p:nvSpPr>
          <p:cNvPr id="19" name="Shape 16"/>
          <p:cNvSpPr/>
          <p:nvPr/>
        </p:nvSpPr>
        <p:spPr>
          <a:xfrm>
            <a:off x="749808" y="4361688"/>
            <a:ext cx="292608" cy="292608"/>
          </a:xfrm>
          <a:prstGeom prst="ellipse">
            <a:avLst/>
          </a:prstGeom>
          <a:solidFill>
            <a:srgbClr val="2A7F72"/>
          </a:solidFill>
          <a:ln w="12700">
            <a:solidFill>
              <a:srgbClr val="2A7F72"/>
            </a:solidFill>
            <a:prstDash val="solid"/>
          </a:ln>
        </p:spPr>
      </p:sp>
      <p:sp>
        <p:nvSpPr>
          <p:cNvPr id="20" name="Text 17"/>
          <p:cNvSpPr txBox="1"/>
          <p:nvPr/>
        </p:nvSpPr>
        <p:spPr>
          <a:xfrm>
            <a:off x="749808" y="4361688"/>
            <a:ext cx="29260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21" name="Text 18"/>
          <p:cNvSpPr txBox="1"/>
          <p:nvPr/>
        </p:nvSpPr>
        <p:spPr>
          <a:xfrm>
            <a:off x="1207008" y="4169664"/>
            <a:ext cx="4587088" cy="320040"/>
          </a:xfrm>
          <a:prstGeom prst="rect">
            <a:avLst/>
          </a:prstGeom>
          <a:noFill/>
          <a:ln/>
        </p:spPr>
        <p:txBody>
          <a:bodyPr wrap="square" lIns="0" tIns="0" rIns="0" bIns="0" rtlCol="0" anchor="t"/>
          <a:lstStyle/>
          <a:p>
            <a:pPr indent="0" marL="0">
              <a:buNone/>
            </a:pPr>
            <a:r>
              <a:rPr lang="en-US" sz="1500" b="1" dirty="0">
                <a:solidFill>
                  <a:srgbClr val="1B2A24"/>
                </a:solidFill>
                <a:latin typeface="Calibri" pitchFamily="34" charset="0"/>
                <a:ea typeface="Calibri" pitchFamily="34" charset="-122"/>
                <a:cs typeface="Calibri" pitchFamily="34" charset="-120"/>
              </a:rPr>
              <a:t>Contrôlable à l'œil</a:t>
            </a:r>
            <a:endParaRPr lang="en-US" sz="1500" dirty="0"/>
          </a:p>
        </p:txBody>
      </p:sp>
      <p:sp>
        <p:nvSpPr>
          <p:cNvPr id="22" name="Text 19"/>
          <p:cNvSpPr txBox="1"/>
          <p:nvPr/>
        </p:nvSpPr>
        <p:spPr>
          <a:xfrm>
            <a:off x="1207008" y="4517136"/>
            <a:ext cx="4587088" cy="365760"/>
          </a:xfrm>
          <a:prstGeom prst="rect">
            <a:avLst/>
          </a:prstGeom>
          <a:noFill/>
          <a:ln/>
        </p:spPr>
        <p:txBody>
          <a:bodyPr wrap="square" lIns="0" tIns="0" rIns="0" bIns="0" rtlCol="0" anchor="t"/>
          <a:lstStyle/>
          <a:p>
            <a:pPr indent="0" marL="0">
              <a:buNone/>
            </a:pPr>
            <a:r>
              <a:rPr lang="en-US" sz="1250" dirty="0">
                <a:solidFill>
                  <a:srgbClr val="5B6B63"/>
                </a:solidFill>
                <a:latin typeface="Calibri" pitchFamily="34" charset="0"/>
                <a:ea typeface="Calibri" pitchFamily="34" charset="-122"/>
                <a:cs typeface="Calibri" pitchFamily="34" charset="-120"/>
              </a:rPr>
              <a:t>carte des poids + part d'attention sur la bande (notebook 04)</a:t>
            </a:r>
            <a:endParaRPr lang="en-US" sz="1250" dirty="0"/>
          </a:p>
        </p:txBody>
      </p:sp>
      <p:sp>
        <p:nvSpPr>
          <p:cNvPr id="23" name="Text 20"/>
          <p:cNvSpPr txBox="1"/>
          <p:nvPr/>
        </p:nvSpPr>
        <p:spPr>
          <a:xfrm>
            <a:off x="6233008" y="1554480"/>
            <a:ext cx="5410048" cy="365760"/>
          </a:xfrm>
          <a:prstGeom prst="rect">
            <a:avLst/>
          </a:prstGeom>
          <a:noFill/>
          <a:ln/>
        </p:spPr>
        <p:txBody>
          <a:bodyPr wrap="square" lIns="0" tIns="0" rIns="0" bIns="0" rtlCol="0" anchor="t"/>
          <a:lstStyle/>
          <a:p>
            <a:pPr indent="0" marL="0">
              <a:buNone/>
            </a:pPr>
            <a:r>
              <a:rPr lang="en-US" sz="1800" b="1" dirty="0">
                <a:solidFill>
                  <a:srgbClr val="C8553D"/>
                </a:solidFill>
                <a:latin typeface="Calibri" pitchFamily="34" charset="0"/>
                <a:ea typeface="Calibri" pitchFamily="34" charset="-122"/>
                <a:cs typeface="Calibri" pitchFamily="34" charset="-120"/>
              </a:rPr>
              <a:t>Inconvénients</a:t>
            </a:r>
            <a:endParaRPr lang="en-US" sz="1800" dirty="0"/>
          </a:p>
        </p:txBody>
      </p:sp>
      <p:sp>
        <p:nvSpPr>
          <p:cNvPr id="24" name="Shape 21"/>
          <p:cNvSpPr/>
          <p:nvPr/>
        </p:nvSpPr>
        <p:spPr>
          <a:xfrm>
            <a:off x="6233008" y="2011680"/>
            <a:ext cx="5410048" cy="896112"/>
          </a:xfrm>
          <a:prstGeom prst="roundRect">
            <a:avLst>
              <a:gd name="adj" fmla="val 10204"/>
            </a:avLst>
          </a:prstGeom>
          <a:solidFill>
            <a:srgbClr val="F3F7F4"/>
          </a:solidFill>
          <a:ln w="12700">
            <a:solidFill>
              <a:srgbClr val="F3F7F4"/>
            </a:solidFill>
            <a:prstDash val="solid"/>
          </a:ln>
        </p:spPr>
      </p:sp>
      <p:sp>
        <p:nvSpPr>
          <p:cNvPr id="25" name="Shape 22"/>
          <p:cNvSpPr/>
          <p:nvPr/>
        </p:nvSpPr>
        <p:spPr>
          <a:xfrm>
            <a:off x="6434176" y="2313432"/>
            <a:ext cx="292608" cy="292608"/>
          </a:xfrm>
          <a:prstGeom prst="ellipse">
            <a:avLst/>
          </a:prstGeom>
          <a:solidFill>
            <a:srgbClr val="C8553D"/>
          </a:solidFill>
          <a:ln w="12700">
            <a:solidFill>
              <a:srgbClr val="C8553D"/>
            </a:solidFill>
            <a:prstDash val="solid"/>
          </a:ln>
        </p:spPr>
      </p:sp>
      <p:sp>
        <p:nvSpPr>
          <p:cNvPr id="26" name="Text 23"/>
          <p:cNvSpPr txBox="1"/>
          <p:nvPr/>
        </p:nvSpPr>
        <p:spPr>
          <a:xfrm>
            <a:off x="6434176" y="2313432"/>
            <a:ext cx="29260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27" name="Text 24"/>
          <p:cNvSpPr txBox="1"/>
          <p:nvPr/>
        </p:nvSpPr>
        <p:spPr>
          <a:xfrm>
            <a:off x="6891376" y="2121408"/>
            <a:ext cx="4587088" cy="320040"/>
          </a:xfrm>
          <a:prstGeom prst="rect">
            <a:avLst/>
          </a:prstGeom>
          <a:noFill/>
          <a:ln/>
        </p:spPr>
        <p:txBody>
          <a:bodyPr wrap="square" lIns="0" tIns="0" rIns="0" bIns="0" rtlCol="0" anchor="t"/>
          <a:lstStyle/>
          <a:p>
            <a:pPr indent="0" marL="0">
              <a:buNone/>
            </a:pPr>
            <a:r>
              <a:rPr lang="en-US" sz="1500" b="1" dirty="0">
                <a:solidFill>
                  <a:srgbClr val="1B2A24"/>
                </a:solidFill>
                <a:latin typeface="Calibri" pitchFamily="34" charset="0"/>
                <a:ea typeface="Calibri" pitchFamily="34" charset="-122"/>
                <a:cs typeface="Calibri" pitchFamily="34" charset="-120"/>
              </a:rPr>
              <a:t>Mémoire</a:t>
            </a:r>
            <a:endParaRPr lang="en-US" sz="1500" dirty="0"/>
          </a:p>
        </p:txBody>
      </p:sp>
      <p:sp>
        <p:nvSpPr>
          <p:cNvPr id="28" name="Text 25"/>
          <p:cNvSpPr txBox="1"/>
          <p:nvPr/>
        </p:nvSpPr>
        <p:spPr>
          <a:xfrm>
            <a:off x="6891376" y="2468880"/>
            <a:ext cx="4587088" cy="365760"/>
          </a:xfrm>
          <a:prstGeom prst="rect">
            <a:avLst/>
          </a:prstGeom>
          <a:noFill/>
          <a:ln/>
        </p:spPr>
        <p:txBody>
          <a:bodyPr wrap="square" lIns="0" tIns="0" rIns="0" bIns="0" rtlCol="0" anchor="t"/>
          <a:lstStyle/>
          <a:p>
            <a:pPr indent="0" marL="0">
              <a:buNone/>
            </a:pPr>
            <a:r>
              <a:rPr lang="en-US" sz="1250" dirty="0">
                <a:solidFill>
                  <a:srgbClr val="5B6B63"/>
                </a:solidFill>
                <a:latin typeface="Calibri" pitchFamily="34" charset="0"/>
                <a:ea typeface="Calibri" pitchFamily="34" charset="-122"/>
                <a:cs typeface="Calibri" pitchFamily="34" charset="-120"/>
              </a:rPr>
              <a:t>64 jetons par fenêtre au lieu d'un vecteur</a:t>
            </a:r>
            <a:endParaRPr lang="en-US" sz="1250" dirty="0"/>
          </a:p>
        </p:txBody>
      </p:sp>
      <p:sp>
        <p:nvSpPr>
          <p:cNvPr id="29" name="Shape 26"/>
          <p:cNvSpPr/>
          <p:nvPr/>
        </p:nvSpPr>
        <p:spPr>
          <a:xfrm>
            <a:off x="6233008" y="3035808"/>
            <a:ext cx="5410048" cy="896112"/>
          </a:xfrm>
          <a:prstGeom prst="roundRect">
            <a:avLst>
              <a:gd name="adj" fmla="val 10204"/>
            </a:avLst>
          </a:prstGeom>
          <a:solidFill>
            <a:srgbClr val="F3F7F4"/>
          </a:solidFill>
          <a:ln w="12700">
            <a:solidFill>
              <a:srgbClr val="F3F7F4"/>
            </a:solidFill>
            <a:prstDash val="solid"/>
          </a:ln>
        </p:spPr>
      </p:sp>
      <p:sp>
        <p:nvSpPr>
          <p:cNvPr id="30" name="Shape 27"/>
          <p:cNvSpPr/>
          <p:nvPr/>
        </p:nvSpPr>
        <p:spPr>
          <a:xfrm>
            <a:off x="6434176" y="3337560"/>
            <a:ext cx="292608" cy="292608"/>
          </a:xfrm>
          <a:prstGeom prst="ellipse">
            <a:avLst/>
          </a:prstGeom>
          <a:solidFill>
            <a:srgbClr val="C8553D"/>
          </a:solidFill>
          <a:ln w="12700">
            <a:solidFill>
              <a:srgbClr val="C8553D"/>
            </a:solidFill>
            <a:prstDash val="solid"/>
          </a:ln>
        </p:spPr>
      </p:sp>
      <p:sp>
        <p:nvSpPr>
          <p:cNvPr id="31" name="Text 28"/>
          <p:cNvSpPr txBox="1"/>
          <p:nvPr/>
        </p:nvSpPr>
        <p:spPr>
          <a:xfrm>
            <a:off x="6434176" y="3337560"/>
            <a:ext cx="29260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32" name="Text 29"/>
          <p:cNvSpPr txBox="1"/>
          <p:nvPr/>
        </p:nvSpPr>
        <p:spPr>
          <a:xfrm>
            <a:off x="6891376" y="3145536"/>
            <a:ext cx="4587088" cy="320040"/>
          </a:xfrm>
          <a:prstGeom prst="rect">
            <a:avLst/>
          </a:prstGeom>
          <a:noFill/>
          <a:ln/>
        </p:spPr>
        <p:txBody>
          <a:bodyPr wrap="square" lIns="0" tIns="0" rIns="0" bIns="0" rtlCol="0" anchor="t"/>
          <a:lstStyle/>
          <a:p>
            <a:pPr indent="0" marL="0">
              <a:buNone/>
            </a:pPr>
            <a:r>
              <a:rPr lang="en-US" sz="1500" b="1" dirty="0">
                <a:solidFill>
                  <a:srgbClr val="1B2A24"/>
                </a:solidFill>
                <a:latin typeface="Calibri" pitchFamily="34" charset="0"/>
                <a:ea typeface="Calibri" pitchFamily="34" charset="-122"/>
                <a:cs typeface="Calibri" pitchFamily="34" charset="-120"/>
              </a:rPr>
              <a:t>Deux fois plus de paramètres</a:t>
            </a:r>
            <a:endParaRPr lang="en-US" sz="1500" dirty="0"/>
          </a:p>
        </p:txBody>
      </p:sp>
      <p:sp>
        <p:nvSpPr>
          <p:cNvPr id="33" name="Text 30"/>
          <p:cNvSpPr txBox="1"/>
          <p:nvPr/>
        </p:nvSpPr>
        <p:spPr>
          <a:xfrm>
            <a:off x="6891376" y="3493008"/>
            <a:ext cx="4587088" cy="365760"/>
          </a:xfrm>
          <a:prstGeom prst="rect">
            <a:avLst/>
          </a:prstGeom>
          <a:noFill/>
          <a:ln/>
        </p:spPr>
        <p:txBody>
          <a:bodyPr wrap="square" lIns="0" tIns="0" rIns="0" bIns="0" rtlCol="0" anchor="t"/>
          <a:lstStyle/>
          <a:p>
            <a:pPr indent="0" marL="0">
              <a:buNone/>
            </a:pPr>
            <a:r>
              <a:rPr lang="en-US" sz="1250" dirty="0">
                <a:solidFill>
                  <a:srgbClr val="5B6B63"/>
                </a:solidFill>
                <a:latin typeface="Calibri" pitchFamily="34" charset="0"/>
                <a:ea typeface="Calibri" pitchFamily="34" charset="-122"/>
                <a:cs typeface="Calibri" pitchFamily="34" charset="-120"/>
              </a:rPr>
              <a:t>même peu de positifs : risque d'apprendre le fond par cœur</a:t>
            </a:r>
            <a:endParaRPr lang="en-US" sz="1250" dirty="0"/>
          </a:p>
        </p:txBody>
      </p:sp>
      <p:sp>
        <p:nvSpPr>
          <p:cNvPr id="34" name="Shape 31"/>
          <p:cNvSpPr/>
          <p:nvPr/>
        </p:nvSpPr>
        <p:spPr>
          <a:xfrm>
            <a:off x="6233008" y="4059936"/>
            <a:ext cx="5410048" cy="896112"/>
          </a:xfrm>
          <a:prstGeom prst="roundRect">
            <a:avLst>
              <a:gd name="adj" fmla="val 10204"/>
            </a:avLst>
          </a:prstGeom>
          <a:solidFill>
            <a:srgbClr val="F3F7F4"/>
          </a:solidFill>
          <a:ln w="12700">
            <a:solidFill>
              <a:srgbClr val="F3F7F4"/>
            </a:solidFill>
            <a:prstDash val="solid"/>
          </a:ln>
        </p:spPr>
      </p:sp>
      <p:sp>
        <p:nvSpPr>
          <p:cNvPr id="35" name="Shape 32"/>
          <p:cNvSpPr/>
          <p:nvPr/>
        </p:nvSpPr>
        <p:spPr>
          <a:xfrm>
            <a:off x="6434176" y="4361688"/>
            <a:ext cx="292608" cy="292608"/>
          </a:xfrm>
          <a:prstGeom prst="ellipse">
            <a:avLst/>
          </a:prstGeom>
          <a:solidFill>
            <a:srgbClr val="C8553D"/>
          </a:solidFill>
          <a:ln w="12700">
            <a:solidFill>
              <a:srgbClr val="C8553D"/>
            </a:solidFill>
            <a:prstDash val="solid"/>
          </a:ln>
        </p:spPr>
      </p:sp>
      <p:sp>
        <p:nvSpPr>
          <p:cNvPr id="36" name="Text 33"/>
          <p:cNvSpPr txBox="1"/>
          <p:nvPr/>
        </p:nvSpPr>
        <p:spPr>
          <a:xfrm>
            <a:off x="6434176" y="4361688"/>
            <a:ext cx="29260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37" name="Text 34"/>
          <p:cNvSpPr txBox="1"/>
          <p:nvPr/>
        </p:nvSpPr>
        <p:spPr>
          <a:xfrm>
            <a:off x="6891376" y="4169664"/>
            <a:ext cx="4587088" cy="320040"/>
          </a:xfrm>
          <a:prstGeom prst="rect">
            <a:avLst/>
          </a:prstGeom>
          <a:noFill/>
          <a:ln/>
        </p:spPr>
        <p:txBody>
          <a:bodyPr wrap="square" lIns="0" tIns="0" rIns="0" bIns="0" rtlCol="0" anchor="t"/>
          <a:lstStyle/>
          <a:p>
            <a:pPr indent="0" marL="0">
              <a:buNone/>
            </a:pPr>
            <a:r>
              <a:rPr lang="en-US" sz="1500" b="1" dirty="0">
                <a:solidFill>
                  <a:srgbClr val="1B2A24"/>
                </a:solidFill>
                <a:latin typeface="Calibri" pitchFamily="34" charset="0"/>
                <a:ea typeface="Calibri" pitchFamily="34" charset="-122"/>
                <a:cs typeface="Calibri" pitchFamily="34" charset="-120"/>
              </a:rPr>
              <a:t>Gain non garanti</a:t>
            </a:r>
            <a:endParaRPr lang="en-US" sz="1500" dirty="0"/>
          </a:p>
        </p:txBody>
      </p:sp>
      <p:sp>
        <p:nvSpPr>
          <p:cNvPr id="38" name="Text 35"/>
          <p:cNvSpPr txBox="1"/>
          <p:nvPr/>
        </p:nvSpPr>
        <p:spPr>
          <a:xfrm>
            <a:off x="6891376" y="4517136"/>
            <a:ext cx="4587088" cy="365760"/>
          </a:xfrm>
          <a:prstGeom prst="rect">
            <a:avLst/>
          </a:prstGeom>
          <a:noFill/>
          <a:ln/>
        </p:spPr>
        <p:txBody>
          <a:bodyPr wrap="square" lIns="0" tIns="0" rIns="0" bIns="0" rtlCol="0" anchor="t"/>
          <a:lstStyle/>
          <a:p>
            <a:pPr indent="0" marL="0">
              <a:buNone/>
            </a:pPr>
            <a:r>
              <a:rPr lang="en-US" sz="1250" dirty="0">
                <a:solidFill>
                  <a:srgbClr val="5B6B63"/>
                </a:solidFill>
                <a:latin typeface="Calibri" pitchFamily="34" charset="0"/>
                <a:ea typeface="Calibri" pitchFamily="34" charset="-122"/>
                <a:cs typeface="Calibri" pitchFamily="34" charset="-120"/>
              </a:rPr>
              <a:t>BirdCLEF+ 2026 (DS@GT) : −0,013 à −0,035 avec une tête à attention</a:t>
            </a:r>
            <a:endParaRPr lang="en-US" sz="1250" dirty="0"/>
          </a:p>
        </p:txBody>
      </p:sp>
      <p:sp>
        <p:nvSpPr>
          <p:cNvPr id="39" name="Shape 36"/>
          <p:cNvSpPr/>
          <p:nvPr/>
        </p:nvSpPr>
        <p:spPr>
          <a:xfrm>
            <a:off x="548640" y="5257800"/>
            <a:ext cx="11094415" cy="1005840"/>
          </a:xfrm>
          <a:prstGeom prst="roundRect">
            <a:avLst>
              <a:gd name="adj" fmla="val 9091"/>
            </a:avLst>
          </a:prstGeom>
          <a:solidFill>
            <a:srgbClr val="0E2A24"/>
          </a:solidFill>
          <a:ln w="12700">
            <a:solidFill>
              <a:srgbClr val="0E2A24"/>
            </a:solidFill>
            <a:prstDash val="solid"/>
          </a:ln>
        </p:spPr>
      </p:sp>
      <p:sp>
        <p:nvSpPr>
          <p:cNvPr id="40" name="Text 37"/>
          <p:cNvSpPr txBox="1"/>
          <p:nvPr/>
        </p:nvSpPr>
        <p:spPr>
          <a:xfrm>
            <a:off x="822960" y="5257800"/>
            <a:ext cx="10545775" cy="10058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Verdict : </a:t>
            </a:r>
            <a:pPr indent="0" marL="0">
              <a:buNone/>
            </a:pPr>
            <a:r>
              <a:rPr lang="en-US" sz="1500" dirty="0">
                <a:solidFill>
                  <a:srgbClr val="FFFFFF"/>
                </a:solidFill>
                <a:latin typeface="Calibri" pitchFamily="34" charset="0"/>
                <a:ea typeface="Calibri" pitchFamily="34" charset="-122"/>
                <a:cs typeface="Calibri" pitchFamily="34" charset="-120"/>
              </a:rPr>
              <a:t>la logistique reste la tête par défaut. La sonde attentive s'essaie sur tout encodeur qui fournit ses jetons (perch_v2 déjà), et n'est gardée que si elle fait mieux sur des points d'écoute jamais vus à l'entraînement.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193292"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1193292"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ÉTAT DE L'ART</a:t>
            </a:r>
            <a:endParaRPr lang="en-US" sz="1000" dirty="0"/>
          </a:p>
        </p:txBody>
      </p:sp>
      <p:sp>
        <p:nvSpPr>
          <p:cNvPr id="4" name="Text 2"/>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2800" b="1" dirty="0">
                <a:solidFill>
                  <a:srgbClr val="1B2A24"/>
                </a:solidFill>
                <a:latin typeface="Cambria" pitchFamily="34" charset="0"/>
                <a:ea typeface="Cambria" pitchFamily="34" charset="-122"/>
                <a:cs typeface="Cambria" pitchFamily="34" charset="-120"/>
              </a:rPr>
              <a:t>Ce qui se fait de mieux aujourd'hui</a:t>
            </a:r>
            <a:endParaRPr lang="en-US" sz="2800" dirty="0"/>
          </a:p>
        </p:txBody>
      </p:sp>
      <p:sp>
        <p:nvSpPr>
          <p:cNvPr id="5" name="Text 3"/>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5</a:t>
            </a:r>
            <a:endParaRPr lang="en-US" sz="900" dirty="0"/>
          </a:p>
        </p:txBody>
      </p:sp>
      <p:sp>
        <p:nvSpPr>
          <p:cNvPr id="7" name="Shape 4"/>
          <p:cNvSpPr/>
          <p:nvPr/>
        </p:nvSpPr>
        <p:spPr>
          <a:xfrm>
            <a:off x="548640" y="1554480"/>
            <a:ext cx="2670734" cy="3429000"/>
          </a:xfrm>
          <a:prstGeom prst="roundRect">
            <a:avLst>
              <a:gd name="adj" fmla="val 3424"/>
            </a:avLst>
          </a:prstGeom>
          <a:solidFill>
            <a:srgbClr val="F3F7F4"/>
          </a:solidFill>
          <a:ln w="12700">
            <a:solidFill>
              <a:srgbClr val="F3F7F4"/>
            </a:solidFill>
            <a:prstDash val="solid"/>
          </a:ln>
        </p:spPr>
      </p:sp>
      <p:sp>
        <p:nvSpPr>
          <p:cNvPr id="8" name="Shape 5"/>
          <p:cNvSpPr/>
          <p:nvPr/>
        </p:nvSpPr>
        <p:spPr>
          <a:xfrm>
            <a:off x="749808" y="1737360"/>
            <a:ext cx="182880" cy="182880"/>
          </a:xfrm>
          <a:prstGeom prst="ellipse">
            <a:avLst/>
          </a:prstGeom>
          <a:solidFill>
            <a:srgbClr val="2A7F72"/>
          </a:solidFill>
          <a:ln w="12700">
            <a:solidFill>
              <a:srgbClr val="2A7F72"/>
            </a:solidFill>
            <a:prstDash val="solid"/>
          </a:ln>
        </p:spPr>
      </p:sp>
      <p:sp>
        <p:nvSpPr>
          <p:cNvPr id="9" name="Text 6"/>
          <p:cNvSpPr txBox="1"/>
          <p:nvPr/>
        </p:nvSpPr>
        <p:spPr>
          <a:xfrm>
            <a:off x="1024128" y="1664208"/>
            <a:ext cx="2076374" cy="365760"/>
          </a:xfrm>
          <a:prstGeom prst="rect">
            <a:avLst/>
          </a:prstGeom>
          <a:noFill/>
          <a:ln/>
        </p:spPr>
        <p:txBody>
          <a:bodyPr wrap="square" lIns="0" tIns="0" rIns="0" bIns="0" rtlCol="0" anchor="t"/>
          <a:lstStyle/>
          <a:p>
            <a:pPr indent="0" marL="0">
              <a:buNone/>
            </a:pPr>
            <a:r>
              <a:rPr lang="en-US" sz="1500" b="1" dirty="0">
                <a:solidFill>
                  <a:srgbClr val="2A7F72"/>
                </a:solidFill>
                <a:latin typeface="Calibri" pitchFamily="34" charset="0"/>
                <a:ea typeface="Calibri" pitchFamily="34" charset="-122"/>
                <a:cs typeface="Calibri" pitchFamily="34" charset="-120"/>
              </a:rPr>
              <a:t>Encodeurs</a:t>
            </a:r>
            <a:endParaRPr lang="en-US" sz="1500" dirty="0"/>
          </a:p>
        </p:txBody>
      </p:sp>
      <p:sp>
        <p:nvSpPr>
          <p:cNvPr id="10" name="Text 7"/>
          <p:cNvSpPr txBox="1"/>
          <p:nvPr/>
        </p:nvSpPr>
        <p:spPr>
          <a:xfrm>
            <a:off x="749808" y="2194560"/>
            <a:ext cx="2304974" cy="2697480"/>
          </a:xfrm>
          <a:prstGeom prst="rect">
            <a:avLst/>
          </a:prstGeom>
          <a:noFill/>
          <a:ln/>
        </p:spPr>
        <p:txBody>
          <a:bodyPr wrap="square" lIns="0" tIns="0" rIns="0" bIns="0" rtlCol="0" anchor="t"/>
          <a:lstStyle/>
          <a:p>
            <a:pPr marL="177800" indent="-177800">
              <a:spcAft>
                <a:spcPts val="1200"/>
              </a:spcAft>
              <a:buSzPct val="100000"/>
              <a:buChar char="•"/>
            </a:pPr>
            <a:r>
              <a:rPr lang="en-US" sz="1400" b="1" dirty="0">
                <a:solidFill>
                  <a:srgbClr val="1B2A24"/>
                </a:solidFill>
                <a:latin typeface="Calibri" pitchFamily="34" charset="0"/>
                <a:ea typeface="Calibri" pitchFamily="34" charset="-122"/>
                <a:cs typeface="Calibri" pitchFamily="34" charset="-120"/>
              </a:rPr>
              <a:t>Perch 2.0</a:t>
            </a:r>
            <a:pPr indent="0" marL="0">
              <a:buNone/>
            </a:pPr>
            <a:r>
              <a:rPr lang="en-US" sz="1400" dirty="0">
                <a:solidFill>
                  <a:srgbClr val="1B2A24"/>
                </a:solidFill>
                <a:latin typeface="Calibri" pitchFamily="34" charset="0"/>
                <a:ea typeface="Calibri" pitchFamily="34" charset="-122"/>
                <a:cs typeface="Calibri" pitchFamily="34" charset="-120"/>
              </a:rPr>
              <a:t> : référence en linéaire, BirdSet 0,908</a:t>
            </a:r>
            <a:endParaRPr lang="en-US" sz="1400" dirty="0"/>
          </a:p>
          <a:p>
            <a:pPr marL="177800" indent="-177800">
              <a:spcAft>
                <a:spcPts val="1200"/>
              </a:spcAft>
              <a:buSzPct val="100000"/>
              <a:buChar char="•"/>
            </a:pPr>
            <a:r>
              <a:rPr lang="en-US" sz="1400" b="1" dirty="0">
                <a:solidFill>
                  <a:srgbClr val="1B2A24"/>
                </a:solidFill>
                <a:latin typeface="Calibri" pitchFamily="34" charset="0"/>
                <a:ea typeface="Calibri" pitchFamily="34" charset="-122"/>
                <a:cs typeface="Calibri" pitchFamily="34" charset="-120"/>
              </a:rPr>
              <a:t>MetaPerch</a:t>
            </a:r>
            <a:pPr indent="0" marL="0">
              <a:buNone/>
            </a:pPr>
            <a:r>
              <a:rPr lang="en-US" sz="1400" dirty="0">
                <a:solidFill>
                  <a:srgbClr val="1B2A24"/>
                </a:solidFill>
                <a:latin typeface="Calibri" pitchFamily="34" charset="0"/>
                <a:ea typeface="Calibri" pitchFamily="34" charset="-122"/>
                <a:cs typeface="Calibri" pitchFamily="34" charset="-120"/>
              </a:rPr>
              <a:t> (2026) : mieux en Amérique du Sud</a:t>
            </a:r>
            <a:endParaRPr lang="en-US" sz="1400" dirty="0"/>
          </a:p>
          <a:p>
            <a:pPr marL="177800" indent="-177800">
              <a:spcAft>
                <a:spcPts val="1200"/>
              </a:spcAft>
              <a:buSzPct val="100000"/>
              <a:buChar char="•"/>
            </a:pPr>
            <a:r>
              <a:rPr lang="en-US" sz="1400" b="1" dirty="0">
                <a:solidFill>
                  <a:srgbClr val="1B2A24"/>
                </a:solidFill>
                <a:latin typeface="Calibri" pitchFamily="34" charset="0"/>
                <a:ea typeface="Calibri" pitchFamily="34" charset="-122"/>
                <a:cs typeface="Calibri" pitchFamily="34" charset="-120"/>
              </a:rPr>
              <a:t>Bird-MAE, NatureBEATs</a:t>
            </a:r>
            <a:pPr indent="0" marL="0">
              <a:buNone/>
            </a:pPr>
            <a:r>
              <a:rPr lang="en-US" sz="1400" dirty="0">
                <a:solidFill>
                  <a:srgbClr val="1B2A24"/>
                </a:solidFill>
                <a:latin typeface="Calibri" pitchFamily="34" charset="0"/>
                <a:ea typeface="Calibri" pitchFamily="34" charset="-122"/>
                <a:cs typeface="Calibri" pitchFamily="34" charset="-120"/>
              </a:rPr>
              <a:t> : forts avec une tête sur jetons</a:t>
            </a:r>
            <a:endParaRPr lang="en-US" sz="1400" dirty="0"/>
          </a:p>
          <a:p>
            <a:pPr marL="177800" indent="-177800">
              <a:spcAft>
                <a:spcPts val="1200"/>
              </a:spcAft>
              <a:buSzPct val="100000"/>
              <a:buChar char="•"/>
            </a:pPr>
            <a:r>
              <a:rPr lang="en-US" sz="1400" b="1" dirty="0">
                <a:solidFill>
                  <a:srgbClr val="1B2A24"/>
                </a:solidFill>
                <a:latin typeface="Calibri" pitchFamily="34" charset="0"/>
                <a:ea typeface="Calibri" pitchFamily="34" charset="-122"/>
                <a:cs typeface="Calibri" pitchFamily="34" charset="-120"/>
              </a:rPr>
              <a:t>BirdNET+ V3</a:t>
            </a:r>
            <a:pPr indent="0" marL="0">
              <a:buNone/>
            </a:pPr>
            <a:r>
              <a:rPr lang="en-US" sz="1400" dirty="0">
                <a:solidFill>
                  <a:srgbClr val="1B2A24"/>
                </a:solidFill>
                <a:latin typeface="Calibri" pitchFamily="34" charset="0"/>
                <a:ea typeface="Calibri" pitchFamily="34" charset="-122"/>
                <a:cs typeface="Calibri" pitchFamily="34" charset="-120"/>
              </a:rPr>
              <a:t> : préversion, 11 000 espèces</a:t>
            </a:r>
            <a:endParaRPr lang="en-US" sz="1400" dirty="0"/>
          </a:p>
        </p:txBody>
      </p:sp>
      <p:sp>
        <p:nvSpPr>
          <p:cNvPr id="11" name="Shape 8"/>
          <p:cNvSpPr/>
          <p:nvPr/>
        </p:nvSpPr>
        <p:spPr>
          <a:xfrm>
            <a:off x="3356534" y="1554480"/>
            <a:ext cx="2670734" cy="3429000"/>
          </a:xfrm>
          <a:prstGeom prst="roundRect">
            <a:avLst>
              <a:gd name="adj" fmla="val 3424"/>
            </a:avLst>
          </a:prstGeom>
          <a:solidFill>
            <a:srgbClr val="F3F7F4"/>
          </a:solidFill>
          <a:ln w="12700">
            <a:solidFill>
              <a:srgbClr val="F3F7F4"/>
            </a:solidFill>
            <a:prstDash val="solid"/>
          </a:ln>
        </p:spPr>
      </p:sp>
      <p:sp>
        <p:nvSpPr>
          <p:cNvPr id="12" name="Shape 9"/>
          <p:cNvSpPr/>
          <p:nvPr/>
        </p:nvSpPr>
        <p:spPr>
          <a:xfrm>
            <a:off x="3557702" y="1737360"/>
            <a:ext cx="182880" cy="182880"/>
          </a:xfrm>
          <a:prstGeom prst="ellipse">
            <a:avLst/>
          </a:prstGeom>
          <a:solidFill>
            <a:srgbClr val="3E7CB1"/>
          </a:solidFill>
          <a:ln w="12700">
            <a:solidFill>
              <a:srgbClr val="3E7CB1"/>
            </a:solidFill>
            <a:prstDash val="solid"/>
          </a:ln>
        </p:spPr>
      </p:sp>
      <p:sp>
        <p:nvSpPr>
          <p:cNvPr id="13" name="Text 10"/>
          <p:cNvSpPr txBox="1"/>
          <p:nvPr/>
        </p:nvSpPr>
        <p:spPr>
          <a:xfrm>
            <a:off x="3832022" y="1664208"/>
            <a:ext cx="2076374" cy="365760"/>
          </a:xfrm>
          <a:prstGeom prst="rect">
            <a:avLst/>
          </a:prstGeom>
          <a:noFill/>
          <a:ln/>
        </p:spPr>
        <p:txBody>
          <a:bodyPr wrap="square" lIns="0" tIns="0" rIns="0" bIns="0" rtlCol="0" anchor="t"/>
          <a:lstStyle/>
          <a:p>
            <a:pPr indent="0" marL="0">
              <a:buNone/>
            </a:pPr>
            <a:r>
              <a:rPr lang="en-US" sz="1500" b="1" dirty="0">
                <a:solidFill>
                  <a:srgbClr val="3E7CB1"/>
                </a:solidFill>
                <a:latin typeface="Calibri" pitchFamily="34" charset="0"/>
                <a:ea typeface="Calibri" pitchFamily="34" charset="-122"/>
                <a:cs typeface="Calibri" pitchFamily="34" charset="-120"/>
              </a:rPr>
              <a:t>Chaînes (BirdCLEF+ 2026)</a:t>
            </a:r>
            <a:endParaRPr lang="en-US" sz="1500" dirty="0"/>
          </a:p>
        </p:txBody>
      </p:sp>
      <p:sp>
        <p:nvSpPr>
          <p:cNvPr id="14" name="Text 11"/>
          <p:cNvSpPr txBox="1"/>
          <p:nvPr/>
        </p:nvSpPr>
        <p:spPr>
          <a:xfrm>
            <a:off x="3557702" y="2194560"/>
            <a:ext cx="2304974" cy="2697480"/>
          </a:xfrm>
          <a:prstGeom prst="rect">
            <a:avLst/>
          </a:prstGeom>
          <a:noFill/>
          <a:ln/>
        </p:spPr>
        <p:txBody>
          <a:bodyPr wrap="square" lIns="0" tIns="0" rIns="0" bIns="0" rtlCol="0" anchor="t"/>
          <a:lstStyle/>
          <a:p>
            <a:pPr marL="177800" indent="-177800">
              <a:spcAft>
                <a:spcPts val="1200"/>
              </a:spcAft>
              <a:buSzPct val="100000"/>
              <a:buChar char="•"/>
            </a:pPr>
            <a:r>
              <a:rPr lang="en-US" sz="1400" b="1" dirty="0">
                <a:solidFill>
                  <a:srgbClr val="1B2A24"/>
                </a:solidFill>
                <a:latin typeface="Calibri" pitchFamily="34" charset="0"/>
                <a:ea typeface="Calibri" pitchFamily="34" charset="-122"/>
                <a:cs typeface="Calibri" pitchFamily="34" charset="-120"/>
              </a:rPr>
              <a:t>Distillation</a:t>
            </a:r>
            <a:pPr indent="0" marL="0">
              <a:buNone/>
            </a:pPr>
            <a:r>
              <a:rPr lang="en-US" sz="1400" dirty="0">
                <a:solidFill>
                  <a:srgbClr val="1B2A24"/>
                </a:solidFill>
                <a:latin typeface="Calibri" pitchFamily="34" charset="0"/>
                <a:ea typeface="Calibri" pitchFamily="34" charset="-122"/>
                <a:cs typeface="Calibri" pitchFamily="34" charset="-120"/>
              </a:rPr>
              <a:t> : Perch v2 professeur d'un CNN rapide</a:t>
            </a:r>
            <a:endParaRPr lang="en-US" sz="1400" dirty="0"/>
          </a:p>
          <a:p>
            <a:pPr marL="177800" indent="-177800">
              <a:spcAft>
                <a:spcPts val="1200"/>
              </a:spcAft>
              <a:buSzPct val="100000"/>
              <a:buChar char="•"/>
            </a:pPr>
            <a:r>
              <a:rPr lang="en-US" sz="1400" b="1" dirty="0">
                <a:solidFill>
                  <a:srgbClr val="1B2A24"/>
                </a:solidFill>
                <a:latin typeface="Calibri" pitchFamily="34" charset="0"/>
                <a:ea typeface="Calibri" pitchFamily="34" charset="-122"/>
                <a:cs typeface="Calibri" pitchFamily="34" charset="-120"/>
              </a:rPr>
              <a:t>Pseudo-labels</a:t>
            </a:r>
            <a:pPr indent="0" marL="0">
              <a:buNone/>
            </a:pPr>
            <a:r>
              <a:rPr lang="en-US" sz="1400" dirty="0">
                <a:solidFill>
                  <a:srgbClr val="1B2A24"/>
                </a:solidFill>
                <a:latin typeface="Calibri" pitchFamily="34" charset="0"/>
                <a:ea typeface="Calibri" pitchFamily="34" charset="-122"/>
                <a:cs typeface="Calibri" pitchFamily="34" charset="-120"/>
              </a:rPr>
              <a:t> : le modèle annote l'audio non étiqueté</a:t>
            </a:r>
            <a:endParaRPr lang="en-US" sz="1400" dirty="0"/>
          </a:p>
          <a:p>
            <a:pPr marL="177800" indent="-177800">
              <a:spcAft>
                <a:spcPts val="1200"/>
              </a:spcAft>
              <a:buSzPct val="100000"/>
              <a:buChar char="•"/>
            </a:pPr>
            <a:r>
              <a:rPr lang="en-US" sz="1400" b="1" dirty="0">
                <a:solidFill>
                  <a:srgbClr val="1B2A24"/>
                </a:solidFill>
                <a:latin typeface="Calibri" pitchFamily="34" charset="0"/>
                <a:ea typeface="Calibri" pitchFamily="34" charset="-122"/>
                <a:cs typeface="Calibri" pitchFamily="34" charset="-120"/>
              </a:rPr>
              <a:t>A priori</a:t>
            </a:r>
            <a:pPr indent="0" marL="0">
              <a:buNone/>
            </a:pPr>
            <a:r>
              <a:rPr lang="en-US" sz="1400" dirty="0">
                <a:solidFill>
                  <a:srgbClr val="1B2A24"/>
                </a:solidFill>
                <a:latin typeface="Calibri" pitchFamily="34" charset="0"/>
                <a:ea typeface="Calibri" pitchFamily="34" charset="-122"/>
                <a:cs typeface="Calibri" pitchFamily="34" charset="-120"/>
              </a:rPr>
              <a:t> de site et d'heure, lissage dans le temps</a:t>
            </a:r>
            <a:endParaRPr lang="en-US" sz="1400" dirty="0"/>
          </a:p>
        </p:txBody>
      </p:sp>
      <p:sp>
        <p:nvSpPr>
          <p:cNvPr id="15" name="Shape 12"/>
          <p:cNvSpPr/>
          <p:nvPr/>
        </p:nvSpPr>
        <p:spPr>
          <a:xfrm>
            <a:off x="6164428" y="1554480"/>
            <a:ext cx="2670734" cy="3429000"/>
          </a:xfrm>
          <a:prstGeom prst="roundRect">
            <a:avLst>
              <a:gd name="adj" fmla="val 3424"/>
            </a:avLst>
          </a:prstGeom>
          <a:solidFill>
            <a:srgbClr val="F3F7F4"/>
          </a:solidFill>
          <a:ln w="12700">
            <a:solidFill>
              <a:srgbClr val="F3F7F4"/>
            </a:solidFill>
            <a:prstDash val="solid"/>
          </a:ln>
        </p:spPr>
      </p:sp>
      <p:sp>
        <p:nvSpPr>
          <p:cNvPr id="16" name="Shape 13"/>
          <p:cNvSpPr/>
          <p:nvPr/>
        </p:nvSpPr>
        <p:spPr>
          <a:xfrm>
            <a:off x="6365596" y="1737360"/>
            <a:ext cx="182880" cy="182880"/>
          </a:xfrm>
          <a:prstGeom prst="ellipse">
            <a:avLst/>
          </a:prstGeom>
          <a:solidFill>
            <a:srgbClr val="8A5A00"/>
          </a:solidFill>
          <a:ln w="12700">
            <a:solidFill>
              <a:srgbClr val="8A5A00"/>
            </a:solidFill>
            <a:prstDash val="solid"/>
          </a:ln>
        </p:spPr>
      </p:sp>
      <p:sp>
        <p:nvSpPr>
          <p:cNvPr id="17" name="Text 14"/>
          <p:cNvSpPr txBox="1"/>
          <p:nvPr/>
        </p:nvSpPr>
        <p:spPr>
          <a:xfrm>
            <a:off x="6639916" y="1664208"/>
            <a:ext cx="2076374" cy="365760"/>
          </a:xfrm>
          <a:prstGeom prst="rect">
            <a:avLst/>
          </a:prstGeom>
          <a:noFill/>
          <a:ln/>
        </p:spPr>
        <p:txBody>
          <a:bodyPr wrap="square" lIns="0" tIns="0" rIns="0" bIns="0" rtlCol="0" anchor="t"/>
          <a:lstStyle/>
          <a:p>
            <a:pPr indent="0" marL="0">
              <a:buNone/>
            </a:pPr>
            <a:r>
              <a:rPr lang="en-US" sz="1500" b="1" dirty="0">
                <a:solidFill>
                  <a:srgbClr val="8A5A00"/>
                </a:solidFill>
                <a:latin typeface="Calibri" pitchFamily="34" charset="0"/>
                <a:ea typeface="Calibri" pitchFamily="34" charset="-122"/>
                <a:cs typeface="Calibri" pitchFamily="34" charset="-120"/>
              </a:rPr>
              <a:t>Ensembles</a:t>
            </a:r>
            <a:endParaRPr lang="en-US" sz="1500" dirty="0"/>
          </a:p>
        </p:txBody>
      </p:sp>
      <p:sp>
        <p:nvSpPr>
          <p:cNvPr id="18" name="Text 15"/>
          <p:cNvSpPr txBox="1"/>
          <p:nvPr/>
        </p:nvSpPr>
        <p:spPr>
          <a:xfrm>
            <a:off x="6365596" y="2194560"/>
            <a:ext cx="2304974" cy="2697480"/>
          </a:xfrm>
          <a:prstGeom prst="rect">
            <a:avLst/>
          </a:prstGeom>
          <a:noFill/>
          <a:ln/>
        </p:spPr>
        <p:txBody>
          <a:bodyPr wrap="square" lIns="0" tIns="0" rIns="0" bIns="0" rtlCol="0" anchor="t"/>
          <a:lstStyle/>
          <a:p>
            <a:pPr marL="177800" indent="-177800">
              <a:spcAft>
                <a:spcPts val="1200"/>
              </a:spcAft>
              <a:buSzPct val="100000"/>
              <a:buChar char="•"/>
            </a:pPr>
            <a:r>
              <a:rPr lang="en-US" sz="1400" b="1" dirty="0">
                <a:solidFill>
                  <a:srgbClr val="1B2A24"/>
                </a:solidFill>
                <a:latin typeface="Calibri" pitchFamily="34" charset="0"/>
                <a:ea typeface="Calibri" pitchFamily="34" charset="-122"/>
                <a:cs typeface="Calibri" pitchFamily="34" charset="-120"/>
              </a:rPr>
              <a:t>Tout le top 5</a:t>
            </a:r>
            <a:pPr indent="0" marL="0">
              <a:buNone/>
            </a:pPr>
            <a:r>
              <a:rPr lang="en-US" sz="1400" dirty="0">
                <a:solidFill>
                  <a:srgbClr val="1B2A24"/>
                </a:solidFill>
                <a:latin typeface="Calibri" pitchFamily="34" charset="0"/>
                <a:ea typeface="Calibri" pitchFamily="34" charset="-122"/>
                <a:cs typeface="Calibri" pitchFamily="34" charset="-120"/>
              </a:rPr>
              <a:t> : 3 à 10 modèles combinés</a:t>
            </a:r>
            <a:endParaRPr lang="en-US" sz="1400" dirty="0"/>
          </a:p>
          <a:p>
            <a:pPr marL="177800" indent="-177800">
              <a:spcAft>
                <a:spcPts val="1200"/>
              </a:spcAft>
              <a:buSzPct val="100000"/>
              <a:buChar char="•"/>
            </a:pPr>
            <a:r>
              <a:rPr lang="en-US" sz="1400" b="1" dirty="0">
                <a:solidFill>
                  <a:srgbClr val="1B2A24"/>
                </a:solidFill>
                <a:latin typeface="Calibri" pitchFamily="34" charset="0"/>
                <a:ea typeface="Calibri" pitchFamily="34" charset="-122"/>
                <a:cs typeface="Calibri" pitchFamily="34" charset="-120"/>
              </a:rPr>
              <a:t>La diversité</a:t>
            </a:r>
            <a:pPr indent="0" marL="0">
              <a:buNone/>
            </a:pPr>
            <a:r>
              <a:rPr lang="en-US" sz="1400" dirty="0">
                <a:solidFill>
                  <a:srgbClr val="1B2A24"/>
                </a:solidFill>
                <a:latin typeface="Calibri" pitchFamily="34" charset="0"/>
                <a:ea typeface="Calibri" pitchFamily="34" charset="-122"/>
                <a:cs typeface="Calibri" pitchFamily="34" charset="-120"/>
              </a:rPr>
              <a:t> rapporte plus que le meilleur modèle seul</a:t>
            </a:r>
            <a:endParaRPr lang="en-US" sz="1400" dirty="0"/>
          </a:p>
        </p:txBody>
      </p:sp>
      <p:sp>
        <p:nvSpPr>
          <p:cNvPr id="19" name="Shape 16"/>
          <p:cNvSpPr/>
          <p:nvPr/>
        </p:nvSpPr>
        <p:spPr>
          <a:xfrm>
            <a:off x="8972321" y="1554480"/>
            <a:ext cx="2670734" cy="3429000"/>
          </a:xfrm>
          <a:prstGeom prst="roundRect">
            <a:avLst>
              <a:gd name="adj" fmla="val 3424"/>
            </a:avLst>
          </a:prstGeom>
          <a:solidFill>
            <a:srgbClr val="F3F7F4"/>
          </a:solidFill>
          <a:ln w="12700">
            <a:solidFill>
              <a:srgbClr val="F3F7F4"/>
            </a:solidFill>
            <a:prstDash val="solid"/>
          </a:ln>
        </p:spPr>
      </p:sp>
      <p:sp>
        <p:nvSpPr>
          <p:cNvPr id="20" name="Shape 17"/>
          <p:cNvSpPr/>
          <p:nvPr/>
        </p:nvSpPr>
        <p:spPr>
          <a:xfrm>
            <a:off x="9173489" y="1737360"/>
            <a:ext cx="182880" cy="182880"/>
          </a:xfrm>
          <a:prstGeom prst="ellipse">
            <a:avLst/>
          </a:prstGeom>
          <a:solidFill>
            <a:srgbClr val="C8553D"/>
          </a:solidFill>
          <a:ln w="12700">
            <a:solidFill>
              <a:srgbClr val="C8553D"/>
            </a:solidFill>
            <a:prstDash val="solid"/>
          </a:ln>
        </p:spPr>
      </p:sp>
      <p:sp>
        <p:nvSpPr>
          <p:cNvPr id="21" name="Text 18"/>
          <p:cNvSpPr txBox="1"/>
          <p:nvPr/>
        </p:nvSpPr>
        <p:spPr>
          <a:xfrm>
            <a:off x="9447809" y="1664208"/>
            <a:ext cx="2076374" cy="365760"/>
          </a:xfrm>
          <a:prstGeom prst="rect">
            <a:avLst/>
          </a:prstGeom>
          <a:noFill/>
          <a:ln/>
        </p:spPr>
        <p:txBody>
          <a:bodyPr wrap="square" lIns="0" tIns="0" rIns="0" bIns="0" rtlCol="0" anchor="t"/>
          <a:lstStyle/>
          <a:p>
            <a:pPr indent="0" marL="0">
              <a:buNone/>
            </a:pPr>
            <a:r>
              <a:rPr lang="en-US" sz="1500" b="1" dirty="0">
                <a:solidFill>
                  <a:srgbClr val="C8553D"/>
                </a:solidFill>
                <a:latin typeface="Calibri" pitchFamily="34" charset="0"/>
                <a:ea typeface="Calibri" pitchFamily="34" charset="-122"/>
                <a:cs typeface="Calibri" pitchFamily="34" charset="-120"/>
              </a:rPr>
              <a:t>Anoures, amphibiens</a:t>
            </a:r>
            <a:endParaRPr lang="en-US" sz="1500" dirty="0"/>
          </a:p>
        </p:txBody>
      </p:sp>
      <p:sp>
        <p:nvSpPr>
          <p:cNvPr id="22" name="Text 19"/>
          <p:cNvSpPr txBox="1"/>
          <p:nvPr/>
        </p:nvSpPr>
        <p:spPr>
          <a:xfrm>
            <a:off x="9173489" y="2194560"/>
            <a:ext cx="2304974" cy="2697480"/>
          </a:xfrm>
          <a:prstGeom prst="rect">
            <a:avLst/>
          </a:prstGeom>
          <a:noFill/>
          <a:ln/>
        </p:spPr>
        <p:txBody>
          <a:bodyPr wrap="square" lIns="0" tIns="0" rIns="0" bIns="0" rtlCol="0" anchor="t"/>
          <a:lstStyle/>
          <a:p>
            <a:pPr marL="177800" indent="-177800">
              <a:spcAft>
                <a:spcPts val="1200"/>
              </a:spcAft>
              <a:buSzPct val="100000"/>
              <a:buChar char="•"/>
            </a:pPr>
            <a:r>
              <a:rPr lang="en-US" sz="1400" b="1" dirty="0">
                <a:solidFill>
                  <a:srgbClr val="1B2A24"/>
                </a:solidFill>
                <a:latin typeface="Calibri" pitchFamily="34" charset="0"/>
                <a:ea typeface="Calibri" pitchFamily="34" charset="-122"/>
                <a:cs typeface="Calibri" pitchFamily="34" charset="-120"/>
              </a:rPr>
              <a:t>Pas de modèle dédié</a:t>
            </a:r>
            <a:pPr indent="0" marL="0">
              <a:buNone/>
            </a:pPr>
            <a:r>
              <a:rPr lang="en-US" sz="1400" dirty="0">
                <a:solidFill>
                  <a:srgbClr val="1B2A24"/>
                </a:solidFill>
                <a:latin typeface="Calibri" pitchFamily="34" charset="0"/>
                <a:ea typeface="Calibri" pitchFamily="34" charset="-122"/>
                <a:cs typeface="Calibri" pitchFamily="34" charset="-120"/>
              </a:rPr>
              <a:t> : les embeddings d'oiseaux transfèrent</a:t>
            </a:r>
            <a:endParaRPr lang="en-US" sz="1400" dirty="0"/>
          </a:p>
          <a:p>
            <a:pPr marL="177800" indent="-177800">
              <a:spcAft>
                <a:spcPts val="1200"/>
              </a:spcAft>
              <a:buSzPct val="100000"/>
              <a:buChar char="•"/>
            </a:pPr>
            <a:r>
              <a:rPr lang="en-US" sz="1400" b="1" dirty="0">
                <a:solidFill>
                  <a:srgbClr val="1B2A24"/>
                </a:solidFill>
                <a:latin typeface="Calibri" pitchFamily="34" charset="0"/>
                <a:ea typeface="Calibri" pitchFamily="34" charset="-122"/>
                <a:cs typeface="Calibri" pitchFamily="34" charset="-120"/>
              </a:rPr>
              <a:t>Transfert + tête simple</a:t>
            </a:r>
            <a:pPr indent="0" marL="0">
              <a:buNone/>
            </a:pPr>
            <a:r>
              <a:rPr lang="en-US" sz="1400" dirty="0">
                <a:solidFill>
                  <a:srgbClr val="1B2A24"/>
                </a:solidFill>
                <a:latin typeface="Calibri" pitchFamily="34" charset="0"/>
                <a:ea typeface="Calibri" pitchFamily="34" charset="-122"/>
                <a:cs typeface="Calibri" pitchFamily="34" charset="-120"/>
              </a:rPr>
              <a:t> bat gabarits, CNN dédié et zéro-shot (2025)</a:t>
            </a:r>
            <a:endParaRPr lang="en-US" sz="1400" dirty="0"/>
          </a:p>
          <a:p>
            <a:pPr marL="177800" indent="-177800">
              <a:spcAft>
                <a:spcPts val="1200"/>
              </a:spcAft>
              <a:buSzPct val="100000"/>
              <a:buChar char="•"/>
            </a:pPr>
            <a:r>
              <a:rPr lang="en-US" sz="1400" b="1" dirty="0">
                <a:solidFill>
                  <a:srgbClr val="1B2A24"/>
                </a:solidFill>
                <a:latin typeface="Calibri" pitchFamily="34" charset="0"/>
                <a:ea typeface="Calibri" pitchFamily="34" charset="-122"/>
                <a:cs typeface="Calibri" pitchFamily="34" charset="-120"/>
              </a:rPr>
              <a:t>BirdCLEF+ 2026</a:t>
            </a:r>
            <a:pPr indent="0" marL="0">
              <a:buNone/>
            </a:pPr>
            <a:r>
              <a:rPr lang="en-US" sz="1400" dirty="0">
                <a:solidFill>
                  <a:srgbClr val="1B2A24"/>
                </a:solidFill>
                <a:latin typeface="Calibri" pitchFamily="34" charset="0"/>
                <a:ea typeface="Calibri" pitchFamily="34" charset="-122"/>
                <a:cs typeface="Calibri" pitchFamily="34" charset="-120"/>
              </a:rPr>
              <a:t> : spécialiste amphibiens, modèle par genre</a:t>
            </a:r>
            <a:endParaRPr lang="en-US" sz="1400" dirty="0"/>
          </a:p>
        </p:txBody>
      </p:sp>
      <p:sp>
        <p:nvSpPr>
          <p:cNvPr id="23" name="Shape 20"/>
          <p:cNvSpPr/>
          <p:nvPr/>
        </p:nvSpPr>
        <p:spPr>
          <a:xfrm>
            <a:off x="548640" y="5166360"/>
            <a:ext cx="11094415" cy="1097280"/>
          </a:xfrm>
          <a:prstGeom prst="roundRect">
            <a:avLst>
              <a:gd name="adj" fmla="val 8333"/>
            </a:avLst>
          </a:prstGeom>
          <a:solidFill>
            <a:srgbClr val="0E2A24"/>
          </a:solidFill>
          <a:ln w="12700">
            <a:solidFill>
              <a:srgbClr val="0E2A24"/>
            </a:solidFill>
            <a:prstDash val="solid"/>
          </a:ln>
        </p:spPr>
      </p:sp>
      <p:sp>
        <p:nvSpPr>
          <p:cNvPr id="24" name="Text 21"/>
          <p:cNvSpPr txBox="1"/>
          <p:nvPr/>
        </p:nvSpPr>
        <p:spPr>
          <a:xfrm>
            <a:off x="822960" y="5166360"/>
            <a:ext cx="10545775" cy="109728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Pour nous : </a:t>
            </a:r>
            <a:pPr indent="0" marL="0">
              <a:buNone/>
            </a:pPr>
            <a:r>
              <a:rPr lang="en-US" sz="1500" dirty="0">
                <a:solidFill>
                  <a:srgbClr val="FFFFFF"/>
                </a:solidFill>
                <a:latin typeface="Calibri" pitchFamily="34" charset="0"/>
                <a:ea typeface="Calibri" pitchFamily="34" charset="-122"/>
                <a:cs typeface="Calibri" pitchFamily="34" charset="-120"/>
              </a:rPr>
              <a:t>la base de toutes ces solutions est la nôtre, Perch v2 gelé + une tête. Distillation, pseudo-labels et ensembles viennent au-dessus : à essayer après le choix de l'encodeur, s'ils tiennent sur l'i5 de l'ONF.</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737360"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1737360"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BIRDCLEF+ 2026 · 1/2</a:t>
            </a:r>
            <a:endParaRPr lang="en-US" sz="1000" dirty="0"/>
          </a:p>
        </p:txBody>
      </p:sp>
      <p:sp>
        <p:nvSpPr>
          <p:cNvPr id="4" name="Text 2"/>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2800" b="1" dirty="0">
                <a:solidFill>
                  <a:srgbClr val="1B2A24"/>
                </a:solidFill>
                <a:latin typeface="Cambria" pitchFamily="34" charset="0"/>
                <a:ea typeface="Cambria" pitchFamily="34" charset="-122"/>
                <a:cs typeface="Cambria" pitchFamily="34" charset="-120"/>
              </a:rPr>
              <a:t>Le concours et les solutions du top 5</a:t>
            </a:r>
            <a:endParaRPr lang="en-US" sz="2800" dirty="0"/>
          </a:p>
        </p:txBody>
      </p:sp>
      <p:sp>
        <p:nvSpPr>
          <p:cNvPr id="5" name="Text 3"/>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6</a:t>
            </a:r>
            <a:endParaRPr lang="en-US" sz="900" dirty="0"/>
          </a:p>
        </p:txBody>
      </p:sp>
      <p:sp>
        <p:nvSpPr>
          <p:cNvPr id="7" name="Shape 4"/>
          <p:cNvSpPr/>
          <p:nvPr/>
        </p:nvSpPr>
        <p:spPr>
          <a:xfrm>
            <a:off x="548640" y="1554480"/>
            <a:ext cx="2926080" cy="1444752"/>
          </a:xfrm>
          <a:prstGeom prst="roundRect">
            <a:avLst>
              <a:gd name="adj" fmla="val 6329"/>
            </a:avLst>
          </a:prstGeom>
          <a:solidFill>
            <a:srgbClr val="F3F7F4"/>
          </a:solidFill>
          <a:ln w="12700">
            <a:solidFill>
              <a:srgbClr val="F3F7F4"/>
            </a:solidFill>
            <a:prstDash val="solid"/>
          </a:ln>
        </p:spPr>
      </p:sp>
      <p:sp>
        <p:nvSpPr>
          <p:cNvPr id="8" name="Text 5"/>
          <p:cNvSpPr txBox="1"/>
          <p:nvPr/>
        </p:nvSpPr>
        <p:spPr>
          <a:xfrm>
            <a:off x="731520" y="1645920"/>
            <a:ext cx="2606040" cy="457200"/>
          </a:xfrm>
          <a:prstGeom prst="rect">
            <a:avLst/>
          </a:prstGeom>
          <a:noFill/>
          <a:ln/>
        </p:spPr>
        <p:txBody>
          <a:bodyPr wrap="square" lIns="0" tIns="0" rIns="0" bIns="0" rtlCol="0" anchor="t"/>
          <a:lstStyle/>
          <a:p>
            <a:pPr indent="0" marL="0">
              <a:buNone/>
            </a:pPr>
            <a:r>
              <a:rPr lang="en-US" sz="2000" b="1" dirty="0">
                <a:solidFill>
                  <a:srgbClr val="8A5A00"/>
                </a:solidFill>
                <a:latin typeface="Cambria" pitchFamily="34" charset="0"/>
                <a:ea typeface="Cambria" pitchFamily="34" charset="-122"/>
                <a:cs typeface="Cambria" pitchFamily="34" charset="-120"/>
              </a:rPr>
              <a:t>234 classes</a:t>
            </a:r>
            <a:endParaRPr lang="en-US" sz="2000" dirty="0"/>
          </a:p>
        </p:txBody>
      </p:sp>
      <p:sp>
        <p:nvSpPr>
          <p:cNvPr id="9" name="Text 6"/>
          <p:cNvSpPr txBox="1"/>
          <p:nvPr/>
        </p:nvSpPr>
        <p:spPr>
          <a:xfrm>
            <a:off x="731520" y="2121408"/>
            <a:ext cx="2606040" cy="822960"/>
          </a:xfrm>
          <a:prstGeom prst="rect">
            <a:avLst/>
          </a:prstGeom>
          <a:noFill/>
          <a:ln/>
        </p:spPr>
        <p:txBody>
          <a:bodyPr wrap="square" lIns="0" tIns="0" rIns="0" bIns="0" rtlCol="0" anchor="t"/>
          <a:lstStyle/>
          <a:p>
            <a:pPr indent="0" marL="0">
              <a:buNone/>
            </a:pPr>
            <a:r>
              <a:rPr lang="en-US" sz="1150" dirty="0">
                <a:solidFill>
                  <a:srgbClr val="5B6B63"/>
                </a:solidFill>
                <a:latin typeface="Calibri" pitchFamily="34" charset="0"/>
                <a:ea typeface="Calibri" pitchFamily="34" charset="-122"/>
                <a:cs typeface="Calibri" pitchFamily="34" charset="-120"/>
              </a:rPr>
              <a:t>162 oiseaux, 35 amphibiens, 28 types de sons d'insectes, 8 mammifères, 1 reptile</a:t>
            </a:r>
            <a:endParaRPr lang="en-US" sz="1150" dirty="0"/>
          </a:p>
        </p:txBody>
      </p:sp>
      <p:sp>
        <p:nvSpPr>
          <p:cNvPr id="10" name="Shape 7"/>
          <p:cNvSpPr/>
          <p:nvPr/>
        </p:nvSpPr>
        <p:spPr>
          <a:xfrm>
            <a:off x="548640" y="3127248"/>
            <a:ext cx="2926080" cy="1444752"/>
          </a:xfrm>
          <a:prstGeom prst="roundRect">
            <a:avLst>
              <a:gd name="adj" fmla="val 6329"/>
            </a:avLst>
          </a:prstGeom>
          <a:solidFill>
            <a:srgbClr val="F3F7F4"/>
          </a:solidFill>
          <a:ln w="12700">
            <a:solidFill>
              <a:srgbClr val="F3F7F4"/>
            </a:solidFill>
            <a:prstDash val="solid"/>
          </a:ln>
        </p:spPr>
      </p:sp>
      <p:sp>
        <p:nvSpPr>
          <p:cNvPr id="11" name="Text 8"/>
          <p:cNvSpPr txBox="1"/>
          <p:nvPr/>
        </p:nvSpPr>
        <p:spPr>
          <a:xfrm>
            <a:off x="731520" y="3218688"/>
            <a:ext cx="2606040" cy="457200"/>
          </a:xfrm>
          <a:prstGeom prst="rect">
            <a:avLst/>
          </a:prstGeom>
          <a:noFill/>
          <a:ln/>
        </p:spPr>
        <p:txBody>
          <a:bodyPr wrap="square" lIns="0" tIns="0" rIns="0" bIns="0" rtlCol="0" anchor="t"/>
          <a:lstStyle/>
          <a:p>
            <a:pPr indent="0" marL="0">
              <a:buNone/>
            </a:pPr>
            <a:r>
              <a:rPr lang="en-US" sz="2000" b="1" dirty="0">
                <a:solidFill>
                  <a:srgbClr val="8A5A00"/>
                </a:solidFill>
                <a:latin typeface="Cambria" pitchFamily="34" charset="0"/>
                <a:ea typeface="Cambria" pitchFamily="34" charset="-122"/>
                <a:cs typeface="Cambria" pitchFamily="34" charset="-120"/>
              </a:rPr>
              <a:t>522 h d'audio</a:t>
            </a:r>
            <a:endParaRPr lang="en-US" sz="2000" dirty="0"/>
          </a:p>
        </p:txBody>
      </p:sp>
      <p:sp>
        <p:nvSpPr>
          <p:cNvPr id="12" name="Text 9"/>
          <p:cNvSpPr txBox="1"/>
          <p:nvPr/>
        </p:nvSpPr>
        <p:spPr>
          <a:xfrm>
            <a:off x="731520" y="3694176"/>
            <a:ext cx="2606040" cy="822960"/>
          </a:xfrm>
          <a:prstGeom prst="rect">
            <a:avLst/>
          </a:prstGeom>
          <a:noFill/>
          <a:ln/>
        </p:spPr>
        <p:txBody>
          <a:bodyPr wrap="square" lIns="0" tIns="0" rIns="0" bIns="0" rtlCol="0" anchor="t"/>
          <a:lstStyle/>
          <a:p>
            <a:pPr indent="0" marL="0">
              <a:buNone/>
            </a:pPr>
            <a:r>
              <a:rPr lang="en-US" sz="1150" dirty="0">
                <a:solidFill>
                  <a:srgbClr val="5B6B63"/>
                </a:solidFill>
                <a:latin typeface="Calibri" pitchFamily="34" charset="0"/>
                <a:ea typeface="Calibri" pitchFamily="34" charset="-122"/>
                <a:cs typeface="Calibri" pitchFamily="34" charset="-120"/>
              </a:rPr>
              <a:t>344 h d'enregistrements ciblés (Xeno-canto, iNaturalist) + 178 h de paysages sonores de 23 sites, dont 1 h étiquetée</a:t>
            </a:r>
            <a:endParaRPr lang="en-US" sz="1150" dirty="0"/>
          </a:p>
        </p:txBody>
      </p:sp>
      <p:sp>
        <p:nvSpPr>
          <p:cNvPr id="13" name="Shape 10"/>
          <p:cNvSpPr/>
          <p:nvPr/>
        </p:nvSpPr>
        <p:spPr>
          <a:xfrm>
            <a:off x="548640" y="4700016"/>
            <a:ext cx="2926080" cy="1444752"/>
          </a:xfrm>
          <a:prstGeom prst="roundRect">
            <a:avLst>
              <a:gd name="adj" fmla="val 6329"/>
            </a:avLst>
          </a:prstGeom>
          <a:solidFill>
            <a:srgbClr val="0E2A24"/>
          </a:solidFill>
          <a:ln w="12700">
            <a:solidFill>
              <a:srgbClr val="0E2A24"/>
            </a:solidFill>
            <a:prstDash val="solid"/>
          </a:ln>
        </p:spPr>
      </p:sp>
      <p:sp>
        <p:nvSpPr>
          <p:cNvPr id="14" name="Text 11"/>
          <p:cNvSpPr txBox="1"/>
          <p:nvPr/>
        </p:nvSpPr>
        <p:spPr>
          <a:xfrm>
            <a:off x="731520" y="4791456"/>
            <a:ext cx="2606040" cy="457200"/>
          </a:xfrm>
          <a:prstGeom prst="rect">
            <a:avLst/>
          </a:prstGeom>
          <a:noFill/>
          <a:ln/>
        </p:spPr>
        <p:txBody>
          <a:bodyPr wrap="square" lIns="0" tIns="0" rIns="0" bIns="0" rtlCol="0" anchor="t"/>
          <a:lstStyle/>
          <a:p>
            <a:pPr indent="0" marL="0">
              <a:buNone/>
            </a:pPr>
            <a:r>
              <a:rPr lang="en-US" sz="2000" b="1" dirty="0">
                <a:solidFill>
                  <a:srgbClr val="E9B44C"/>
                </a:solidFill>
                <a:latin typeface="Cambria" pitchFamily="34" charset="0"/>
                <a:ea typeface="Cambria" pitchFamily="34" charset="-122"/>
                <a:cs typeface="Cambria" pitchFamily="34" charset="-120"/>
              </a:rPr>
              <a:t>CPU, 90 min</a:t>
            </a:r>
            <a:endParaRPr lang="en-US" sz="2000" dirty="0"/>
          </a:p>
        </p:txBody>
      </p:sp>
      <p:sp>
        <p:nvSpPr>
          <p:cNvPr id="15" name="Text 12"/>
          <p:cNvSpPr txBox="1"/>
          <p:nvPr/>
        </p:nvSpPr>
        <p:spPr>
          <a:xfrm>
            <a:off x="731520" y="5266944"/>
            <a:ext cx="2606040" cy="82296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un notebook sur 4 cœurs, sans GPU ni internet, pour prédire tout le test</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0" y="1554480"/>
          <a:ext cx="7982712" cy="914400"/>
        </p:xfrm>
        <a:graphic>
          <a:graphicData uri="http://schemas.openxmlformats.org/drawingml/2006/table">
            <a:tbl>
              <a:tblPr/>
              <a:tblGrid>
                <a:gridCol w="502920"/>
                <a:gridCol w="1463040"/>
                <a:gridCol w="868680"/>
                <a:gridCol w="5148072"/>
              </a:tblGrid>
              <a:tr h="56692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Rang</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0E2A2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Équipe</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0E2A2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Score final</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0E2A2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Approche</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0E2A24"/>
                    </a:solidFill>
                  </a:tcPr>
                </a:tc>
              </a:tr>
              <a:tr h="566928">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Nikita Babych</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0,966</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9 CNN qui copient Perch v2 (distillation), puis Noisy Student ; spécialiste amphibiens/insectes, modèle par genre, Perch v2 tel quel</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r>
              <a:tr h="566928">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tennogh</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0,960</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5 tours de pseudo-labels ; CNN pré-entraînés sur Xeno-canto ; perte AUC ; spécialiste insectes ; sans distillation, pour la diversité</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kapenon</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0,960</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3 modèles : 2 EfficientNetV2 repris de 2025 + 1 distillé de Perch ; 1 tour de pseudo-labels ; a priori site et heure</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r>
              <a:tr h="566928">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T. Li, Y. Wang, Starry</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Perch v2 tel quel (40 %) + 4 SED dont 2 distillés ; pseudo-labels de Perch ; AnuraSet en plus : score en baisse</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Jiacheng Ma</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0,958</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100" dirty="0">
                          <a:solidFill>
                            <a:srgbClr val="1B2A24"/>
                          </a:solidFill>
                          <a:latin typeface="Calibri" pitchFamily="34" charset="0"/>
                          <a:ea typeface="Calibri" pitchFamily="34" charset="-122"/>
                          <a:cs typeface="Calibri" pitchFamily="34" charset="-120"/>
                        </a:rPr>
                        <a:t>4 CNN + ProtoSSM + SED distillé ; auto-distillation, pseudo-labels ; code public</a:t>
                      </a:r>
                      <a:endParaRPr lang="en-US" sz="11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r>
            </a:tbl>
          </a:graphicData>
        </a:graphic>
      </p:graphicFrame>
      <p:sp>
        <p:nvSpPr>
          <p:cNvPr id="17" name="Text 13"/>
          <p:cNvSpPr txBox="1"/>
          <p:nvPr/>
        </p:nvSpPr>
        <p:spPr>
          <a:xfrm>
            <a:off x="3657600" y="5074920"/>
            <a:ext cx="7982712" cy="274320"/>
          </a:xfrm>
          <a:prstGeom prst="rect">
            <a:avLst/>
          </a:prstGeom>
          <a:noFill/>
          <a:ln/>
        </p:spPr>
        <p:txBody>
          <a:bodyPr wrap="square" lIns="0" tIns="0" rIns="0" bIns="0" rtlCol="0" anchor="t"/>
          <a:lstStyle/>
          <a:p>
            <a:pPr indent="0" marL="0">
              <a:buNone/>
            </a:pPr>
            <a:r>
              <a:rPr lang="en-US" sz="1050" i="1" dirty="0">
                <a:solidFill>
                  <a:srgbClr val="5B6B63"/>
                </a:solidFill>
                <a:latin typeface="Calibri" pitchFamily="34" charset="0"/>
                <a:ea typeface="Calibri" pitchFamily="34" charset="-122"/>
                <a:cs typeface="Calibri" pitchFamily="34" charset="-120"/>
              </a:rPr>
              <a:t>Score final : ROC-AUC macro sur la partie cachée du test, révélée à la clôture (« classement privé »).</a:t>
            </a:r>
            <a:endParaRPr lang="en-US" sz="1050" dirty="0"/>
          </a:p>
        </p:txBody>
      </p:sp>
      <p:sp>
        <p:nvSpPr>
          <p:cNvPr id="18" name="Shape 14"/>
          <p:cNvSpPr/>
          <p:nvPr/>
        </p:nvSpPr>
        <p:spPr>
          <a:xfrm>
            <a:off x="3657600" y="5440680"/>
            <a:ext cx="2587752" cy="868680"/>
          </a:xfrm>
          <a:prstGeom prst="roundRect">
            <a:avLst>
              <a:gd name="adj" fmla="val 10526"/>
            </a:avLst>
          </a:prstGeom>
          <a:solidFill>
            <a:srgbClr val="E4EEE8"/>
          </a:solidFill>
          <a:ln w="12700">
            <a:solidFill>
              <a:srgbClr val="E4EEE8"/>
            </a:solidFill>
            <a:prstDash val="solid"/>
          </a:ln>
        </p:spPr>
      </p:sp>
      <p:sp>
        <p:nvSpPr>
          <p:cNvPr id="19" name="Text 15"/>
          <p:cNvSpPr txBox="1"/>
          <p:nvPr/>
        </p:nvSpPr>
        <p:spPr>
          <a:xfrm>
            <a:off x="3794760" y="5440680"/>
            <a:ext cx="2331720" cy="868680"/>
          </a:xfrm>
          <a:prstGeom prst="rect">
            <a:avLst/>
          </a:prstGeom>
          <a:noFill/>
          <a:ln/>
        </p:spPr>
        <p:txBody>
          <a:bodyPr wrap="square" lIns="0" tIns="0" rIns="0" bIns="0" rtlCol="0" anchor="ctr"/>
          <a:lstStyle/>
          <a:p>
            <a:pPr indent="0" marL="0">
              <a:buNone/>
            </a:pPr>
            <a:r>
              <a:rPr lang="en-US" sz="1100" b="1" dirty="0">
                <a:solidFill>
                  <a:srgbClr val="2A7F72"/>
                </a:solidFill>
                <a:latin typeface="Calibri" pitchFamily="34" charset="0"/>
                <a:ea typeface="Calibri" pitchFamily="34" charset="-122"/>
                <a:cs typeface="Calibri" pitchFamily="34" charset="-120"/>
              </a:rPr>
              <a:t>Perch v2 partout : </a:t>
            </a:r>
            <a:pPr indent="0" marL="0">
              <a:buNone/>
            </a:pPr>
            <a:r>
              <a:rPr lang="en-US" sz="1100" dirty="0">
                <a:solidFill>
                  <a:srgbClr val="1B2A24"/>
                </a:solidFill>
                <a:latin typeface="Calibri" pitchFamily="34" charset="0"/>
                <a:ea typeface="Calibri" pitchFamily="34" charset="-122"/>
                <a:cs typeface="Calibri" pitchFamily="34" charset="-120"/>
              </a:rPr>
              <a:t>tel quel dans l'ensemble, ou comme professeur copié par un réseau plus rapide</a:t>
            </a:r>
            <a:endParaRPr lang="en-US" sz="1100" dirty="0"/>
          </a:p>
        </p:txBody>
      </p:sp>
      <p:sp>
        <p:nvSpPr>
          <p:cNvPr id="20" name="Shape 16"/>
          <p:cNvSpPr/>
          <p:nvPr/>
        </p:nvSpPr>
        <p:spPr>
          <a:xfrm>
            <a:off x="6355080" y="5440680"/>
            <a:ext cx="2587752" cy="868680"/>
          </a:xfrm>
          <a:prstGeom prst="roundRect">
            <a:avLst>
              <a:gd name="adj" fmla="val 10526"/>
            </a:avLst>
          </a:prstGeom>
          <a:solidFill>
            <a:srgbClr val="E4EEE8"/>
          </a:solidFill>
          <a:ln w="12700">
            <a:solidFill>
              <a:srgbClr val="E4EEE8"/>
            </a:solidFill>
            <a:prstDash val="solid"/>
          </a:ln>
        </p:spPr>
      </p:sp>
      <p:sp>
        <p:nvSpPr>
          <p:cNvPr id="21" name="Text 17"/>
          <p:cNvSpPr txBox="1"/>
          <p:nvPr/>
        </p:nvSpPr>
        <p:spPr>
          <a:xfrm>
            <a:off x="6492240" y="5440680"/>
            <a:ext cx="2331720" cy="868680"/>
          </a:xfrm>
          <a:prstGeom prst="rect">
            <a:avLst/>
          </a:prstGeom>
          <a:noFill/>
          <a:ln/>
        </p:spPr>
        <p:txBody>
          <a:bodyPr wrap="square" lIns="0" tIns="0" rIns="0" bIns="0" rtlCol="0" anchor="ctr"/>
          <a:lstStyle/>
          <a:p>
            <a:pPr indent="0" marL="0">
              <a:buNone/>
            </a:pPr>
            <a:r>
              <a:rPr lang="en-US" sz="1100" b="1" dirty="0">
                <a:solidFill>
                  <a:srgbClr val="2A7F72"/>
                </a:solidFill>
                <a:latin typeface="Calibri" pitchFamily="34" charset="0"/>
                <a:ea typeface="Calibri" pitchFamily="34" charset="-122"/>
                <a:cs typeface="Calibri" pitchFamily="34" charset="-120"/>
              </a:rPr>
              <a:t>Pseudo-labels : </a:t>
            </a:r>
            <a:pPr indent="0" marL="0">
              <a:buNone/>
            </a:pPr>
            <a:r>
              <a:rPr lang="en-US" sz="1100" dirty="0">
                <a:solidFill>
                  <a:srgbClr val="1B2A24"/>
                </a:solidFill>
                <a:latin typeface="Calibri" pitchFamily="34" charset="0"/>
                <a:ea typeface="Calibri" pitchFamily="34" charset="-122"/>
                <a:cs typeface="Calibri" pitchFamily="34" charset="-120"/>
              </a:rPr>
              <a:t>le modèle annote l'audio non étiqueté puis s'y réentraîne : 0,935 → 0,950 chez le 1er</a:t>
            </a:r>
            <a:endParaRPr lang="en-US" sz="1100" dirty="0"/>
          </a:p>
        </p:txBody>
      </p:sp>
      <p:sp>
        <p:nvSpPr>
          <p:cNvPr id="22" name="Shape 18"/>
          <p:cNvSpPr/>
          <p:nvPr/>
        </p:nvSpPr>
        <p:spPr>
          <a:xfrm>
            <a:off x="9052560" y="5440680"/>
            <a:ext cx="2587752" cy="868680"/>
          </a:xfrm>
          <a:prstGeom prst="roundRect">
            <a:avLst>
              <a:gd name="adj" fmla="val 10526"/>
            </a:avLst>
          </a:prstGeom>
          <a:solidFill>
            <a:srgbClr val="E4EEE8"/>
          </a:solidFill>
          <a:ln w="12700">
            <a:solidFill>
              <a:srgbClr val="E4EEE8"/>
            </a:solidFill>
            <a:prstDash val="solid"/>
          </a:ln>
        </p:spPr>
      </p:sp>
      <p:sp>
        <p:nvSpPr>
          <p:cNvPr id="23" name="Text 19"/>
          <p:cNvSpPr txBox="1"/>
          <p:nvPr/>
        </p:nvSpPr>
        <p:spPr>
          <a:xfrm>
            <a:off x="9189720" y="5440680"/>
            <a:ext cx="2331720" cy="868680"/>
          </a:xfrm>
          <a:prstGeom prst="rect">
            <a:avLst/>
          </a:prstGeom>
          <a:noFill/>
          <a:ln/>
        </p:spPr>
        <p:txBody>
          <a:bodyPr wrap="square" lIns="0" tIns="0" rIns="0" bIns="0" rtlCol="0" anchor="ctr"/>
          <a:lstStyle/>
          <a:p>
            <a:pPr indent="0" marL="0">
              <a:buNone/>
            </a:pPr>
            <a:r>
              <a:rPr lang="en-US" sz="1100" b="1" dirty="0">
                <a:solidFill>
                  <a:srgbClr val="2A7F72"/>
                </a:solidFill>
                <a:latin typeface="Calibri" pitchFamily="34" charset="0"/>
                <a:ea typeface="Calibri" pitchFamily="34" charset="-122"/>
                <a:cs typeface="Calibri" pitchFamily="34" charset="-120"/>
              </a:rPr>
              <a:t>Ensembles : </a:t>
            </a:r>
            <a:pPr indent="0" marL="0">
              <a:buNone/>
            </a:pPr>
            <a:r>
              <a:rPr lang="en-US" sz="1100" dirty="0">
                <a:solidFill>
                  <a:srgbClr val="1B2A24"/>
                </a:solidFill>
                <a:latin typeface="Calibri" pitchFamily="34" charset="0"/>
                <a:ea typeface="Calibri" pitchFamily="34" charset="-122"/>
                <a:cs typeface="Calibri" pitchFamily="34" charset="-120"/>
              </a:rPr>
              <a:t>3 à 10 modèles différents dans tout le top 5</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737360"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1737360"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BIRDCLEF+ 2026 · 2/2</a:t>
            </a:r>
            <a:endParaRPr lang="en-US" sz="1000" dirty="0"/>
          </a:p>
        </p:txBody>
      </p:sp>
      <p:sp>
        <p:nvSpPr>
          <p:cNvPr id="4" name="Text 2"/>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2800" b="1" dirty="0">
                <a:solidFill>
                  <a:srgbClr val="1B2A24"/>
                </a:solidFill>
                <a:latin typeface="Cambria" pitchFamily="34" charset="0"/>
                <a:ea typeface="Cambria" pitchFamily="34" charset="-122"/>
                <a:cs typeface="Cambria" pitchFamily="34" charset="-120"/>
              </a:rPr>
              <a:t>Une équipe a fait notre prototype différentiel sur Perch v2</a:t>
            </a:r>
            <a:endParaRPr lang="en-US" sz="2800" dirty="0"/>
          </a:p>
        </p:txBody>
      </p:sp>
      <p:sp>
        <p:nvSpPr>
          <p:cNvPr id="5" name="Text 3"/>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548640" y="1600200"/>
            <a:ext cx="4846320" cy="4663440"/>
          </a:xfrm>
          <a:prstGeom prst="roundRect">
            <a:avLst>
              <a:gd name="adj" fmla="val 1961"/>
            </a:avLst>
          </a:prstGeom>
          <a:solidFill>
            <a:srgbClr val="0E2A24"/>
          </a:solidFill>
          <a:ln w="12700">
            <a:solidFill>
              <a:srgbClr val="0E2A24"/>
            </a:solidFill>
            <a:prstDash val="solid"/>
          </a:ln>
        </p:spPr>
      </p:sp>
      <p:sp>
        <p:nvSpPr>
          <p:cNvPr id="8" name="Text 5"/>
          <p:cNvSpPr txBox="1"/>
          <p:nvPr/>
        </p:nvSpPr>
        <p:spPr>
          <a:xfrm>
            <a:off x="822960" y="1783080"/>
            <a:ext cx="4297680" cy="274320"/>
          </a:xfrm>
          <a:prstGeom prst="rect">
            <a:avLst/>
          </a:prstGeom>
          <a:noFill/>
          <a:ln/>
        </p:spPr>
        <p:txBody>
          <a:bodyPr wrap="square" lIns="0" tIns="0" rIns="0" bIns="0" rtlCol="0" anchor="t"/>
          <a:lstStyle/>
          <a:p>
            <a:pPr indent="0" marL="0">
              <a:buNone/>
            </a:pPr>
            <a:r>
              <a:rPr lang="en-US" sz="1100" b="1" spc="100" kern="0" dirty="0">
                <a:solidFill>
                  <a:srgbClr val="E9B44C"/>
                </a:solidFill>
                <a:latin typeface="Calibri" pitchFamily="34" charset="0"/>
                <a:ea typeface="Calibri" pitchFamily="34" charset="-122"/>
                <a:cs typeface="Calibri" pitchFamily="34" charset="-120"/>
              </a:rPr>
              <a:t>LEUR TÊTE À PROTOTYPES</a:t>
            </a:r>
            <a:endParaRPr lang="en-US" sz="1100" dirty="0"/>
          </a:p>
        </p:txBody>
      </p:sp>
      <p:sp>
        <p:nvSpPr>
          <p:cNvPr id="9" name="Text 6"/>
          <p:cNvSpPr txBox="1"/>
          <p:nvPr/>
        </p:nvSpPr>
        <p:spPr>
          <a:xfrm>
            <a:off x="822960" y="2148840"/>
            <a:ext cx="4389120" cy="502920"/>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score = cos(e, μ₊) − cos(e, μ₋)</a:t>
            </a:r>
            <a:endParaRPr lang="en-US" sz="2100" dirty="0"/>
          </a:p>
        </p:txBody>
      </p:sp>
      <p:sp>
        <p:nvSpPr>
          <p:cNvPr id="10" name="Text 7"/>
          <p:cNvSpPr txBox="1"/>
          <p:nvPr/>
        </p:nvSpPr>
        <p:spPr>
          <a:xfrm>
            <a:off x="822960" y="2926080"/>
            <a:ext cx="4297680" cy="2560320"/>
          </a:xfrm>
          <a:prstGeom prst="rect">
            <a:avLst/>
          </a:prstGeom>
          <a:noFill/>
          <a:ln/>
        </p:spPr>
        <p:txBody>
          <a:bodyPr wrap="square" lIns="0" tIns="0" rIns="0" bIns="0" rtlCol="0" anchor="t"/>
          <a:lstStyle/>
          <a:p>
            <a:pPr marL="177800" indent="-177800">
              <a:spcAft>
                <a:spcPts val="1400"/>
              </a:spcAft>
              <a:buSzPct val="100000"/>
              <a:buChar char="•"/>
            </a:pPr>
            <a:r>
              <a:rPr lang="en-US" sz="1600" dirty="0">
                <a:solidFill>
                  <a:srgbClr val="FFFFFF"/>
                </a:solidFill>
                <a:latin typeface="Calibri" pitchFamily="34" charset="0"/>
                <a:ea typeface="Calibri" pitchFamily="34" charset="-122"/>
                <a:cs typeface="Calibri" pitchFamily="34" charset="-120"/>
              </a:rPr>
              <a:t>e : embedding Perch v2 gelé de la fenêtre</a:t>
            </a:r>
            <a:endParaRPr lang="en-US" sz="1600" dirty="0"/>
          </a:p>
          <a:p>
            <a:pPr marL="177800" indent="-177800">
              <a:spcAft>
                <a:spcPts val="1400"/>
              </a:spcAft>
              <a:buSzPct val="100000"/>
              <a:buChar char="•"/>
            </a:pPr>
            <a:r>
              <a:rPr lang="en-US" sz="1600" dirty="0">
                <a:solidFill>
                  <a:srgbClr val="FFFFFF"/>
                </a:solidFill>
                <a:latin typeface="Calibri" pitchFamily="34" charset="0"/>
                <a:ea typeface="Calibri" pitchFamily="34" charset="-122"/>
                <a:cs typeface="Calibri" pitchFamily="34" charset="-120"/>
              </a:rPr>
              <a:t>μ₊ : moyenne des fenêtres où l'espèce chante ; μ₋ : où elle ne chante pas</a:t>
            </a:r>
            <a:endParaRPr lang="en-US" sz="1600" dirty="0"/>
          </a:p>
          <a:p>
            <a:pPr marL="177800" indent="-177800">
              <a:spcAft>
                <a:spcPts val="1400"/>
              </a:spcAft>
              <a:buSzPct val="100000"/>
              <a:buChar char="•"/>
            </a:pPr>
            <a:r>
              <a:rPr lang="en-US" sz="1600" b="1" dirty="0">
                <a:solidFill>
                  <a:srgbClr val="E9B44C"/>
                </a:solidFill>
                <a:latin typeface="Calibri" pitchFamily="34" charset="0"/>
                <a:ea typeface="Calibri" pitchFamily="34" charset="-122"/>
                <a:cs typeface="Calibri" pitchFamily="34" charset="-120"/>
              </a:rPr>
              <a:t>= notre prototype différentiel, en cosinus</a:t>
            </a:r>
            <a:endParaRPr lang="en-US" sz="1600" dirty="0"/>
          </a:p>
        </p:txBody>
      </p:sp>
      <p:sp>
        <p:nvSpPr>
          <p:cNvPr id="11" name="Text 8"/>
          <p:cNvSpPr txBox="1"/>
          <p:nvPr/>
        </p:nvSpPr>
        <p:spPr>
          <a:xfrm>
            <a:off x="822960" y="5760720"/>
            <a:ext cx="4297680" cy="365760"/>
          </a:xfrm>
          <a:prstGeom prst="rect">
            <a:avLst/>
          </a:prstGeom>
          <a:noFill/>
          <a:ln/>
        </p:spPr>
        <p:txBody>
          <a:bodyPr wrap="square" lIns="0" tIns="0" rIns="0" bIns="0" rtlCol="0" anchor="t"/>
          <a:lstStyle/>
          <a:p>
            <a:pPr indent="0" marL="0">
              <a:buNone/>
            </a:pPr>
            <a:r>
              <a:rPr lang="en-US" sz="1100" i="1" dirty="0">
                <a:solidFill>
                  <a:srgbClr val="A7BFB2"/>
                </a:solidFill>
                <a:latin typeface="Calibri" pitchFamily="34" charset="0"/>
                <a:ea typeface="Calibri" pitchFamily="34" charset="-122"/>
                <a:cs typeface="Calibri" pitchFamily="34" charset="-120"/>
              </a:rPr>
              <a:t>Miyaguchi, Gustineli, Cheung (Georgia Tech) · arXiv 2607.14474</a:t>
            </a:r>
            <a:endParaRPr lang="en-US" sz="1100" dirty="0"/>
          </a:p>
        </p:txBody>
      </p:sp>
      <p:sp>
        <p:nvSpPr>
          <p:cNvPr id="12" name="Shape 9"/>
          <p:cNvSpPr/>
          <p:nvPr/>
        </p:nvSpPr>
        <p:spPr>
          <a:xfrm>
            <a:off x="5669280" y="1600200"/>
            <a:ext cx="2880360" cy="1783080"/>
          </a:xfrm>
          <a:prstGeom prst="roundRect">
            <a:avLst>
              <a:gd name="adj" fmla="val 5128"/>
            </a:avLst>
          </a:prstGeom>
          <a:solidFill>
            <a:srgbClr val="F3F7F4"/>
          </a:solidFill>
          <a:ln w="12700">
            <a:solidFill>
              <a:srgbClr val="F3F7F4"/>
            </a:solidFill>
            <a:prstDash val="solid"/>
          </a:ln>
        </p:spPr>
      </p:sp>
      <p:sp>
        <p:nvSpPr>
          <p:cNvPr id="13" name="Text 10"/>
          <p:cNvSpPr txBox="1"/>
          <p:nvPr/>
        </p:nvSpPr>
        <p:spPr>
          <a:xfrm>
            <a:off x="5852160" y="1719072"/>
            <a:ext cx="2560320" cy="365760"/>
          </a:xfrm>
          <a:prstGeom prst="rect">
            <a:avLst/>
          </a:prstGeom>
          <a:noFill/>
          <a:ln/>
        </p:spPr>
        <p:txBody>
          <a:bodyPr wrap="square" lIns="0" tIns="0" rIns="0" bIns="0" rtlCol="0" anchor="t"/>
          <a:lstStyle/>
          <a:p>
            <a:pPr indent="0" marL="0">
              <a:buNone/>
            </a:pPr>
            <a:r>
              <a:rPr lang="en-US" sz="1500" b="1" dirty="0">
                <a:solidFill>
                  <a:srgbClr val="8A5A00"/>
                </a:solidFill>
                <a:latin typeface="Calibri" pitchFamily="34" charset="0"/>
                <a:ea typeface="Calibri" pitchFamily="34" charset="-122"/>
                <a:cs typeface="Calibri" pitchFamily="34" charset="-120"/>
              </a:rPr>
              <a:t>Leur problème</a:t>
            </a:r>
            <a:endParaRPr lang="en-US" sz="1500" dirty="0"/>
          </a:p>
        </p:txBody>
      </p:sp>
      <p:sp>
        <p:nvSpPr>
          <p:cNvPr id="14" name="Text 11"/>
          <p:cNvSpPr txBox="1"/>
          <p:nvPr/>
        </p:nvSpPr>
        <p:spPr>
          <a:xfrm>
            <a:off x="5852160" y="2103120"/>
            <a:ext cx="2560320" cy="1234440"/>
          </a:xfrm>
          <a:prstGeom prst="rect">
            <a:avLst/>
          </a:prstGeom>
          <a:noFill/>
          <a:ln/>
        </p:spPr>
        <p:txBody>
          <a:bodyPr wrap="square" lIns="0" tIns="0" rIns="0" bIns="0" rtlCol="0" anchor="t"/>
          <a:lstStyle/>
          <a:p>
            <a:pPr indent="0" marL="0">
              <a:buNone/>
            </a:pPr>
            <a:r>
              <a:rPr lang="en-US" sz="1300" dirty="0">
                <a:solidFill>
                  <a:srgbClr val="1B2A24"/>
                </a:solidFill>
                <a:latin typeface="Calibri" pitchFamily="34" charset="0"/>
                <a:ea typeface="Calibri" pitchFamily="34" charset="-122"/>
                <a:cs typeface="Calibri" pitchFamily="34" charset="-120"/>
              </a:rPr>
              <a:t>Les amphibiens font 1,3 % des enregistrements d'entraînement, mais s'entendent dans 76,6 % des fenêtres de terrain.</a:t>
            </a:r>
            <a:endParaRPr lang="en-US" sz="1300" dirty="0"/>
          </a:p>
        </p:txBody>
      </p:sp>
      <p:sp>
        <p:nvSpPr>
          <p:cNvPr id="15" name="Shape 12"/>
          <p:cNvSpPr/>
          <p:nvPr/>
        </p:nvSpPr>
        <p:spPr>
          <a:xfrm>
            <a:off x="8686800" y="1600200"/>
            <a:ext cx="2880360" cy="1783080"/>
          </a:xfrm>
          <a:prstGeom prst="roundRect">
            <a:avLst>
              <a:gd name="adj" fmla="val 5128"/>
            </a:avLst>
          </a:prstGeom>
          <a:solidFill>
            <a:srgbClr val="F3F7F4"/>
          </a:solidFill>
          <a:ln w="12700">
            <a:solidFill>
              <a:srgbClr val="F3F7F4"/>
            </a:solidFill>
            <a:prstDash val="solid"/>
          </a:ln>
        </p:spPr>
      </p:sp>
      <p:sp>
        <p:nvSpPr>
          <p:cNvPr id="16" name="Text 13"/>
          <p:cNvSpPr txBox="1"/>
          <p:nvPr/>
        </p:nvSpPr>
        <p:spPr>
          <a:xfrm>
            <a:off x="8869680" y="1719072"/>
            <a:ext cx="2560320" cy="365760"/>
          </a:xfrm>
          <a:prstGeom prst="rect">
            <a:avLst/>
          </a:prstGeom>
          <a:noFill/>
          <a:ln/>
        </p:spPr>
        <p:txBody>
          <a:bodyPr wrap="square" lIns="0" tIns="0" rIns="0" bIns="0" rtlCol="0" anchor="t"/>
          <a:lstStyle/>
          <a:p>
            <a:pPr indent="0" marL="0">
              <a:buNone/>
            </a:pPr>
            <a:r>
              <a:rPr lang="en-US" sz="1500" b="1" dirty="0">
                <a:solidFill>
                  <a:srgbClr val="8A5A00"/>
                </a:solidFill>
                <a:latin typeface="Calibri" pitchFamily="34" charset="0"/>
                <a:ea typeface="Calibri" pitchFamily="34" charset="-122"/>
                <a:cs typeface="Calibri" pitchFamily="34" charset="-120"/>
              </a:rPr>
              <a:t>Leur résultat</a:t>
            </a:r>
            <a:endParaRPr lang="en-US" sz="1500" dirty="0"/>
          </a:p>
        </p:txBody>
      </p:sp>
      <p:sp>
        <p:nvSpPr>
          <p:cNvPr id="17" name="Text 14"/>
          <p:cNvSpPr txBox="1"/>
          <p:nvPr/>
        </p:nvSpPr>
        <p:spPr>
          <a:xfrm>
            <a:off x="8869680" y="2103120"/>
            <a:ext cx="2560320" cy="1234440"/>
          </a:xfrm>
          <a:prstGeom prst="rect">
            <a:avLst/>
          </a:prstGeom>
          <a:noFill/>
          <a:ln/>
        </p:spPr>
        <p:txBody>
          <a:bodyPr wrap="square" lIns="0" tIns="0" rIns="0" bIns="0" rtlCol="0" anchor="t"/>
          <a:lstStyle/>
          <a:p>
            <a:pPr indent="0" marL="0">
              <a:buNone/>
            </a:pPr>
            <a:r>
              <a:rPr lang="en-US" sz="1300" dirty="0">
                <a:solidFill>
                  <a:srgbClr val="1B2A24"/>
                </a:solidFill>
                <a:latin typeface="Calibri" pitchFamily="34" charset="0"/>
                <a:ea typeface="Calibri" pitchFamily="34" charset="-122"/>
                <a:cs typeface="Calibri" pitchFamily="34" charset="-120"/>
              </a:rPr>
              <a:t>Sur les espèces non-oiseaux : AP 0,895 avec les prototypes, contre 0,074 pour leur réseau entraîné seul.</a:t>
            </a:r>
            <a:endParaRPr lang="en-US" sz="1300" dirty="0"/>
          </a:p>
        </p:txBody>
      </p:sp>
      <p:sp>
        <p:nvSpPr>
          <p:cNvPr id="18" name="Shape 15"/>
          <p:cNvSpPr/>
          <p:nvPr/>
        </p:nvSpPr>
        <p:spPr>
          <a:xfrm>
            <a:off x="5669280" y="3520440"/>
            <a:ext cx="5897880" cy="1325880"/>
          </a:xfrm>
          <a:prstGeom prst="roundRect">
            <a:avLst>
              <a:gd name="adj" fmla="val 6897"/>
            </a:avLst>
          </a:prstGeom>
          <a:solidFill>
            <a:srgbClr val="FFFFFF"/>
          </a:solidFill>
          <a:ln w="12700">
            <a:solidFill>
              <a:srgbClr val="CFDDD5"/>
            </a:solidFill>
            <a:prstDash val="solid"/>
          </a:ln>
        </p:spPr>
      </p:sp>
      <p:sp>
        <p:nvSpPr>
          <p:cNvPr id="19" name="Text 16"/>
          <p:cNvSpPr txBox="1"/>
          <p:nvPr/>
        </p:nvSpPr>
        <p:spPr>
          <a:xfrm>
            <a:off x="5852160" y="3611880"/>
            <a:ext cx="5486400" cy="274320"/>
          </a:xfrm>
          <a:prstGeom prst="rect">
            <a:avLst/>
          </a:prstGeom>
          <a:noFill/>
          <a:ln/>
        </p:spPr>
        <p:txBody>
          <a:bodyPr wrap="square" lIns="0" tIns="0" rIns="0" bIns="0" rtlCol="0" anchor="t"/>
          <a:lstStyle/>
          <a:p>
            <a:pPr indent="0" marL="0">
              <a:buNone/>
            </a:pPr>
            <a:r>
              <a:rPr lang="en-US" sz="1100" b="1" spc="100" kern="0" dirty="0">
                <a:solidFill>
                  <a:srgbClr val="C8553D"/>
                </a:solidFill>
                <a:latin typeface="Calibri" pitchFamily="34" charset="0"/>
                <a:ea typeface="Calibri" pitchFamily="34" charset="-122"/>
                <a:cs typeface="Calibri" pitchFamily="34" charset="-120"/>
              </a:rPr>
              <a:t>RÉSERVES</a:t>
            </a:r>
            <a:endParaRPr lang="en-US" sz="1100" dirty="0"/>
          </a:p>
        </p:txBody>
      </p:sp>
      <p:sp>
        <p:nvSpPr>
          <p:cNvPr id="20" name="Text 17"/>
          <p:cNvSpPr txBox="1"/>
          <p:nvPr/>
        </p:nvSpPr>
        <p:spPr>
          <a:xfrm>
            <a:off x="5852160" y="3931920"/>
            <a:ext cx="5577840" cy="8686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1B2A24"/>
                </a:solidFill>
                <a:latin typeface="Calibri" pitchFamily="34" charset="0"/>
                <a:ea typeface="Calibri" pitchFamily="34" charset="-122"/>
                <a:cs typeface="Calibri" pitchFamily="34" charset="-120"/>
              </a:rPr>
              <a:t>AP mesurée sur les fichiers qui construisent les prototypes : trop belle</a:t>
            </a:r>
            <a:endParaRPr lang="en-US" sz="1300" dirty="0"/>
          </a:p>
          <a:p>
            <a:pPr marL="177800" indent="-177800">
              <a:spcAft>
                <a:spcPts val="500"/>
              </a:spcAft>
              <a:buSzPct val="100000"/>
              <a:buChar char="•"/>
            </a:pPr>
            <a:r>
              <a:rPr lang="en-US" sz="1300" dirty="0">
                <a:solidFill>
                  <a:srgbClr val="1B2A24"/>
                </a:solidFill>
                <a:latin typeface="Calibri" pitchFamily="34" charset="0"/>
                <a:ea typeface="Calibri" pitchFamily="34" charset="-122"/>
                <a:cs typeface="Calibri" pitchFamily="34" charset="-120"/>
              </a:rPr>
              <a:t>Espèce sans aucun exemple d'entraînement : prototypes et ridge au hasard</a:t>
            </a:r>
            <a:endParaRPr lang="en-US" sz="1300" dirty="0"/>
          </a:p>
        </p:txBody>
      </p:sp>
      <p:sp>
        <p:nvSpPr>
          <p:cNvPr id="21" name="Shape 18"/>
          <p:cNvSpPr/>
          <p:nvPr/>
        </p:nvSpPr>
        <p:spPr>
          <a:xfrm>
            <a:off x="5669280" y="4983480"/>
            <a:ext cx="5897880" cy="1280160"/>
          </a:xfrm>
          <a:prstGeom prst="roundRect">
            <a:avLst>
              <a:gd name="adj" fmla="val 7143"/>
            </a:avLst>
          </a:prstGeom>
          <a:solidFill>
            <a:srgbClr val="E4EEE8"/>
          </a:solidFill>
          <a:ln w="12700">
            <a:solidFill>
              <a:srgbClr val="E4EEE8"/>
            </a:solidFill>
            <a:prstDash val="solid"/>
          </a:ln>
        </p:spPr>
      </p:sp>
      <p:sp>
        <p:nvSpPr>
          <p:cNvPr id="22" name="Text 19"/>
          <p:cNvSpPr txBox="1"/>
          <p:nvPr/>
        </p:nvSpPr>
        <p:spPr>
          <a:xfrm>
            <a:off x="5852160" y="4983480"/>
            <a:ext cx="5577840" cy="1280160"/>
          </a:xfrm>
          <a:prstGeom prst="rect">
            <a:avLst/>
          </a:prstGeom>
          <a:noFill/>
          <a:ln/>
        </p:spPr>
        <p:txBody>
          <a:bodyPr wrap="square" lIns="0" tIns="0" rIns="0" bIns="0" rtlCol="0" anchor="ctr"/>
          <a:lstStyle/>
          <a:p>
            <a:pPr indent="0" marL="0">
              <a:buNone/>
            </a:pPr>
            <a:r>
              <a:rPr lang="en-US" sz="1400" b="1" dirty="0">
                <a:solidFill>
                  <a:srgbClr val="2A7F72"/>
                </a:solidFill>
                <a:latin typeface="Calibri" pitchFamily="34" charset="0"/>
                <a:ea typeface="Calibri" pitchFamily="34" charset="-122"/>
                <a:cs typeface="Calibri" pitchFamily="34" charset="-120"/>
              </a:rPr>
              <a:t>Pour nous : </a:t>
            </a:r>
            <a:pPr indent="0" marL="0">
              <a:buNone/>
            </a:pPr>
            <a:r>
              <a:rPr lang="en-US" sz="1400" dirty="0">
                <a:solidFill>
                  <a:srgbClr val="1B2A24"/>
                </a:solidFill>
                <a:latin typeface="Calibri" pitchFamily="34" charset="0"/>
                <a:ea typeface="Calibri" pitchFamily="34" charset="-122"/>
                <a:cs typeface="Calibri" pitchFamily="34" charset="-120"/>
              </a:rPr>
              <a:t>A. blanci n'est pas dans les classes de Perch, et les prototypes marchent quand même sur ses embeddings. Prototype pour amorcer un nouveau point, logistique dès qu'il y a des exemples.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49224"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649224"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GITHUB</a:t>
            </a:r>
            <a:endParaRPr lang="en-US" sz="1000" dirty="0"/>
          </a:p>
        </p:txBody>
      </p:sp>
      <p:sp>
        <p:nvSpPr>
          <p:cNvPr id="4" name="Text 2"/>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8</a:t>
            </a:r>
            <a:endParaRPr lang="en-US" sz="900" dirty="0"/>
          </a:p>
        </p:txBody>
      </p:sp>
      <p:pic>
        <p:nvPicPr>
          <p:cNvPr id="6" name="Image 0" descr="/home/user/Grenouille/documentation/presentation-suivi-2/figures/avatar.jpg">    </p:cNvPr>
          <p:cNvPicPr>
            <a:picLocks noChangeAspect="1"/>
          </p:cNvPicPr>
          <p:nvPr/>
        </p:nvPicPr>
        <p:blipFill>
          <a:blip r:embed="rId1"/>
          <a:stretch>
            <a:fillRect/>
          </a:stretch>
        </p:blipFill>
        <p:spPr>
          <a:xfrm>
            <a:off x="4727448" y="1097280"/>
            <a:ext cx="2743200" cy="2743200"/>
          </a:xfrm>
          <a:prstGeom prst="ellipse">
            <a:avLst/>
          </a:prstGeom>
        </p:spPr>
      </p:pic>
      <p:sp>
        <p:nvSpPr>
          <p:cNvPr id="7" name="Text 3"/>
          <p:cNvSpPr txBox="1"/>
          <p:nvPr/>
        </p:nvSpPr>
        <p:spPr>
          <a:xfrm>
            <a:off x="548640" y="4023360"/>
            <a:ext cx="11094415" cy="548640"/>
          </a:xfrm>
          <a:prstGeom prst="rect">
            <a:avLst/>
          </a:prstGeom>
          <a:noFill/>
          <a:ln/>
        </p:spPr>
        <p:txBody>
          <a:bodyPr wrap="square" lIns="0" tIns="0" rIns="0" bIns="0" rtlCol="0" anchor="t"/>
          <a:lstStyle/>
          <a:p>
            <a:pPr algn="ctr" indent="0" marL="0">
              <a:buNone/>
            </a:pPr>
            <a:r>
              <a:rPr lang="en-US" sz="3000" b="1" dirty="0">
                <a:solidFill>
                  <a:srgbClr val="1B2A24"/>
                </a:solidFill>
                <a:latin typeface="Cambria" pitchFamily="34" charset="0"/>
                <a:ea typeface="Cambria" pitchFamily="34" charset="-122"/>
                <a:cs typeface="Cambria" pitchFamily="34" charset="-120"/>
              </a:rPr>
              <a:t>Léonard Laplace-Palette</a:t>
            </a:r>
            <a:endParaRPr lang="en-US" sz="3000" dirty="0"/>
          </a:p>
        </p:txBody>
      </p:sp>
      <p:sp>
        <p:nvSpPr>
          <p:cNvPr id="8" name="Text 4"/>
          <p:cNvSpPr txBox="1"/>
          <p:nvPr/>
        </p:nvSpPr>
        <p:spPr>
          <a:xfrm>
            <a:off x="548640" y="4572000"/>
            <a:ext cx="11094415" cy="365760"/>
          </a:xfrm>
          <a:prstGeom prst="rect">
            <a:avLst/>
          </a:prstGeom>
          <a:noFill/>
          <a:ln/>
        </p:spPr>
        <p:txBody>
          <a:bodyPr wrap="square" lIns="0" tIns="0" rIns="0" bIns="0" rtlCol="0" anchor="t"/>
          <a:lstStyle/>
          <a:p>
            <a:pPr algn="ctr" indent="0" marL="0">
              <a:buNone/>
            </a:pPr>
            <a:r>
              <a:rPr lang="en-US" sz="1700" dirty="0">
                <a:solidFill>
                  <a:srgbClr val="5B6B63"/>
                </a:solidFill>
                <a:latin typeface="Calibri" pitchFamily="34" charset="0"/>
                <a:ea typeface="Calibri" pitchFamily="34" charset="-122"/>
                <a:cs typeface="Calibri" pitchFamily="34" charset="-120"/>
              </a:rPr>
              <a:t>@Rumble-Paw-Patrol</a:t>
            </a:r>
            <a:endParaRPr lang="en-US" sz="1700" dirty="0"/>
          </a:p>
        </p:txBody>
      </p:sp>
      <p:sp>
        <p:nvSpPr>
          <p:cNvPr id="9" name="Shape 5"/>
          <p:cNvSpPr/>
          <p:nvPr/>
        </p:nvSpPr>
        <p:spPr>
          <a:xfrm>
            <a:off x="3355848" y="5166360"/>
            <a:ext cx="5486400" cy="658368"/>
          </a:xfrm>
          <a:prstGeom prst="roundRect">
            <a:avLst>
              <a:gd name="adj" fmla="val 13889"/>
            </a:avLst>
          </a:prstGeom>
          <a:solidFill>
            <a:srgbClr val="0E2A24"/>
          </a:solidFill>
          <a:ln w="12700">
            <a:solidFill>
              <a:srgbClr val="0E2A24"/>
            </a:solidFill>
            <a:prstDash val="solid"/>
          </a:ln>
        </p:spPr>
      </p:sp>
      <p:pic>
        <p:nvPicPr>
          <p:cNvPr id="10" name="Image 1" descr="/home/user/Grenouille/documentation/presentation-suivi-2/figures/github-mark.png">    </p:cNvPr>
          <p:cNvPicPr>
            <a:picLocks noChangeAspect="1"/>
          </p:cNvPicPr>
          <p:nvPr/>
        </p:nvPicPr>
        <p:blipFill>
          <a:blip r:embed="rId2"/>
          <a:stretch>
            <a:fillRect/>
          </a:stretch>
        </p:blipFill>
        <p:spPr>
          <a:xfrm>
            <a:off x="3584448" y="5294376"/>
            <a:ext cx="402336" cy="402336"/>
          </a:xfrm>
          <a:prstGeom prst="rect">
            <a:avLst/>
          </a:prstGeom>
        </p:spPr>
      </p:pic>
      <p:sp>
        <p:nvSpPr>
          <p:cNvPr id="11" name="Text 6"/>
          <p:cNvSpPr txBox="1"/>
          <p:nvPr/>
        </p:nvSpPr>
        <p:spPr>
          <a:xfrm>
            <a:off x="4160520" y="5166360"/>
            <a:ext cx="4572000" cy="658368"/>
          </a:xfrm>
          <a:prstGeom prst="rect">
            <a:avLst/>
          </a:prstGeom>
          <a:noFill/>
          <a:ln/>
        </p:spPr>
        <p:txBody>
          <a:bodyPr wrap="square" lIns="0" tIns="0" rIns="0" bIns="0"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github.com/Rumble-Paw-Patrol/Grenouille</a:t>
            </a:r>
            <a:endParaRPr lang="en-US" sz="1700" dirty="0"/>
          </a:p>
        </p:txBody>
      </p:sp>
      <p:sp>
        <p:nvSpPr>
          <p:cNvPr id="12" name="Text 7"/>
          <p:cNvSpPr txBox="1"/>
          <p:nvPr/>
        </p:nvSpPr>
        <p:spPr>
          <a:xfrm>
            <a:off x="548640" y="6217920"/>
            <a:ext cx="10545775" cy="274320"/>
          </a:xfrm>
          <a:prstGeom prst="rect">
            <a:avLst/>
          </a:prstGeom>
          <a:noFill/>
          <a:ln/>
        </p:spPr>
        <p:txBody>
          <a:bodyPr wrap="square" lIns="0" tIns="0" rIns="0" bIns="0" rtlCol="0" anchor="t"/>
          <a:lstStyle/>
          <a:p>
            <a:pPr algn="ctr" indent="0" marL="0">
              <a:buNone/>
            </a:pPr>
            <a:r>
              <a:rPr lang="en-US" sz="1100" i="1" dirty="0">
                <a:solidFill>
                  <a:srgbClr val="5B6B63"/>
                </a:solidFill>
                <a:latin typeface="Calibri" pitchFamily="34" charset="0"/>
                <a:ea typeface="Calibri" pitchFamily="34" charset="-122"/>
                <a:cs typeface="Calibri" pitchFamily="34" charset="-120"/>
              </a:rPr>
              <a:t>Les enregistrements audio restent sur les disques de l'ONF : le dépôt ne contient que le code, la documentation et 66 extraits de 10 s pour les tests.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193292"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1193292"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DONNÉES · 1/2</a:t>
            </a:r>
            <a:endParaRPr lang="en-US" sz="1000" dirty="0"/>
          </a:p>
        </p:txBody>
      </p:sp>
      <p:sp>
        <p:nvSpPr>
          <p:cNvPr id="4" name="Text 2"/>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2800" b="1" dirty="0">
                <a:solidFill>
                  <a:srgbClr val="1B2A24"/>
                </a:solidFill>
                <a:latin typeface="Cambria" pitchFamily="34" charset="0"/>
                <a:ea typeface="Cambria" pitchFamily="34" charset="-122"/>
                <a:cs typeface="Cambria" pitchFamily="34" charset="-120"/>
              </a:rPr>
              <a:t>Le jeu de données : 96 292 enregistrements, 8 sites</a:t>
            </a:r>
            <a:endParaRPr lang="en-US" sz="2800" dirty="0"/>
          </a:p>
        </p:txBody>
      </p:sp>
      <p:sp>
        <p:nvSpPr>
          <p:cNvPr id="5" name="Text 3"/>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9</a:t>
            </a:r>
            <a:endParaRPr lang="en-US" sz="900" dirty="0"/>
          </a:p>
        </p:txBody>
      </p:sp>
      <p:sp>
        <p:nvSpPr>
          <p:cNvPr id="7" name="Text 4"/>
          <p:cNvSpPr txBox="1"/>
          <p:nvPr/>
        </p:nvSpPr>
        <p:spPr>
          <a:xfrm>
            <a:off x="548640" y="1554480"/>
            <a:ext cx="6675120" cy="320040"/>
          </a:xfrm>
          <a:prstGeom prst="rect">
            <a:avLst/>
          </a:prstGeom>
          <a:noFill/>
          <a:ln/>
        </p:spPr>
        <p:txBody>
          <a:bodyPr wrap="square" lIns="0" tIns="0" rIns="0" bIns="0" rtlCol="0" anchor="t"/>
          <a:lstStyle/>
          <a:p>
            <a:pPr indent="0" marL="0">
              <a:buNone/>
            </a:pPr>
            <a:r>
              <a:rPr lang="en-US" sz="1400" b="1" dirty="0">
                <a:solidFill>
                  <a:srgbClr val="1B2A24"/>
                </a:solidFill>
                <a:latin typeface="Calibri" pitchFamily="34" charset="0"/>
                <a:ea typeface="Calibri" pitchFamily="34" charset="-122"/>
                <a:cs typeface="Calibri" pitchFamily="34" charset="-120"/>
              </a:rPr>
              <a:t>Heures d'audio par site (enregistrements de 2 min)</a:t>
            </a:r>
            <a:endParaRPr lang="en-US" sz="1400" dirty="0"/>
          </a:p>
        </p:txBody>
      </p:sp>
      <p:sp>
        <p:nvSpPr>
          <p:cNvPr id="8" name="Text 5"/>
          <p:cNvSpPr txBox="1"/>
          <p:nvPr/>
        </p:nvSpPr>
        <p:spPr>
          <a:xfrm>
            <a:off x="548640" y="2011680"/>
            <a:ext cx="1234440" cy="365760"/>
          </a:xfrm>
          <a:prstGeom prst="rect">
            <a:avLst/>
          </a:prstGeom>
          <a:noFill/>
          <a:ln/>
        </p:spPr>
        <p:txBody>
          <a:bodyPr wrap="square" lIns="0" tIns="0" rIns="0" bIns="0" rtlCol="0" anchor="ctr"/>
          <a:lstStyle/>
          <a:p>
            <a:pPr algn="r" indent="0" marL="0">
              <a:buNone/>
            </a:pPr>
            <a:r>
              <a:rPr lang="en-US" sz="1300" dirty="0">
                <a:solidFill>
                  <a:srgbClr val="1B2A24"/>
                </a:solidFill>
                <a:latin typeface="Calibri" pitchFamily="34" charset="0"/>
                <a:ea typeface="Calibri" pitchFamily="34" charset="-122"/>
                <a:cs typeface="Calibri" pitchFamily="34" charset="-120"/>
              </a:rPr>
              <a:t>Trésor</a:t>
            </a:r>
            <a:endParaRPr lang="en-US" sz="1300" dirty="0"/>
          </a:p>
        </p:txBody>
      </p:sp>
      <p:sp>
        <p:nvSpPr>
          <p:cNvPr id="9" name="Shape 6"/>
          <p:cNvSpPr/>
          <p:nvPr/>
        </p:nvSpPr>
        <p:spPr>
          <a:xfrm>
            <a:off x="1874520" y="2066544"/>
            <a:ext cx="4665795" cy="256032"/>
          </a:xfrm>
          <a:prstGeom prst="rect">
            <a:avLst/>
          </a:prstGeom>
          <a:solidFill>
            <a:srgbClr val="3E7CB1"/>
          </a:solidFill>
          <a:ln w="12700">
            <a:solidFill>
              <a:srgbClr val="3E7CB1"/>
            </a:solidFill>
            <a:prstDash val="solid"/>
          </a:ln>
        </p:spPr>
      </p:sp>
      <p:sp>
        <p:nvSpPr>
          <p:cNvPr id="10" name="Text 7"/>
          <p:cNvSpPr txBox="1"/>
          <p:nvPr/>
        </p:nvSpPr>
        <p:spPr>
          <a:xfrm>
            <a:off x="6631755" y="2011680"/>
            <a:ext cx="822960" cy="365760"/>
          </a:xfrm>
          <a:prstGeom prst="rect">
            <a:avLst/>
          </a:prstGeom>
          <a:noFill/>
          <a:ln/>
        </p:spPr>
        <p:txBody>
          <a:bodyPr wrap="square" lIns="0" tIns="0" rIns="0" bIns="0" rtlCol="0" anchor="ctr"/>
          <a:lstStyle/>
          <a:p>
            <a:pPr indent="0" marL="0">
              <a:buNone/>
            </a:pPr>
            <a:r>
              <a:rPr lang="en-US" sz="1200" dirty="0">
                <a:solidFill>
                  <a:srgbClr val="5B6B63"/>
                </a:solidFill>
                <a:latin typeface="Calibri" pitchFamily="34" charset="0"/>
                <a:ea typeface="Calibri" pitchFamily="34" charset="-122"/>
                <a:cs typeface="Calibri" pitchFamily="34" charset="-120"/>
              </a:rPr>
              <a:t>770 h</a:t>
            </a:r>
            <a:endParaRPr lang="en-US" sz="1200" dirty="0"/>
          </a:p>
        </p:txBody>
      </p:sp>
      <p:sp>
        <p:nvSpPr>
          <p:cNvPr id="11" name="Text 8"/>
          <p:cNvSpPr txBox="1"/>
          <p:nvPr/>
        </p:nvSpPr>
        <p:spPr>
          <a:xfrm>
            <a:off x="548640" y="2468880"/>
            <a:ext cx="1234440" cy="365760"/>
          </a:xfrm>
          <a:prstGeom prst="rect">
            <a:avLst/>
          </a:prstGeom>
          <a:noFill/>
          <a:ln/>
        </p:spPr>
        <p:txBody>
          <a:bodyPr wrap="square" lIns="0" tIns="0" rIns="0" bIns="0" rtlCol="0" anchor="ctr"/>
          <a:lstStyle/>
          <a:p>
            <a:pPr algn="r" indent="0" marL="0">
              <a:buNone/>
            </a:pPr>
            <a:r>
              <a:rPr lang="en-US" sz="1300" dirty="0">
                <a:solidFill>
                  <a:srgbClr val="1B2A24"/>
                </a:solidFill>
                <a:latin typeface="Calibri" pitchFamily="34" charset="0"/>
                <a:ea typeface="Calibri" pitchFamily="34" charset="-122"/>
                <a:cs typeface="Calibri" pitchFamily="34" charset="-120"/>
              </a:rPr>
              <a:t>Kaw</a:t>
            </a:r>
            <a:endParaRPr lang="en-US" sz="1300" dirty="0"/>
          </a:p>
        </p:txBody>
      </p:sp>
      <p:sp>
        <p:nvSpPr>
          <p:cNvPr id="12" name="Shape 9"/>
          <p:cNvSpPr/>
          <p:nvPr/>
        </p:nvSpPr>
        <p:spPr>
          <a:xfrm>
            <a:off x="1874520" y="2523744"/>
            <a:ext cx="4573715" cy="256032"/>
          </a:xfrm>
          <a:prstGeom prst="rect">
            <a:avLst/>
          </a:prstGeom>
          <a:solidFill>
            <a:srgbClr val="3E7CB1"/>
          </a:solidFill>
          <a:ln w="12700">
            <a:solidFill>
              <a:srgbClr val="3E7CB1"/>
            </a:solidFill>
            <a:prstDash val="solid"/>
          </a:ln>
        </p:spPr>
      </p:sp>
      <p:sp>
        <p:nvSpPr>
          <p:cNvPr id="13" name="Text 10"/>
          <p:cNvSpPr txBox="1"/>
          <p:nvPr/>
        </p:nvSpPr>
        <p:spPr>
          <a:xfrm>
            <a:off x="6539675" y="2468880"/>
            <a:ext cx="822960" cy="365760"/>
          </a:xfrm>
          <a:prstGeom prst="rect">
            <a:avLst/>
          </a:prstGeom>
          <a:noFill/>
          <a:ln/>
        </p:spPr>
        <p:txBody>
          <a:bodyPr wrap="square" lIns="0" tIns="0" rIns="0" bIns="0" rtlCol="0" anchor="ctr"/>
          <a:lstStyle/>
          <a:p>
            <a:pPr indent="0" marL="0">
              <a:buNone/>
            </a:pPr>
            <a:r>
              <a:rPr lang="en-US" sz="1200" dirty="0">
                <a:solidFill>
                  <a:srgbClr val="5B6B63"/>
                </a:solidFill>
                <a:latin typeface="Calibri" pitchFamily="34" charset="0"/>
                <a:ea typeface="Calibri" pitchFamily="34" charset="-122"/>
                <a:cs typeface="Calibri" pitchFamily="34" charset="-120"/>
              </a:rPr>
              <a:t>755 h</a:t>
            </a:r>
            <a:endParaRPr lang="en-US" sz="1200" dirty="0"/>
          </a:p>
        </p:txBody>
      </p:sp>
      <p:sp>
        <p:nvSpPr>
          <p:cNvPr id="14" name="Text 11"/>
          <p:cNvSpPr txBox="1"/>
          <p:nvPr/>
        </p:nvSpPr>
        <p:spPr>
          <a:xfrm>
            <a:off x="548640" y="2926080"/>
            <a:ext cx="1234440" cy="365760"/>
          </a:xfrm>
          <a:prstGeom prst="rect">
            <a:avLst/>
          </a:prstGeom>
          <a:noFill/>
          <a:ln/>
        </p:spPr>
        <p:txBody>
          <a:bodyPr wrap="square" lIns="0" tIns="0" rIns="0" bIns="0" rtlCol="0" anchor="ctr"/>
          <a:lstStyle/>
          <a:p>
            <a:pPr algn="r" indent="0" marL="0">
              <a:buNone/>
            </a:pPr>
            <a:r>
              <a:rPr lang="en-US" sz="1300" dirty="0">
                <a:solidFill>
                  <a:srgbClr val="1B2A24"/>
                </a:solidFill>
                <a:latin typeface="Calibri" pitchFamily="34" charset="0"/>
                <a:ea typeface="Calibri" pitchFamily="34" charset="-122"/>
                <a:cs typeface="Calibri" pitchFamily="34" charset="-120"/>
              </a:rPr>
              <a:t>Molokoï</a:t>
            </a:r>
            <a:endParaRPr lang="en-US" sz="1300" dirty="0"/>
          </a:p>
        </p:txBody>
      </p:sp>
      <p:sp>
        <p:nvSpPr>
          <p:cNvPr id="15" name="Shape 12"/>
          <p:cNvSpPr/>
          <p:nvPr/>
        </p:nvSpPr>
        <p:spPr>
          <a:xfrm>
            <a:off x="1874520" y="2980944"/>
            <a:ext cx="4240530" cy="256032"/>
          </a:xfrm>
          <a:prstGeom prst="rect">
            <a:avLst/>
          </a:prstGeom>
          <a:solidFill>
            <a:srgbClr val="3E7CB1"/>
          </a:solidFill>
          <a:ln w="12700">
            <a:solidFill>
              <a:srgbClr val="3E7CB1"/>
            </a:solidFill>
            <a:prstDash val="solid"/>
          </a:ln>
        </p:spPr>
      </p:sp>
      <p:sp>
        <p:nvSpPr>
          <p:cNvPr id="16" name="Text 13"/>
          <p:cNvSpPr txBox="1"/>
          <p:nvPr/>
        </p:nvSpPr>
        <p:spPr>
          <a:xfrm>
            <a:off x="6206490" y="2926080"/>
            <a:ext cx="822960" cy="365760"/>
          </a:xfrm>
          <a:prstGeom prst="rect">
            <a:avLst/>
          </a:prstGeom>
          <a:noFill/>
          <a:ln/>
        </p:spPr>
        <p:txBody>
          <a:bodyPr wrap="square" lIns="0" tIns="0" rIns="0" bIns="0" rtlCol="0" anchor="ctr"/>
          <a:lstStyle/>
          <a:p>
            <a:pPr indent="0" marL="0">
              <a:buNone/>
            </a:pPr>
            <a:r>
              <a:rPr lang="en-US" sz="1200" dirty="0">
                <a:solidFill>
                  <a:srgbClr val="5B6B63"/>
                </a:solidFill>
                <a:latin typeface="Calibri" pitchFamily="34" charset="0"/>
                <a:ea typeface="Calibri" pitchFamily="34" charset="-122"/>
                <a:cs typeface="Calibri" pitchFamily="34" charset="-120"/>
              </a:rPr>
              <a:t>700 h</a:t>
            </a:r>
            <a:endParaRPr lang="en-US" sz="1200" dirty="0"/>
          </a:p>
        </p:txBody>
      </p:sp>
      <p:sp>
        <p:nvSpPr>
          <p:cNvPr id="17" name="Text 14"/>
          <p:cNvSpPr txBox="1"/>
          <p:nvPr/>
        </p:nvSpPr>
        <p:spPr>
          <a:xfrm>
            <a:off x="548640" y="3383280"/>
            <a:ext cx="1234440" cy="365760"/>
          </a:xfrm>
          <a:prstGeom prst="rect">
            <a:avLst/>
          </a:prstGeom>
          <a:noFill/>
          <a:ln/>
        </p:spPr>
        <p:txBody>
          <a:bodyPr wrap="square" lIns="0" tIns="0" rIns="0" bIns="0" rtlCol="0" anchor="ctr"/>
          <a:lstStyle/>
          <a:p>
            <a:pPr algn="r" indent="0" marL="0">
              <a:buNone/>
            </a:pPr>
            <a:r>
              <a:rPr lang="en-US" sz="1300" dirty="0">
                <a:solidFill>
                  <a:srgbClr val="1B2A24"/>
                </a:solidFill>
                <a:latin typeface="Calibri" pitchFamily="34" charset="0"/>
                <a:ea typeface="Calibri" pitchFamily="34" charset="-122"/>
                <a:cs typeface="Calibri" pitchFamily="34" charset="-120"/>
              </a:rPr>
              <a:t>Mataroni</a:t>
            </a:r>
            <a:endParaRPr lang="en-US" sz="1300" dirty="0"/>
          </a:p>
        </p:txBody>
      </p:sp>
      <p:sp>
        <p:nvSpPr>
          <p:cNvPr id="18" name="Shape 15"/>
          <p:cNvSpPr/>
          <p:nvPr/>
        </p:nvSpPr>
        <p:spPr>
          <a:xfrm>
            <a:off x="1874520" y="3438144"/>
            <a:ext cx="2620042" cy="256032"/>
          </a:xfrm>
          <a:prstGeom prst="rect">
            <a:avLst/>
          </a:prstGeom>
          <a:solidFill>
            <a:srgbClr val="2E8B57"/>
          </a:solidFill>
          <a:ln w="12700">
            <a:solidFill>
              <a:srgbClr val="2E8B57"/>
            </a:solidFill>
            <a:prstDash val="solid"/>
          </a:ln>
        </p:spPr>
      </p:sp>
      <p:sp>
        <p:nvSpPr>
          <p:cNvPr id="19" name="Text 16"/>
          <p:cNvSpPr txBox="1"/>
          <p:nvPr/>
        </p:nvSpPr>
        <p:spPr>
          <a:xfrm>
            <a:off x="4586002" y="3383280"/>
            <a:ext cx="822960" cy="365760"/>
          </a:xfrm>
          <a:prstGeom prst="rect">
            <a:avLst/>
          </a:prstGeom>
          <a:noFill/>
          <a:ln/>
        </p:spPr>
        <p:txBody>
          <a:bodyPr wrap="square" lIns="0" tIns="0" rIns="0" bIns="0" rtlCol="0" anchor="ctr"/>
          <a:lstStyle/>
          <a:p>
            <a:pPr indent="0" marL="0">
              <a:buNone/>
            </a:pPr>
            <a:r>
              <a:rPr lang="en-US" sz="1200" dirty="0">
                <a:solidFill>
                  <a:srgbClr val="5B6B63"/>
                </a:solidFill>
                <a:latin typeface="Calibri" pitchFamily="34" charset="0"/>
                <a:ea typeface="Calibri" pitchFamily="34" charset="-122"/>
                <a:cs typeface="Calibri" pitchFamily="34" charset="-120"/>
              </a:rPr>
              <a:t>433 h</a:t>
            </a:r>
            <a:endParaRPr lang="en-US" sz="1200" dirty="0"/>
          </a:p>
        </p:txBody>
      </p:sp>
      <p:sp>
        <p:nvSpPr>
          <p:cNvPr id="20" name="Text 17"/>
          <p:cNvSpPr txBox="1"/>
          <p:nvPr/>
        </p:nvSpPr>
        <p:spPr>
          <a:xfrm>
            <a:off x="548640" y="3840480"/>
            <a:ext cx="1234440" cy="365760"/>
          </a:xfrm>
          <a:prstGeom prst="rect">
            <a:avLst/>
          </a:prstGeom>
          <a:noFill/>
          <a:ln/>
        </p:spPr>
        <p:txBody>
          <a:bodyPr wrap="square" lIns="0" tIns="0" rIns="0" bIns="0" rtlCol="0" anchor="ctr"/>
          <a:lstStyle/>
          <a:p>
            <a:pPr algn="r" indent="0" marL="0">
              <a:buNone/>
            </a:pPr>
            <a:r>
              <a:rPr lang="en-US" sz="1300" dirty="0">
                <a:solidFill>
                  <a:srgbClr val="1B2A24"/>
                </a:solidFill>
                <a:latin typeface="Calibri" pitchFamily="34" charset="0"/>
                <a:ea typeface="Calibri" pitchFamily="34" charset="-122"/>
                <a:cs typeface="Calibri" pitchFamily="34" charset="-120"/>
              </a:rPr>
              <a:t>RNRT</a:t>
            </a:r>
            <a:endParaRPr lang="en-US" sz="1300" dirty="0"/>
          </a:p>
        </p:txBody>
      </p:sp>
      <p:sp>
        <p:nvSpPr>
          <p:cNvPr id="21" name="Shape 18"/>
          <p:cNvSpPr/>
          <p:nvPr/>
        </p:nvSpPr>
        <p:spPr>
          <a:xfrm>
            <a:off x="1874520" y="3895344"/>
            <a:ext cx="1470252" cy="256032"/>
          </a:xfrm>
          <a:prstGeom prst="rect">
            <a:avLst/>
          </a:prstGeom>
          <a:solidFill>
            <a:srgbClr val="2E8B57"/>
          </a:solidFill>
          <a:ln w="12700">
            <a:solidFill>
              <a:srgbClr val="2E8B57"/>
            </a:solidFill>
            <a:prstDash val="solid"/>
          </a:ln>
        </p:spPr>
      </p:sp>
      <p:sp>
        <p:nvSpPr>
          <p:cNvPr id="22" name="Text 19"/>
          <p:cNvSpPr txBox="1"/>
          <p:nvPr/>
        </p:nvSpPr>
        <p:spPr>
          <a:xfrm>
            <a:off x="3436212" y="3840480"/>
            <a:ext cx="822960" cy="365760"/>
          </a:xfrm>
          <a:prstGeom prst="rect">
            <a:avLst/>
          </a:prstGeom>
          <a:noFill/>
          <a:ln/>
        </p:spPr>
        <p:txBody>
          <a:bodyPr wrap="square" lIns="0" tIns="0" rIns="0" bIns="0" rtlCol="0" anchor="ctr"/>
          <a:lstStyle/>
          <a:p>
            <a:pPr indent="0" marL="0">
              <a:buNone/>
            </a:pPr>
            <a:r>
              <a:rPr lang="en-US" sz="1200" dirty="0">
                <a:solidFill>
                  <a:srgbClr val="5B6B63"/>
                </a:solidFill>
                <a:latin typeface="Calibri" pitchFamily="34" charset="0"/>
                <a:ea typeface="Calibri" pitchFamily="34" charset="-122"/>
                <a:cs typeface="Calibri" pitchFamily="34" charset="-120"/>
              </a:rPr>
              <a:t>243 h</a:t>
            </a:r>
            <a:endParaRPr lang="en-US" sz="1200" dirty="0"/>
          </a:p>
        </p:txBody>
      </p:sp>
      <p:sp>
        <p:nvSpPr>
          <p:cNvPr id="23" name="Text 20"/>
          <p:cNvSpPr txBox="1"/>
          <p:nvPr/>
        </p:nvSpPr>
        <p:spPr>
          <a:xfrm>
            <a:off x="548640" y="4297680"/>
            <a:ext cx="1234440" cy="365760"/>
          </a:xfrm>
          <a:prstGeom prst="rect">
            <a:avLst/>
          </a:prstGeom>
          <a:noFill/>
          <a:ln/>
        </p:spPr>
        <p:txBody>
          <a:bodyPr wrap="square" lIns="0" tIns="0" rIns="0" bIns="0" rtlCol="0" anchor="ctr"/>
          <a:lstStyle/>
          <a:p>
            <a:pPr algn="r" indent="0" marL="0">
              <a:buNone/>
            </a:pPr>
            <a:r>
              <a:rPr lang="en-US" sz="1300" dirty="0">
                <a:solidFill>
                  <a:srgbClr val="1B2A24"/>
                </a:solidFill>
                <a:latin typeface="Calibri" pitchFamily="34" charset="0"/>
                <a:ea typeface="Calibri" pitchFamily="34" charset="-122"/>
                <a:cs typeface="Calibri" pitchFamily="34" charset="-120"/>
              </a:rPr>
              <a:t>CDR</a:t>
            </a:r>
            <a:endParaRPr lang="en-US" sz="1300" dirty="0"/>
          </a:p>
        </p:txBody>
      </p:sp>
      <p:sp>
        <p:nvSpPr>
          <p:cNvPr id="24" name="Shape 21"/>
          <p:cNvSpPr/>
          <p:nvPr/>
        </p:nvSpPr>
        <p:spPr>
          <a:xfrm>
            <a:off x="1874520" y="4352544"/>
            <a:ext cx="1088605" cy="256032"/>
          </a:xfrm>
          <a:prstGeom prst="rect">
            <a:avLst/>
          </a:prstGeom>
          <a:solidFill>
            <a:srgbClr val="2E8B57"/>
          </a:solidFill>
          <a:ln w="12700">
            <a:solidFill>
              <a:srgbClr val="2E8B57"/>
            </a:solidFill>
            <a:prstDash val="solid"/>
          </a:ln>
        </p:spPr>
      </p:sp>
      <p:sp>
        <p:nvSpPr>
          <p:cNvPr id="25" name="Text 22"/>
          <p:cNvSpPr txBox="1"/>
          <p:nvPr/>
        </p:nvSpPr>
        <p:spPr>
          <a:xfrm>
            <a:off x="3054565" y="4297680"/>
            <a:ext cx="822960" cy="365760"/>
          </a:xfrm>
          <a:prstGeom prst="rect">
            <a:avLst/>
          </a:prstGeom>
          <a:noFill/>
          <a:ln/>
        </p:spPr>
        <p:txBody>
          <a:bodyPr wrap="square" lIns="0" tIns="0" rIns="0" bIns="0" rtlCol="0" anchor="ctr"/>
          <a:lstStyle/>
          <a:p>
            <a:pPr indent="0" marL="0">
              <a:buNone/>
            </a:pPr>
            <a:r>
              <a:rPr lang="en-US" sz="1200" dirty="0">
                <a:solidFill>
                  <a:srgbClr val="5B6B63"/>
                </a:solidFill>
                <a:latin typeface="Calibri" pitchFamily="34" charset="0"/>
                <a:ea typeface="Calibri" pitchFamily="34" charset="-122"/>
                <a:cs typeface="Calibri" pitchFamily="34" charset="-120"/>
              </a:rPr>
              <a:t>180 h</a:t>
            </a:r>
            <a:endParaRPr lang="en-US" sz="1200" dirty="0"/>
          </a:p>
        </p:txBody>
      </p:sp>
      <p:sp>
        <p:nvSpPr>
          <p:cNvPr id="26" name="Text 23"/>
          <p:cNvSpPr txBox="1"/>
          <p:nvPr/>
        </p:nvSpPr>
        <p:spPr>
          <a:xfrm>
            <a:off x="548640" y="4754880"/>
            <a:ext cx="1234440" cy="365760"/>
          </a:xfrm>
          <a:prstGeom prst="rect">
            <a:avLst/>
          </a:prstGeom>
          <a:noFill/>
          <a:ln/>
        </p:spPr>
        <p:txBody>
          <a:bodyPr wrap="square" lIns="0" tIns="0" rIns="0" bIns="0" rtlCol="0" anchor="ctr"/>
          <a:lstStyle/>
          <a:p>
            <a:pPr algn="r" indent="0" marL="0">
              <a:buNone/>
            </a:pPr>
            <a:r>
              <a:rPr lang="en-US" sz="1300" dirty="0">
                <a:solidFill>
                  <a:srgbClr val="1B2A24"/>
                </a:solidFill>
                <a:latin typeface="Calibri" pitchFamily="34" charset="0"/>
                <a:ea typeface="Calibri" pitchFamily="34" charset="-122"/>
                <a:cs typeface="Calibri" pitchFamily="34" charset="-120"/>
              </a:rPr>
              <a:t>Patawa Est</a:t>
            </a:r>
            <a:endParaRPr lang="en-US" sz="1300" dirty="0"/>
          </a:p>
        </p:txBody>
      </p:sp>
      <p:sp>
        <p:nvSpPr>
          <p:cNvPr id="27" name="Shape 24"/>
          <p:cNvSpPr/>
          <p:nvPr/>
        </p:nvSpPr>
        <p:spPr>
          <a:xfrm>
            <a:off x="1874520" y="4809744"/>
            <a:ext cx="529460" cy="256032"/>
          </a:xfrm>
          <a:prstGeom prst="rect">
            <a:avLst/>
          </a:prstGeom>
          <a:solidFill>
            <a:srgbClr val="2E8B57"/>
          </a:solidFill>
          <a:ln w="12700">
            <a:solidFill>
              <a:srgbClr val="2E8B57"/>
            </a:solidFill>
            <a:prstDash val="solid"/>
          </a:ln>
        </p:spPr>
      </p:sp>
      <p:sp>
        <p:nvSpPr>
          <p:cNvPr id="28" name="Text 25"/>
          <p:cNvSpPr txBox="1"/>
          <p:nvPr/>
        </p:nvSpPr>
        <p:spPr>
          <a:xfrm>
            <a:off x="2495420" y="4754880"/>
            <a:ext cx="822960" cy="365760"/>
          </a:xfrm>
          <a:prstGeom prst="rect">
            <a:avLst/>
          </a:prstGeom>
          <a:noFill/>
          <a:ln/>
        </p:spPr>
        <p:txBody>
          <a:bodyPr wrap="square" lIns="0" tIns="0" rIns="0" bIns="0" rtlCol="0" anchor="ctr"/>
          <a:lstStyle/>
          <a:p>
            <a:pPr indent="0" marL="0">
              <a:buNone/>
            </a:pPr>
            <a:r>
              <a:rPr lang="en-US" sz="1200" dirty="0">
                <a:solidFill>
                  <a:srgbClr val="5B6B63"/>
                </a:solidFill>
                <a:latin typeface="Calibri" pitchFamily="34" charset="0"/>
                <a:ea typeface="Calibri" pitchFamily="34" charset="-122"/>
                <a:cs typeface="Calibri" pitchFamily="34" charset="-120"/>
              </a:rPr>
              <a:t>87 h</a:t>
            </a:r>
            <a:endParaRPr lang="en-US" sz="1200" dirty="0"/>
          </a:p>
        </p:txBody>
      </p:sp>
      <p:sp>
        <p:nvSpPr>
          <p:cNvPr id="29" name="Text 26"/>
          <p:cNvSpPr txBox="1"/>
          <p:nvPr/>
        </p:nvSpPr>
        <p:spPr>
          <a:xfrm>
            <a:off x="548640" y="5212080"/>
            <a:ext cx="1234440" cy="365760"/>
          </a:xfrm>
          <a:prstGeom prst="rect">
            <a:avLst/>
          </a:prstGeom>
          <a:noFill/>
          <a:ln/>
        </p:spPr>
        <p:txBody>
          <a:bodyPr wrap="square" lIns="0" tIns="0" rIns="0" bIns="0" rtlCol="0" anchor="ctr"/>
          <a:lstStyle/>
          <a:p>
            <a:pPr algn="r" indent="0" marL="0">
              <a:buNone/>
            </a:pPr>
            <a:r>
              <a:rPr lang="en-US" sz="1300" dirty="0">
                <a:solidFill>
                  <a:srgbClr val="1B2A24"/>
                </a:solidFill>
                <a:latin typeface="Calibri" pitchFamily="34" charset="0"/>
                <a:ea typeface="Calibri" pitchFamily="34" charset="-122"/>
                <a:cs typeface="Calibri" pitchFamily="34" charset="-120"/>
              </a:rPr>
              <a:t>Patawa Ouest</a:t>
            </a:r>
            <a:endParaRPr lang="en-US" sz="1300" dirty="0"/>
          </a:p>
        </p:txBody>
      </p:sp>
      <p:sp>
        <p:nvSpPr>
          <p:cNvPr id="30" name="Shape 27"/>
          <p:cNvSpPr/>
          <p:nvPr/>
        </p:nvSpPr>
        <p:spPr>
          <a:xfrm>
            <a:off x="1874520" y="5266944"/>
            <a:ext cx="221719" cy="256032"/>
          </a:xfrm>
          <a:prstGeom prst="rect">
            <a:avLst/>
          </a:prstGeom>
          <a:solidFill>
            <a:srgbClr val="2E8B57"/>
          </a:solidFill>
          <a:ln w="12700">
            <a:solidFill>
              <a:srgbClr val="2E8B57"/>
            </a:solidFill>
            <a:prstDash val="solid"/>
          </a:ln>
        </p:spPr>
      </p:sp>
      <p:sp>
        <p:nvSpPr>
          <p:cNvPr id="31" name="Text 28"/>
          <p:cNvSpPr txBox="1"/>
          <p:nvPr/>
        </p:nvSpPr>
        <p:spPr>
          <a:xfrm>
            <a:off x="2187679" y="5212080"/>
            <a:ext cx="822960" cy="365760"/>
          </a:xfrm>
          <a:prstGeom prst="rect">
            <a:avLst/>
          </a:prstGeom>
          <a:noFill/>
          <a:ln/>
        </p:spPr>
        <p:txBody>
          <a:bodyPr wrap="square" lIns="0" tIns="0" rIns="0" bIns="0" rtlCol="0" anchor="ctr"/>
          <a:lstStyle/>
          <a:p>
            <a:pPr indent="0" marL="0">
              <a:buNone/>
            </a:pPr>
            <a:r>
              <a:rPr lang="en-US" sz="1200" dirty="0">
                <a:solidFill>
                  <a:srgbClr val="5B6B63"/>
                </a:solidFill>
                <a:latin typeface="Calibri" pitchFamily="34" charset="0"/>
                <a:ea typeface="Calibri" pitchFamily="34" charset="-122"/>
                <a:cs typeface="Calibri" pitchFamily="34" charset="-120"/>
              </a:rPr>
              <a:t>37 h</a:t>
            </a:r>
            <a:endParaRPr lang="en-US" sz="1200" dirty="0"/>
          </a:p>
        </p:txBody>
      </p:sp>
      <p:sp>
        <p:nvSpPr>
          <p:cNvPr id="32" name="Shape 29"/>
          <p:cNvSpPr/>
          <p:nvPr/>
        </p:nvSpPr>
        <p:spPr>
          <a:xfrm>
            <a:off x="1874520" y="5879592"/>
            <a:ext cx="201168" cy="201168"/>
          </a:xfrm>
          <a:prstGeom prst="rect">
            <a:avLst/>
          </a:prstGeom>
          <a:solidFill>
            <a:srgbClr val="3E7CB1"/>
          </a:solidFill>
          <a:ln w="12700">
            <a:solidFill>
              <a:srgbClr val="3E7CB1"/>
            </a:solidFill>
            <a:prstDash val="solid"/>
          </a:ln>
        </p:spPr>
      </p:sp>
      <p:sp>
        <p:nvSpPr>
          <p:cNvPr id="33" name="Text 30"/>
          <p:cNvSpPr txBox="1"/>
          <p:nvPr/>
        </p:nvSpPr>
        <p:spPr>
          <a:xfrm>
            <a:off x="2167128" y="5806440"/>
            <a:ext cx="2560320" cy="347472"/>
          </a:xfrm>
          <a:prstGeom prst="rect">
            <a:avLst/>
          </a:prstGeom>
          <a:noFill/>
          <a:ln/>
        </p:spPr>
        <p:txBody>
          <a:bodyPr wrap="square" lIns="0" tIns="0" rIns="0" bIns="0" rtlCol="0" anchor="ctr"/>
          <a:lstStyle/>
          <a:p>
            <a:pPr indent="0" marL="0">
              <a:buNone/>
            </a:pPr>
            <a:r>
              <a:rPr lang="en-US" sz="1200" dirty="0">
                <a:solidFill>
                  <a:srgbClr val="1B2A24"/>
                </a:solidFill>
                <a:latin typeface="Calibri" pitchFamily="34" charset="0"/>
                <a:ea typeface="Calibri" pitchFamily="34" charset="-122"/>
                <a:cs typeface="Calibri" pitchFamily="34" charset="-120"/>
              </a:rPr>
              <a:t>2023-2024 · phénologie (1 an, 3 sites)</a:t>
            </a:r>
            <a:endParaRPr lang="en-US" sz="1200" dirty="0"/>
          </a:p>
        </p:txBody>
      </p:sp>
      <p:sp>
        <p:nvSpPr>
          <p:cNvPr id="34" name="Shape 31"/>
          <p:cNvSpPr/>
          <p:nvPr/>
        </p:nvSpPr>
        <p:spPr>
          <a:xfrm>
            <a:off x="4709160" y="5879592"/>
            <a:ext cx="201168" cy="201168"/>
          </a:xfrm>
          <a:prstGeom prst="rect">
            <a:avLst/>
          </a:prstGeom>
          <a:solidFill>
            <a:srgbClr val="2E8B57"/>
          </a:solidFill>
          <a:ln w="12700">
            <a:solidFill>
              <a:srgbClr val="2E8B57"/>
            </a:solidFill>
            <a:prstDash val="solid"/>
          </a:ln>
        </p:spPr>
      </p:sp>
      <p:sp>
        <p:nvSpPr>
          <p:cNvPr id="35" name="Text 32"/>
          <p:cNvSpPr txBox="1"/>
          <p:nvPr/>
        </p:nvSpPr>
        <p:spPr>
          <a:xfrm>
            <a:off x="5001768" y="5806440"/>
            <a:ext cx="2560320" cy="347472"/>
          </a:xfrm>
          <a:prstGeom prst="rect">
            <a:avLst/>
          </a:prstGeom>
          <a:noFill/>
          <a:ln/>
        </p:spPr>
        <p:txBody>
          <a:bodyPr wrap="square" lIns="0" tIns="0" rIns="0" bIns="0" rtlCol="0" anchor="ctr"/>
          <a:lstStyle/>
          <a:p>
            <a:pPr indent="0" marL="0">
              <a:buNone/>
            </a:pPr>
            <a:r>
              <a:rPr lang="en-US" sz="1200" dirty="0">
                <a:solidFill>
                  <a:srgbClr val="1B2A24"/>
                </a:solidFill>
                <a:latin typeface="Calibri" pitchFamily="34" charset="0"/>
                <a:ea typeface="Calibri" pitchFamily="34" charset="-122"/>
                <a:cs typeface="Calibri" pitchFamily="34" charset="-120"/>
              </a:rPr>
              <a:t>2026 · campagne (1 semaine par site)</a:t>
            </a:r>
            <a:endParaRPr lang="en-US" sz="1200" dirty="0"/>
          </a:p>
        </p:txBody>
      </p:sp>
      <p:sp>
        <p:nvSpPr>
          <p:cNvPr id="36" name="Shape 33"/>
          <p:cNvSpPr/>
          <p:nvPr/>
        </p:nvSpPr>
        <p:spPr>
          <a:xfrm>
            <a:off x="7589520" y="1600200"/>
            <a:ext cx="4023360" cy="932688"/>
          </a:xfrm>
          <a:prstGeom prst="roundRect">
            <a:avLst>
              <a:gd name="adj" fmla="val 9804"/>
            </a:avLst>
          </a:prstGeom>
          <a:solidFill>
            <a:srgbClr val="F3F7F4"/>
          </a:solidFill>
          <a:ln w="12700">
            <a:solidFill>
              <a:srgbClr val="F3F7F4"/>
            </a:solidFill>
            <a:prstDash val="solid"/>
          </a:ln>
        </p:spPr>
      </p:sp>
      <p:sp>
        <p:nvSpPr>
          <p:cNvPr id="37" name="Text 34"/>
          <p:cNvSpPr txBox="1"/>
          <p:nvPr/>
        </p:nvSpPr>
        <p:spPr>
          <a:xfrm>
            <a:off x="7772400" y="1691640"/>
            <a:ext cx="1828800" cy="731520"/>
          </a:xfrm>
          <a:prstGeom prst="rect">
            <a:avLst/>
          </a:prstGeom>
          <a:noFill/>
          <a:ln/>
        </p:spPr>
        <p:txBody>
          <a:bodyPr wrap="square" lIns="0" tIns="0" rIns="0" bIns="0" rtlCol="0" anchor="ctr"/>
          <a:lstStyle/>
          <a:p>
            <a:pPr indent="0" marL="0">
              <a:buNone/>
            </a:pPr>
            <a:r>
              <a:rPr lang="en-US" sz="2600" b="1" dirty="0">
                <a:solidFill>
                  <a:srgbClr val="8A5A00"/>
                </a:solidFill>
                <a:latin typeface="Cambria" pitchFamily="34" charset="0"/>
                <a:ea typeface="Cambria" pitchFamily="34" charset="-122"/>
                <a:cs typeface="Cambria" pitchFamily="34" charset="-120"/>
              </a:rPr>
              <a:t>3 204 h</a:t>
            </a:r>
            <a:endParaRPr lang="en-US" sz="2600" dirty="0"/>
          </a:p>
        </p:txBody>
      </p:sp>
      <p:sp>
        <p:nvSpPr>
          <p:cNvPr id="38" name="Text 35"/>
          <p:cNvSpPr txBox="1"/>
          <p:nvPr/>
        </p:nvSpPr>
        <p:spPr>
          <a:xfrm>
            <a:off x="9601200" y="1691640"/>
            <a:ext cx="1920240" cy="731520"/>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d'audio, 2,2 To</a:t>
            </a:r>
            <a:endParaRPr lang="en-US" sz="1300" dirty="0"/>
          </a:p>
        </p:txBody>
      </p:sp>
      <p:sp>
        <p:nvSpPr>
          <p:cNvPr id="39" name="Shape 36"/>
          <p:cNvSpPr/>
          <p:nvPr/>
        </p:nvSpPr>
        <p:spPr>
          <a:xfrm>
            <a:off x="7589520" y="2679192"/>
            <a:ext cx="4023360" cy="932688"/>
          </a:xfrm>
          <a:prstGeom prst="roundRect">
            <a:avLst>
              <a:gd name="adj" fmla="val 9804"/>
            </a:avLst>
          </a:prstGeom>
          <a:solidFill>
            <a:srgbClr val="F3F7F4"/>
          </a:solidFill>
          <a:ln w="12700">
            <a:solidFill>
              <a:srgbClr val="F3F7F4"/>
            </a:solidFill>
            <a:prstDash val="solid"/>
          </a:ln>
        </p:spPr>
      </p:sp>
      <p:sp>
        <p:nvSpPr>
          <p:cNvPr id="40" name="Text 37"/>
          <p:cNvSpPr txBox="1"/>
          <p:nvPr/>
        </p:nvSpPr>
        <p:spPr>
          <a:xfrm>
            <a:off x="7772400" y="2770632"/>
            <a:ext cx="1828800" cy="731520"/>
          </a:xfrm>
          <a:prstGeom prst="rect">
            <a:avLst/>
          </a:prstGeom>
          <a:noFill/>
          <a:ln/>
        </p:spPr>
        <p:txBody>
          <a:bodyPr wrap="square" lIns="0" tIns="0" rIns="0" bIns="0" rtlCol="0" anchor="ctr"/>
          <a:lstStyle/>
          <a:p>
            <a:pPr indent="0" marL="0">
              <a:buNone/>
            </a:pPr>
            <a:r>
              <a:rPr lang="en-US" sz="2600" b="1" dirty="0">
                <a:solidFill>
                  <a:srgbClr val="8A5A00"/>
                </a:solidFill>
                <a:latin typeface="Cambria" pitchFamily="34" charset="0"/>
                <a:ea typeface="Cambria" pitchFamily="34" charset="-122"/>
                <a:cs typeface="Cambria" pitchFamily="34" charset="-120"/>
              </a:rPr>
              <a:t>94 588</a:t>
            </a:r>
            <a:endParaRPr lang="en-US" sz="2600" dirty="0"/>
          </a:p>
        </p:txBody>
      </p:sp>
      <p:sp>
        <p:nvSpPr>
          <p:cNvPr id="41" name="Text 38"/>
          <p:cNvSpPr txBox="1"/>
          <p:nvPr/>
        </p:nvSpPr>
        <p:spPr>
          <a:xfrm>
            <a:off x="9601200" y="2770632"/>
            <a:ext cx="1920240" cy="731520"/>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enregistrements encodables</a:t>
            </a:r>
            <a:endParaRPr lang="en-US" sz="1300" dirty="0"/>
          </a:p>
        </p:txBody>
      </p:sp>
      <p:sp>
        <p:nvSpPr>
          <p:cNvPr id="42" name="Shape 39"/>
          <p:cNvSpPr/>
          <p:nvPr/>
        </p:nvSpPr>
        <p:spPr>
          <a:xfrm>
            <a:off x="7589520" y="3758184"/>
            <a:ext cx="4023360" cy="932688"/>
          </a:xfrm>
          <a:prstGeom prst="roundRect">
            <a:avLst>
              <a:gd name="adj" fmla="val 9804"/>
            </a:avLst>
          </a:prstGeom>
          <a:solidFill>
            <a:srgbClr val="F3F7F4"/>
          </a:solidFill>
          <a:ln w="12700">
            <a:solidFill>
              <a:srgbClr val="F3F7F4"/>
            </a:solidFill>
            <a:prstDash val="solid"/>
          </a:ln>
        </p:spPr>
      </p:sp>
      <p:sp>
        <p:nvSpPr>
          <p:cNvPr id="43" name="Text 40"/>
          <p:cNvSpPr txBox="1"/>
          <p:nvPr/>
        </p:nvSpPr>
        <p:spPr>
          <a:xfrm>
            <a:off x="7772400" y="3849624"/>
            <a:ext cx="1828800" cy="731520"/>
          </a:xfrm>
          <a:prstGeom prst="rect">
            <a:avLst/>
          </a:prstGeom>
          <a:noFill/>
          <a:ln/>
        </p:spPr>
        <p:txBody>
          <a:bodyPr wrap="square" lIns="0" tIns="0" rIns="0" bIns="0" rtlCol="0" anchor="ctr"/>
          <a:lstStyle/>
          <a:p>
            <a:pPr indent="0" marL="0">
              <a:buNone/>
            </a:pPr>
            <a:r>
              <a:rPr lang="en-US" sz="2600" b="1" dirty="0">
                <a:solidFill>
                  <a:srgbClr val="8A5A00"/>
                </a:solidFill>
                <a:latin typeface="Cambria" pitchFamily="34" charset="0"/>
                <a:ea typeface="Cambria" pitchFamily="34" charset="-122"/>
                <a:cs typeface="Cambria" pitchFamily="34" charset="-120"/>
              </a:rPr>
              <a:t>4,5 M</a:t>
            </a:r>
            <a:endParaRPr lang="en-US" sz="2600" dirty="0"/>
          </a:p>
        </p:txBody>
      </p:sp>
      <p:sp>
        <p:nvSpPr>
          <p:cNvPr id="44" name="Text 41"/>
          <p:cNvSpPr txBox="1"/>
          <p:nvPr/>
        </p:nvSpPr>
        <p:spPr>
          <a:xfrm>
            <a:off x="9601200" y="3849624"/>
            <a:ext cx="1920240" cy="731520"/>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fenêtres de 5 s (pas 2,5 s)</a:t>
            </a:r>
            <a:endParaRPr lang="en-US" sz="1300" dirty="0"/>
          </a:p>
        </p:txBody>
      </p:sp>
      <p:sp>
        <p:nvSpPr>
          <p:cNvPr id="45" name="Shape 42"/>
          <p:cNvSpPr/>
          <p:nvPr/>
        </p:nvSpPr>
        <p:spPr>
          <a:xfrm>
            <a:off x="7589520" y="4892040"/>
            <a:ext cx="4023360" cy="1417320"/>
          </a:xfrm>
          <a:prstGeom prst="roundRect">
            <a:avLst>
              <a:gd name="adj" fmla="val 6452"/>
            </a:avLst>
          </a:prstGeom>
          <a:solidFill>
            <a:srgbClr val="0E2A24"/>
          </a:solidFill>
          <a:ln w="12700">
            <a:solidFill>
              <a:srgbClr val="0E2A24"/>
            </a:solidFill>
            <a:prstDash val="solid"/>
          </a:ln>
        </p:spPr>
      </p:sp>
      <p:sp>
        <p:nvSpPr>
          <p:cNvPr id="46" name="Text 43"/>
          <p:cNvSpPr txBox="1"/>
          <p:nvPr/>
        </p:nvSpPr>
        <p:spPr>
          <a:xfrm>
            <a:off x="7772400" y="5029200"/>
            <a:ext cx="3703320" cy="118872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2026 : une semaine par site, le mois est confondu avec le site</a:t>
            </a:r>
            <a:endParaRPr lang="en-US" sz="1350" dirty="0"/>
          </a:p>
          <a:p>
            <a:pPr marL="177800" indent="-177800">
              <a:spcAft>
                <a:spcPts val="800"/>
              </a:spcAft>
              <a:buSzPct val="100000"/>
              <a:buChar char="•"/>
            </a:pPr>
            <a:r>
              <a:rPr lang="en-US" sz="1350" b="1" dirty="0">
                <a:solidFill>
                  <a:srgbClr val="E9B44C"/>
                </a:solidFill>
                <a:latin typeface="Calibri" pitchFamily="34" charset="0"/>
                <a:ea typeface="Calibri" pitchFamily="34" charset="-122"/>
                <a:cs typeface="Calibri" pitchFamily="34" charset="-120"/>
              </a:rPr>
              <a:t>Labels Blancinet (345 + 150) : sortis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193292"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1193292"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DONNÉES · 2/2</a:t>
            </a:r>
            <a:endParaRPr lang="en-US" sz="1000" dirty="0"/>
          </a:p>
        </p:txBody>
      </p:sp>
      <p:sp>
        <p:nvSpPr>
          <p:cNvPr id="4" name="Text 2"/>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2800" b="1" dirty="0">
                <a:solidFill>
                  <a:srgbClr val="1B2A24"/>
                </a:solidFill>
                <a:latin typeface="Cambria" pitchFamily="34" charset="0"/>
                <a:ea typeface="Cambria" pitchFamily="34" charset="-122"/>
                <a:cs typeface="Cambria" pitchFamily="34" charset="-120"/>
              </a:rPr>
              <a:t>Annoter en partant de zéro (décision avec Élodie)</a:t>
            </a:r>
            <a:endParaRPr lang="en-US" sz="2800" dirty="0"/>
          </a:p>
        </p:txBody>
      </p:sp>
      <p:sp>
        <p:nvSpPr>
          <p:cNvPr id="5" name="Text 3"/>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10</a:t>
            </a:r>
            <a:endParaRPr lang="en-US" sz="900" dirty="0"/>
          </a:p>
        </p:txBody>
      </p:sp>
      <p:sp>
        <p:nvSpPr>
          <p:cNvPr id="7" name="Shape 4"/>
          <p:cNvSpPr/>
          <p:nvPr/>
        </p:nvSpPr>
        <p:spPr>
          <a:xfrm>
            <a:off x="603504" y="1554480"/>
            <a:ext cx="1944563" cy="2103120"/>
          </a:xfrm>
          <a:prstGeom prst="roundRect">
            <a:avLst>
              <a:gd name="adj" fmla="val 4702"/>
            </a:avLst>
          </a:prstGeom>
          <a:solidFill>
            <a:srgbClr val="F3F7F4"/>
          </a:solidFill>
          <a:ln w="12700">
            <a:solidFill>
              <a:srgbClr val="F3F7F4"/>
            </a:solidFill>
            <a:prstDash val="solid"/>
          </a:ln>
        </p:spPr>
      </p:sp>
      <p:sp>
        <p:nvSpPr>
          <p:cNvPr id="8" name="Shape 5"/>
          <p:cNvSpPr/>
          <p:nvPr/>
        </p:nvSpPr>
        <p:spPr>
          <a:xfrm>
            <a:off x="786384" y="1700784"/>
            <a:ext cx="384048" cy="384048"/>
          </a:xfrm>
          <a:prstGeom prst="ellipse">
            <a:avLst/>
          </a:prstGeom>
          <a:solidFill>
            <a:srgbClr val="2A7F72"/>
          </a:solidFill>
          <a:ln w="12700">
            <a:solidFill>
              <a:srgbClr val="2A7F72"/>
            </a:solidFill>
            <a:prstDash val="solid"/>
          </a:ln>
        </p:spPr>
      </p:sp>
      <p:sp>
        <p:nvSpPr>
          <p:cNvPr id="9" name="Text 6"/>
          <p:cNvSpPr txBox="1"/>
          <p:nvPr/>
        </p:nvSpPr>
        <p:spPr>
          <a:xfrm>
            <a:off x="786384"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7"/>
          <p:cNvSpPr txBox="1"/>
          <p:nvPr/>
        </p:nvSpPr>
        <p:spPr>
          <a:xfrm>
            <a:off x="786384" y="2176272"/>
            <a:ext cx="1670243" cy="411480"/>
          </a:xfrm>
          <a:prstGeom prst="rect">
            <a:avLst/>
          </a:prstGeom>
          <a:noFill/>
          <a:ln/>
        </p:spPr>
        <p:txBody>
          <a:bodyPr wrap="square" lIns="0" tIns="0" rIns="0" bIns="0" rtlCol="0" anchor="t"/>
          <a:lstStyle/>
          <a:p>
            <a:pPr indent="0" marL="0">
              <a:buNone/>
            </a:pPr>
            <a:r>
              <a:rPr lang="en-US" sz="1500" b="1" dirty="0">
                <a:solidFill>
                  <a:srgbClr val="1B2A24"/>
                </a:solidFill>
                <a:latin typeface="Calibri" pitchFamily="34" charset="0"/>
                <a:ea typeface="Calibri" pitchFamily="34" charset="-122"/>
                <a:cs typeface="Calibri" pitchFamily="34" charset="-120"/>
              </a:rPr>
              <a:t>Répartir les points</a:t>
            </a:r>
            <a:endParaRPr lang="en-US" sz="1500" dirty="0"/>
          </a:p>
        </p:txBody>
      </p:sp>
      <p:sp>
        <p:nvSpPr>
          <p:cNvPr id="11" name="Text 8"/>
          <p:cNvSpPr txBox="1"/>
          <p:nvPr/>
        </p:nvSpPr>
        <p:spPr>
          <a:xfrm>
            <a:off x="786384" y="2606040"/>
            <a:ext cx="1670243" cy="1005840"/>
          </a:xfrm>
          <a:prstGeom prst="rect">
            <a:avLst/>
          </a:prstGeom>
          <a:noFill/>
          <a:ln/>
        </p:spPr>
        <p:txBody>
          <a:bodyPr wrap="square" lIns="0" tIns="0" rIns="0" bIns="0" rtlCol="0" anchor="t"/>
          <a:lstStyle/>
          <a:p>
            <a:pPr indent="0" marL="0">
              <a:buNone/>
            </a:pPr>
            <a:r>
              <a:rPr lang="en-US" sz="1250" dirty="0">
                <a:solidFill>
                  <a:srgbClr val="5B6B63"/>
                </a:solidFill>
                <a:latin typeface="Calibri" pitchFamily="34" charset="0"/>
                <a:ea typeface="Calibri" pitchFamily="34" charset="-122"/>
                <a:cs typeface="Calibri" pitchFamily="34" charset="-120"/>
              </a:rPr>
              <a:t>avant écoute : chaque point va à l'entraînement ou au test, jamais aux deux</a:t>
            </a:r>
            <a:endParaRPr lang="en-US" sz="1250" dirty="0"/>
          </a:p>
        </p:txBody>
      </p:sp>
      <p:sp>
        <p:nvSpPr>
          <p:cNvPr id="12" name="Shape 9"/>
          <p:cNvSpPr/>
          <p:nvPr/>
        </p:nvSpPr>
        <p:spPr>
          <a:xfrm>
            <a:off x="2548067" y="2606040"/>
            <a:ext cx="164592" cy="0"/>
          </a:xfrm>
          <a:prstGeom prst="line">
            <a:avLst/>
          </a:prstGeom>
          <a:noFill/>
          <a:ln w="19050">
            <a:solidFill>
              <a:srgbClr val="A7BFB2"/>
            </a:solidFill>
            <a:prstDash val="solid"/>
            <a:tailEnd type="triangle"/>
          </a:ln>
        </p:spPr>
      </p:sp>
      <p:sp>
        <p:nvSpPr>
          <p:cNvPr id="13" name="Shape 10"/>
          <p:cNvSpPr/>
          <p:nvPr/>
        </p:nvSpPr>
        <p:spPr>
          <a:xfrm>
            <a:off x="2822387" y="1554480"/>
            <a:ext cx="1944563" cy="2103120"/>
          </a:xfrm>
          <a:prstGeom prst="roundRect">
            <a:avLst>
              <a:gd name="adj" fmla="val 4702"/>
            </a:avLst>
          </a:prstGeom>
          <a:solidFill>
            <a:srgbClr val="F3F7F4"/>
          </a:solidFill>
          <a:ln w="12700">
            <a:solidFill>
              <a:srgbClr val="F3F7F4"/>
            </a:solidFill>
            <a:prstDash val="solid"/>
          </a:ln>
        </p:spPr>
      </p:sp>
      <p:sp>
        <p:nvSpPr>
          <p:cNvPr id="14" name="Shape 11"/>
          <p:cNvSpPr/>
          <p:nvPr/>
        </p:nvSpPr>
        <p:spPr>
          <a:xfrm>
            <a:off x="3005267" y="1700784"/>
            <a:ext cx="384048" cy="384048"/>
          </a:xfrm>
          <a:prstGeom prst="ellipse">
            <a:avLst/>
          </a:prstGeom>
          <a:solidFill>
            <a:srgbClr val="2A7F72"/>
          </a:solidFill>
          <a:ln w="12700">
            <a:solidFill>
              <a:srgbClr val="2A7F72"/>
            </a:solidFill>
            <a:prstDash val="solid"/>
          </a:ln>
        </p:spPr>
      </p:sp>
      <p:sp>
        <p:nvSpPr>
          <p:cNvPr id="15" name="Text 12"/>
          <p:cNvSpPr txBox="1"/>
          <p:nvPr/>
        </p:nvSpPr>
        <p:spPr>
          <a:xfrm>
            <a:off x="3005267"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3005267" y="2176272"/>
            <a:ext cx="1670243" cy="411480"/>
          </a:xfrm>
          <a:prstGeom prst="rect">
            <a:avLst/>
          </a:prstGeom>
          <a:noFill/>
          <a:ln/>
        </p:spPr>
        <p:txBody>
          <a:bodyPr wrap="square" lIns="0" tIns="0" rIns="0" bIns="0" rtlCol="0" anchor="t"/>
          <a:lstStyle/>
          <a:p>
            <a:pPr indent="0" marL="0">
              <a:buNone/>
            </a:pPr>
            <a:r>
              <a:rPr lang="en-US" sz="1500" b="1" dirty="0">
                <a:solidFill>
                  <a:srgbClr val="1B2A24"/>
                </a:solidFill>
                <a:latin typeface="Calibri" pitchFamily="34" charset="0"/>
                <a:ea typeface="Calibri" pitchFamily="34" charset="-122"/>
                <a:cs typeface="Calibri" pitchFamily="34" charset="-120"/>
              </a:rPr>
              <a:t>Jeu d'entraînement</a:t>
            </a:r>
            <a:endParaRPr lang="en-US" sz="1500" dirty="0"/>
          </a:p>
        </p:txBody>
      </p:sp>
      <p:sp>
        <p:nvSpPr>
          <p:cNvPr id="17" name="Text 14"/>
          <p:cNvSpPr txBox="1"/>
          <p:nvPr/>
        </p:nvSpPr>
        <p:spPr>
          <a:xfrm>
            <a:off x="3005267" y="2606040"/>
            <a:ext cx="1670243" cy="1005840"/>
          </a:xfrm>
          <a:prstGeom prst="rect">
            <a:avLst/>
          </a:prstGeom>
          <a:noFill/>
          <a:ln/>
        </p:spPr>
        <p:txBody>
          <a:bodyPr wrap="square" lIns="0" tIns="0" rIns="0" bIns="0" rtlCol="0" anchor="t"/>
          <a:lstStyle/>
          <a:p>
            <a:pPr indent="0" marL="0">
              <a:buNone/>
            </a:pPr>
            <a:r>
              <a:rPr lang="en-US" sz="1250" dirty="0">
                <a:solidFill>
                  <a:srgbClr val="5B6B63"/>
                </a:solidFill>
                <a:latin typeface="Calibri" pitchFamily="34" charset="0"/>
                <a:ea typeface="Calibri" pitchFamily="34" charset="-122"/>
                <a:cs typeface="Calibri" pitchFamily="34" charset="-120"/>
              </a:rPr>
              <a:t>≈ 450 extraits de 30 s, 3 par point ; validation croisée par point</a:t>
            </a:r>
            <a:endParaRPr lang="en-US" sz="1250" dirty="0"/>
          </a:p>
        </p:txBody>
      </p:sp>
      <p:sp>
        <p:nvSpPr>
          <p:cNvPr id="18" name="Shape 15"/>
          <p:cNvSpPr/>
          <p:nvPr/>
        </p:nvSpPr>
        <p:spPr>
          <a:xfrm>
            <a:off x="4766950" y="2606040"/>
            <a:ext cx="164592" cy="0"/>
          </a:xfrm>
          <a:prstGeom prst="line">
            <a:avLst/>
          </a:prstGeom>
          <a:noFill/>
          <a:ln w="19050">
            <a:solidFill>
              <a:srgbClr val="A7BFB2"/>
            </a:solidFill>
            <a:prstDash val="solid"/>
            <a:tailEnd type="triangle"/>
          </a:ln>
        </p:spPr>
      </p:sp>
      <p:sp>
        <p:nvSpPr>
          <p:cNvPr id="19" name="Shape 16"/>
          <p:cNvSpPr/>
          <p:nvPr/>
        </p:nvSpPr>
        <p:spPr>
          <a:xfrm>
            <a:off x="5041270" y="1554480"/>
            <a:ext cx="1944563" cy="2103120"/>
          </a:xfrm>
          <a:prstGeom prst="roundRect">
            <a:avLst>
              <a:gd name="adj" fmla="val 4702"/>
            </a:avLst>
          </a:prstGeom>
          <a:solidFill>
            <a:srgbClr val="F3F7F4"/>
          </a:solidFill>
          <a:ln w="12700">
            <a:solidFill>
              <a:srgbClr val="F3F7F4"/>
            </a:solidFill>
            <a:prstDash val="solid"/>
          </a:ln>
        </p:spPr>
      </p:sp>
      <p:sp>
        <p:nvSpPr>
          <p:cNvPr id="20" name="Shape 17"/>
          <p:cNvSpPr/>
          <p:nvPr/>
        </p:nvSpPr>
        <p:spPr>
          <a:xfrm>
            <a:off x="5224150" y="1700784"/>
            <a:ext cx="384048" cy="384048"/>
          </a:xfrm>
          <a:prstGeom prst="ellipse">
            <a:avLst/>
          </a:prstGeom>
          <a:solidFill>
            <a:srgbClr val="2A7F72"/>
          </a:solidFill>
          <a:ln w="12700">
            <a:solidFill>
              <a:srgbClr val="2A7F72"/>
            </a:solidFill>
            <a:prstDash val="solid"/>
          </a:ln>
        </p:spPr>
      </p:sp>
      <p:sp>
        <p:nvSpPr>
          <p:cNvPr id="21" name="Text 18"/>
          <p:cNvSpPr txBox="1"/>
          <p:nvPr/>
        </p:nvSpPr>
        <p:spPr>
          <a:xfrm>
            <a:off x="5224150"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2" name="Text 19"/>
          <p:cNvSpPr txBox="1"/>
          <p:nvPr/>
        </p:nvSpPr>
        <p:spPr>
          <a:xfrm>
            <a:off x="5224150" y="2176272"/>
            <a:ext cx="1670243" cy="411480"/>
          </a:xfrm>
          <a:prstGeom prst="rect">
            <a:avLst/>
          </a:prstGeom>
          <a:noFill/>
          <a:ln/>
        </p:spPr>
        <p:txBody>
          <a:bodyPr wrap="square" lIns="0" tIns="0" rIns="0" bIns="0" rtlCol="0" anchor="t"/>
          <a:lstStyle/>
          <a:p>
            <a:pPr indent="0" marL="0">
              <a:buNone/>
            </a:pPr>
            <a:r>
              <a:rPr lang="en-US" sz="1500" b="1" dirty="0">
                <a:solidFill>
                  <a:srgbClr val="1B2A24"/>
                </a:solidFill>
                <a:latin typeface="Calibri" pitchFamily="34" charset="0"/>
                <a:ea typeface="Calibri" pitchFamily="34" charset="-122"/>
                <a:cs typeface="Calibri" pitchFamily="34" charset="-120"/>
              </a:rPr>
              <a:t>Jeu de test</a:t>
            </a:r>
            <a:endParaRPr lang="en-US" sz="1500" dirty="0"/>
          </a:p>
        </p:txBody>
      </p:sp>
      <p:sp>
        <p:nvSpPr>
          <p:cNvPr id="23" name="Text 20"/>
          <p:cNvSpPr txBox="1"/>
          <p:nvPr/>
        </p:nvSpPr>
        <p:spPr>
          <a:xfrm>
            <a:off x="5224150" y="2606040"/>
            <a:ext cx="1670243" cy="1005840"/>
          </a:xfrm>
          <a:prstGeom prst="rect">
            <a:avLst/>
          </a:prstGeom>
          <a:noFill/>
          <a:ln/>
        </p:spPr>
        <p:txBody>
          <a:bodyPr wrap="square" lIns="0" tIns="0" rIns="0" bIns="0" rtlCol="0" anchor="t"/>
          <a:lstStyle/>
          <a:p>
            <a:pPr indent="0" marL="0">
              <a:buNone/>
            </a:pPr>
            <a:r>
              <a:rPr lang="en-US" sz="1250" dirty="0">
                <a:solidFill>
                  <a:srgbClr val="5B6B63"/>
                </a:solidFill>
                <a:latin typeface="Calibri" pitchFamily="34" charset="0"/>
                <a:ea typeface="Calibri" pitchFamily="34" charset="-122"/>
                <a:cs typeface="Calibri" pitchFamily="34" charset="-120"/>
              </a:rPr>
              <a:t>≈ 250 enregistrements entiers, points jamais vus, ≥ 60 positifs</a:t>
            </a:r>
            <a:endParaRPr lang="en-US" sz="1250" dirty="0"/>
          </a:p>
        </p:txBody>
      </p:sp>
      <p:sp>
        <p:nvSpPr>
          <p:cNvPr id="24" name="Shape 21"/>
          <p:cNvSpPr/>
          <p:nvPr/>
        </p:nvSpPr>
        <p:spPr>
          <a:xfrm>
            <a:off x="6985833" y="2606040"/>
            <a:ext cx="164592" cy="0"/>
          </a:xfrm>
          <a:prstGeom prst="line">
            <a:avLst/>
          </a:prstGeom>
          <a:noFill/>
          <a:ln w="19050">
            <a:solidFill>
              <a:srgbClr val="A7BFB2"/>
            </a:solidFill>
            <a:prstDash val="solid"/>
            <a:tailEnd type="triangle"/>
          </a:ln>
        </p:spPr>
      </p:sp>
      <p:sp>
        <p:nvSpPr>
          <p:cNvPr id="25" name="Shape 22"/>
          <p:cNvSpPr/>
          <p:nvPr/>
        </p:nvSpPr>
        <p:spPr>
          <a:xfrm>
            <a:off x="7260153" y="1554480"/>
            <a:ext cx="1944563" cy="2103120"/>
          </a:xfrm>
          <a:prstGeom prst="roundRect">
            <a:avLst>
              <a:gd name="adj" fmla="val 4702"/>
            </a:avLst>
          </a:prstGeom>
          <a:solidFill>
            <a:srgbClr val="0E2A24"/>
          </a:solidFill>
          <a:ln w="12700">
            <a:solidFill>
              <a:srgbClr val="0E2A24"/>
            </a:solidFill>
            <a:prstDash val="solid"/>
          </a:ln>
        </p:spPr>
      </p:sp>
      <p:sp>
        <p:nvSpPr>
          <p:cNvPr id="26" name="Shape 23"/>
          <p:cNvSpPr/>
          <p:nvPr/>
        </p:nvSpPr>
        <p:spPr>
          <a:xfrm>
            <a:off x="7443033" y="1700784"/>
            <a:ext cx="384048" cy="384048"/>
          </a:xfrm>
          <a:prstGeom prst="ellipse">
            <a:avLst/>
          </a:prstGeom>
          <a:solidFill>
            <a:srgbClr val="E9B44C"/>
          </a:solidFill>
          <a:ln w="12700">
            <a:solidFill>
              <a:srgbClr val="E9B44C"/>
            </a:solidFill>
            <a:prstDash val="solid"/>
          </a:ln>
        </p:spPr>
      </p:sp>
      <p:sp>
        <p:nvSpPr>
          <p:cNvPr id="27" name="Text 24"/>
          <p:cNvSpPr txBox="1"/>
          <p:nvPr/>
        </p:nvSpPr>
        <p:spPr>
          <a:xfrm>
            <a:off x="7443033"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5"/>
          <p:cNvSpPr txBox="1"/>
          <p:nvPr/>
        </p:nvSpPr>
        <p:spPr>
          <a:xfrm>
            <a:off x="7443033" y="2176272"/>
            <a:ext cx="1670243"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Vérification</a:t>
            </a:r>
            <a:endParaRPr lang="en-US" sz="1500" dirty="0"/>
          </a:p>
        </p:txBody>
      </p:sp>
      <p:sp>
        <p:nvSpPr>
          <p:cNvPr id="29" name="Text 26"/>
          <p:cNvSpPr txBox="1"/>
          <p:nvPr/>
        </p:nvSpPr>
        <p:spPr>
          <a:xfrm>
            <a:off x="7443033" y="2606040"/>
            <a:ext cx="1670243" cy="1005840"/>
          </a:xfrm>
          <a:prstGeom prst="rect">
            <a:avLst/>
          </a:prstGeom>
          <a:noFill/>
          <a:ln/>
        </p:spPr>
        <p:txBody>
          <a:bodyPr wrap="square" lIns="0" tIns="0" rIns="0" bIns="0" rtlCol="0" anchor="t"/>
          <a:lstStyle/>
          <a:p>
            <a:pPr indent="0" marL="0">
              <a:buNone/>
            </a:pPr>
            <a:r>
              <a:rPr lang="en-US" sz="1250" dirty="0">
                <a:solidFill>
                  <a:srgbClr val="A7BFB2"/>
                </a:solidFill>
                <a:latin typeface="Calibri" pitchFamily="34" charset="0"/>
                <a:ea typeface="Calibri" pitchFamily="34" charset="-122"/>
                <a:cs typeface="Calibri" pitchFamily="34" charset="-120"/>
              </a:rPr>
              <a:t>à l'aveugle, par Élodie et Benoît : ≈ 2 h 30 d'écoute chacun</a:t>
            </a:r>
            <a:endParaRPr lang="en-US" sz="1250" dirty="0"/>
          </a:p>
        </p:txBody>
      </p:sp>
      <p:sp>
        <p:nvSpPr>
          <p:cNvPr id="30" name="Shape 27"/>
          <p:cNvSpPr/>
          <p:nvPr/>
        </p:nvSpPr>
        <p:spPr>
          <a:xfrm>
            <a:off x="9204716" y="2606040"/>
            <a:ext cx="164592" cy="0"/>
          </a:xfrm>
          <a:prstGeom prst="line">
            <a:avLst/>
          </a:prstGeom>
          <a:noFill/>
          <a:ln w="19050">
            <a:solidFill>
              <a:srgbClr val="A7BFB2"/>
            </a:solidFill>
            <a:prstDash val="solid"/>
            <a:tailEnd type="triangle"/>
          </a:ln>
        </p:spPr>
      </p:sp>
      <p:sp>
        <p:nvSpPr>
          <p:cNvPr id="31" name="Shape 28"/>
          <p:cNvSpPr/>
          <p:nvPr/>
        </p:nvSpPr>
        <p:spPr>
          <a:xfrm>
            <a:off x="9479036" y="1554480"/>
            <a:ext cx="1944563" cy="2103120"/>
          </a:xfrm>
          <a:prstGeom prst="roundRect">
            <a:avLst>
              <a:gd name="adj" fmla="val 4702"/>
            </a:avLst>
          </a:prstGeom>
          <a:solidFill>
            <a:srgbClr val="F3F7F4"/>
          </a:solidFill>
          <a:ln w="12700">
            <a:solidFill>
              <a:srgbClr val="F3F7F4"/>
            </a:solidFill>
            <a:prstDash val="solid"/>
          </a:ln>
        </p:spPr>
      </p:sp>
      <p:sp>
        <p:nvSpPr>
          <p:cNvPr id="32" name="Shape 29"/>
          <p:cNvSpPr/>
          <p:nvPr/>
        </p:nvSpPr>
        <p:spPr>
          <a:xfrm>
            <a:off x="9661916" y="1700784"/>
            <a:ext cx="384048" cy="384048"/>
          </a:xfrm>
          <a:prstGeom prst="ellipse">
            <a:avLst/>
          </a:prstGeom>
          <a:solidFill>
            <a:srgbClr val="2A7F72"/>
          </a:solidFill>
          <a:ln w="12700">
            <a:solidFill>
              <a:srgbClr val="2A7F72"/>
            </a:solidFill>
            <a:prstDash val="solid"/>
          </a:ln>
        </p:spPr>
      </p:sp>
      <p:sp>
        <p:nvSpPr>
          <p:cNvPr id="33" name="Text 30"/>
          <p:cNvSpPr txBox="1"/>
          <p:nvPr/>
        </p:nvSpPr>
        <p:spPr>
          <a:xfrm>
            <a:off x="9661916"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4" name="Text 31"/>
          <p:cNvSpPr txBox="1"/>
          <p:nvPr/>
        </p:nvSpPr>
        <p:spPr>
          <a:xfrm>
            <a:off x="9661916" y="2176272"/>
            <a:ext cx="1670243" cy="411480"/>
          </a:xfrm>
          <a:prstGeom prst="rect">
            <a:avLst/>
          </a:prstGeom>
          <a:noFill/>
          <a:ln/>
        </p:spPr>
        <p:txBody>
          <a:bodyPr wrap="square" lIns="0" tIns="0" rIns="0" bIns="0" rtlCol="0" anchor="t"/>
          <a:lstStyle/>
          <a:p>
            <a:pPr indent="0" marL="0">
              <a:buNone/>
            </a:pPr>
            <a:r>
              <a:rPr lang="en-US" sz="1500" b="1" dirty="0">
                <a:solidFill>
                  <a:srgbClr val="1B2A24"/>
                </a:solidFill>
                <a:latin typeface="Calibri" pitchFamily="34" charset="0"/>
                <a:ea typeface="Calibri" pitchFamily="34" charset="-122"/>
                <a:cs typeface="Calibri" pitchFamily="34" charset="-120"/>
              </a:rPr>
              <a:t>Go écrit</a:t>
            </a:r>
            <a:endParaRPr lang="en-US" sz="1500" dirty="0"/>
          </a:p>
        </p:txBody>
      </p:sp>
      <p:sp>
        <p:nvSpPr>
          <p:cNvPr id="35" name="Text 32"/>
          <p:cNvSpPr txBox="1"/>
          <p:nvPr/>
        </p:nvSpPr>
        <p:spPr>
          <a:xfrm>
            <a:off x="9661916" y="2606040"/>
            <a:ext cx="1670243" cy="1005840"/>
          </a:xfrm>
          <a:prstGeom prst="rect">
            <a:avLst/>
          </a:prstGeom>
          <a:noFill/>
          <a:ln/>
        </p:spPr>
        <p:txBody>
          <a:bodyPr wrap="square" lIns="0" tIns="0" rIns="0" bIns="0" rtlCol="0" anchor="t"/>
          <a:lstStyle/>
          <a:p>
            <a:pPr indent="0" marL="0">
              <a:buNone/>
            </a:pPr>
            <a:r>
              <a:rPr lang="en-US" sz="1250" dirty="0">
                <a:solidFill>
                  <a:srgbClr val="5B6B63"/>
                </a:solidFill>
                <a:latin typeface="Calibri" pitchFamily="34" charset="0"/>
                <a:ea typeface="Calibri" pitchFamily="34" charset="-122"/>
                <a:cs typeface="Calibri" pitchFamily="34" charset="-120"/>
              </a:rPr>
              <a:t>0 erreur / 60 positifs, ≤ 1 chant manqué / 100</a:t>
            </a:r>
            <a:endParaRPr lang="en-US" sz="1250" dirty="0"/>
          </a:p>
        </p:txBody>
      </p:sp>
      <p:sp>
        <p:nvSpPr>
          <p:cNvPr id="36" name="Shape 33"/>
          <p:cNvSpPr/>
          <p:nvPr/>
        </p:nvSpPr>
        <p:spPr>
          <a:xfrm>
            <a:off x="548640" y="3840480"/>
            <a:ext cx="4846320" cy="2423160"/>
          </a:xfrm>
          <a:prstGeom prst="roundRect">
            <a:avLst>
              <a:gd name="adj" fmla="val 3774"/>
            </a:avLst>
          </a:prstGeom>
          <a:solidFill>
            <a:srgbClr val="0E2A24"/>
          </a:solidFill>
          <a:ln w="12700">
            <a:solidFill>
              <a:srgbClr val="0E2A24"/>
            </a:solidFill>
            <a:prstDash val="solid"/>
          </a:ln>
        </p:spPr>
      </p:sp>
      <p:sp>
        <p:nvSpPr>
          <p:cNvPr id="37" name="Text 34"/>
          <p:cNvSpPr txBox="1"/>
          <p:nvPr/>
        </p:nvSpPr>
        <p:spPr>
          <a:xfrm>
            <a:off x="777240" y="3977640"/>
            <a:ext cx="4389120" cy="274320"/>
          </a:xfrm>
          <a:prstGeom prst="rect">
            <a:avLst/>
          </a:prstGeom>
          <a:noFill/>
          <a:ln/>
        </p:spPr>
        <p:txBody>
          <a:bodyPr wrap="square" lIns="0" tIns="0" rIns="0" bIns="0" rtlCol="0" anchor="t"/>
          <a:lstStyle/>
          <a:p>
            <a:pPr indent="0" marL="0">
              <a:buNone/>
            </a:pPr>
            <a:r>
              <a:rPr lang="en-US" sz="1100" b="1" spc="100" kern="0" dirty="0">
                <a:solidFill>
                  <a:srgbClr val="E9B44C"/>
                </a:solidFill>
                <a:latin typeface="Calibri" pitchFamily="34" charset="0"/>
                <a:ea typeface="Calibri" pitchFamily="34" charset="-122"/>
                <a:cs typeface="Calibri" pitchFamily="34" charset="-120"/>
              </a:rPr>
              <a:t>LES FUTURES CAMPAGNES</a:t>
            </a:r>
            <a:endParaRPr lang="en-US" sz="1100" dirty="0"/>
          </a:p>
        </p:txBody>
      </p:sp>
      <p:sp>
        <p:nvSpPr>
          <p:cNvPr id="38" name="Text 35"/>
          <p:cNvSpPr txBox="1"/>
          <p:nvPr/>
        </p:nvSpPr>
        <p:spPr>
          <a:xfrm>
            <a:off x="777240" y="4315968"/>
            <a:ext cx="4434840" cy="59436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1 semaine · saison des pluies · Mataroni · nouveaux points</a:t>
            </a:r>
            <a:endParaRPr lang="en-US" sz="1700" dirty="0"/>
          </a:p>
        </p:txBody>
      </p:sp>
      <p:sp>
        <p:nvSpPr>
          <p:cNvPr id="39" name="Text 36"/>
          <p:cNvSpPr txBox="1"/>
          <p:nvPr/>
        </p:nvSpPr>
        <p:spPr>
          <a:xfrm>
            <a:off x="777240" y="5029200"/>
            <a:ext cx="4434840" cy="1097280"/>
          </a:xfrm>
          <a:prstGeom prst="rect">
            <a:avLst/>
          </a:prstGeom>
          <a:noFill/>
          <a:ln/>
        </p:spPr>
        <p:txBody>
          <a:bodyPr wrap="square" lIns="0" tIns="0" rIns="0" bIns="0" rtlCol="0" anchor="t"/>
          <a:lstStyle/>
          <a:p>
            <a:pPr indent="0" marL="0">
              <a:buNone/>
            </a:pPr>
            <a:r>
              <a:rPr lang="en-US" sz="1400" dirty="0">
                <a:solidFill>
                  <a:srgbClr val="A7BFB2"/>
                </a:solidFill>
                <a:latin typeface="Calibri" pitchFamily="34" charset="0"/>
                <a:ea typeface="Calibri" pitchFamily="34" charset="-122"/>
                <a:cs typeface="Calibri" pitchFamily="34" charset="-120"/>
              </a:rPr>
              <a:t>Le jeu de test les imite : des points de Mataroni jamais vus à l'entraînement, en saison des pluies.</a:t>
            </a:r>
            <a:endParaRPr lang="en-US" sz="1400" dirty="0"/>
          </a:p>
        </p:txBody>
      </p:sp>
      <p:sp>
        <p:nvSpPr>
          <p:cNvPr id="40" name="Shape 37"/>
          <p:cNvSpPr/>
          <p:nvPr/>
        </p:nvSpPr>
        <p:spPr>
          <a:xfrm>
            <a:off x="5577840" y="3840480"/>
            <a:ext cx="6062472" cy="731520"/>
          </a:xfrm>
          <a:prstGeom prst="roundRect">
            <a:avLst>
              <a:gd name="adj" fmla="val 12500"/>
            </a:avLst>
          </a:prstGeom>
          <a:solidFill>
            <a:srgbClr val="E4EEE8"/>
          </a:solidFill>
          <a:ln w="12700">
            <a:solidFill>
              <a:srgbClr val="E4EEE8"/>
            </a:solidFill>
            <a:prstDash val="solid"/>
          </a:ln>
        </p:spPr>
      </p:sp>
      <p:sp>
        <p:nvSpPr>
          <p:cNvPr id="41" name="Text 38"/>
          <p:cNvSpPr txBox="1"/>
          <p:nvPr/>
        </p:nvSpPr>
        <p:spPr>
          <a:xfrm>
            <a:off x="5760720" y="3840480"/>
            <a:ext cx="5760720" cy="731520"/>
          </a:xfrm>
          <a:prstGeom prst="rect">
            <a:avLst/>
          </a:prstGeom>
          <a:noFill/>
          <a:ln/>
        </p:spPr>
        <p:txBody>
          <a:bodyPr wrap="square" lIns="0" tIns="0" rIns="0" bIns="0" rtlCol="0" anchor="ctr"/>
          <a:lstStyle/>
          <a:p>
            <a:pPr indent="0" marL="0">
              <a:buNone/>
            </a:pPr>
            <a:r>
              <a:rPr lang="en-US" sz="1300" b="1" dirty="0">
                <a:solidFill>
                  <a:srgbClr val="1B2A24"/>
                </a:solidFill>
                <a:latin typeface="Calibri" pitchFamily="34" charset="0"/>
                <a:ea typeface="Calibri" pitchFamily="34" charset="-122"/>
                <a:cs typeface="Calibri" pitchFamily="34" charset="-120"/>
              </a:rPr>
              <a:t>Aucun détecteur dans le tirage</a:t>
            </a:r>
            <a:endParaRPr lang="en-US" sz="1300" dirty="0"/>
          </a:p>
          <a:p>
            <a:pPr indent="0" marL="0">
              <a:buNone/>
            </a:pPr>
            <a:r>
              <a:rPr lang="en-US" sz="1150" dirty="0">
                <a:solidFill>
                  <a:srgbClr val="5B6B63"/>
                </a:solidFill>
                <a:latin typeface="Calibri" pitchFamily="34" charset="0"/>
                <a:ea typeface="Calibri" pitchFamily="34" charset="-122"/>
                <a:cs typeface="Calibri" pitchFamily="34" charset="-120"/>
              </a:rPr>
              <a:t>sinon le jeu hérite de ses angles morts</a:t>
            </a:r>
            <a:endParaRPr lang="en-US" sz="1300" dirty="0"/>
          </a:p>
        </p:txBody>
      </p:sp>
      <p:sp>
        <p:nvSpPr>
          <p:cNvPr id="42" name="Shape 39"/>
          <p:cNvSpPr/>
          <p:nvPr/>
        </p:nvSpPr>
        <p:spPr>
          <a:xfrm>
            <a:off x="5577840" y="4663440"/>
            <a:ext cx="6062472" cy="731520"/>
          </a:xfrm>
          <a:prstGeom prst="roundRect">
            <a:avLst>
              <a:gd name="adj" fmla="val 12500"/>
            </a:avLst>
          </a:prstGeom>
          <a:solidFill>
            <a:srgbClr val="E4EEE8"/>
          </a:solidFill>
          <a:ln w="12700">
            <a:solidFill>
              <a:srgbClr val="E4EEE8"/>
            </a:solidFill>
            <a:prstDash val="solid"/>
          </a:ln>
        </p:spPr>
      </p:sp>
      <p:sp>
        <p:nvSpPr>
          <p:cNvPr id="43" name="Text 40"/>
          <p:cNvSpPr txBox="1"/>
          <p:nvPr/>
        </p:nvSpPr>
        <p:spPr>
          <a:xfrm>
            <a:off x="5760720" y="4663440"/>
            <a:ext cx="5760720" cy="731520"/>
          </a:xfrm>
          <a:prstGeom prst="rect">
            <a:avLst/>
          </a:prstGeom>
          <a:noFill/>
          <a:ln/>
        </p:spPr>
        <p:txBody>
          <a:bodyPr wrap="square" lIns="0" tIns="0" rIns="0" bIns="0" rtlCol="0" anchor="ctr"/>
          <a:lstStyle/>
          <a:p>
            <a:pPr indent="0" marL="0">
              <a:buNone/>
            </a:pPr>
            <a:r>
              <a:rPr lang="en-US" sz="1300" b="1" dirty="0">
                <a:solidFill>
                  <a:srgbClr val="1B2A24"/>
                </a:solidFill>
                <a:latin typeface="Calibri" pitchFamily="34" charset="0"/>
                <a:ea typeface="Calibri" pitchFamily="34" charset="-122"/>
                <a:cs typeface="Calibri" pitchFamily="34" charset="-120"/>
              </a:rPr>
              <a:t>Beaucoup de points, peu d'enregistrements par point</a:t>
            </a:r>
            <a:endParaRPr lang="en-US" sz="1300" dirty="0"/>
          </a:p>
          <a:p>
            <a:pPr indent="0" marL="0">
              <a:buNone/>
            </a:pPr>
            <a:r>
              <a:rPr lang="en-US" sz="1150" dirty="0">
                <a:solidFill>
                  <a:srgbClr val="5B6B63"/>
                </a:solidFill>
                <a:latin typeface="Calibri" pitchFamily="34" charset="0"/>
                <a:ea typeface="Calibri" pitchFamily="34" charset="-122"/>
                <a:cs typeface="Calibri" pitchFamily="34" charset="-120"/>
              </a:rPr>
              <a:t>40 enregistrements d'un même micro partagent le même fond : ils n'apprennent presque rien de plus qu'un seul</a:t>
            </a:r>
            <a:endParaRPr lang="en-US" sz="1300" dirty="0"/>
          </a:p>
        </p:txBody>
      </p:sp>
      <p:sp>
        <p:nvSpPr>
          <p:cNvPr id="44" name="Shape 41"/>
          <p:cNvSpPr/>
          <p:nvPr/>
        </p:nvSpPr>
        <p:spPr>
          <a:xfrm>
            <a:off x="5577840" y="5486400"/>
            <a:ext cx="6062472" cy="731520"/>
          </a:xfrm>
          <a:prstGeom prst="roundRect">
            <a:avLst>
              <a:gd name="adj" fmla="val 12500"/>
            </a:avLst>
          </a:prstGeom>
          <a:solidFill>
            <a:srgbClr val="E4EEE8"/>
          </a:solidFill>
          <a:ln w="12700">
            <a:solidFill>
              <a:srgbClr val="E4EEE8"/>
            </a:solidFill>
            <a:prstDash val="solid"/>
          </a:ln>
        </p:spPr>
      </p:sp>
      <p:sp>
        <p:nvSpPr>
          <p:cNvPr id="45" name="Text 42"/>
          <p:cNvSpPr txBox="1"/>
          <p:nvPr/>
        </p:nvSpPr>
        <p:spPr>
          <a:xfrm>
            <a:off x="5760720" y="5486400"/>
            <a:ext cx="5760720" cy="731520"/>
          </a:xfrm>
          <a:prstGeom prst="rect">
            <a:avLst/>
          </a:prstGeom>
          <a:noFill/>
          <a:ln/>
        </p:spPr>
        <p:txBody>
          <a:bodyPr wrap="square" lIns="0" tIns="0" rIns="0" bIns="0" rtlCol="0" anchor="ctr"/>
          <a:lstStyle/>
          <a:p>
            <a:pPr indent="0" marL="0">
              <a:buNone/>
            </a:pPr>
            <a:r>
              <a:rPr lang="en-US" sz="1300" b="1" dirty="0">
                <a:solidFill>
                  <a:srgbClr val="1B2A24"/>
                </a:solidFill>
                <a:latin typeface="Calibri" pitchFamily="34" charset="0"/>
                <a:ea typeface="Calibri" pitchFamily="34" charset="-122"/>
                <a:cs typeface="Calibri" pitchFamily="34" charset="-120"/>
              </a:rPr>
              <a:t>Positifs et négatifs dans les mêmes conditions</a:t>
            </a:r>
            <a:endParaRPr lang="en-US" sz="1300" dirty="0"/>
          </a:p>
          <a:p>
            <a:pPr indent="0" marL="0">
              <a:buNone/>
            </a:pPr>
            <a:r>
              <a:rPr lang="en-US" sz="1150" dirty="0">
                <a:solidFill>
                  <a:srgbClr val="5B6B63"/>
                </a:solidFill>
                <a:latin typeface="Calibri" pitchFamily="34" charset="0"/>
                <a:ea typeface="Calibri" pitchFamily="34" charset="-122"/>
                <a:cs typeface="Calibri" pitchFamily="34" charset="-120"/>
              </a:rPr>
              <a:t>même point, même tranche horaire ; sinon la tête apprend « matin » au lieu du chant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504188"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1504188"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MODULE SÉQUENTIEL</a:t>
            </a:r>
            <a:endParaRPr lang="en-US" sz="1000" dirty="0"/>
          </a:p>
        </p:txBody>
      </p:sp>
      <p:sp>
        <p:nvSpPr>
          <p:cNvPr id="4" name="Text 2"/>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2800" b="1" dirty="0">
                <a:solidFill>
                  <a:srgbClr val="1B2A24"/>
                </a:solidFill>
                <a:latin typeface="Cambria" pitchFamily="34" charset="0"/>
                <a:ea typeface="Cambria" pitchFamily="34" charset="-122"/>
                <a:cs typeface="Cambria" pitchFamily="34" charset="-120"/>
              </a:rPr>
              <a:t>Le rythme du chant, mesuré directement sur le signal</a:t>
            </a:r>
            <a:endParaRPr lang="en-US" sz="2800" dirty="0"/>
          </a:p>
        </p:txBody>
      </p:sp>
      <p:sp>
        <p:nvSpPr>
          <p:cNvPr id="5" name="Text 3"/>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11</a:t>
            </a:r>
            <a:endParaRPr lang="en-US" sz="900" dirty="0"/>
          </a:p>
        </p:txBody>
      </p:sp>
      <p:pic>
        <p:nvPicPr>
          <p:cNvPr id="7" name="Image 0" descr="/home/user/Grenouille/documentation/presentation-suivi-2/figures/seq_blanci_net.png">    </p:cNvPr>
          <p:cNvPicPr>
            <a:picLocks noChangeAspect="1"/>
          </p:cNvPicPr>
          <p:nvPr/>
        </p:nvPicPr>
        <p:blipFill>
          <a:blip r:embed="rId1"/>
          <a:stretch>
            <a:fillRect/>
          </a:stretch>
        </p:blipFill>
        <p:spPr>
          <a:xfrm>
            <a:off x="548640" y="1463040"/>
            <a:ext cx="3606698" cy="2380421"/>
          </a:xfrm>
          <a:prstGeom prst="rect">
            <a:avLst/>
          </a:prstGeom>
        </p:spPr>
      </p:pic>
      <p:sp>
        <p:nvSpPr>
          <p:cNvPr id="8" name="Shape 4"/>
          <p:cNvSpPr/>
          <p:nvPr/>
        </p:nvSpPr>
        <p:spPr>
          <a:xfrm>
            <a:off x="548640" y="3934901"/>
            <a:ext cx="3606698" cy="1234440"/>
          </a:xfrm>
          <a:prstGeom prst="roundRect">
            <a:avLst>
              <a:gd name="adj" fmla="val 7407"/>
            </a:avLst>
          </a:prstGeom>
          <a:solidFill>
            <a:srgbClr val="F3F7F4"/>
          </a:solidFill>
          <a:ln w="12700">
            <a:solidFill>
              <a:srgbClr val="F3F7F4"/>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85800" y="4136069"/>
            <a:ext cx="475488" cy="475488"/>
          </a:xfrm>
          <a:prstGeom prst="rect">
            <a:avLst/>
          </a:prstGeom>
        </p:spPr>
      </p:pic>
      <p:sp>
        <p:nvSpPr>
          <p:cNvPr id="10" name="Text 5"/>
          <p:cNvSpPr txBox="1"/>
          <p:nvPr/>
        </p:nvSpPr>
        <p:spPr>
          <a:xfrm>
            <a:off x="1280160" y="4072061"/>
            <a:ext cx="2738018" cy="365760"/>
          </a:xfrm>
          <a:prstGeom prst="rect">
            <a:avLst/>
          </a:prstGeom>
          <a:noFill/>
          <a:ln/>
        </p:spPr>
        <p:txBody>
          <a:bodyPr wrap="square" lIns="0" tIns="0" rIns="0" bIns="0" rtlCol="0" anchor="t"/>
          <a:lstStyle/>
          <a:p>
            <a:pPr indent="0" marL="0">
              <a:buNone/>
            </a:pPr>
            <a:r>
              <a:rPr lang="en-US" sz="1400" b="1" dirty="0">
                <a:solidFill>
                  <a:srgbClr val="2A7F72"/>
                </a:solidFill>
                <a:latin typeface="Calibri" pitchFamily="34" charset="0"/>
                <a:ea typeface="Calibri" pitchFamily="34" charset="-122"/>
                <a:cs typeface="Calibri" pitchFamily="34" charset="-120"/>
              </a:rPr>
              <a:t>A. blanci, chant net</a:t>
            </a:r>
            <a:endParaRPr lang="en-US" sz="1400" dirty="0"/>
          </a:p>
        </p:txBody>
      </p:sp>
      <p:sp>
        <p:nvSpPr>
          <p:cNvPr id="11" name="Text 6"/>
          <p:cNvSpPr txBox="1"/>
          <p:nvPr/>
        </p:nvSpPr>
        <p:spPr>
          <a:xfrm>
            <a:off x="1280160" y="4465253"/>
            <a:ext cx="2738018" cy="777240"/>
          </a:xfrm>
          <a:prstGeom prst="rect">
            <a:avLst/>
          </a:prstGeom>
          <a:noFill/>
          <a:ln/>
        </p:spPr>
        <p:txBody>
          <a:bodyPr wrap="square" lIns="0" tIns="0" rIns="0" bIns="0" rtlCol="0" anchor="t"/>
          <a:lstStyle/>
          <a:p>
            <a:pPr indent="0" marL="0">
              <a:buNone/>
            </a:pPr>
            <a:r>
              <a:rPr lang="en-US" sz="1200" dirty="0">
                <a:solidFill>
                  <a:srgbClr val="1B2A24"/>
                </a:solidFill>
                <a:latin typeface="Calibri" pitchFamily="34" charset="0"/>
                <a:ea typeface="Calibri" pitchFamily="34" charset="-122"/>
                <a:cs typeface="Calibri" pitchFamily="34" charset="-120"/>
              </a:rPr>
              <a:t>5 notes · intervalle médian 1,61 s · 75 % dans la plage d'A. blanci</a:t>
            </a:r>
            <a:endParaRPr lang="en-US" sz="1200" dirty="0"/>
          </a:p>
        </p:txBody>
      </p:sp>
      <p:pic>
        <p:nvPicPr>
          <p:cNvPr id="12" name="Image 1" descr="/home/user/Grenouille/documentation/presentation-suivi-2/figures/seq_faux_ami.png">    </p:cNvPr>
          <p:cNvPicPr>
            <a:picLocks noChangeAspect="1"/>
          </p:cNvPicPr>
          <p:nvPr/>
        </p:nvPicPr>
        <p:blipFill>
          <a:blip r:embed="rId5"/>
          <a:stretch>
            <a:fillRect/>
          </a:stretch>
        </p:blipFill>
        <p:spPr>
          <a:xfrm>
            <a:off x="4292498" y="1463040"/>
            <a:ext cx="3606698" cy="2380421"/>
          </a:xfrm>
          <a:prstGeom prst="rect">
            <a:avLst/>
          </a:prstGeom>
        </p:spPr>
      </p:pic>
      <p:sp>
        <p:nvSpPr>
          <p:cNvPr id="13" name="Shape 7"/>
          <p:cNvSpPr/>
          <p:nvPr/>
        </p:nvSpPr>
        <p:spPr>
          <a:xfrm>
            <a:off x="4292498" y="3934901"/>
            <a:ext cx="3606698" cy="1234440"/>
          </a:xfrm>
          <a:prstGeom prst="roundRect">
            <a:avLst>
              <a:gd name="adj" fmla="val 7407"/>
            </a:avLst>
          </a:prstGeom>
          <a:solidFill>
            <a:srgbClr val="F3F7F4"/>
          </a:solidFill>
          <a:ln w="12700">
            <a:solidFill>
              <a:srgbClr val="F3F7F4"/>
            </a:solidFill>
            <a:prstDash val="solid"/>
          </a:ln>
        </p:spPr>
      </p:sp>
      <p:pic>
        <p:nvPicPr>
          <p:cNvPr id="8" name="Media 1">
            <a:hlinkClick r:id="" action="ppaction://media"/>
          </p:cNvPr>
          <p:cNvPicPr>
            <a:picLocks noChangeAspect="1"/>
          </p:cNvPicPr>
          <p:nvPr>
            <a:videoFile r:link="rId6"/>
            <p:extLst>
              <p:ext uri="{DAA4B4D4-6D71-4841-9C94-3DE7FCFB9230}">
                <p14:media xmlns:p14="http://schemas.microsoft.com/office/powerpoint/2010/main" r:embed="rId7"/>
              </p:ext>
            </p:extLst>
          </p:nvPr>
        </p:nvPicPr>
        <p:blipFill>
          <a:blip r:embed="rId8"/>
          <a:stretch>
            <a:fillRect/>
          </a:stretch>
        </p:blipFill>
        <p:spPr>
          <a:xfrm>
            <a:off x="4429658" y="4136069"/>
            <a:ext cx="475488" cy="475488"/>
          </a:xfrm>
          <a:prstGeom prst="rect">
            <a:avLst/>
          </a:prstGeom>
        </p:spPr>
      </p:pic>
      <p:sp>
        <p:nvSpPr>
          <p:cNvPr id="15" name="Text 8"/>
          <p:cNvSpPr txBox="1"/>
          <p:nvPr/>
        </p:nvSpPr>
        <p:spPr>
          <a:xfrm>
            <a:off x="5024018" y="4072061"/>
            <a:ext cx="2738018" cy="365760"/>
          </a:xfrm>
          <a:prstGeom prst="rect">
            <a:avLst/>
          </a:prstGeom>
          <a:noFill/>
          <a:ln/>
        </p:spPr>
        <p:txBody>
          <a:bodyPr wrap="square" lIns="0" tIns="0" rIns="0" bIns="0" rtlCol="0" anchor="t"/>
          <a:lstStyle/>
          <a:p>
            <a:pPr indent="0" marL="0">
              <a:buNone/>
            </a:pPr>
            <a:r>
              <a:rPr lang="en-US" sz="1400" b="1" dirty="0">
                <a:solidFill>
                  <a:srgbClr val="8A5A00"/>
                </a:solidFill>
                <a:latin typeface="Calibri" pitchFamily="34" charset="0"/>
                <a:ea typeface="Calibri" pitchFamily="34" charset="-122"/>
                <a:cs typeface="Calibri" pitchFamily="34" charset="-120"/>
              </a:rPr>
              <a:t>Faux ami : A. andreae</a:t>
            </a:r>
            <a:endParaRPr lang="en-US" sz="1400" dirty="0"/>
          </a:p>
        </p:txBody>
      </p:sp>
      <p:sp>
        <p:nvSpPr>
          <p:cNvPr id="16" name="Text 9"/>
          <p:cNvSpPr txBox="1"/>
          <p:nvPr/>
        </p:nvSpPr>
        <p:spPr>
          <a:xfrm>
            <a:off x="5024018" y="4465253"/>
            <a:ext cx="2738018" cy="777240"/>
          </a:xfrm>
          <a:prstGeom prst="rect">
            <a:avLst/>
          </a:prstGeom>
          <a:noFill/>
          <a:ln/>
        </p:spPr>
        <p:txBody>
          <a:bodyPr wrap="square" lIns="0" tIns="0" rIns="0" bIns="0" rtlCol="0" anchor="t"/>
          <a:lstStyle/>
          <a:p>
            <a:pPr indent="0" marL="0">
              <a:buNone/>
            </a:pPr>
            <a:r>
              <a:rPr lang="en-US" sz="1200" dirty="0">
                <a:solidFill>
                  <a:srgbClr val="1B2A24"/>
                </a:solidFill>
                <a:latin typeface="Calibri" pitchFamily="34" charset="0"/>
                <a:ea typeface="Calibri" pitchFamily="34" charset="-122"/>
                <a:cs typeface="Calibri" pitchFamily="34" charset="-120"/>
              </a:rPr>
              <a:t>même bande · 1,66 s · 50 % : le rythme seul ne tranche pas</a:t>
            </a:r>
            <a:endParaRPr lang="en-US" sz="1200" dirty="0"/>
          </a:p>
        </p:txBody>
      </p:sp>
      <p:pic>
        <p:nvPicPr>
          <p:cNvPr id="17" name="Image 2" descr="/home/user/Grenouille/documentation/presentation-suivi-2/figures/seq_blanci_faible.png">    </p:cNvPr>
          <p:cNvPicPr>
            <a:picLocks noChangeAspect="1"/>
          </p:cNvPicPr>
          <p:nvPr/>
        </p:nvPicPr>
        <p:blipFill>
          <a:blip r:embed="rId9"/>
          <a:stretch>
            <a:fillRect/>
          </a:stretch>
        </p:blipFill>
        <p:spPr>
          <a:xfrm>
            <a:off x="8036357" y="1463040"/>
            <a:ext cx="3606698" cy="2380421"/>
          </a:xfrm>
          <a:prstGeom prst="rect">
            <a:avLst/>
          </a:prstGeom>
        </p:spPr>
      </p:pic>
      <p:sp>
        <p:nvSpPr>
          <p:cNvPr id="18" name="Shape 10"/>
          <p:cNvSpPr/>
          <p:nvPr/>
        </p:nvSpPr>
        <p:spPr>
          <a:xfrm>
            <a:off x="8036357" y="3934901"/>
            <a:ext cx="3606698" cy="1234440"/>
          </a:xfrm>
          <a:prstGeom prst="roundRect">
            <a:avLst>
              <a:gd name="adj" fmla="val 7407"/>
            </a:avLst>
          </a:prstGeom>
          <a:solidFill>
            <a:srgbClr val="F3F7F4"/>
          </a:solidFill>
          <a:ln w="12700">
            <a:solidFill>
              <a:srgbClr val="F3F7F4"/>
            </a:solidFill>
            <a:prstDash val="solid"/>
          </a:ln>
        </p:spPr>
      </p:sp>
      <p:pic>
        <p:nvPicPr>
          <p:cNvPr id="12" name="Media 2">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8173517" y="4136069"/>
            <a:ext cx="475488" cy="475488"/>
          </a:xfrm>
          <a:prstGeom prst="rect">
            <a:avLst/>
          </a:prstGeom>
        </p:spPr>
      </p:pic>
      <p:sp>
        <p:nvSpPr>
          <p:cNvPr id="20" name="Text 11"/>
          <p:cNvSpPr txBox="1"/>
          <p:nvPr/>
        </p:nvSpPr>
        <p:spPr>
          <a:xfrm>
            <a:off x="8767877" y="4072061"/>
            <a:ext cx="2738018" cy="365760"/>
          </a:xfrm>
          <a:prstGeom prst="rect">
            <a:avLst/>
          </a:prstGeom>
          <a:noFill/>
          <a:ln/>
        </p:spPr>
        <p:txBody>
          <a:bodyPr wrap="square" lIns="0" tIns="0" rIns="0" bIns="0" rtlCol="0" anchor="t"/>
          <a:lstStyle/>
          <a:p>
            <a:pPr indent="0" marL="0">
              <a:buNone/>
            </a:pPr>
            <a:r>
              <a:rPr lang="en-US" sz="1400" b="1" dirty="0">
                <a:solidFill>
                  <a:srgbClr val="C8553D"/>
                </a:solidFill>
                <a:latin typeface="Calibri" pitchFamily="34" charset="0"/>
                <a:ea typeface="Calibri" pitchFamily="34" charset="-122"/>
                <a:cs typeface="Calibri" pitchFamily="34" charset="-120"/>
              </a:rPr>
              <a:t>A. blanci, chant faible</a:t>
            </a:r>
            <a:endParaRPr lang="en-US" sz="1400" dirty="0"/>
          </a:p>
        </p:txBody>
      </p:sp>
      <p:sp>
        <p:nvSpPr>
          <p:cNvPr id="21" name="Text 12"/>
          <p:cNvSpPr txBox="1"/>
          <p:nvPr/>
        </p:nvSpPr>
        <p:spPr>
          <a:xfrm>
            <a:off x="8767877" y="4465253"/>
            <a:ext cx="2738018" cy="777240"/>
          </a:xfrm>
          <a:prstGeom prst="rect">
            <a:avLst/>
          </a:prstGeom>
          <a:noFill/>
          <a:ln/>
        </p:spPr>
        <p:txBody>
          <a:bodyPr wrap="square" lIns="0" tIns="0" rIns="0" bIns="0" rtlCol="0" anchor="t"/>
          <a:lstStyle/>
          <a:p>
            <a:pPr indent="0" marL="0">
              <a:buNone/>
            </a:pPr>
            <a:r>
              <a:rPr lang="en-US" sz="1200" dirty="0">
                <a:solidFill>
                  <a:srgbClr val="1B2A24"/>
                </a:solidFill>
                <a:latin typeface="Calibri" pitchFamily="34" charset="0"/>
                <a:ea typeface="Calibri" pitchFamily="34" charset="-122"/>
                <a:cs typeface="Calibri" pitchFamily="34" charset="-120"/>
              </a:rPr>
              <a:t>audible, mais 0 note retenue : seuil de durée à revoir</a:t>
            </a:r>
            <a:endParaRPr lang="en-US" sz="1200" dirty="0"/>
          </a:p>
        </p:txBody>
      </p:sp>
      <p:sp>
        <p:nvSpPr>
          <p:cNvPr id="22" name="Shape 13"/>
          <p:cNvSpPr/>
          <p:nvPr/>
        </p:nvSpPr>
        <p:spPr>
          <a:xfrm>
            <a:off x="548640" y="5440680"/>
            <a:ext cx="11094415" cy="822960"/>
          </a:xfrm>
          <a:prstGeom prst="roundRect">
            <a:avLst>
              <a:gd name="adj" fmla="val 11111"/>
            </a:avLst>
          </a:prstGeom>
          <a:solidFill>
            <a:srgbClr val="0E2A24"/>
          </a:solidFill>
          <a:ln w="12700">
            <a:solidFill>
              <a:srgbClr val="0E2A24"/>
            </a:solidFill>
            <a:prstDash val="solid"/>
          </a:ln>
        </p:spPr>
      </p:sp>
      <p:sp>
        <p:nvSpPr>
          <p:cNvPr id="23" name="Text 14"/>
          <p:cNvSpPr txBox="1"/>
          <p:nvPr/>
        </p:nvSpPr>
        <p:spPr>
          <a:xfrm>
            <a:off x="822960" y="5440680"/>
            <a:ext cx="10545775" cy="822960"/>
          </a:xfrm>
          <a:prstGeom prst="rect">
            <a:avLst/>
          </a:prstGeom>
          <a:noFill/>
          <a:ln/>
        </p:spPr>
        <p:txBody>
          <a:bodyPr wrap="square" lIns="0" tIns="0" rIns="0" bIns="0" rtlCol="0" anchor="ctr"/>
          <a:lstStyle/>
          <a:p>
            <a:pPr indent="0" marL="0">
              <a:buNone/>
            </a:pPr>
            <a:r>
              <a:rPr lang="en-US" sz="1450" b="1" dirty="0">
                <a:solidFill>
                  <a:srgbClr val="E9B44C"/>
                </a:solidFill>
                <a:latin typeface="Calibri" pitchFamily="34" charset="0"/>
                <a:ea typeface="Calibri" pitchFamily="34" charset="-122"/>
                <a:cs typeface="Calibri" pitchFamily="34" charset="-120"/>
              </a:rPr>
              <a:t>L'intérêt : </a:t>
            </a:r>
            <a:pPr indent="0" marL="0">
              <a:buNone/>
            </a:pPr>
            <a:r>
              <a:rPr lang="en-US" sz="1450" dirty="0">
                <a:solidFill>
                  <a:srgbClr val="FFFFFF"/>
                </a:solidFill>
                <a:latin typeface="Calibri" pitchFamily="34" charset="0"/>
                <a:ea typeface="Calibri" pitchFamily="34" charset="-122"/>
                <a:cs typeface="Calibri" pitchFamily="34" charset="-120"/>
              </a:rPr>
              <a:t>une information que l'encodeur ne voit pas, le rythme sur tout l'enregistrement, mesurée sans apprentissage et combinée au score de la tête. Jamais de veto.</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892808"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1892808"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PRÉ-BENCHMARK ANURASET</a:t>
            </a:r>
            <a:endParaRPr lang="en-US" sz="1000" dirty="0"/>
          </a:p>
        </p:txBody>
      </p:sp>
      <p:sp>
        <p:nvSpPr>
          <p:cNvPr id="4" name="Text 2"/>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2800" b="1" dirty="0">
                <a:solidFill>
                  <a:srgbClr val="1B2A24"/>
                </a:solidFill>
                <a:latin typeface="Cambria" pitchFamily="34" charset="0"/>
                <a:ea typeface="Cambria" pitchFamily="34" charset="-122"/>
                <a:cs typeface="Cambria" pitchFamily="34" charset="-120"/>
              </a:rPr>
              <a:t>Pré-benchmark AnuraSet</a:t>
            </a:r>
            <a:endParaRPr lang="en-US" sz="2800" dirty="0"/>
          </a:p>
        </p:txBody>
      </p:sp>
      <p:sp>
        <p:nvSpPr>
          <p:cNvPr id="5" name="Text 3"/>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12</a:t>
            </a:r>
            <a:endParaRPr lang="en-US" sz="900" dirty="0"/>
          </a:p>
        </p:txBody>
      </p:sp>
      <p:sp>
        <p:nvSpPr>
          <p:cNvPr id="7" name="Shape 4"/>
          <p:cNvSpPr/>
          <p:nvPr/>
        </p:nvSpPr>
        <p:spPr>
          <a:xfrm>
            <a:off x="548640" y="1737360"/>
            <a:ext cx="11094415" cy="4480560"/>
          </a:xfrm>
          <a:prstGeom prst="roundRect">
            <a:avLst>
              <a:gd name="adj" fmla="val 2041"/>
            </a:avLst>
          </a:prstGeom>
          <a:solidFill>
            <a:srgbClr val="F3F7F4"/>
          </a:solidFill>
          <a:ln w="12700">
            <a:solidFill>
              <a:srgbClr val="CFDDD5"/>
            </a:solidFill>
            <a:prstDash val="solid"/>
          </a:ln>
        </p:spPr>
      </p:sp>
      <p:sp>
        <p:nvSpPr>
          <p:cNvPr id="8" name="Text 5"/>
          <p:cNvSpPr txBox="1"/>
          <p:nvPr/>
        </p:nvSpPr>
        <p:spPr>
          <a:xfrm>
            <a:off x="548640" y="3291840"/>
            <a:ext cx="11094415" cy="548640"/>
          </a:xfrm>
          <a:prstGeom prst="rect">
            <a:avLst/>
          </a:prstGeom>
          <a:noFill/>
          <a:ln/>
        </p:spPr>
        <p:txBody>
          <a:bodyPr wrap="square" lIns="0" tIns="0" rIns="0" bIns="0" rtlCol="0" anchor="t"/>
          <a:lstStyle/>
          <a:p>
            <a:pPr algn="ctr" indent="0" marL="0">
              <a:buNone/>
            </a:pPr>
            <a:r>
              <a:rPr lang="en-US" sz="2400" b="1" dirty="0">
                <a:solidFill>
                  <a:srgbClr val="5B6B63"/>
                </a:solidFill>
                <a:latin typeface="Cambria" pitchFamily="34" charset="0"/>
                <a:ea typeface="Cambria" pitchFamily="34" charset="-122"/>
                <a:cs typeface="Cambria" pitchFamily="34" charset="-120"/>
              </a:rPr>
              <a:t>Section en cours de mise à jour</a:t>
            </a:r>
            <a:endParaRPr lang="en-US" sz="2400" dirty="0"/>
          </a:p>
        </p:txBody>
      </p:sp>
      <p:sp>
        <p:nvSpPr>
          <p:cNvPr id="9" name="Text 6"/>
          <p:cNvSpPr txBox="1"/>
          <p:nvPr/>
        </p:nvSpPr>
        <p:spPr>
          <a:xfrm>
            <a:off x="548640" y="3886200"/>
            <a:ext cx="11094415" cy="365760"/>
          </a:xfrm>
          <a:prstGeom prst="rect">
            <a:avLst/>
          </a:prstGeom>
          <a:noFill/>
          <a:ln/>
        </p:spPr>
        <p:txBody>
          <a:bodyPr wrap="square" lIns="0" tIns="0" rIns="0" bIns="0" rtlCol="0" anchor="t"/>
          <a:lstStyle/>
          <a:p>
            <a:pPr algn="ctr" indent="0" marL="0">
              <a:buNone/>
            </a:pPr>
            <a:r>
              <a:rPr lang="en-US" sz="1400" i="1" dirty="0">
                <a:solidFill>
                  <a:srgbClr val="A7BFB2"/>
                </a:solidFill>
                <a:latin typeface="Calibri" pitchFamily="34" charset="0"/>
                <a:ea typeface="Calibri" pitchFamily="34" charset="-122"/>
                <a:cs typeface="Calibri" pitchFamily="34" charset="-120"/>
              </a:rPr>
              <a:t>à compléter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815084"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1815084"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RÉGULARISATIONS · 1/2</a:t>
            </a:r>
            <a:endParaRPr lang="en-US" sz="1000" dirty="0"/>
          </a:p>
        </p:txBody>
      </p:sp>
      <p:sp>
        <p:nvSpPr>
          <p:cNvPr id="4" name="Text 2"/>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2800" b="1" dirty="0">
                <a:solidFill>
                  <a:srgbClr val="1B2A24"/>
                </a:solidFill>
                <a:latin typeface="Cambria" pitchFamily="34" charset="0"/>
                <a:ea typeface="Cambria" pitchFamily="34" charset="-122"/>
                <a:cs typeface="Cambria" pitchFamily="34" charset="-120"/>
              </a:rPr>
              <a:t>Régulariser vers une référence plutôt que vers zéro</a:t>
            </a:r>
            <a:endParaRPr lang="en-US" sz="2800" dirty="0"/>
          </a:p>
        </p:txBody>
      </p:sp>
      <p:sp>
        <p:nvSpPr>
          <p:cNvPr id="5" name="Text 3"/>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13</a:t>
            </a:r>
            <a:endParaRPr lang="en-US" sz="900" dirty="0"/>
          </a:p>
        </p:txBody>
      </p:sp>
      <p:sp>
        <p:nvSpPr>
          <p:cNvPr id="7" name="Shape 4"/>
          <p:cNvSpPr/>
          <p:nvPr/>
        </p:nvSpPr>
        <p:spPr>
          <a:xfrm>
            <a:off x="548640" y="1554480"/>
            <a:ext cx="3606698" cy="3657600"/>
          </a:xfrm>
          <a:prstGeom prst="roundRect">
            <a:avLst>
              <a:gd name="adj" fmla="val 2535"/>
            </a:avLst>
          </a:prstGeom>
          <a:solidFill>
            <a:srgbClr val="F3F7F4"/>
          </a:solidFill>
          <a:ln w="12700">
            <a:solidFill>
              <a:srgbClr val="F3F7F4"/>
            </a:solidFill>
            <a:prstDash val="solid"/>
          </a:ln>
        </p:spPr>
      </p:sp>
      <p:sp>
        <p:nvSpPr>
          <p:cNvPr id="8" name="Text 5"/>
          <p:cNvSpPr txBox="1"/>
          <p:nvPr/>
        </p:nvSpPr>
        <p:spPr>
          <a:xfrm>
            <a:off x="777240" y="1719072"/>
            <a:ext cx="3149498" cy="640080"/>
          </a:xfrm>
          <a:prstGeom prst="rect">
            <a:avLst/>
          </a:prstGeom>
          <a:noFill/>
          <a:ln/>
        </p:spPr>
        <p:txBody>
          <a:bodyPr wrap="square" lIns="0" tIns="0" rIns="0" bIns="0" rtlCol="0" anchor="t"/>
          <a:lstStyle/>
          <a:p>
            <a:pPr indent="0" marL="0">
              <a:buNone/>
            </a:pPr>
            <a:r>
              <a:rPr lang="en-US" sz="1600" b="1" dirty="0">
                <a:solidFill>
                  <a:srgbClr val="1B2A24"/>
                </a:solidFill>
                <a:latin typeface="Calibri" pitchFamily="34" charset="0"/>
                <a:ea typeface="Calibri" pitchFamily="34" charset="-122"/>
                <a:cs typeface="Calibri" pitchFamily="34" charset="-120"/>
              </a:rPr>
              <a:t>Rétrécir la logistique vers le prototype</a:t>
            </a:r>
            <a:endParaRPr lang="en-US" sz="1600" dirty="0"/>
          </a:p>
        </p:txBody>
      </p:sp>
      <p:sp>
        <p:nvSpPr>
          <p:cNvPr id="9" name="Text 6"/>
          <p:cNvSpPr txBox="1"/>
          <p:nvPr/>
        </p:nvSpPr>
        <p:spPr>
          <a:xfrm>
            <a:off x="777240" y="2377440"/>
            <a:ext cx="3149498" cy="685800"/>
          </a:xfrm>
          <a:prstGeom prst="rect">
            <a:avLst/>
          </a:prstGeom>
          <a:noFill/>
          <a:ln/>
        </p:spPr>
        <p:txBody>
          <a:bodyPr wrap="square" lIns="0" tIns="0" rIns="0" bIns="0" rtlCol="0" anchor="t"/>
          <a:lstStyle/>
          <a:p>
            <a:pPr indent="0" marL="0">
              <a:buNone/>
            </a:pPr>
            <a:r>
              <a:rPr lang="en-US" sz="1500" b="1" dirty="0">
                <a:solidFill>
                  <a:srgbClr val="8A5A00"/>
                </a:solidFill>
                <a:latin typeface="Cambria" pitchFamily="34" charset="0"/>
                <a:ea typeface="Cambria" pitchFamily="34" charset="-122"/>
                <a:cs typeface="Cambria" pitchFamily="34" charset="-120"/>
              </a:rPr>
              <a:t>perte + λ ‖w − (μ₊ − μ₋)‖²</a:t>
            </a:r>
            <a:endParaRPr lang="en-US" sz="1500" dirty="0"/>
          </a:p>
        </p:txBody>
      </p:sp>
      <p:sp>
        <p:nvSpPr>
          <p:cNvPr id="10" name="Text 7"/>
          <p:cNvSpPr txBox="1"/>
          <p:nvPr/>
        </p:nvSpPr>
        <p:spPr>
          <a:xfrm>
            <a:off x="777240" y="3154680"/>
            <a:ext cx="3149498" cy="16459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1B2A24"/>
                </a:solidFill>
                <a:latin typeface="Calibri" pitchFamily="34" charset="0"/>
                <a:ea typeface="Calibri" pitchFamily="34" charset="-122"/>
                <a:cs typeface="Calibri" pitchFamily="34" charset="-120"/>
              </a:rPr>
              <a:t>λ grand : la tête reste le prototype, qui marche avec très peu d'exemples</a:t>
            </a:r>
            <a:endParaRPr lang="en-US" sz="1300" dirty="0"/>
          </a:p>
          <a:p>
            <a:pPr marL="177800" indent="-177800">
              <a:spcAft>
                <a:spcPts val="900"/>
              </a:spcAft>
              <a:buSzPct val="100000"/>
              <a:buChar char="•"/>
            </a:pPr>
            <a:r>
              <a:rPr lang="en-US" sz="1300" dirty="0">
                <a:solidFill>
                  <a:srgbClr val="1B2A24"/>
                </a:solidFill>
                <a:latin typeface="Calibri" pitchFamily="34" charset="0"/>
                <a:ea typeface="Calibri" pitchFamily="34" charset="-122"/>
                <a:cs typeface="Calibri" pitchFamily="34" charset="-120"/>
              </a:rPr>
              <a:t>λ petit : logistique libre, qui profite des exemples</a:t>
            </a:r>
            <a:endParaRPr lang="en-US" sz="1300" dirty="0"/>
          </a:p>
          <a:p>
            <a:pPr marL="177800" indent="-177800">
              <a:spcAft>
                <a:spcPts val="900"/>
              </a:spcAft>
              <a:buSzPct val="100000"/>
              <a:buChar char="•"/>
            </a:pPr>
            <a:r>
              <a:rPr lang="en-US" sz="1300" dirty="0">
                <a:solidFill>
                  <a:srgbClr val="1B2A24"/>
                </a:solidFill>
                <a:latin typeface="Calibri" pitchFamily="34" charset="0"/>
                <a:ea typeface="Calibri" pitchFamily="34" charset="-122"/>
                <a:cs typeface="Calibri" pitchFamily="34" charset="-120"/>
              </a:rPr>
              <a:t>λ réglé par validation croisée par point : suit l'amorçage d'un nouveau point</a:t>
            </a:r>
            <a:endParaRPr lang="en-US" sz="1300" dirty="0"/>
          </a:p>
        </p:txBody>
      </p:sp>
      <p:sp>
        <p:nvSpPr>
          <p:cNvPr id="11" name="Text 8"/>
          <p:cNvSpPr txBox="1"/>
          <p:nvPr/>
        </p:nvSpPr>
        <p:spPr>
          <a:xfrm>
            <a:off x="777240" y="4800600"/>
            <a:ext cx="3149498" cy="274320"/>
          </a:xfrm>
          <a:prstGeom prst="rect">
            <a:avLst/>
          </a:prstGeom>
          <a:noFill/>
          <a:ln/>
        </p:spPr>
        <p:txBody>
          <a:bodyPr wrap="square" lIns="0" tIns="0" rIns="0" bIns="0" rtlCol="0" anchor="t"/>
          <a:lstStyle/>
          <a:p>
            <a:pPr indent="0" marL="0">
              <a:buNone/>
            </a:pPr>
            <a:r>
              <a:rPr lang="en-US" sz="1150" b="1" i="1" dirty="0">
                <a:solidFill>
                  <a:srgbClr val="2A7F72"/>
                </a:solidFill>
                <a:latin typeface="Calibri" pitchFamily="34" charset="0"/>
                <a:ea typeface="Calibri" pitchFamily="34" charset="-122"/>
                <a:cs typeface="Calibri" pitchFamily="34" charset="-120"/>
              </a:rPr>
              <a:t>programmée</a:t>
            </a:r>
            <a:endParaRPr lang="en-US" sz="1150" dirty="0"/>
          </a:p>
        </p:txBody>
      </p:sp>
      <p:sp>
        <p:nvSpPr>
          <p:cNvPr id="12" name="Shape 9"/>
          <p:cNvSpPr/>
          <p:nvPr/>
        </p:nvSpPr>
        <p:spPr>
          <a:xfrm>
            <a:off x="4292498" y="1554480"/>
            <a:ext cx="3606698" cy="3657600"/>
          </a:xfrm>
          <a:prstGeom prst="roundRect">
            <a:avLst>
              <a:gd name="adj" fmla="val 2535"/>
            </a:avLst>
          </a:prstGeom>
          <a:solidFill>
            <a:srgbClr val="0E2A24"/>
          </a:solidFill>
          <a:ln w="12700">
            <a:solidFill>
              <a:srgbClr val="0E2A24"/>
            </a:solidFill>
            <a:prstDash val="solid"/>
          </a:ln>
        </p:spPr>
      </p:sp>
      <p:sp>
        <p:nvSpPr>
          <p:cNvPr id="13" name="Text 10"/>
          <p:cNvSpPr txBox="1"/>
          <p:nvPr/>
        </p:nvSpPr>
        <p:spPr>
          <a:xfrm>
            <a:off x="4521098" y="1719072"/>
            <a:ext cx="3149498" cy="64008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LDA à covariance rétrécie</a:t>
            </a:r>
            <a:endParaRPr lang="en-US" sz="1600" dirty="0"/>
          </a:p>
        </p:txBody>
      </p:sp>
      <p:sp>
        <p:nvSpPr>
          <p:cNvPr id="14" name="Text 11"/>
          <p:cNvSpPr txBox="1"/>
          <p:nvPr/>
        </p:nvSpPr>
        <p:spPr>
          <a:xfrm>
            <a:off x="4521098" y="2377440"/>
            <a:ext cx="3149498" cy="685800"/>
          </a:xfrm>
          <a:prstGeom prst="rect">
            <a:avLst/>
          </a:prstGeom>
          <a:noFill/>
          <a:ln/>
        </p:spPr>
        <p:txBody>
          <a:bodyPr wrap="square" lIns="0" tIns="0" rIns="0" bIns="0" rtlCol="0" anchor="t"/>
          <a:lstStyle/>
          <a:p>
            <a:pPr indent="0" marL="0">
              <a:buNone/>
            </a:pPr>
            <a:r>
              <a:rPr lang="en-US" sz="1500" b="1" dirty="0">
                <a:solidFill>
                  <a:srgbClr val="E9B44C"/>
                </a:solidFill>
                <a:latin typeface="Cambria" pitchFamily="34" charset="0"/>
                <a:ea typeface="Cambria" pitchFamily="34" charset="-122"/>
                <a:cs typeface="Cambria" pitchFamily="34" charset="-120"/>
              </a:rPr>
              <a:t>w = Σ̂⁻¹ (μ₊ − μ₋)</a:t>
            </a:r>
            <a:endParaRPr lang="en-US" sz="1500" dirty="0"/>
          </a:p>
          <a:p>
            <a:pPr indent="0" marL="0">
              <a:buNone/>
            </a:pPr>
            <a:r>
              <a:rPr lang="en-US" sz="1500" b="1" dirty="0">
                <a:solidFill>
                  <a:srgbClr val="E9B44C"/>
                </a:solidFill>
                <a:latin typeface="Cambria" pitchFamily="34" charset="0"/>
                <a:ea typeface="Cambria" pitchFamily="34" charset="-122"/>
                <a:cs typeface="Cambria" pitchFamily="34" charset="-120"/>
              </a:rPr>
              <a:t>Σ̂ = (1 − γ) S + γ σ² I</a:t>
            </a:r>
            <a:endParaRPr lang="en-US" sz="1500" dirty="0"/>
          </a:p>
        </p:txBody>
      </p:sp>
      <p:sp>
        <p:nvSpPr>
          <p:cNvPr id="15" name="Text 12"/>
          <p:cNvSpPr txBox="1"/>
          <p:nvPr/>
        </p:nvSpPr>
        <p:spPr>
          <a:xfrm>
            <a:off x="4521098" y="3154680"/>
            <a:ext cx="3149498" cy="16459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FFFFFF"/>
                </a:solidFill>
                <a:latin typeface="Calibri" pitchFamily="34" charset="0"/>
                <a:ea typeface="Calibri" pitchFamily="34" charset="-122"/>
                <a:cs typeface="Calibri" pitchFamily="34" charset="-120"/>
              </a:rPr>
              <a:t>γ = 1 : exactement le prototype différentiel</a:t>
            </a:r>
            <a:endParaRPr lang="en-US" sz="1300" dirty="0"/>
          </a:p>
          <a:p>
            <a:pPr marL="177800" indent="-177800">
              <a:spcAft>
                <a:spcPts val="900"/>
              </a:spcAft>
              <a:buSzPct val="100000"/>
              <a:buChar char="•"/>
            </a:pPr>
            <a:r>
              <a:rPr lang="en-US" sz="1300" dirty="0">
                <a:solidFill>
                  <a:srgbClr val="FFFFFF"/>
                </a:solidFill>
                <a:latin typeface="Calibri" pitchFamily="34" charset="0"/>
                <a:ea typeface="Calibri" pitchFamily="34" charset="-122"/>
                <a:cs typeface="Calibri" pitchFamily="34" charset="-120"/>
              </a:rPr>
              <a:t>γ = 0 : covariance apprise, proche de la logistique</a:t>
            </a:r>
            <a:endParaRPr lang="en-US" sz="1300" dirty="0"/>
          </a:p>
          <a:p>
            <a:pPr marL="177800" indent="-177800">
              <a:spcAft>
                <a:spcPts val="900"/>
              </a:spcAft>
              <a:buSzPct val="100000"/>
              <a:buChar char="•"/>
            </a:pPr>
            <a:r>
              <a:rPr lang="en-US" sz="1300" dirty="0">
                <a:solidFill>
                  <a:srgbClr val="FFFFFF"/>
                </a:solidFill>
                <a:latin typeface="Calibri" pitchFamily="34" charset="0"/>
                <a:ea typeface="Calibri" pitchFamily="34" charset="-122"/>
                <a:cs typeface="Calibri" pitchFamily="34" charset="-120"/>
              </a:rPr>
              <a:t>γ calculé par Ledoit-Wolf, sans réglage ; meilleure tête de Bird-MAE sur AnuraSet</a:t>
            </a:r>
            <a:endParaRPr lang="en-US" sz="1300" dirty="0"/>
          </a:p>
        </p:txBody>
      </p:sp>
      <p:sp>
        <p:nvSpPr>
          <p:cNvPr id="16" name="Text 13"/>
          <p:cNvSpPr txBox="1"/>
          <p:nvPr/>
        </p:nvSpPr>
        <p:spPr>
          <a:xfrm>
            <a:off x="4521098" y="4800600"/>
            <a:ext cx="3149498" cy="274320"/>
          </a:xfrm>
          <a:prstGeom prst="rect">
            <a:avLst/>
          </a:prstGeom>
          <a:noFill/>
          <a:ln/>
        </p:spPr>
        <p:txBody>
          <a:bodyPr wrap="square" lIns="0" tIns="0" rIns="0" bIns="0" rtlCol="0" anchor="t"/>
          <a:lstStyle/>
          <a:p>
            <a:pPr indent="0" marL="0">
              <a:buNone/>
            </a:pPr>
            <a:r>
              <a:rPr lang="en-US" sz="1150" b="1" i="1" dirty="0">
                <a:solidFill>
                  <a:srgbClr val="A7BFB2"/>
                </a:solidFill>
                <a:latin typeface="Calibri" pitchFamily="34" charset="0"/>
                <a:ea typeface="Calibri" pitchFamily="34" charset="-122"/>
                <a:cs typeface="Calibri" pitchFamily="34" charset="-120"/>
              </a:rPr>
              <a:t>dans le benchmark des têtes</a:t>
            </a:r>
            <a:endParaRPr lang="en-US" sz="1150" dirty="0"/>
          </a:p>
        </p:txBody>
      </p:sp>
      <p:sp>
        <p:nvSpPr>
          <p:cNvPr id="17" name="Shape 14"/>
          <p:cNvSpPr/>
          <p:nvPr/>
        </p:nvSpPr>
        <p:spPr>
          <a:xfrm>
            <a:off x="8036357" y="1554480"/>
            <a:ext cx="3606698" cy="3657600"/>
          </a:xfrm>
          <a:prstGeom prst="roundRect">
            <a:avLst>
              <a:gd name="adj" fmla="val 2535"/>
            </a:avLst>
          </a:prstGeom>
          <a:solidFill>
            <a:srgbClr val="F3F7F4"/>
          </a:solidFill>
          <a:ln w="12700">
            <a:solidFill>
              <a:srgbClr val="F3F7F4"/>
            </a:solidFill>
            <a:prstDash val="solid"/>
          </a:ln>
        </p:spPr>
      </p:sp>
      <p:sp>
        <p:nvSpPr>
          <p:cNvPr id="18" name="Text 15"/>
          <p:cNvSpPr txBox="1"/>
          <p:nvPr/>
        </p:nvSpPr>
        <p:spPr>
          <a:xfrm>
            <a:off x="8264957" y="1719072"/>
            <a:ext cx="3149498" cy="640080"/>
          </a:xfrm>
          <a:prstGeom prst="rect">
            <a:avLst/>
          </a:prstGeom>
          <a:noFill/>
          <a:ln/>
        </p:spPr>
        <p:txBody>
          <a:bodyPr wrap="square" lIns="0" tIns="0" rIns="0" bIns="0" rtlCol="0" anchor="t"/>
          <a:lstStyle/>
          <a:p>
            <a:pPr indent="0" marL="0">
              <a:buNone/>
            </a:pPr>
            <a:r>
              <a:rPr lang="en-US" sz="1600" b="1" dirty="0">
                <a:solidFill>
                  <a:srgbClr val="1B2A24"/>
                </a:solidFill>
                <a:latin typeface="Calibri" pitchFamily="34" charset="0"/>
                <a:ea typeface="Calibri" pitchFamily="34" charset="-122"/>
                <a:cs typeface="Calibri" pitchFamily="34" charset="-120"/>
              </a:rPr>
              <a:t>L2-SP : rester près du pré-entraîné</a:t>
            </a:r>
            <a:endParaRPr lang="en-US" sz="1600" dirty="0"/>
          </a:p>
        </p:txBody>
      </p:sp>
      <p:sp>
        <p:nvSpPr>
          <p:cNvPr id="19" name="Text 16"/>
          <p:cNvSpPr txBox="1"/>
          <p:nvPr/>
        </p:nvSpPr>
        <p:spPr>
          <a:xfrm>
            <a:off x="8264957" y="2377440"/>
            <a:ext cx="3149498" cy="685800"/>
          </a:xfrm>
          <a:prstGeom prst="rect">
            <a:avLst/>
          </a:prstGeom>
          <a:noFill/>
          <a:ln/>
        </p:spPr>
        <p:txBody>
          <a:bodyPr wrap="square" lIns="0" tIns="0" rIns="0" bIns="0" rtlCol="0" anchor="t"/>
          <a:lstStyle/>
          <a:p>
            <a:pPr indent="0" marL="0">
              <a:buNone/>
            </a:pPr>
            <a:r>
              <a:rPr lang="en-US" sz="1500" b="1" dirty="0">
                <a:solidFill>
                  <a:srgbClr val="8A5A00"/>
                </a:solidFill>
                <a:latin typeface="Cambria" pitchFamily="34" charset="0"/>
                <a:ea typeface="Cambria" pitchFamily="34" charset="-122"/>
                <a:cs typeface="Cambria" pitchFamily="34" charset="-120"/>
              </a:rPr>
              <a:t>perte + λ ‖θ − θ₀‖²</a:t>
            </a:r>
            <a:endParaRPr lang="en-US" sz="1500" dirty="0"/>
          </a:p>
        </p:txBody>
      </p:sp>
      <p:sp>
        <p:nvSpPr>
          <p:cNvPr id="20" name="Text 17"/>
          <p:cNvSpPr txBox="1"/>
          <p:nvPr/>
        </p:nvSpPr>
        <p:spPr>
          <a:xfrm>
            <a:off x="8264957" y="3154680"/>
            <a:ext cx="3149498" cy="16459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1B2A24"/>
                </a:solidFill>
                <a:latin typeface="Calibri" pitchFamily="34" charset="0"/>
                <a:ea typeface="Calibri" pitchFamily="34" charset="-122"/>
                <a:cs typeface="Calibri" pitchFamily="34" charset="-120"/>
              </a:rPr>
              <a:t>pour affiner l'encodeur lui-même (LoRA, distillation)</a:t>
            </a:r>
            <a:endParaRPr lang="en-US" sz="1300" dirty="0"/>
          </a:p>
          <a:p>
            <a:pPr marL="177800" indent="-177800">
              <a:spcAft>
                <a:spcPts val="900"/>
              </a:spcAft>
              <a:buSzPct val="100000"/>
              <a:buChar char="•"/>
            </a:pPr>
            <a:r>
              <a:rPr lang="en-US" sz="1300" dirty="0">
                <a:solidFill>
                  <a:srgbClr val="1B2A24"/>
                </a:solidFill>
                <a:latin typeface="Calibri" pitchFamily="34" charset="0"/>
                <a:ea typeface="Calibri" pitchFamily="34" charset="-122"/>
                <a:cs typeface="Calibri" pitchFamily="34" charset="-120"/>
              </a:rPr>
              <a:t>θ₀ : poids appris sur 1,5 M d'enregistrements</a:t>
            </a:r>
            <a:endParaRPr lang="en-US" sz="1300" dirty="0"/>
          </a:p>
          <a:p>
            <a:pPr marL="177800" indent="-177800">
              <a:spcAft>
                <a:spcPts val="900"/>
              </a:spcAft>
              <a:buSzPct val="100000"/>
              <a:buChar char="•"/>
            </a:pPr>
            <a:r>
              <a:rPr lang="en-US" sz="1300" dirty="0">
                <a:solidFill>
                  <a:srgbClr val="1B2A24"/>
                </a:solidFill>
                <a:latin typeface="Calibri" pitchFamily="34" charset="0"/>
                <a:ea typeface="Calibri" pitchFamily="34" charset="-122"/>
                <a:cs typeface="Calibri" pitchFamily="34" charset="-120"/>
              </a:rPr>
              <a:t>le réseau s'adapte sans oublier ce qu'il savait</a:t>
            </a:r>
            <a:endParaRPr lang="en-US" sz="1300" dirty="0"/>
          </a:p>
        </p:txBody>
      </p:sp>
      <p:sp>
        <p:nvSpPr>
          <p:cNvPr id="21" name="Text 18"/>
          <p:cNvSpPr txBox="1"/>
          <p:nvPr/>
        </p:nvSpPr>
        <p:spPr>
          <a:xfrm>
            <a:off x="8264957" y="4800600"/>
            <a:ext cx="3149498" cy="274320"/>
          </a:xfrm>
          <a:prstGeom prst="rect">
            <a:avLst/>
          </a:prstGeom>
          <a:noFill/>
          <a:ln/>
        </p:spPr>
        <p:txBody>
          <a:bodyPr wrap="square" lIns="0" tIns="0" rIns="0" bIns="0" rtlCol="0" anchor="t"/>
          <a:lstStyle/>
          <a:p>
            <a:pPr indent="0" marL="0">
              <a:buNone/>
            </a:pPr>
            <a:r>
              <a:rPr lang="en-US" sz="1150" b="1" i="1" dirty="0">
                <a:solidFill>
                  <a:srgbClr val="2A7F72"/>
                </a:solidFill>
                <a:latin typeface="Calibri" pitchFamily="34" charset="0"/>
                <a:ea typeface="Calibri" pitchFamily="34" charset="-122"/>
                <a:cs typeface="Calibri" pitchFamily="34" charset="-120"/>
              </a:rPr>
              <a:t>outil prêt, pour plus tard</a:t>
            </a:r>
            <a:endParaRPr lang="en-US" sz="1150" dirty="0"/>
          </a:p>
        </p:txBody>
      </p:sp>
      <p:sp>
        <p:nvSpPr>
          <p:cNvPr id="22" name="Shape 19"/>
          <p:cNvSpPr/>
          <p:nvPr/>
        </p:nvSpPr>
        <p:spPr>
          <a:xfrm>
            <a:off x="548640" y="5394960"/>
            <a:ext cx="11094415" cy="868680"/>
          </a:xfrm>
          <a:prstGeom prst="roundRect">
            <a:avLst>
              <a:gd name="adj" fmla="val 10526"/>
            </a:avLst>
          </a:prstGeom>
          <a:solidFill>
            <a:srgbClr val="E4EEE8"/>
          </a:solidFill>
          <a:ln w="12700">
            <a:solidFill>
              <a:srgbClr val="E4EEE8"/>
            </a:solidFill>
            <a:prstDash val="solid"/>
          </a:ln>
        </p:spPr>
      </p:sp>
      <p:sp>
        <p:nvSpPr>
          <p:cNvPr id="23" name="Text 20"/>
          <p:cNvSpPr txBox="1"/>
          <p:nvPr/>
        </p:nvSpPr>
        <p:spPr>
          <a:xfrm>
            <a:off x="822960" y="5394960"/>
            <a:ext cx="10545775" cy="868680"/>
          </a:xfrm>
          <a:prstGeom prst="rect">
            <a:avLst/>
          </a:prstGeom>
          <a:noFill/>
          <a:ln/>
        </p:spPr>
        <p:txBody>
          <a:bodyPr wrap="square" lIns="0" tIns="0" rIns="0" bIns="0" rtlCol="0" anchor="ctr"/>
          <a:lstStyle/>
          <a:p>
            <a:pPr indent="0" marL="0">
              <a:buNone/>
            </a:pPr>
            <a:r>
              <a:rPr lang="en-US" sz="1450" b="1" dirty="0">
                <a:solidFill>
                  <a:srgbClr val="2A7F72"/>
                </a:solidFill>
                <a:latin typeface="Calibri" pitchFamily="34" charset="0"/>
                <a:ea typeface="Calibri" pitchFamily="34" charset="-122"/>
                <a:cs typeface="Calibri" pitchFamily="34" charset="-120"/>
              </a:rPr>
              <a:t>Le principe commun : </a:t>
            </a:r>
            <a:pPr indent="0" marL="0">
              <a:buNone/>
            </a:pPr>
            <a:r>
              <a:rPr lang="en-US" sz="1450" dirty="0">
                <a:solidFill>
                  <a:srgbClr val="1B2A24"/>
                </a:solidFill>
                <a:latin typeface="Calibri" pitchFamily="34" charset="0"/>
                <a:ea typeface="Calibri" pitchFamily="34" charset="-122"/>
                <a:cs typeface="Calibri" pitchFamily="34" charset="-120"/>
              </a:rPr>
              <a:t>un a priori centré sur une solution raisonnable (prototype, modèle pré-entraîné) au lieu de zéro. Avec peu d'exemples, c'est souvent plus juste.</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815084" cy="292608"/>
          </a:xfrm>
          <a:prstGeom prst="roundRect">
            <a:avLst>
              <a:gd name="adj" fmla="val 50000"/>
            </a:avLst>
          </a:prstGeom>
          <a:solidFill>
            <a:srgbClr val="E4EEE8"/>
          </a:solidFill>
          <a:ln w="12700">
            <a:solidFill>
              <a:srgbClr val="E4EEE8"/>
            </a:solidFill>
            <a:prstDash val="solid"/>
          </a:ln>
        </p:spPr>
      </p:sp>
      <p:sp>
        <p:nvSpPr>
          <p:cNvPr id="3" name="Text 1"/>
          <p:cNvSpPr txBox="1"/>
          <p:nvPr/>
        </p:nvSpPr>
        <p:spPr>
          <a:xfrm>
            <a:off x="548640" y="365760"/>
            <a:ext cx="1815084" cy="292608"/>
          </a:xfrm>
          <a:prstGeom prst="rect">
            <a:avLst/>
          </a:prstGeom>
          <a:noFill/>
          <a:ln/>
        </p:spPr>
        <p:txBody>
          <a:bodyPr wrap="square" lIns="0" tIns="0" rIns="0" bIns="0" rtlCol="0" anchor="ctr"/>
          <a:lstStyle/>
          <a:p>
            <a:pPr algn="ctr" indent="0" marL="0">
              <a:buNone/>
            </a:pPr>
            <a:r>
              <a:rPr lang="en-US" sz="1000" b="1" spc="100" kern="0" dirty="0">
                <a:solidFill>
                  <a:srgbClr val="2A7F72"/>
                </a:solidFill>
                <a:latin typeface="Calibri" pitchFamily="34" charset="0"/>
                <a:ea typeface="Calibri" pitchFamily="34" charset="-122"/>
                <a:cs typeface="Calibri" pitchFamily="34" charset="-120"/>
              </a:rPr>
              <a:t>RÉGULARISATIONS · 2/2</a:t>
            </a:r>
            <a:endParaRPr lang="en-US" sz="1000" dirty="0"/>
          </a:p>
        </p:txBody>
      </p:sp>
      <p:sp>
        <p:nvSpPr>
          <p:cNvPr id="4" name="Text 2"/>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2800" b="1" dirty="0">
                <a:solidFill>
                  <a:srgbClr val="1B2A24"/>
                </a:solidFill>
                <a:latin typeface="Cambria" pitchFamily="34" charset="0"/>
                <a:ea typeface="Cambria" pitchFamily="34" charset="-122"/>
                <a:cs typeface="Cambria" pitchFamily="34" charset="-120"/>
              </a:rPr>
              <a:t>Pour de nouveaux points d'écoute : retirer ce qui dit le site</a:t>
            </a:r>
            <a:endParaRPr lang="en-US" sz="2800" dirty="0"/>
          </a:p>
        </p:txBody>
      </p:sp>
      <p:sp>
        <p:nvSpPr>
          <p:cNvPr id="5" name="Text 3"/>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900" dirty="0">
                <a:solidFill>
                  <a:srgbClr val="A7BFB2"/>
                </a:solidFill>
                <a:latin typeface="Calibri" pitchFamily="34" charset="0"/>
                <a:ea typeface="Calibri" pitchFamily="34" charset="-122"/>
                <a:cs typeface="Calibri" pitchFamily="34" charset="-120"/>
              </a:rPr>
              <a:t>14</a:t>
            </a:r>
            <a:endParaRPr lang="en-US" sz="900" dirty="0"/>
          </a:p>
        </p:txBody>
      </p:sp>
      <p:sp>
        <p:nvSpPr>
          <p:cNvPr id="7" name="Shape 4"/>
          <p:cNvSpPr/>
          <p:nvPr/>
        </p:nvSpPr>
        <p:spPr>
          <a:xfrm>
            <a:off x="548640" y="1600200"/>
            <a:ext cx="4754880" cy="2103120"/>
          </a:xfrm>
          <a:prstGeom prst="roundRect">
            <a:avLst>
              <a:gd name="adj" fmla="val 4348"/>
            </a:avLst>
          </a:prstGeom>
          <a:solidFill>
            <a:srgbClr val="0E2A24"/>
          </a:solidFill>
          <a:ln w="12700">
            <a:solidFill>
              <a:srgbClr val="0E2A24"/>
            </a:solidFill>
            <a:prstDash val="solid"/>
          </a:ln>
        </p:spPr>
      </p:sp>
      <p:sp>
        <p:nvSpPr>
          <p:cNvPr id="8" name="Text 5"/>
          <p:cNvSpPr txBox="1"/>
          <p:nvPr/>
        </p:nvSpPr>
        <p:spPr>
          <a:xfrm>
            <a:off x="822960" y="1783080"/>
            <a:ext cx="4297680" cy="502920"/>
          </a:xfrm>
          <a:prstGeom prst="rect">
            <a:avLst/>
          </a:prstGeom>
          <a:noFill/>
          <a:ln/>
        </p:spPr>
        <p:txBody>
          <a:bodyPr wrap="square" lIns="0" tIns="0" rIns="0" bIns="0" rtlCol="0" anchor="t"/>
          <a:lstStyle/>
          <a:p>
            <a:pPr indent="0" marL="0">
              <a:buNone/>
            </a:pPr>
            <a:r>
              <a:rPr lang="en-US" sz="2200" dirty="0">
                <a:solidFill>
                  <a:srgbClr val="FFFFFF"/>
                </a:solidFill>
                <a:latin typeface="Cambria" pitchFamily="34" charset="0"/>
                <a:ea typeface="Cambria" pitchFamily="34" charset="-122"/>
                <a:cs typeface="Cambria" pitchFamily="34" charset="-120"/>
              </a:rPr>
              <a:t>embedding = </a:t>
            </a:r>
            <a:pPr indent="0" marL="0">
              <a:buNone/>
            </a:pPr>
            <a:r>
              <a:rPr lang="en-US" sz="2200" b="1" dirty="0">
                <a:solidFill>
                  <a:srgbClr val="E9B44C"/>
                </a:solidFill>
                <a:latin typeface="Cambria" pitchFamily="34" charset="0"/>
                <a:ea typeface="Cambria" pitchFamily="34" charset="-122"/>
                <a:cs typeface="Cambria" pitchFamily="34" charset="-120"/>
              </a:rPr>
              <a:t>chant</a:t>
            </a:r>
            <a:pPr indent="0" marL="0">
              <a:buNone/>
            </a:pPr>
            <a:r>
              <a:rPr lang="en-US" sz="2200" dirty="0">
                <a:solidFill>
                  <a:srgbClr val="FFFFFF"/>
                </a:solidFill>
                <a:latin typeface="Cambria" pitchFamily="34" charset="0"/>
                <a:ea typeface="Cambria" pitchFamily="34" charset="-122"/>
                <a:cs typeface="Cambria" pitchFamily="34" charset="-120"/>
              </a:rPr>
              <a:t> + </a:t>
            </a:r>
            <a:pPr indent="0" marL="0">
              <a:buNone/>
            </a:pPr>
            <a:r>
              <a:rPr lang="en-US" sz="2200" b="1" dirty="0">
                <a:solidFill>
                  <a:srgbClr val="A7BFB2"/>
                </a:solidFill>
                <a:latin typeface="Cambria" pitchFamily="34" charset="0"/>
                <a:ea typeface="Cambria" pitchFamily="34" charset="-122"/>
                <a:cs typeface="Cambria" pitchFamily="34" charset="-120"/>
              </a:rPr>
              <a:t>fond du point</a:t>
            </a:r>
            <a:endParaRPr lang="en-US" sz="2200" dirty="0"/>
          </a:p>
        </p:txBody>
      </p:sp>
      <p:sp>
        <p:nvSpPr>
          <p:cNvPr id="9" name="Text 6"/>
          <p:cNvSpPr txBox="1"/>
          <p:nvPr/>
        </p:nvSpPr>
        <p:spPr>
          <a:xfrm>
            <a:off x="822960" y="2377440"/>
            <a:ext cx="4251960" cy="118872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La note ≈ 2 % de la fenêtre : le fond domine, les embeddings se groupent par site. Retirer le fond rend le chant comparable d'un point à l'autre.</a:t>
            </a:r>
            <a:endParaRPr lang="en-US" sz="1350" dirty="0"/>
          </a:p>
        </p:txBody>
      </p:sp>
      <p:sp>
        <p:nvSpPr>
          <p:cNvPr id="10" name="Shape 7"/>
          <p:cNvSpPr/>
          <p:nvPr/>
        </p:nvSpPr>
        <p:spPr>
          <a:xfrm>
            <a:off x="548640" y="3886200"/>
            <a:ext cx="4754880" cy="2377440"/>
          </a:xfrm>
          <a:prstGeom prst="roundRect">
            <a:avLst>
              <a:gd name="adj" fmla="val 3846"/>
            </a:avLst>
          </a:prstGeom>
          <a:solidFill>
            <a:srgbClr val="E4EEE8"/>
          </a:solidFill>
          <a:ln w="12700">
            <a:solidFill>
              <a:srgbClr val="E4EEE8"/>
            </a:solidFill>
            <a:prstDash val="solid"/>
          </a:ln>
        </p:spPr>
      </p:sp>
      <p:sp>
        <p:nvSpPr>
          <p:cNvPr id="11" name="Text 8"/>
          <p:cNvSpPr txBox="1"/>
          <p:nvPr/>
        </p:nvSpPr>
        <p:spPr>
          <a:xfrm>
            <a:off x="822960" y="4023360"/>
            <a:ext cx="4206240" cy="274320"/>
          </a:xfrm>
          <a:prstGeom prst="rect">
            <a:avLst/>
          </a:prstGeom>
          <a:noFill/>
          <a:ln/>
        </p:spPr>
        <p:txBody>
          <a:bodyPr wrap="square" lIns="0" tIns="0" rIns="0" bIns="0" rtlCol="0" anchor="t"/>
          <a:lstStyle/>
          <a:p>
            <a:pPr indent="0" marL="0">
              <a:buNone/>
            </a:pPr>
            <a:r>
              <a:rPr lang="en-US" sz="1100" b="1" spc="100" kern="0" dirty="0">
                <a:solidFill>
                  <a:srgbClr val="2A7F72"/>
                </a:solidFill>
                <a:latin typeface="Calibri" pitchFamily="34" charset="0"/>
                <a:ea typeface="Calibri" pitchFamily="34" charset="-122"/>
                <a:cs typeface="Calibri" pitchFamily="34" charset="-120"/>
              </a:rPr>
              <a:t>RÈGLE</a:t>
            </a:r>
            <a:endParaRPr lang="en-US" sz="1100" dirty="0"/>
          </a:p>
        </p:txBody>
      </p:sp>
      <p:sp>
        <p:nvSpPr>
          <p:cNvPr id="12" name="Text 9"/>
          <p:cNvSpPr txBox="1"/>
          <p:nvPr/>
        </p:nvSpPr>
        <p:spPr>
          <a:xfrm>
            <a:off x="822960" y="4389120"/>
            <a:ext cx="4206240" cy="1737360"/>
          </a:xfrm>
          <a:prstGeom prst="rect">
            <a:avLst/>
          </a:prstGeom>
          <a:noFill/>
          <a:ln/>
        </p:spPr>
        <p:txBody>
          <a:bodyPr wrap="square" lIns="0" tIns="0" rIns="0" bIns="0" rtlCol="0" anchor="t"/>
          <a:lstStyle/>
          <a:p>
            <a:pPr indent="0" marL="0">
              <a:buNone/>
            </a:pPr>
            <a:r>
              <a:rPr lang="en-US" sz="1500" dirty="0">
                <a:solidFill>
                  <a:srgbClr val="1B2A24"/>
                </a:solidFill>
                <a:latin typeface="Calibri" pitchFamily="34" charset="0"/>
                <a:ea typeface="Calibri" pitchFamily="34" charset="-122"/>
                <a:cs typeface="Calibri" pitchFamily="34" charset="-120"/>
              </a:rPr>
              <a:t>Toujours jugées sur des points tenus à l'écart, jamais en validation croisée sur des points connus : le raccourci du site y reste vrai.</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577840" y="1600200"/>
          <a:ext cx="6062472" cy="914400"/>
        </p:xfrm>
        <a:graphic>
          <a:graphicData uri="http://schemas.openxmlformats.org/drawingml/2006/table">
            <a:tbl>
              <a:tblPr/>
              <a:tblGrid>
                <a:gridCol w="2148840"/>
                <a:gridCol w="3913632"/>
              </a:tblGrid>
              <a:tr h="5760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Régularisation</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0E2A2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Ce qu'elle fait</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0E2A24"/>
                    </a:solidFill>
                  </a:tcPr>
                </a:tc>
              </a:tr>
              <a:tr h="576072">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Centrage par point</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soustrait la moyenne des embeddings du point</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r>
              <a:tr h="576072">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AdaBN par site</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centre et réduit chaque site</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r>
              <a:tr h="576072">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Retrait de directions</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efface ce qui prédit le micro (INLP, LEACE) ; jamais avec le centrage par point</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r>
              <a:tr h="576072">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Biais par point</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un décalage par point, rétréci vers 0 (modèle mixte)</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r>
              <a:tr h="576072">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DANN</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représentation où le micro est indevinable</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r>
              <a:tr h="576072">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Mélange de fond</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notes collées sur le fond d'autres sites</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FFFFF"/>
                    </a:solidFill>
                  </a:tcPr>
                </a:tc>
              </a:tr>
              <a:tr h="576072">
                <a:tc>
                  <a:txBody>
                    <a:bodyPr/>
                    <a:lstStyle/>
                    <a:p>
                      <a:pPr indent="0" marL="0">
                        <a:buNone/>
                      </a:pPr>
                      <a:r>
                        <a:rPr lang="en-US" sz="1300" b="1" dirty="0">
                          <a:solidFill>
                            <a:srgbClr val="8A5A00"/>
                          </a:solidFill>
                          <a:latin typeface="Calibri" pitchFamily="34" charset="0"/>
                          <a:ea typeface="Calibri" pitchFamily="34" charset="-122"/>
                          <a:cs typeface="Calibri" pitchFamily="34" charset="-120"/>
                        </a:rPr>
                        <a:t>Tâches auxiliaires</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c>
                  <a:txBody>
                    <a:bodyPr/>
                    <a:lstStyle/>
                    <a:p>
                      <a:pPr indent="0" marL="0">
                        <a:buNone/>
                      </a:pPr>
                      <a:r>
                        <a:rPr lang="en-US" sz="1300" dirty="0">
                          <a:solidFill>
                            <a:srgbClr val="1B2A24"/>
                          </a:solidFill>
                          <a:latin typeface="Calibri" pitchFamily="34" charset="0"/>
                          <a:ea typeface="Calibri" pitchFamily="34" charset="-122"/>
                          <a:cs typeface="Calibri" pitchFamily="34" charset="-120"/>
                        </a:rPr>
                        <a:t>solo / chœur et qualité A/B/C, apprises à côté de la décision</a:t>
                      </a:r>
                      <a:endParaRPr lang="en-US" sz="1300" dirty="0">
                        <a:latin typeface="Calibri" charset="0"/>
                        <a:ea typeface="Calibri" charset="0"/>
                        <a:cs typeface="Calibri" charset="0"/>
                      </a:endParaRPr>
                    </a:p>
                  </a:txBody>
                  <a:tcPr marL="64008" marR="64008" marT="64008" marB="64008" anchor="ctr">
                    <a:lnL w="6350" cap="flat" cmpd="sng" algn="ctr">
                      <a:solidFill>
                        <a:srgbClr val="CFDDD5"/>
                      </a:solidFill>
                      <a:prstDash val="solid"/>
                      <a:round/>
                      <a:headEnd type="none" w="med" len="med"/>
                      <a:tailEnd type="none" w="med" len="med"/>
                    </a:lnL>
                    <a:lnR w="6350" cap="flat" cmpd="sng" algn="ctr">
                      <a:solidFill>
                        <a:srgbClr val="CFDDD5"/>
                      </a:solidFill>
                      <a:prstDash val="solid"/>
                      <a:round/>
                      <a:headEnd type="none" w="med" len="med"/>
                      <a:tailEnd type="none" w="med" len="med"/>
                    </a:lnR>
                    <a:lnT w="6350" cap="flat" cmpd="sng" algn="ctr">
                      <a:solidFill>
                        <a:srgbClr val="CFDDD5"/>
                      </a:solidFill>
                      <a:prstDash val="solid"/>
                      <a:round/>
                      <a:headEnd type="none" w="med" len="med"/>
                      <a:tailEnd type="none" w="med" len="med"/>
                    </a:lnT>
                    <a:lnB w="6350" cap="flat" cmpd="sng" algn="ctr">
                      <a:solidFill>
                        <a:srgbClr val="CFDDD5"/>
                      </a:solidFill>
                      <a:prstDash val="solid"/>
                      <a:round/>
                      <a:headEnd type="none" w="med" len="med"/>
                      <a:tailEnd type="none" w="med" len="med"/>
                    </a:lnB>
                    <a:solidFill>
                      <a:srgbClr val="F3F7F4"/>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548640" y="502920"/>
            <a:ext cx="3291840" cy="329184"/>
          </a:xfrm>
          <a:prstGeom prst="roundRect">
            <a:avLst>
              <a:gd name="adj" fmla="val 50000"/>
            </a:avLst>
          </a:prstGeom>
          <a:solidFill>
            <a:srgbClr val="173D34"/>
          </a:solidFill>
          <a:ln w="12700">
            <a:solidFill>
              <a:srgbClr val="173D34"/>
            </a:solidFill>
            <a:prstDash val="solid"/>
          </a:ln>
        </p:spPr>
      </p:sp>
      <p:sp>
        <p:nvSpPr>
          <p:cNvPr id="3" name="Text 1"/>
          <p:cNvSpPr txBox="1"/>
          <p:nvPr/>
        </p:nvSpPr>
        <p:spPr>
          <a:xfrm>
            <a:off x="548640" y="502920"/>
            <a:ext cx="3291840" cy="329184"/>
          </a:xfrm>
          <a:prstGeom prst="rect">
            <a:avLst/>
          </a:prstGeom>
          <a:noFill/>
          <a:ln/>
        </p:spPr>
        <p:txBody>
          <a:bodyPr wrap="square" lIns="0" tIns="0" rIns="0" bIns="0" rtlCol="0" anchor="ctr"/>
          <a:lstStyle/>
          <a:p>
            <a:pPr algn="ctr" indent="0" marL="0">
              <a:buNone/>
            </a:pPr>
            <a:r>
              <a:rPr lang="en-US" sz="1100" b="1" spc="100" kern="0" dirty="0">
                <a:solidFill>
                  <a:srgbClr val="E9B44C"/>
                </a:solidFill>
                <a:latin typeface="Calibri" pitchFamily="34" charset="0"/>
                <a:ea typeface="Calibri" pitchFamily="34" charset="-122"/>
                <a:cs typeface="Calibri" pitchFamily="34" charset="-120"/>
              </a:rPr>
              <a:t>D'ICI LA PROCHAINE RÉUNION</a:t>
            </a:r>
            <a:endParaRPr lang="en-US" sz="1100" dirty="0"/>
          </a:p>
        </p:txBody>
      </p:sp>
      <p:sp>
        <p:nvSpPr>
          <p:cNvPr id="4" name="Text 2"/>
          <p:cNvSpPr txBox="1"/>
          <p:nvPr/>
        </p:nvSpPr>
        <p:spPr>
          <a:xfrm>
            <a:off x="548640" y="960120"/>
            <a:ext cx="1097280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Les deux à trois prochaines semaines</a:t>
            </a:r>
            <a:endParaRPr lang="en-US" sz="3200" dirty="0"/>
          </a:p>
        </p:txBody>
      </p:sp>
      <p:sp>
        <p:nvSpPr>
          <p:cNvPr id="5" name="Shape 3"/>
          <p:cNvSpPr/>
          <p:nvPr/>
        </p:nvSpPr>
        <p:spPr>
          <a:xfrm>
            <a:off x="822960" y="2286000"/>
            <a:ext cx="10545775" cy="0"/>
          </a:xfrm>
          <a:prstGeom prst="line">
            <a:avLst/>
          </a:prstGeom>
          <a:noFill/>
          <a:ln w="25400">
            <a:solidFill>
              <a:srgbClr val="2A7F72"/>
            </a:solidFill>
            <a:prstDash val="solid"/>
          </a:ln>
        </p:spPr>
      </p:sp>
      <p:sp>
        <p:nvSpPr>
          <p:cNvPr id="6" name="Shape 4"/>
          <p:cNvSpPr/>
          <p:nvPr/>
        </p:nvSpPr>
        <p:spPr>
          <a:xfrm>
            <a:off x="640080" y="2066544"/>
            <a:ext cx="438912" cy="438912"/>
          </a:xfrm>
          <a:prstGeom prst="ellipse">
            <a:avLst/>
          </a:prstGeom>
          <a:solidFill>
            <a:srgbClr val="2A7F72"/>
          </a:solidFill>
          <a:ln w="12700">
            <a:solidFill>
              <a:srgbClr val="2A7F72"/>
            </a:solidFill>
            <a:prstDash val="solid"/>
          </a:ln>
        </p:spPr>
      </p:sp>
      <p:sp>
        <p:nvSpPr>
          <p:cNvPr id="7" name="Text 5"/>
          <p:cNvSpPr txBox="1"/>
          <p:nvPr/>
        </p:nvSpPr>
        <p:spPr>
          <a:xfrm>
            <a:off x="640080" y="2066544"/>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Shape 6"/>
          <p:cNvSpPr/>
          <p:nvPr/>
        </p:nvSpPr>
        <p:spPr>
          <a:xfrm>
            <a:off x="594360" y="2743200"/>
            <a:ext cx="2545004" cy="2377440"/>
          </a:xfrm>
          <a:prstGeom prst="roundRect">
            <a:avLst>
              <a:gd name="adj" fmla="val 3846"/>
            </a:avLst>
          </a:prstGeom>
          <a:solidFill>
            <a:srgbClr val="173D34"/>
          </a:solidFill>
          <a:ln w="12700">
            <a:solidFill>
              <a:srgbClr val="173D34"/>
            </a:solidFill>
            <a:prstDash val="solid"/>
          </a:ln>
        </p:spPr>
      </p:sp>
      <p:sp>
        <p:nvSpPr>
          <p:cNvPr id="9" name="Text 7"/>
          <p:cNvSpPr txBox="1"/>
          <p:nvPr/>
        </p:nvSpPr>
        <p:spPr>
          <a:xfrm>
            <a:off x="822960" y="2926080"/>
            <a:ext cx="2133524"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Annoter mon jeu</a:t>
            </a:r>
            <a:endParaRPr lang="en-US" sz="1800" dirty="0"/>
          </a:p>
        </p:txBody>
      </p:sp>
      <p:sp>
        <p:nvSpPr>
          <p:cNvPr id="10" name="Text 8"/>
          <p:cNvSpPr txBox="1"/>
          <p:nvPr/>
        </p:nvSpPr>
        <p:spPr>
          <a:xfrm>
            <a:off x="822960" y="3657600"/>
            <a:ext cx="2133524" cy="1371600"/>
          </a:xfrm>
          <a:prstGeom prst="rect">
            <a:avLst/>
          </a:prstGeom>
          <a:noFill/>
          <a:ln/>
        </p:spPr>
        <p:txBody>
          <a:bodyPr wrap="square" lIns="0" tIns="0" rIns="0" bIns="0" rtlCol="0" anchor="t"/>
          <a:lstStyle/>
          <a:p>
            <a:pPr indent="0" marL="0">
              <a:buNone/>
            </a:pPr>
            <a:r>
              <a:rPr lang="en-US" sz="1350" dirty="0">
                <a:solidFill>
                  <a:srgbClr val="A7BFB2"/>
                </a:solidFill>
                <a:latin typeface="Calibri" pitchFamily="34" charset="0"/>
                <a:ea typeface="Calibri" pitchFamily="34" charset="-122"/>
                <a:cs typeface="Calibri" pitchFamily="34" charset="-120"/>
              </a:rPr>
              <a:t>jeu d'entraînement (≈ 450 extraits de 30 s) et jeu de test (≈ 250 enregistrements entiers), tirés sans détecteur</a:t>
            </a:r>
            <a:endParaRPr lang="en-US" sz="1350" dirty="0"/>
          </a:p>
        </p:txBody>
      </p:sp>
      <p:sp>
        <p:nvSpPr>
          <p:cNvPr id="11" name="Shape 9"/>
          <p:cNvSpPr/>
          <p:nvPr/>
        </p:nvSpPr>
        <p:spPr>
          <a:xfrm>
            <a:off x="3413684" y="2066544"/>
            <a:ext cx="438912" cy="438912"/>
          </a:xfrm>
          <a:prstGeom prst="ellipse">
            <a:avLst/>
          </a:prstGeom>
          <a:solidFill>
            <a:srgbClr val="2A7F72"/>
          </a:solidFill>
          <a:ln w="12700">
            <a:solidFill>
              <a:srgbClr val="2A7F72"/>
            </a:solidFill>
            <a:prstDash val="solid"/>
          </a:ln>
        </p:spPr>
      </p:sp>
      <p:sp>
        <p:nvSpPr>
          <p:cNvPr id="12" name="Text 10"/>
          <p:cNvSpPr txBox="1"/>
          <p:nvPr/>
        </p:nvSpPr>
        <p:spPr>
          <a:xfrm>
            <a:off x="3413684" y="2066544"/>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Shape 11"/>
          <p:cNvSpPr/>
          <p:nvPr/>
        </p:nvSpPr>
        <p:spPr>
          <a:xfrm>
            <a:off x="3367964" y="2743200"/>
            <a:ext cx="2545004" cy="2377440"/>
          </a:xfrm>
          <a:prstGeom prst="roundRect">
            <a:avLst>
              <a:gd name="adj" fmla="val 3846"/>
            </a:avLst>
          </a:prstGeom>
          <a:solidFill>
            <a:srgbClr val="173D34"/>
          </a:solidFill>
          <a:ln w="12700">
            <a:solidFill>
              <a:srgbClr val="173D34"/>
            </a:solidFill>
            <a:prstDash val="solid"/>
          </a:ln>
        </p:spPr>
      </p:sp>
      <p:sp>
        <p:nvSpPr>
          <p:cNvPr id="14" name="Text 12"/>
          <p:cNvSpPr txBox="1"/>
          <p:nvPr/>
        </p:nvSpPr>
        <p:spPr>
          <a:xfrm>
            <a:off x="3596564" y="2926080"/>
            <a:ext cx="2133524"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Vérifier avec Élodie et Benoît</a:t>
            </a:r>
            <a:endParaRPr lang="en-US" sz="1800" dirty="0"/>
          </a:p>
        </p:txBody>
      </p:sp>
      <p:sp>
        <p:nvSpPr>
          <p:cNvPr id="15" name="Text 13"/>
          <p:cNvSpPr txBox="1"/>
          <p:nvPr/>
        </p:nvSpPr>
        <p:spPr>
          <a:xfrm>
            <a:off x="3596564" y="3657600"/>
            <a:ext cx="2133524" cy="1371600"/>
          </a:xfrm>
          <a:prstGeom prst="rect">
            <a:avLst/>
          </a:prstGeom>
          <a:noFill/>
          <a:ln/>
        </p:spPr>
        <p:txBody>
          <a:bodyPr wrap="square" lIns="0" tIns="0" rIns="0" bIns="0" rtlCol="0" anchor="t"/>
          <a:lstStyle/>
          <a:p>
            <a:pPr indent="0" marL="0">
              <a:buNone/>
            </a:pPr>
            <a:r>
              <a:rPr lang="en-US" sz="1350" dirty="0">
                <a:solidFill>
                  <a:srgbClr val="A7BFB2"/>
                </a:solidFill>
                <a:latin typeface="Calibri" pitchFamily="34" charset="0"/>
                <a:ea typeface="Calibri" pitchFamily="34" charset="-122"/>
                <a:cs typeface="Calibri" pitchFamily="34" charset="-120"/>
              </a:rPr>
              <a:t>paquet à l'aveugle, ≈ 2 h 30 d'écoute chacun ; corrections ; go écrit</a:t>
            </a:r>
            <a:endParaRPr lang="en-US" sz="1350" dirty="0"/>
          </a:p>
        </p:txBody>
      </p:sp>
      <p:sp>
        <p:nvSpPr>
          <p:cNvPr id="16" name="Shape 14"/>
          <p:cNvSpPr/>
          <p:nvPr/>
        </p:nvSpPr>
        <p:spPr>
          <a:xfrm>
            <a:off x="6187288" y="2066544"/>
            <a:ext cx="438912" cy="438912"/>
          </a:xfrm>
          <a:prstGeom prst="ellipse">
            <a:avLst/>
          </a:prstGeom>
          <a:solidFill>
            <a:srgbClr val="2A7F72"/>
          </a:solidFill>
          <a:ln w="12700">
            <a:solidFill>
              <a:srgbClr val="2A7F72"/>
            </a:solidFill>
            <a:prstDash val="solid"/>
          </a:ln>
        </p:spPr>
      </p:sp>
      <p:sp>
        <p:nvSpPr>
          <p:cNvPr id="17" name="Text 15"/>
          <p:cNvSpPr txBox="1"/>
          <p:nvPr/>
        </p:nvSpPr>
        <p:spPr>
          <a:xfrm>
            <a:off x="6187288" y="2066544"/>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Shape 16"/>
          <p:cNvSpPr/>
          <p:nvPr/>
        </p:nvSpPr>
        <p:spPr>
          <a:xfrm>
            <a:off x="6141568" y="2743200"/>
            <a:ext cx="2545004" cy="2377440"/>
          </a:xfrm>
          <a:prstGeom prst="roundRect">
            <a:avLst>
              <a:gd name="adj" fmla="val 3846"/>
            </a:avLst>
          </a:prstGeom>
          <a:solidFill>
            <a:srgbClr val="173D34"/>
          </a:solidFill>
          <a:ln w="12700">
            <a:solidFill>
              <a:srgbClr val="173D34"/>
            </a:solidFill>
            <a:prstDash val="solid"/>
          </a:ln>
        </p:spPr>
      </p:sp>
      <p:sp>
        <p:nvSpPr>
          <p:cNvPr id="19" name="Text 17"/>
          <p:cNvSpPr txBox="1"/>
          <p:nvPr/>
        </p:nvSpPr>
        <p:spPr>
          <a:xfrm>
            <a:off x="6370168" y="2926080"/>
            <a:ext cx="2133524"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Benchmarker sur mes données</a:t>
            </a:r>
            <a:endParaRPr lang="en-US" sz="1800" dirty="0"/>
          </a:p>
        </p:txBody>
      </p:sp>
      <p:sp>
        <p:nvSpPr>
          <p:cNvPr id="20" name="Text 18"/>
          <p:cNvSpPr txBox="1"/>
          <p:nvPr/>
        </p:nvSpPr>
        <p:spPr>
          <a:xfrm>
            <a:off x="6370168" y="3657600"/>
            <a:ext cx="2133524" cy="1371600"/>
          </a:xfrm>
          <a:prstGeom prst="rect">
            <a:avLst/>
          </a:prstGeom>
          <a:noFill/>
          <a:ln/>
        </p:spPr>
        <p:txBody>
          <a:bodyPr wrap="square" lIns="0" tIns="0" rIns="0" bIns="0" rtlCol="0" anchor="t"/>
          <a:lstStyle/>
          <a:p>
            <a:pPr indent="0" marL="0">
              <a:buNone/>
            </a:pPr>
            <a:r>
              <a:rPr lang="en-US" sz="1350" dirty="0">
                <a:solidFill>
                  <a:srgbClr val="A7BFB2"/>
                </a:solidFill>
                <a:latin typeface="Calibri" pitchFamily="34" charset="0"/>
                <a:ea typeface="Calibri" pitchFamily="34" charset="-122"/>
                <a:cs typeface="Calibri" pitchFamily="34" charset="-120"/>
              </a:rPr>
              <a:t>même gabarit que le benchmark AnuraSet, sur des points tenus à l'écart</a:t>
            </a:r>
            <a:endParaRPr lang="en-US" sz="1350" dirty="0"/>
          </a:p>
        </p:txBody>
      </p:sp>
      <p:sp>
        <p:nvSpPr>
          <p:cNvPr id="21" name="Shape 19"/>
          <p:cNvSpPr/>
          <p:nvPr/>
        </p:nvSpPr>
        <p:spPr>
          <a:xfrm>
            <a:off x="8960891" y="2066544"/>
            <a:ext cx="438912" cy="438912"/>
          </a:xfrm>
          <a:prstGeom prst="ellipse">
            <a:avLst/>
          </a:prstGeom>
          <a:solidFill>
            <a:srgbClr val="E9B44C"/>
          </a:solidFill>
          <a:ln w="12700">
            <a:solidFill>
              <a:srgbClr val="E9B44C"/>
            </a:solidFill>
            <a:prstDash val="solid"/>
          </a:ln>
        </p:spPr>
      </p:sp>
      <p:sp>
        <p:nvSpPr>
          <p:cNvPr id="22" name="Text 20"/>
          <p:cNvSpPr txBox="1"/>
          <p:nvPr/>
        </p:nvSpPr>
        <p:spPr>
          <a:xfrm>
            <a:off x="8960891" y="2066544"/>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Shape 21"/>
          <p:cNvSpPr/>
          <p:nvPr/>
        </p:nvSpPr>
        <p:spPr>
          <a:xfrm>
            <a:off x="8915171" y="2743200"/>
            <a:ext cx="2545004" cy="2377440"/>
          </a:xfrm>
          <a:prstGeom prst="roundRect">
            <a:avLst>
              <a:gd name="adj" fmla="val 3846"/>
            </a:avLst>
          </a:prstGeom>
          <a:solidFill>
            <a:srgbClr val="173D34"/>
          </a:solidFill>
          <a:ln w="12700">
            <a:solidFill>
              <a:srgbClr val="173D34"/>
            </a:solidFill>
            <a:prstDash val="solid"/>
          </a:ln>
        </p:spPr>
      </p:sp>
      <p:sp>
        <p:nvSpPr>
          <p:cNvPr id="24" name="Text 22"/>
          <p:cNvSpPr txBox="1"/>
          <p:nvPr/>
        </p:nvSpPr>
        <p:spPr>
          <a:xfrm>
            <a:off x="9143771" y="2926080"/>
            <a:ext cx="2133524" cy="685800"/>
          </a:xfrm>
          <a:prstGeom prst="rect">
            <a:avLst/>
          </a:prstGeom>
          <a:noFill/>
          <a:ln/>
        </p:spPr>
        <p:txBody>
          <a:bodyPr wrap="square" lIns="0" tIns="0" rIns="0" bIns="0" rtlCol="0" anchor="t"/>
          <a:lstStyle/>
          <a:p>
            <a:pPr indent="0" marL="0">
              <a:buNone/>
            </a:pPr>
            <a:r>
              <a:rPr lang="en-US" sz="1800" b="1" dirty="0">
                <a:solidFill>
                  <a:srgbClr val="E9B44C"/>
                </a:solidFill>
                <a:latin typeface="Calibri" pitchFamily="34" charset="0"/>
                <a:ea typeface="Calibri" pitchFamily="34" charset="-122"/>
                <a:cs typeface="Calibri" pitchFamily="34" charset="-120"/>
              </a:rPr>
              <a:t>Présenter le benchmark</a:t>
            </a:r>
            <a:endParaRPr lang="en-US" sz="1800" dirty="0"/>
          </a:p>
        </p:txBody>
      </p:sp>
      <p:sp>
        <p:nvSpPr>
          <p:cNvPr id="25" name="Text 23"/>
          <p:cNvSpPr txBox="1"/>
          <p:nvPr/>
        </p:nvSpPr>
        <p:spPr>
          <a:xfrm>
            <a:off x="9143771" y="3657600"/>
            <a:ext cx="2133524" cy="1371600"/>
          </a:xfrm>
          <a:prstGeom prst="rect">
            <a:avLst/>
          </a:prstGeom>
          <a:noFill/>
          <a:ln/>
        </p:spPr>
        <p:txBody>
          <a:bodyPr wrap="square" lIns="0" tIns="0" rIns="0" bIns="0" rtlCol="0" anchor="t"/>
          <a:lstStyle/>
          <a:p>
            <a:pPr indent="0" marL="0">
              <a:buNone/>
            </a:pPr>
            <a:r>
              <a:rPr lang="en-US" sz="1350" dirty="0">
                <a:solidFill>
                  <a:srgbClr val="A7BFB2"/>
                </a:solidFill>
                <a:latin typeface="Calibri" pitchFamily="34" charset="0"/>
                <a:ea typeface="Calibri" pitchFamily="34" charset="-122"/>
                <a:cs typeface="Calibri" pitchFamily="34" charset="-120"/>
              </a:rPr>
              <a:t>et conclure à la prochaine réunion</a:t>
            </a:r>
            <a:endParaRPr lang="en-US" sz="1350" dirty="0"/>
          </a:p>
        </p:txBody>
      </p:sp>
      <p:sp>
        <p:nvSpPr>
          <p:cNvPr id="26" name="Shape 24"/>
          <p:cNvSpPr/>
          <p:nvPr/>
        </p:nvSpPr>
        <p:spPr>
          <a:xfrm>
            <a:off x="548640" y="5440680"/>
            <a:ext cx="11094415" cy="822960"/>
          </a:xfrm>
          <a:prstGeom prst="roundRect">
            <a:avLst>
              <a:gd name="adj" fmla="val 11111"/>
            </a:avLst>
          </a:prstGeom>
          <a:solidFill>
            <a:srgbClr val="E9B44C"/>
          </a:solidFill>
          <a:ln w="12700">
            <a:solidFill>
              <a:srgbClr val="E9B44C"/>
            </a:solidFill>
            <a:prstDash val="solid"/>
          </a:ln>
        </p:spPr>
      </p:sp>
      <p:sp>
        <p:nvSpPr>
          <p:cNvPr id="27" name="Text 25"/>
          <p:cNvSpPr txBox="1"/>
          <p:nvPr/>
        </p:nvSpPr>
        <p:spPr>
          <a:xfrm>
            <a:off x="822960" y="5440680"/>
            <a:ext cx="10545775" cy="822960"/>
          </a:xfrm>
          <a:prstGeom prst="rect">
            <a:avLst/>
          </a:prstGeom>
          <a:noFill/>
          <a:ln/>
        </p:spPr>
        <p:txBody>
          <a:bodyPr wrap="square" lIns="0" tIns="0" rIns="0" bIns="0" rtlCol="0" anchor="ctr"/>
          <a:lstStyle/>
          <a:p>
            <a:pPr indent="0" marL="0">
              <a:buNone/>
            </a:pPr>
            <a:r>
              <a:rPr lang="en-US" sz="1500" b="1" dirty="0">
                <a:solidFill>
                  <a:srgbClr val="0E2A24"/>
                </a:solidFill>
                <a:latin typeface="Calibri" pitchFamily="34" charset="0"/>
                <a:ea typeface="Calibri" pitchFamily="34" charset="-122"/>
                <a:cs typeface="Calibri" pitchFamily="34" charset="-120"/>
              </a:rPr>
              <a:t>Questions : </a:t>
            </a:r>
            <a:pPr indent="0" marL="0">
              <a:buNone/>
            </a:pPr>
            <a:r>
              <a:rPr lang="en-US" sz="1500" dirty="0">
                <a:solidFill>
                  <a:srgbClr val="0E2A24"/>
                </a:solidFill>
                <a:latin typeface="Calibri" pitchFamily="34" charset="0"/>
                <a:ea typeface="Calibri" pitchFamily="34" charset="-122"/>
                <a:cs typeface="Calibri" pitchFamily="34" charset="-120"/>
              </a:rPr>
              <a:t>vos identifiants GitHub ? · peut-on encoder dans le cloud plutôt que sur un portable (droits sur l'audio, stockage, budget) ?</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Détection acoustique d'Anomaloglossus blanci — suivi n° 2</dc:title>
  <dc:subject>PptxGenJS Presentation</dc:subject>
  <dc:creator>Léonard Laplace-Palette</dc:creator>
  <cp:lastModifiedBy>Léonard Laplace-Palette</cp:lastModifiedBy>
  <cp:revision>1</cp:revision>
  <dcterms:created xsi:type="dcterms:W3CDTF">2026-09-30T19:28:32Z</dcterms:created>
  <dcterms:modified xsi:type="dcterms:W3CDTF">2026-09-30T19:28:32Z</dcterms:modified>
</cp:coreProperties>
</file>