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media/image1.jpeg" ContentType="image/jpeg"/>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 name="Shape 27"/>
          <p:cNvSpPr/>
          <p:nvPr>
            <p:ph type="sldImg"/>
          </p:nvPr>
        </p:nvSpPr>
        <p:spPr>
          <a:prstGeom prst="rect">
            <a:avLst/>
          </a:prstGeom>
        </p:spPr>
        <p:txBody>
          <a:bodyPr/>
          <a:lstStyle/>
          <a:p>
            <a:pPr/>
          </a:p>
        </p:txBody>
      </p:sp>
      <p:sp>
        <p:nvSpPr>
          <p:cNvPr id="28" name="Shape 28"/>
          <p:cNvSpPr/>
          <p:nvPr>
            <p:ph type="body" sz="quarter" idx="1"/>
          </p:nvPr>
        </p:nvSpPr>
        <p:spPr>
          <a:prstGeom prst="rect">
            <a:avLst/>
          </a:prstGeom>
        </p:spPr>
        <p:txBody>
          <a:bodyPr/>
          <a:lstStyle/>
          <a:p>
            <a:pPr/>
            <a:r>
              <a:t>Deuxième point de suivi. Plan : un cours sur l'attention en trois diapos, ce qui se fait de mieux aujourd'hui en bioacoustique, BirdCLEF+ 2026, le dépôt GitHub, le jeu de données et la nouvelle stratégie d'annotation décidée avec Élodie, le module séquentiel, le pré-benchmark AnuraSet, les régularisations, et ce que je fais d'ici la prochaine réunion. L'image de fond est un vrai chant d'A. blanci enregistré à Mataroni : les petites notes vers 4,5 kHz.</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 name="Shape 38"/>
          <p:cNvSpPr/>
          <p:nvPr>
            <p:ph type="sldImg"/>
          </p:nvPr>
        </p:nvSpPr>
        <p:spPr>
          <a:prstGeom prst="rect">
            <a:avLst/>
          </a:prstGeom>
        </p:spPr>
        <p:txBody>
          <a:bodyPr/>
          <a:lstStyle/>
          <a:p>
            <a:pPr/>
          </a:p>
        </p:txBody>
      </p:sp>
      <p:sp>
        <p:nvSpPr>
          <p:cNvPr id="39" name="Shape 39"/>
          <p:cNvSpPr/>
          <p:nvPr>
            <p:ph type="body" sz="quarter" idx="1"/>
          </p:nvPr>
        </p:nvSpPr>
        <p:spPr>
          <a:prstGeom prst="rect">
            <a:avLst/>
          </a:prstGeom>
        </p:spPr>
        <p:txBody>
          <a:bodyPr/>
          <a:lstStyle/>
          <a:p>
            <a:pPr/>
            <a:r>
              <a:t>On commence par ce qu'on voit. Un encodeur découpe le spectrogramme d'une fenêtre en morceaux, les jetons : perch_v2 en rend 16 × 4 = 64 pour une fenêtre de 5 s. En haut à gauche, une vraie fenêtre de Mataroni découpée en 64 jetons. À droite, des poids d'attention en illustration : je les ai calculés à la main sur la nouveauté de chaque morceau pour montrer l'idée. Les jetons qui portent les notes d'A. blanci, vers 4,5 kHz, prennent le poids ; la bande d'insectes à 8 kHz, constante, n'en prend pas. Le problème que ça résout : avec la moyenne, chaque jeton pèse 1/64, et la note, qui occupe 2 à 4 jetons, est noyée dans le fond. Le graphique est un calcul à la main sur quatre jetons : le jeton de la note reçoit 0,66 du poids, contre 0,25 avec la moyenne. Et la bonne nouvelle : ces cartes, on peut les tracer avec une vraie tête d'attention entraînée. C'est fait dans le notebook 04 : il superpose les poids de la tête au spectrogramme et en tire une mesure, la part d'attention dans la bande de la note comparée à une attention uniforme. Une tête qui écoute le fond se voit à l'œil, même si son AP est bonne.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9" name="Shape 79"/>
          <p:cNvSpPr/>
          <p:nvPr>
            <p:ph type="sldImg"/>
          </p:nvPr>
        </p:nvSpPr>
        <p:spPr>
          <a:prstGeom prst="rect">
            <a:avLst/>
          </a:prstGeom>
        </p:spPr>
        <p:txBody>
          <a:bodyPr/>
          <a:lstStyle/>
          <a:p>
            <a:pPr/>
          </a:p>
        </p:txBody>
      </p:sp>
      <p:sp>
        <p:nvSpPr>
          <p:cNvPr id="80" name="Shape 80"/>
          <p:cNvSpPr/>
          <p:nvPr>
            <p:ph type="body" sz="quarter" idx="1"/>
          </p:nvPr>
        </p:nvSpPr>
        <p:spPr>
          <a:prstGeom prst="rect">
            <a:avLst/>
          </a:prstGeom>
        </p:spPr>
        <p:txBody>
          <a:bodyPr/>
          <a:lstStyle/>
          <a:p>
            <a:pPr/>
            <a:r>
              <a:t>Avantages. Un : la note d'A. blanci dure 0,09 s et occupe 2 à 4 jetons sur 64 ; la moyenne la noie, l'attention peut la retrouver. Deux : plusieurs encodeurs candidats sont des transformers, Bird-MAE, BEATs, NatureBEATs. Jugés avec une tête linéaire sur leur embedding moyen, ils sont sous-estimés : BEATs passe de 94,10 à 97,98 AUROC sur BEANS en changeant seulement de tête. Sans sonde attentive, on écarterait à tort des encodeurs peut-être meilleurs, et peut-être libres. Trois : la carte des poids se contrôle à l'œil et donne une mesure de plus (notebook 04). Inconvénients. Un : il faut stocker les jetons, 64 vecteurs par fenêtre au lieu d'un. Deux : la tête apprend une requête de 1 536 valeurs en plus des 1 536 poids de la logistique, soit deux fois plus de paramètres pour le même petit nombre d'enregistrements positifs ; avec peu d'exemples, elle risque d'apprendre par cœur le fond de ses exemples d'entraînement au lieu du chant : c'est le sur-apprentissage. Trois : le gain n'est pas garanti. Dans BirdCLEF+ 2026, l'équipe DS@GT a perdu 0,013 à 0,035 point de score avec une tête à attention ; ils l'attribuent à des fenêtres d'entraînement et d'inférence de durées différentes. Ce n'est pas lié à l'amorçage d'un site. Verdict : la logistique reste la tête par défaut. La sonde attentive s'essaie sur tout encodeur qui fournit ses jetons, pas seulement les transformers : perch_v2, un CNN, les fournit déjà. On ne la garde que si elle fait mieux sur des points d'écoute tenus à l'écart, c'est-à-dire des couples site et micro qui n'ont servi ni à l'entraînement ni au réglage : la situation d'une future campagne sur de nouveaux points.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2" name="Shape 102"/>
          <p:cNvSpPr/>
          <p:nvPr>
            <p:ph type="sldImg"/>
          </p:nvPr>
        </p:nvSpPr>
        <p:spPr>
          <a:prstGeom prst="rect">
            <a:avLst/>
          </a:prstGeom>
        </p:spPr>
        <p:txBody>
          <a:bodyPr/>
          <a:lstStyle/>
          <a:p>
            <a:pPr/>
          </a:p>
        </p:txBody>
      </p:sp>
      <p:sp>
        <p:nvSpPr>
          <p:cNvPr id="103" name="Shape 103"/>
          <p:cNvSpPr/>
          <p:nvPr>
            <p:ph type="body" sz="quarter" idx="1"/>
          </p:nvPr>
        </p:nvSpPr>
        <p:spPr>
          <a:prstGeom prst="rect">
            <a:avLst/>
          </a:prstGeom>
        </p:spPr>
        <p:txBody>
          <a:bodyPr/>
          <a:lstStyle/>
          <a:p>
            <a:pPr/>
            <a:r>
              <a:t>Quatre angles. Les encodeurs : Perch 2.0 (Google DeepMind, 2025) est la référence en sondage linéaire, avec une ROC-AUC de 0,908 sur BirdSet ; MetaPerch (ICML 2026) fait jeu égal en moyenne et mieux en Amérique du Sud, grâce aux métadonnées apprises pendant l'entraînement ; Bird-MAE et NatureBEATs sont excellents mais seulement avec une tête sur leurs jetons ; BirdNET+ V3 est en préversion, 11 000 espèces. Les chaînes de traitement, telles que les ont construites les cinq premiers de BirdCLEF+ 2026 : Perch v2 sert de professeur, ses embeddings sont copiés (distillés) dans des réseaux convolutifs plus rapides ; le modèle annote ensuite lui-même les heures d'audio non étiquetées (pseudo-labels) et on le réentraîne dessus ; enfin des a priori de site et d'heure et un lissage dans le temps. Les ensembles : les cinq premiers combinent tous de 3 à 10 modèles différents, et la diversité des modèles rapporte plus que le meilleur modèle seul. Les anoures : il n'existe pas de modèle de fondation dédié ; les embeddings appris sur les oiseaux transfèrent aux anoures (BirdNET et Perch sur AnuraSet) ; une étude de 2025 dans Ecological Informatics sur un anoure tropical en danger critique trouve que le transfert d'un modèle de fondation plus une tête simple bat les gabarits, un CNN dédié, la recherche par similarité et le zéro-shot ; à BirdCLEF+ 2026, le premier a ajouté un spécialiste amphibiens et insectes et un modèle au niveau du genre pour les amphibiens rares. Ce qu'on en garde : la base de toutes ces solutions est la nôtre, Perch v2 gelé plus une tête. Ce qui s'ajoute au-dessus, distillation, pseudo-labels, ensembles, demande un GPU et des centaines d'heures non étiquetées : on le garde pour après le choix de l'encodeur, et seulement si l'i5 de l'ONF peut le faire tourner.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6" name="Shape 126"/>
          <p:cNvSpPr/>
          <p:nvPr>
            <p:ph type="sldImg"/>
          </p:nvPr>
        </p:nvSpPr>
        <p:spPr>
          <a:prstGeom prst="rect">
            <a:avLst/>
          </a:prstGeom>
        </p:spPr>
        <p:txBody>
          <a:bodyPr/>
          <a:lstStyle/>
          <a:p>
            <a:pPr/>
          </a:p>
        </p:txBody>
      </p:sp>
      <p:sp>
        <p:nvSpPr>
          <p:cNvPr id="127" name="Shape 127"/>
          <p:cNvSpPr/>
          <p:nvPr>
            <p:ph type="body" sz="quarter" idx="1"/>
          </p:nvPr>
        </p:nvSpPr>
        <p:spPr>
          <a:prstGeom prst="rect">
            <a:avLst/>
          </a:prstGeom>
        </p:spPr>
        <p:txBody>
          <a:bodyPr/>
          <a:lstStyle/>
          <a:p>
            <a:pPr/>
            <a:r>
              <a:t>Le concours. BirdCLEF+ 2026, sur Kaggle, organisé par le Cornell Lab of Ornithology dans le cadre de LifeCLEF, du 11 mars au 3 juin 2026 ; 4 094 équipes ; working notes présentées à CLEF 2026, à Iéna, du 21 au 24 septembre. Les données : 234 classes. Ce sont surtout des espèces : 162 oiseaux, 35 amphibiens, 8 mammifères, 1 reptile ; plus 28 « sonotypes » d'insectes, des types de sons reconnus mais sans espèce nommée. Pour l'entraînement : 344 h d'enregistrements ciblés venant de Xeno-canto et d'iNaturalist, un animal au premier plan, et 178 h de paysages sonores de 23 sites du Pantanal, dont une heure seulement étiquetée. Le test : environ 600 enregistrements d'une minute, cachés. La contrainte : la soumission est un notebook Kaggle sur processeur seul, 4 cœurs, sans GPU ni internet, qui doit prédire tout le jeu de test en 90 minutes au plus. L'entraînement se fait ailleurs, sans limite. Le score : ROC-AUC macro, par fenêtre de 5 s. Le « score final » du tableau est celui du classement dit privé : le jeu de test est coupé en deux parties : l'une sert au classement affiché pendant le concours, l'autre reste cachée et ne sert qu'au classement final, pour punir ceux qui ont réglé leur modèle sur le classement affiché. Les approches du top 5, lues dans leurs comptes rendus. Premier, Nikita Babych, 0,966 : neuf réseaux convolutifs dont on copie d'abord les embeddings de Perch v2 (un seul copie AudioProtoPNet), puis affinés et entraînés en Noisy Student ; plus un spécialiste amphibiens et insectes entraîné sur 1 903 espèces de Xeno-canto et d'iNaturalist, un modèle qui prédit le genre plutôt que l'espèce pour les amphibiens rares, et Perch v2 tel quel. Noisy Student, c'est de l'auto-apprentissage : un modèle professeur annote l'audio non étiqueté, un élève apprend sur ces annotations avec du bruit ajouté (augmentations), puis l'élève devient le professeur du tour suivant ; chez lui, 0,935 sans, 0,950 après deux tours. Deuxième, tennogh, 0,960 : cinq tours de pseudo-labels, des réseaux pré-entraînés sur Xeno-canto par la deuxième équipe de 2025, une perte qui optimise directement l'AUC, un spécialiste insectes, et deux chaînes publiques (Perch et un SED distillé) ; il a volontairement renoncé à distiller Perch dans ses modèles pour qu'ils restent différents. Troisième, kapenon, 0,960 : trois modèles seulement, deux EfficientNetV2 repris de la deuxième place 2025 et un SEResNeXt distillé de Perch v2, un seul tour de pseudo-labels, des a priori de site et d'heure, et le moteur OpenVINO pour aller vite sur CPU. Quatrième, Tony Li, Yiheng Wang et Starry, 0,959 : Perch v2 tel quel pour 40 % de l'ensemble, deux SED et deux SED distillés de Perch ; seuls les pseudo-labels tirés de Perch ont aidé ; ajouter AnuraSet en données externes a fait baisser leur score, par écart de domaine. Cinquième, Jiacheng Ma, 0,958 : quatre CNN (HGNetV2, EfficientNetV2 en 5 et 10 s, EfficientNet-B3) plus une chaîne ProtoSSM et un SED distillé ; distillation de Perch, auto-distillation, pseudo-labels, et une augmentation qui change le gain par bande de fréquence ; son code est public.</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9" name="Shape 149"/>
          <p:cNvSpPr/>
          <p:nvPr>
            <p:ph type="sldImg"/>
          </p:nvPr>
        </p:nvSpPr>
        <p:spPr>
          <a:prstGeom prst="rect">
            <a:avLst/>
          </a:prstGeom>
        </p:spPr>
        <p:txBody>
          <a:bodyPr/>
          <a:lstStyle/>
          <a:p>
            <a:pPr/>
          </a:p>
        </p:txBody>
      </p:sp>
      <p:sp>
        <p:nvSpPr>
          <p:cNvPr id="150" name="Shape 150"/>
          <p:cNvSpPr/>
          <p:nvPr>
            <p:ph type="body" sz="quarter" idx="1"/>
          </p:nvPr>
        </p:nvSpPr>
        <p:spPr>
          <a:prstGeom prst="rect">
            <a:avLst/>
          </a:prstGeom>
        </p:spPr>
        <p:txBody>
          <a:bodyPr/>
          <a:lstStyle/>
          <a:p>
            <a:pPr/>
            <a:r>
              <a:t>Article : Miyaguchi, Gustineli et Cheung (Georgia Tech, équipe DS@GT), « Can Tokens Compete? », arXiv 2607.14474. Leur constat de départ ressemble au nôtre : les amphibiens font 1,3 % des enregistrements ciblés d'entraînement, mais on en entend dans 76,6 % des fenêtres de paysages sonores étiquetées. Et 72 des 234 classes ne sont pas dans les classes de Perch. Pour elles, ils construisent une tête à prototypes sur les embeddings de Perch v2 gelé : mu plus est la moyenne des fenêtres où l'espèce est présente, mu moins la moyenne de celles où elle est absente, et le score est cos(e, mu plus) − cos(e, mu moins). C'est notre prototype différentiel, en similarité cosinus. Résultat : AP macro de 0,895 sur les non-oiseaux, contre 0,074 pour leur réseau entraîné seul, et +0,011 au score final. Deux réserves. Un : cette AP est mesurée sur les 66 fichiers étiquetés qui servent aussi à construire les prototypes ; aucun découpage entraînement / test n'est indiqué, donc le chiffre est probablement trop beau. Deux : dans une autre expérience de leur annexe, validée site par site, pour les 28 espèces qui n'ont aucun enregistrement ciblé, les prototypes tombent au hasard, et leur régression ridge aussi : sans exemple de l'espèce, aucune tête ne la trouve. Pour nous : A. blanci n'est pas dans les classes de Perch. Cet article montre que les prototypes fonctionnent sur les embeddings de Perch même pour des espèces qu'il n'a pas appris à nommer : c'est ce qui justifie le prototype différentiel pour amorcer un nouveau point, et la logistique dès qu'il y a des exemples.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2" name="Shape 162"/>
          <p:cNvSpPr/>
          <p:nvPr>
            <p:ph type="sldImg"/>
          </p:nvPr>
        </p:nvSpPr>
        <p:spPr>
          <a:prstGeom prst="rect">
            <a:avLst/>
          </a:prstGeom>
        </p:spPr>
        <p:txBody>
          <a:bodyPr/>
          <a:lstStyle/>
          <a:p>
            <a:pPr/>
          </a:p>
        </p:txBody>
      </p:sp>
      <p:sp>
        <p:nvSpPr>
          <p:cNvPr id="163" name="Shape 163"/>
          <p:cNvSpPr/>
          <p:nvPr>
            <p:ph type="body" sz="quarter" idx="1"/>
          </p:nvPr>
        </p:nvSpPr>
        <p:spPr>
          <a:prstGeom prst="rect">
            <a:avLst/>
          </a:prstGeom>
        </p:spPr>
        <p:txBody>
          <a:bodyPr/>
          <a:lstStyle/>
          <a:p>
            <a:pPr/>
            <a:r>
              <a:t>Le dépôt du projet est sur GitHub, à mon nom : Rumble-Paw-Patrol, dépôt Grenouille. Vous y trouvez le code, la feuille de route, le journal de toutes les décisions, les rapports de benchmarks et cette présentation. Les enregistrements audio de l'ONF restent sur les disques : seuls 66 extraits de 10 s servent d'échantillon de test. Il me faut vos identifiants GitHub pour vous ajouter au dépôt.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6" name="Shape 206"/>
          <p:cNvSpPr/>
          <p:nvPr>
            <p:ph type="sldImg"/>
          </p:nvPr>
        </p:nvSpPr>
        <p:spPr>
          <a:prstGeom prst="rect">
            <a:avLst/>
          </a:prstGeom>
        </p:spPr>
        <p:txBody>
          <a:bodyPr/>
          <a:lstStyle/>
          <a:p>
            <a:pPr/>
          </a:p>
        </p:txBody>
      </p:sp>
      <p:sp>
        <p:nvSpPr>
          <p:cNvPr id="207" name="Shape 207"/>
          <p:cNvSpPr/>
          <p:nvPr>
            <p:ph type="body" sz="quarter" idx="1"/>
          </p:nvPr>
        </p:nvSpPr>
        <p:spPr>
          <a:prstGeom prst="rect">
            <a:avLst/>
          </a:prstGeom>
        </p:spPr>
        <p:txBody>
          <a:bodyPr/>
          <a:lstStyle/>
          <a:p>
            <a:pPr/>
            <a:r>
              <a:t>L'inventaire est complet depuis le 29 septembre : 96 292 enregistrements de 2 min, 3 204 h, 2,2 To, sur quatre sites. Deux campagnes. La phénologie 2023-2024 : Kaw, Molokoï et Trésor, deux enregistreurs par site, un an de décembre 2023 à novembre 2024, 2 225 h. La campagne 2026 : une semaine par relevé, à Mataroni, à Kaw (relevés CDR, Patawa Est et Patawa Ouest) et à Trésor (relevé RNRT, la réserve naturelle régionale Trésor), 979 h. Tous les enregistrements font 2 min, toutes les 30 min de 5 h à 20 h, en 48 kHz stéréo. Après les drapeaux, 94 588 enregistrements restent encodables, soit 4,5 millions de fenêtres de 5 s au pas de 2,5 s. Deux conséquences : Mataroni n'a qu'une semaine de 2026, et seul le jeu 2023 couvre toutes les saisons ; les 345 positifs et 150 négatifs de Blancinet sortent de l'entraînement et de l'évaluation.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2" name="Shape 252"/>
          <p:cNvSpPr/>
          <p:nvPr>
            <p:ph type="sldImg"/>
          </p:nvPr>
        </p:nvSpPr>
        <p:spPr>
          <a:prstGeom prst="rect">
            <a:avLst/>
          </a:prstGeom>
        </p:spPr>
        <p:txBody>
          <a:bodyPr/>
          <a:lstStyle/>
          <a:p>
            <a:pPr/>
          </a:p>
        </p:txBody>
      </p:sp>
      <p:sp>
        <p:nvSpPr>
          <p:cNvPr id="253" name="Shape 253"/>
          <p:cNvSpPr/>
          <p:nvPr>
            <p:ph type="body" sz="quarter" idx="1"/>
          </p:nvPr>
        </p:nvSpPr>
        <p:spPr>
          <a:prstGeom prst="rect">
            <a:avLst/>
          </a:prstGeom>
        </p:spPr>
        <p:txBody>
          <a:bodyPr/>
          <a:lstStyle/>
          <a:p>
            <a:pPr/>
            <a:r>
              <a:t>Décision de l'entretien avec Élodie, le 29 septembre : on repart de zéro. J'annote seul ; Élodie et Benoît vérifient un sous-échantillon ; aucun benchmark sur ces données avant leur go. Un fait structure tout le tirage : les prochaines campagnes seront toutes d'une semaine, en saison des pluies, à Mataroni, sur de nouveaux points d'écoute. Le jeu de test doit donc imiter cette situation : des points de Mataroni jamais vus à l'entraînement, enregistrés en saison des pluies. Étape 1, avant toute écoute, je répartis les points d'écoute entre entraînement et test : aucun point ne sert aux deux. Étape 2, le jeu d'entraînement : environ 450 extraits de 30 s, trois par point (pic du matin, pic du soir, une autre tranche) ; la validation, qui sert à régler la tête, se fait à l'intérieur par validation croisée groupée par point. Étape 3, le jeu de test : environ 250 enregistrements de 2 min écoutés en entier sur les points tenus à l'écart, avec au moins 60 positifs. Étape 4, la vérification à l'aveugle par Élodie et Benoît : mon label est caché et l'ordre mélangé ; environ 2 h 30 d'écoute chacun. Étape 5, le go : zéro erreur sur 60 positifs, au plus un chant manqué sur 100 négatifs. Trois principes. Aucun détecteur dans le tirage, sinon le jeu hérite de ses angles morts. Le point d'écoute, c'est-à-dire le couple site et micro, compte plus que le nombre d'enregistrements : quarante enregistrements d'un même micro partagent le même fond sonore et n'apprennent presque rien de plus qu'un seul ; mieux vaut trois enregistrements sur cent points que trois cents sur un. Enfin, positifs et négatifs sont tirés dans les mêmes conditions, même point et même tranche horaire : si les positifs venaient tous du matin et les négatifs de l'après-midi, la tête apprendrait « matin » au lieu du chant.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6" name="Shape 336"/>
          <p:cNvSpPr/>
          <p:nvPr>
            <p:ph type="sldImg"/>
          </p:nvPr>
        </p:nvSpPr>
        <p:spPr>
          <a:prstGeom prst="rect">
            <a:avLst/>
          </a:prstGeom>
        </p:spPr>
        <p:txBody>
          <a:bodyPr/>
          <a:lstStyle/>
          <a:p>
            <a:pPr/>
          </a:p>
        </p:txBody>
      </p:sp>
      <p:sp>
        <p:nvSpPr>
          <p:cNvPr id="337" name="Shape 337"/>
          <p:cNvSpPr/>
          <p:nvPr>
            <p:ph type="body" sz="quarter" idx="1"/>
          </p:nvPr>
        </p:nvSpPr>
        <p:spPr>
          <a:prstGeom prst="rect">
            <a:avLst/>
          </a:prstGeom>
        </p:spPr>
        <p:txBody>
          <a:bodyPr/>
          <a:lstStyle/>
          <a:p>
            <a:pPr/>
            <a:r>
              <a:t>Protocole. AnuraSet : 1 612 enregistrements d'une minute, 4 sites du Brésil ; on garde les 5 espèces d'anoures présentes sur au moins deux sites. Pour chaque encodeur, la tête apprend sur les autres sites et on juge le site tenu à l'écart : la mesure est l'AP moyenne par site, au niveau de la minute, moyennée sur les 5 espèces. Chaque encodeur est jugé avec la tête qui correspond à sa sortie : la logistique sur l'embedding, et pour les encodeurs qui fournissent leurs jetons, une sonde à prototypes ou une sonde attentive sur les jetons. Sur le graphique, la partie claire est la logistique, la partie foncée ce que la meilleure tête ajoute. Résultats. En tête, sans écart significatif entre eux après correction de Holm : naturebeats avec la sonde à prototypes (0,84), perch_v2 avec la sonde à prototypes (0,81), convnext_birdset en logistique (0,81), puis perch_v2 en logistique (0,79), la référence. Le meilleur encodeur libre est perch_v2 : aucun encodeur non libre ne le bat après Holm. naturebeats est sous licence non commerciale, convnext_birdset n'a aucune licence déclarée. Ce que ça change. Un : la tête doit suivre la sortie de l'encodeur. Les transformers auto-supervisés jugés en logistique semblaient mauvais : Bird-MAE-Base passe de 0,51 à 0,74 et naturebeats de 0,69 à 0,84 avec la sonde à prototypes sur leurs jetons. Deux : la sonde attentive, elle, n'aide presque jamais : une seule requête apprise sur peu de positifs se cale sans doute sur un indice de site. C'est l'inconvénient annoncé dans la partie attention, et le notebook 04 permettra de le voir. Trois : sur un site sans aucune annotation, convnext_birdset part le mieux (0,83), perch_v2 juste derrière (0,81). Quatre : BirdNET 3 fait 0,74, mieux que BirdNET 2.4 mais sous perch_v2. Pour A. blanci : perch_v2, avec la logistique et la sonde à prototypes, entre au benchmark ONF ; naturebeats et convnext_birdset sont proposés comme objectifs non libres, à décider avec Élodie. Limites : d'autres anoures qu'A. blanci, 2 à 4 sites par espèce, meilleure tête choisie après coup, trois encodeurs de la vague 2 encore à ajouter.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5" name="Shape 365"/>
          <p:cNvSpPr/>
          <p:nvPr>
            <p:ph type="sldImg"/>
          </p:nvPr>
        </p:nvSpPr>
        <p:spPr>
          <a:prstGeom prst="rect">
            <a:avLst/>
          </a:prstGeom>
        </p:spPr>
        <p:txBody>
          <a:bodyPr/>
          <a:lstStyle/>
          <a:p>
            <a:pPr/>
          </a:p>
        </p:txBody>
      </p:sp>
      <p:sp>
        <p:nvSpPr>
          <p:cNvPr id="366" name="Shape 366"/>
          <p:cNvSpPr/>
          <p:nvPr>
            <p:ph type="body" sz="quarter" idx="1"/>
          </p:nvPr>
        </p:nvSpPr>
        <p:spPr>
          <a:prstGeom prst="rect">
            <a:avLst/>
          </a:prstGeom>
        </p:spPr>
        <p:txBody>
          <a:bodyPr/>
          <a:lstStyle/>
          <a:p>
            <a:pPr/>
            <a:r>
              <a:t>D'ici la prochaine réunion, dans deux à trois semaines. Un : annoter mon jeu, le jeu d'entraînement et le jeu de test, tirés par script sans aucun détecteur. Deux : faire vérifier un sous-échantillon par Élodie et Benoît, à l'aveugle, corriger, et écrire le go. Trois : lancer le benchmark sur mes propres données, avec le même gabarit que le benchmark AnuraSet, sur des points tenus à l'écart. Quatre : présenter ce benchmark et conclure à la prochaine réunion. Deux questions pour vous : vos identifiants GitHub pour ouvrir le dépôt, et la possibilité d'encoder dans le cloud plutôt que sur mon portable ou sur les machines de l'ONF.</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exte du titre"/>
          <p:cNvSpPr txBox="1"/>
          <p:nvPr>
            <p:ph type="title"/>
          </p:nvPr>
        </p:nvSpPr>
        <p:spPr>
          <a:xfrm>
            <a:off x="609600" y="92074"/>
            <a:ext cx="10972800" cy="15081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Texte du titre</a:t>
            </a:r>
          </a:p>
        </p:txBody>
      </p:sp>
      <p:sp>
        <p:nvSpPr>
          <p:cNvPr id="3" name="Texte niveau 1…"/>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Texte niveau 1</a:t>
            </a:r>
          </a:p>
          <a:p>
            <a:pPr lvl="1"/>
            <a:r>
              <a:t>Texte niveau 2</a:t>
            </a:r>
          </a:p>
          <a:p>
            <a:pPr lvl="2"/>
            <a:r>
              <a:t>Texte niveau 3</a:t>
            </a:r>
          </a:p>
          <a:p>
            <a:pPr lvl="3"/>
            <a:r>
              <a:t>Texte niveau 4</a:t>
            </a:r>
          </a:p>
          <a:p>
            <a:pPr lvl="4"/>
            <a:r>
              <a:t>Texte niveau 5</a:t>
            </a:r>
          </a:p>
        </p:txBody>
      </p:sp>
      <p:sp>
        <p:nvSpPr>
          <p:cNvPr id="4" name="Numéro de diapositive"/>
          <p:cNvSpPr txBox="1"/>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jpeg"/><Relationship Id="rId4" Type="http://schemas.openxmlformats.org/officeDocument/2006/relationships/image" Target="../media/image3.png"/><Relationship Id="rId5" Type="http://schemas.openxmlformats.org/officeDocument/2006/relationships/hyperlink" Target="https://github.com/Rumble-Paw-Patrol/Grenouille" TargetMode="External"/></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E2A24"/>
        </a:solidFill>
      </p:bgPr>
    </p:bg>
    <p:spTree>
      <p:nvGrpSpPr>
        <p:cNvPr id="1" name=""/>
        <p:cNvGrpSpPr/>
        <p:nvPr/>
      </p:nvGrpSpPr>
      <p:grpSpPr>
        <a:xfrm>
          <a:off x="0" y="0"/>
          <a:ext cx="0" cy="0"/>
          <a:chOff x="0" y="0"/>
          <a:chExt cx="0" cy="0"/>
        </a:xfrm>
      </p:grpSpPr>
      <p:pic>
        <p:nvPicPr>
          <p:cNvPr id="20" name="Image 0" descr="Image 0"/>
          <p:cNvPicPr>
            <a:picLocks noChangeAspect="1"/>
          </p:cNvPicPr>
          <p:nvPr/>
        </p:nvPicPr>
        <p:blipFill>
          <a:blip r:embed="rId3">
            <a:extLst/>
          </a:blip>
          <a:stretch>
            <a:fillRect/>
          </a:stretch>
        </p:blipFill>
        <p:spPr>
          <a:xfrm>
            <a:off x="7863840" y="0"/>
            <a:ext cx="4327855" cy="6858000"/>
          </a:xfrm>
          <a:prstGeom prst="rect">
            <a:avLst/>
          </a:prstGeom>
          <a:ln w="12700">
            <a:miter lim="400000"/>
          </a:ln>
        </p:spPr>
      </p:pic>
      <p:sp>
        <p:nvSpPr>
          <p:cNvPr id="21" name="Shape 0"/>
          <p:cNvSpPr/>
          <p:nvPr/>
        </p:nvSpPr>
        <p:spPr>
          <a:xfrm>
            <a:off x="548640" y="1143000"/>
            <a:ext cx="3566160" cy="329185"/>
          </a:xfrm>
          <a:prstGeom prst="roundRect">
            <a:avLst>
              <a:gd name="adj" fmla="val 50000"/>
            </a:avLst>
          </a:prstGeom>
          <a:solidFill>
            <a:srgbClr val="173D34"/>
          </a:solidFill>
          <a:ln w="12700">
            <a:solidFill>
              <a:srgbClr val="173D34"/>
            </a:solidFill>
          </a:ln>
        </p:spPr>
        <p:txBody>
          <a:bodyPr lIns="45719" rIns="45719"/>
          <a:lstStyle/>
          <a:p>
            <a:pPr/>
          </a:p>
        </p:txBody>
      </p:sp>
      <p:sp>
        <p:nvSpPr>
          <p:cNvPr id="22" name="Text 1"/>
          <p:cNvSpPr txBox="1"/>
          <p:nvPr/>
        </p:nvSpPr>
        <p:spPr>
          <a:xfrm>
            <a:off x="548639" y="1240458"/>
            <a:ext cx="356616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100" sz="1100">
                <a:solidFill>
                  <a:srgbClr val="E9B44C"/>
                </a:solidFill>
              </a:defRPr>
            </a:lvl1pPr>
          </a:lstStyle>
          <a:p>
            <a:pPr/>
            <a:r>
              <a:t>STAGE ONF GUYANE · SUIVI N° 2</a:t>
            </a:r>
          </a:p>
        </p:txBody>
      </p:sp>
      <p:sp>
        <p:nvSpPr>
          <p:cNvPr id="23" name="Text 2"/>
          <p:cNvSpPr txBox="1"/>
          <p:nvPr/>
        </p:nvSpPr>
        <p:spPr>
          <a:xfrm>
            <a:off x="548640" y="1737360"/>
            <a:ext cx="7132319" cy="1244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4200">
                <a:solidFill>
                  <a:srgbClr val="FFFFFF"/>
                </a:solidFill>
                <a:latin typeface="Cambria"/>
                <a:ea typeface="Cambria"/>
                <a:cs typeface="Cambria"/>
                <a:sym typeface="Cambria"/>
              </a:defRPr>
            </a:pPr>
            <a:r>
              <a:t>Détection acoustique d'</a:t>
            </a:r>
          </a:p>
          <a:p>
            <a:pPr>
              <a:defRPr sz="4200">
                <a:solidFill>
                  <a:srgbClr val="FFFFFF"/>
                </a:solidFill>
                <a:latin typeface="Cambria"/>
                <a:ea typeface="Cambria"/>
                <a:cs typeface="Cambria"/>
                <a:sym typeface="Cambria"/>
              </a:defRPr>
            </a:pPr>
            <a:r>
              <a:t>Anomaloglossus blanci</a:t>
            </a:r>
          </a:p>
        </p:txBody>
      </p:sp>
      <p:sp>
        <p:nvSpPr>
          <p:cNvPr id="24" name="Text 3"/>
          <p:cNvSpPr txBox="1"/>
          <p:nvPr/>
        </p:nvSpPr>
        <p:spPr>
          <a:xfrm>
            <a:off x="548639" y="3520440"/>
            <a:ext cx="6949442" cy="4857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A7BFB2"/>
                </a:solidFill>
              </a:defRPr>
            </a:lvl1pPr>
          </a:lstStyle>
          <a:p>
            <a:pPr/>
            <a:r>
              <a:t>Attention · état de l'art · BirdCLEF+ 2026 · données et annotation · module séquentiel · régularisations</a:t>
            </a:r>
          </a:p>
        </p:txBody>
      </p:sp>
      <p:sp>
        <p:nvSpPr>
          <p:cNvPr id="25" name="Text 4"/>
          <p:cNvSpPr txBox="1"/>
          <p:nvPr/>
        </p:nvSpPr>
        <p:spPr>
          <a:xfrm>
            <a:off x="548640" y="4343400"/>
            <a:ext cx="5486401"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A7BFB2"/>
                </a:solidFill>
              </a:defRPr>
            </a:lvl1pPr>
          </a:lstStyle>
          <a:p>
            <a:pPr/>
            <a:r>
              <a:t>Léonard Laplace-Palette · 30 septembre 2026</a:t>
            </a:r>
          </a:p>
        </p:txBody>
      </p:sp>
      <p:sp>
        <p:nvSpPr>
          <p:cNvPr id="26" name="Text 5"/>
          <p:cNvSpPr txBox="1"/>
          <p:nvPr/>
        </p:nvSpPr>
        <p:spPr>
          <a:xfrm>
            <a:off x="8001000" y="6446520"/>
            <a:ext cx="402336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i="1" sz="900">
                <a:solidFill>
                  <a:srgbClr val="FFFFFF"/>
                </a:solidFill>
              </a:defRPr>
            </a:lvl1pPr>
          </a:lstStyle>
          <a:p>
            <a:pPr/>
            <a:r>
              <a:t>Fond : un chant d'A. blanci enregistré à Mataroni (spectrogramme, 1–9 kHz)</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 name="Shape 0"/>
          <p:cNvSpPr/>
          <p:nvPr/>
        </p:nvSpPr>
        <p:spPr>
          <a:xfrm>
            <a:off x="548640" y="365759"/>
            <a:ext cx="1348740" cy="292610"/>
          </a:xfrm>
          <a:prstGeom prst="roundRect">
            <a:avLst>
              <a:gd name="adj" fmla="val 50000"/>
            </a:avLst>
          </a:prstGeom>
          <a:solidFill>
            <a:srgbClr val="E4EEE8"/>
          </a:solidFill>
          <a:ln w="12700">
            <a:solidFill>
              <a:srgbClr val="E4EEE8"/>
            </a:solidFill>
          </a:ln>
        </p:spPr>
        <p:txBody>
          <a:bodyPr lIns="45719" rIns="45719"/>
          <a:lstStyle/>
          <a:p>
            <a:pPr/>
          </a:p>
        </p:txBody>
      </p:sp>
      <p:sp>
        <p:nvSpPr>
          <p:cNvPr id="31" name="Text 1"/>
          <p:cNvSpPr txBox="1"/>
          <p:nvPr/>
        </p:nvSpPr>
        <p:spPr>
          <a:xfrm>
            <a:off x="548639" y="443528"/>
            <a:ext cx="13487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100" sz="1000">
                <a:solidFill>
                  <a:srgbClr val="2A7F72"/>
                </a:solidFill>
              </a:defRPr>
            </a:lvl1pPr>
          </a:lstStyle>
          <a:p>
            <a:pPr/>
            <a:r>
              <a:t>ATTENTION · 1/2</a:t>
            </a:r>
          </a:p>
        </p:txBody>
      </p:sp>
      <p:sp>
        <p:nvSpPr>
          <p:cNvPr id="32" name="Text 2"/>
          <p:cNvSpPr txBox="1"/>
          <p:nvPr/>
        </p:nvSpPr>
        <p:spPr>
          <a:xfrm>
            <a:off x="548639" y="860297"/>
            <a:ext cx="11094417"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800">
                <a:solidFill>
                  <a:srgbClr val="1B2A24"/>
                </a:solidFill>
                <a:latin typeface="Cambria"/>
                <a:ea typeface="Cambria"/>
                <a:cs typeface="Cambria"/>
                <a:sym typeface="Cambria"/>
              </a:defRPr>
            </a:lvl1pPr>
          </a:lstStyle>
          <a:p>
            <a:pPr/>
            <a:r>
              <a:t>Ce que fait l'attention : pondérer les jetons au lieu de les moyenner</a:t>
            </a:r>
          </a:p>
        </p:txBody>
      </p:sp>
      <p:sp>
        <p:nvSpPr>
          <p:cNvPr id="33" name="Text 3"/>
          <p:cNvSpPr txBox="1"/>
          <p:nvPr/>
        </p:nvSpPr>
        <p:spPr>
          <a:xfrm>
            <a:off x="11277295" y="6473952"/>
            <a:ext cx="457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900">
                <a:solidFill>
                  <a:srgbClr val="A7BFB2"/>
                </a:solidFill>
              </a:defRPr>
            </a:lvl1pPr>
          </a:lstStyle>
          <a:p>
            <a:pPr/>
            <a:r>
              <a:t>2</a:t>
            </a:r>
          </a:p>
        </p:txBody>
      </p:sp>
      <p:pic>
        <p:nvPicPr>
          <p:cNvPr id="34" name="Image 0" descr="Image 0"/>
          <p:cNvPicPr>
            <a:picLocks noChangeAspect="1"/>
          </p:cNvPicPr>
          <p:nvPr/>
        </p:nvPicPr>
        <p:blipFill>
          <a:blip r:embed="rId3">
            <a:extLst/>
          </a:blip>
          <a:stretch>
            <a:fillRect/>
          </a:stretch>
        </p:blipFill>
        <p:spPr>
          <a:xfrm>
            <a:off x="1051560" y="1463039"/>
            <a:ext cx="10058401" cy="3108961"/>
          </a:xfrm>
          <a:prstGeom prst="rect">
            <a:avLst/>
          </a:prstGeom>
          <a:ln w="12700">
            <a:miter lim="400000"/>
          </a:ln>
        </p:spPr>
      </p:pic>
      <p:sp>
        <p:nvSpPr>
          <p:cNvPr id="35" name="Shape 4"/>
          <p:cNvSpPr/>
          <p:nvPr/>
        </p:nvSpPr>
        <p:spPr>
          <a:xfrm>
            <a:off x="5760720" y="4754879"/>
            <a:ext cx="5879592" cy="1508761"/>
          </a:xfrm>
          <a:prstGeom prst="roundRect">
            <a:avLst>
              <a:gd name="adj" fmla="val 6061"/>
            </a:avLst>
          </a:prstGeom>
          <a:solidFill>
            <a:srgbClr val="0E2A24"/>
          </a:solidFill>
          <a:ln w="12700">
            <a:solidFill>
              <a:srgbClr val="0E2A24"/>
            </a:solidFill>
          </a:ln>
        </p:spPr>
        <p:txBody>
          <a:bodyPr lIns="45719" rIns="45719"/>
          <a:lstStyle/>
          <a:p>
            <a:pPr/>
          </a:p>
        </p:txBody>
      </p:sp>
      <p:sp>
        <p:nvSpPr>
          <p:cNvPr id="36" name="Text 5"/>
          <p:cNvSpPr txBox="1"/>
          <p:nvPr/>
        </p:nvSpPr>
        <p:spPr>
          <a:xfrm>
            <a:off x="5989320" y="5185980"/>
            <a:ext cx="5486401" cy="6465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400">
                <a:solidFill>
                  <a:srgbClr val="E9B44C"/>
                </a:solidFill>
              </a:defRPr>
            </a:pPr>
            <a:r>
              <a:t>Visible avec une vraie tête : </a:t>
            </a:r>
            <a:r>
              <a:rPr b="0">
                <a:solidFill>
                  <a:srgbClr val="FFFFFF"/>
                </a:solidFill>
              </a:rPr>
              <a:t>le notebook 04 trace les poids de la tête attentive sur le spectrogramme et mesure la part d'attention posée sur la bande de la note. Une tête qui écoute le fond se voit à l'œil.</a:t>
            </a:r>
          </a:p>
        </p:txBody>
      </p:sp>
      <p:sp>
        <p:nvSpPr>
          <p:cNvPr id="37" name="Text 80"/>
          <p:cNvSpPr txBox="1"/>
          <p:nvPr/>
        </p:nvSpPr>
        <p:spPr>
          <a:xfrm>
            <a:off x="548639" y="6400800"/>
            <a:ext cx="11094417"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i="1" sz="1000">
                <a:solidFill>
                  <a:srgbClr val="5B6B63"/>
                </a:solidFill>
              </a:defRPr>
            </a:lvl1pPr>
          </a:lstStyle>
          <a:p>
            <a:pPr/>
            <a:r>
              <a:t>64 jetons est la grille de Perch_v2</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 name="Shape 0"/>
          <p:cNvSpPr/>
          <p:nvPr/>
        </p:nvSpPr>
        <p:spPr>
          <a:xfrm>
            <a:off x="548640" y="365759"/>
            <a:ext cx="1348740" cy="292610"/>
          </a:xfrm>
          <a:prstGeom prst="roundRect">
            <a:avLst>
              <a:gd name="adj" fmla="val 50000"/>
            </a:avLst>
          </a:prstGeom>
          <a:solidFill>
            <a:srgbClr val="E4EEE8"/>
          </a:solidFill>
          <a:ln w="12700">
            <a:solidFill>
              <a:srgbClr val="E4EEE8"/>
            </a:solidFill>
          </a:ln>
        </p:spPr>
        <p:txBody>
          <a:bodyPr lIns="45719" rIns="45719"/>
          <a:lstStyle/>
          <a:p>
            <a:pPr/>
          </a:p>
        </p:txBody>
      </p:sp>
      <p:sp>
        <p:nvSpPr>
          <p:cNvPr id="42" name="Text 1"/>
          <p:cNvSpPr txBox="1"/>
          <p:nvPr/>
        </p:nvSpPr>
        <p:spPr>
          <a:xfrm>
            <a:off x="548639" y="443528"/>
            <a:ext cx="13487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100" sz="1000">
                <a:solidFill>
                  <a:srgbClr val="2A7F72"/>
                </a:solidFill>
              </a:defRPr>
            </a:lvl1pPr>
          </a:lstStyle>
          <a:p>
            <a:pPr/>
            <a:r>
              <a:t>ATTENTION · 2/2</a:t>
            </a:r>
          </a:p>
        </p:txBody>
      </p:sp>
      <p:sp>
        <p:nvSpPr>
          <p:cNvPr id="43" name="Text 2"/>
          <p:cNvSpPr txBox="1"/>
          <p:nvPr/>
        </p:nvSpPr>
        <p:spPr>
          <a:xfrm>
            <a:off x="548639" y="860297"/>
            <a:ext cx="11094417"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800">
                <a:solidFill>
                  <a:srgbClr val="1B2A24"/>
                </a:solidFill>
                <a:latin typeface="Cambria"/>
                <a:ea typeface="Cambria"/>
                <a:cs typeface="Cambria"/>
                <a:sym typeface="Cambria"/>
              </a:defRPr>
            </a:lvl1pPr>
          </a:lstStyle>
          <a:p>
            <a:pPr/>
            <a:r>
              <a:t>Dans notre projet : avantages et inconvénients</a:t>
            </a:r>
          </a:p>
        </p:txBody>
      </p:sp>
      <p:sp>
        <p:nvSpPr>
          <p:cNvPr id="44" name="Text 3"/>
          <p:cNvSpPr txBox="1"/>
          <p:nvPr/>
        </p:nvSpPr>
        <p:spPr>
          <a:xfrm>
            <a:off x="11277295" y="6473952"/>
            <a:ext cx="457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900">
                <a:solidFill>
                  <a:srgbClr val="A7BFB2"/>
                </a:solidFill>
              </a:defRPr>
            </a:lvl1pPr>
          </a:lstStyle>
          <a:p>
            <a:pPr/>
            <a:r>
              <a:t>4</a:t>
            </a:r>
          </a:p>
        </p:txBody>
      </p:sp>
      <p:sp>
        <p:nvSpPr>
          <p:cNvPr id="45" name="Text 4"/>
          <p:cNvSpPr txBox="1"/>
          <p:nvPr/>
        </p:nvSpPr>
        <p:spPr>
          <a:xfrm>
            <a:off x="548639" y="1554480"/>
            <a:ext cx="5410050"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rgbClr val="2A7F72"/>
                </a:solidFill>
              </a:defRPr>
            </a:lvl1pPr>
          </a:lstStyle>
          <a:p>
            <a:pPr/>
            <a:r>
              <a:t>Avantages</a:t>
            </a:r>
          </a:p>
        </p:txBody>
      </p:sp>
      <p:sp>
        <p:nvSpPr>
          <p:cNvPr id="46" name="Shape 5"/>
          <p:cNvSpPr/>
          <p:nvPr/>
        </p:nvSpPr>
        <p:spPr>
          <a:xfrm>
            <a:off x="548640" y="2011679"/>
            <a:ext cx="5410049" cy="896113"/>
          </a:xfrm>
          <a:prstGeom prst="roundRect">
            <a:avLst>
              <a:gd name="adj" fmla="val 10204"/>
            </a:avLst>
          </a:prstGeom>
          <a:solidFill>
            <a:srgbClr val="F3F7F4"/>
          </a:solidFill>
          <a:ln w="12700">
            <a:solidFill>
              <a:srgbClr val="F3F7F4"/>
            </a:solidFill>
          </a:ln>
        </p:spPr>
        <p:txBody>
          <a:bodyPr lIns="45719" rIns="45719"/>
          <a:lstStyle/>
          <a:p>
            <a:pPr/>
          </a:p>
        </p:txBody>
      </p:sp>
      <p:sp>
        <p:nvSpPr>
          <p:cNvPr id="47" name="Shape 6"/>
          <p:cNvSpPr/>
          <p:nvPr/>
        </p:nvSpPr>
        <p:spPr>
          <a:xfrm>
            <a:off x="749808" y="2313432"/>
            <a:ext cx="292609" cy="292609"/>
          </a:xfrm>
          <a:prstGeom prst="ellipse">
            <a:avLst/>
          </a:prstGeom>
          <a:solidFill>
            <a:srgbClr val="2A7F72"/>
          </a:solidFill>
          <a:ln w="12700">
            <a:solidFill>
              <a:srgbClr val="2A7F72"/>
            </a:solidFill>
          </a:ln>
        </p:spPr>
        <p:txBody>
          <a:bodyPr lIns="45719" rIns="45719"/>
          <a:lstStyle/>
          <a:p>
            <a:pPr/>
          </a:p>
        </p:txBody>
      </p:sp>
      <p:sp>
        <p:nvSpPr>
          <p:cNvPr id="48" name="Text 7"/>
          <p:cNvSpPr txBox="1"/>
          <p:nvPr/>
        </p:nvSpPr>
        <p:spPr>
          <a:xfrm>
            <a:off x="749808" y="2365056"/>
            <a:ext cx="292609"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FFFFFF"/>
                </a:solidFill>
              </a:defRPr>
            </a:lvl1pPr>
          </a:lstStyle>
          <a:p>
            <a:pPr/>
            <a:r>
              <a:t>+</a:t>
            </a:r>
          </a:p>
        </p:txBody>
      </p:sp>
      <p:sp>
        <p:nvSpPr>
          <p:cNvPr id="49" name="Text 8"/>
          <p:cNvSpPr txBox="1"/>
          <p:nvPr/>
        </p:nvSpPr>
        <p:spPr>
          <a:xfrm>
            <a:off x="1207008" y="2121407"/>
            <a:ext cx="4587088"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1B2A24"/>
                </a:solidFill>
              </a:defRPr>
            </a:lvl1pPr>
          </a:lstStyle>
          <a:p>
            <a:pPr/>
            <a:r>
              <a:t>Fait pour une note brève</a:t>
            </a:r>
          </a:p>
        </p:txBody>
      </p:sp>
      <p:sp>
        <p:nvSpPr>
          <p:cNvPr id="50" name="Text 9"/>
          <p:cNvSpPr txBox="1"/>
          <p:nvPr/>
        </p:nvSpPr>
        <p:spPr>
          <a:xfrm>
            <a:off x="1207008" y="2468879"/>
            <a:ext cx="4587088"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5B6B63"/>
                </a:solidFill>
              </a:defRPr>
            </a:lvl1pPr>
          </a:lstStyle>
          <a:p>
            <a:pPr/>
            <a:r>
              <a:t>0,09 s : 2 à 4 jetons sur 64, noyés par la moyenne</a:t>
            </a:r>
          </a:p>
        </p:txBody>
      </p:sp>
      <p:sp>
        <p:nvSpPr>
          <p:cNvPr id="51" name="Shape 10"/>
          <p:cNvSpPr/>
          <p:nvPr/>
        </p:nvSpPr>
        <p:spPr>
          <a:xfrm>
            <a:off x="548640" y="3035807"/>
            <a:ext cx="5410049" cy="896113"/>
          </a:xfrm>
          <a:prstGeom prst="roundRect">
            <a:avLst>
              <a:gd name="adj" fmla="val 10204"/>
            </a:avLst>
          </a:prstGeom>
          <a:solidFill>
            <a:srgbClr val="F3F7F4"/>
          </a:solidFill>
          <a:ln w="12700">
            <a:solidFill>
              <a:srgbClr val="F3F7F4"/>
            </a:solidFill>
          </a:ln>
        </p:spPr>
        <p:txBody>
          <a:bodyPr lIns="45719" rIns="45719"/>
          <a:lstStyle/>
          <a:p>
            <a:pPr/>
          </a:p>
        </p:txBody>
      </p:sp>
      <p:sp>
        <p:nvSpPr>
          <p:cNvPr id="52" name="Shape 11"/>
          <p:cNvSpPr/>
          <p:nvPr/>
        </p:nvSpPr>
        <p:spPr>
          <a:xfrm>
            <a:off x="749808" y="3337559"/>
            <a:ext cx="292609" cy="292609"/>
          </a:xfrm>
          <a:prstGeom prst="ellipse">
            <a:avLst/>
          </a:prstGeom>
          <a:solidFill>
            <a:srgbClr val="2A7F72"/>
          </a:solidFill>
          <a:ln w="12700">
            <a:solidFill>
              <a:srgbClr val="2A7F72"/>
            </a:solidFill>
          </a:ln>
        </p:spPr>
        <p:txBody>
          <a:bodyPr lIns="45719" rIns="45719"/>
          <a:lstStyle/>
          <a:p>
            <a:pPr/>
          </a:p>
        </p:txBody>
      </p:sp>
      <p:sp>
        <p:nvSpPr>
          <p:cNvPr id="53" name="Text 12"/>
          <p:cNvSpPr txBox="1"/>
          <p:nvPr/>
        </p:nvSpPr>
        <p:spPr>
          <a:xfrm>
            <a:off x="749808" y="3389184"/>
            <a:ext cx="292609"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FFFFFF"/>
                </a:solidFill>
              </a:defRPr>
            </a:lvl1pPr>
          </a:lstStyle>
          <a:p>
            <a:pPr/>
            <a:r>
              <a:t>+</a:t>
            </a:r>
          </a:p>
        </p:txBody>
      </p:sp>
      <p:sp>
        <p:nvSpPr>
          <p:cNvPr id="54" name="Text 13"/>
          <p:cNvSpPr txBox="1"/>
          <p:nvPr/>
        </p:nvSpPr>
        <p:spPr>
          <a:xfrm>
            <a:off x="1207008" y="3145535"/>
            <a:ext cx="4587088"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1B2A24"/>
                </a:solidFill>
              </a:defRPr>
            </a:lvl1pPr>
          </a:lstStyle>
          <a:p>
            <a:pPr/>
            <a:r>
              <a:t>Juger équitablement les transformers</a:t>
            </a:r>
          </a:p>
        </p:txBody>
      </p:sp>
      <p:sp>
        <p:nvSpPr>
          <p:cNvPr id="55" name="Text 14"/>
          <p:cNvSpPr txBox="1"/>
          <p:nvPr/>
        </p:nvSpPr>
        <p:spPr>
          <a:xfrm>
            <a:off x="1207008" y="3493008"/>
            <a:ext cx="4587088"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5B6B63"/>
                </a:solidFill>
              </a:defRPr>
            </a:lvl1pPr>
          </a:lstStyle>
          <a:p>
            <a:pPr/>
            <a:r>
              <a:t>Bird-MAE, BEATs : sous-estimés en probing linéaire</a:t>
            </a:r>
          </a:p>
        </p:txBody>
      </p:sp>
      <p:sp>
        <p:nvSpPr>
          <p:cNvPr id="56" name="Shape 15"/>
          <p:cNvSpPr/>
          <p:nvPr/>
        </p:nvSpPr>
        <p:spPr>
          <a:xfrm>
            <a:off x="548640" y="4059935"/>
            <a:ext cx="5410049" cy="896113"/>
          </a:xfrm>
          <a:prstGeom prst="roundRect">
            <a:avLst>
              <a:gd name="adj" fmla="val 10204"/>
            </a:avLst>
          </a:prstGeom>
          <a:solidFill>
            <a:srgbClr val="F3F7F4"/>
          </a:solidFill>
          <a:ln w="12700">
            <a:solidFill>
              <a:srgbClr val="F3F7F4"/>
            </a:solidFill>
          </a:ln>
        </p:spPr>
        <p:txBody>
          <a:bodyPr lIns="45719" rIns="45719"/>
          <a:lstStyle/>
          <a:p>
            <a:pPr/>
          </a:p>
        </p:txBody>
      </p:sp>
      <p:sp>
        <p:nvSpPr>
          <p:cNvPr id="57" name="Shape 16"/>
          <p:cNvSpPr/>
          <p:nvPr/>
        </p:nvSpPr>
        <p:spPr>
          <a:xfrm>
            <a:off x="749808" y="4361688"/>
            <a:ext cx="292609" cy="292609"/>
          </a:xfrm>
          <a:prstGeom prst="ellipse">
            <a:avLst/>
          </a:prstGeom>
          <a:solidFill>
            <a:srgbClr val="2A7F72"/>
          </a:solidFill>
          <a:ln w="12700">
            <a:solidFill>
              <a:srgbClr val="2A7F72"/>
            </a:solidFill>
          </a:ln>
        </p:spPr>
        <p:txBody>
          <a:bodyPr lIns="45719" rIns="45719"/>
          <a:lstStyle/>
          <a:p>
            <a:pPr/>
          </a:p>
        </p:txBody>
      </p:sp>
      <p:sp>
        <p:nvSpPr>
          <p:cNvPr id="58" name="Text 17"/>
          <p:cNvSpPr txBox="1"/>
          <p:nvPr/>
        </p:nvSpPr>
        <p:spPr>
          <a:xfrm>
            <a:off x="749808" y="4413312"/>
            <a:ext cx="292609"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FFFFFF"/>
                </a:solidFill>
              </a:defRPr>
            </a:lvl1pPr>
          </a:lstStyle>
          <a:p>
            <a:pPr/>
            <a:r>
              <a:t>+</a:t>
            </a:r>
          </a:p>
        </p:txBody>
      </p:sp>
      <p:sp>
        <p:nvSpPr>
          <p:cNvPr id="59" name="Text 18"/>
          <p:cNvSpPr txBox="1"/>
          <p:nvPr/>
        </p:nvSpPr>
        <p:spPr>
          <a:xfrm>
            <a:off x="1207008" y="4169664"/>
            <a:ext cx="4587088"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1B2A24"/>
                </a:solidFill>
              </a:defRPr>
            </a:lvl1pPr>
          </a:lstStyle>
          <a:p>
            <a:pPr/>
            <a:r>
              <a:t>Contrôlable à l'œil</a:t>
            </a:r>
          </a:p>
        </p:txBody>
      </p:sp>
      <p:sp>
        <p:nvSpPr>
          <p:cNvPr id="60" name="Text 19"/>
          <p:cNvSpPr txBox="1"/>
          <p:nvPr/>
        </p:nvSpPr>
        <p:spPr>
          <a:xfrm>
            <a:off x="1207008" y="4517135"/>
            <a:ext cx="4587088"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5B6B63"/>
                </a:solidFill>
              </a:defRPr>
            </a:lvl1pPr>
          </a:lstStyle>
          <a:p>
            <a:pPr/>
            <a:r>
              <a:t>carte des poids + part d'attention sur la bande</a:t>
            </a:r>
          </a:p>
        </p:txBody>
      </p:sp>
      <p:sp>
        <p:nvSpPr>
          <p:cNvPr id="61" name="Text 20"/>
          <p:cNvSpPr txBox="1"/>
          <p:nvPr/>
        </p:nvSpPr>
        <p:spPr>
          <a:xfrm>
            <a:off x="6233007" y="1554480"/>
            <a:ext cx="5410049"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rgbClr val="C8553D"/>
                </a:solidFill>
              </a:defRPr>
            </a:lvl1pPr>
          </a:lstStyle>
          <a:p>
            <a:pPr/>
            <a:r>
              <a:t>Inconvénients</a:t>
            </a:r>
          </a:p>
        </p:txBody>
      </p:sp>
      <p:sp>
        <p:nvSpPr>
          <p:cNvPr id="62" name="Shape 21"/>
          <p:cNvSpPr/>
          <p:nvPr/>
        </p:nvSpPr>
        <p:spPr>
          <a:xfrm>
            <a:off x="6233007" y="2011679"/>
            <a:ext cx="5410049" cy="896113"/>
          </a:xfrm>
          <a:prstGeom prst="roundRect">
            <a:avLst>
              <a:gd name="adj" fmla="val 10204"/>
            </a:avLst>
          </a:prstGeom>
          <a:solidFill>
            <a:srgbClr val="F3F7F4"/>
          </a:solidFill>
          <a:ln w="12700">
            <a:solidFill>
              <a:srgbClr val="F3F7F4"/>
            </a:solidFill>
          </a:ln>
        </p:spPr>
        <p:txBody>
          <a:bodyPr lIns="45719" rIns="45719"/>
          <a:lstStyle/>
          <a:p>
            <a:pPr/>
          </a:p>
        </p:txBody>
      </p:sp>
      <p:sp>
        <p:nvSpPr>
          <p:cNvPr id="63" name="Shape 22"/>
          <p:cNvSpPr/>
          <p:nvPr/>
        </p:nvSpPr>
        <p:spPr>
          <a:xfrm>
            <a:off x="6434175" y="2313432"/>
            <a:ext cx="292609" cy="292609"/>
          </a:xfrm>
          <a:prstGeom prst="ellipse">
            <a:avLst/>
          </a:prstGeom>
          <a:solidFill>
            <a:srgbClr val="C8553D"/>
          </a:solidFill>
          <a:ln w="12700">
            <a:solidFill>
              <a:srgbClr val="C8553D"/>
            </a:solidFill>
          </a:ln>
        </p:spPr>
        <p:txBody>
          <a:bodyPr lIns="45719" rIns="45719"/>
          <a:lstStyle/>
          <a:p>
            <a:pPr/>
          </a:p>
        </p:txBody>
      </p:sp>
      <p:sp>
        <p:nvSpPr>
          <p:cNvPr id="64" name="Text 23"/>
          <p:cNvSpPr txBox="1"/>
          <p:nvPr/>
        </p:nvSpPr>
        <p:spPr>
          <a:xfrm>
            <a:off x="6434175" y="2365056"/>
            <a:ext cx="292609"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FFFFFF"/>
                </a:solidFill>
              </a:defRPr>
            </a:lvl1pPr>
          </a:lstStyle>
          <a:p>
            <a:pPr/>
            <a:r>
              <a:t>−</a:t>
            </a:r>
          </a:p>
        </p:txBody>
      </p:sp>
      <p:sp>
        <p:nvSpPr>
          <p:cNvPr id="65" name="Text 24"/>
          <p:cNvSpPr txBox="1"/>
          <p:nvPr/>
        </p:nvSpPr>
        <p:spPr>
          <a:xfrm>
            <a:off x="6891376" y="2121407"/>
            <a:ext cx="4587088"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1B2A24"/>
                </a:solidFill>
              </a:defRPr>
            </a:lvl1pPr>
          </a:lstStyle>
          <a:p>
            <a:pPr/>
            <a:r>
              <a:t>Mémoire</a:t>
            </a:r>
          </a:p>
        </p:txBody>
      </p:sp>
      <p:sp>
        <p:nvSpPr>
          <p:cNvPr id="66" name="Text 25"/>
          <p:cNvSpPr txBox="1"/>
          <p:nvPr/>
        </p:nvSpPr>
        <p:spPr>
          <a:xfrm>
            <a:off x="6891376" y="2468879"/>
            <a:ext cx="4587088"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5B6B63"/>
                </a:solidFill>
              </a:defRPr>
            </a:lvl1pPr>
          </a:lstStyle>
          <a:p>
            <a:pPr/>
            <a:r>
              <a:t>64 jetons par fenêtre au lieu d'un vecteur</a:t>
            </a:r>
          </a:p>
        </p:txBody>
      </p:sp>
      <p:sp>
        <p:nvSpPr>
          <p:cNvPr id="67" name="Shape 26"/>
          <p:cNvSpPr/>
          <p:nvPr/>
        </p:nvSpPr>
        <p:spPr>
          <a:xfrm>
            <a:off x="6233007" y="3035807"/>
            <a:ext cx="5410049" cy="896113"/>
          </a:xfrm>
          <a:prstGeom prst="roundRect">
            <a:avLst>
              <a:gd name="adj" fmla="val 10204"/>
            </a:avLst>
          </a:prstGeom>
          <a:solidFill>
            <a:srgbClr val="F3F7F4"/>
          </a:solidFill>
          <a:ln w="12700">
            <a:solidFill>
              <a:srgbClr val="F3F7F4"/>
            </a:solidFill>
          </a:ln>
        </p:spPr>
        <p:txBody>
          <a:bodyPr lIns="45719" rIns="45719"/>
          <a:lstStyle/>
          <a:p>
            <a:pPr/>
          </a:p>
        </p:txBody>
      </p:sp>
      <p:sp>
        <p:nvSpPr>
          <p:cNvPr id="68" name="Shape 27"/>
          <p:cNvSpPr/>
          <p:nvPr/>
        </p:nvSpPr>
        <p:spPr>
          <a:xfrm>
            <a:off x="6434175" y="3337559"/>
            <a:ext cx="292609" cy="292609"/>
          </a:xfrm>
          <a:prstGeom prst="ellipse">
            <a:avLst/>
          </a:prstGeom>
          <a:solidFill>
            <a:srgbClr val="C8553D"/>
          </a:solidFill>
          <a:ln w="12700">
            <a:solidFill>
              <a:srgbClr val="C8553D"/>
            </a:solidFill>
          </a:ln>
        </p:spPr>
        <p:txBody>
          <a:bodyPr lIns="45719" rIns="45719"/>
          <a:lstStyle/>
          <a:p>
            <a:pPr/>
          </a:p>
        </p:txBody>
      </p:sp>
      <p:sp>
        <p:nvSpPr>
          <p:cNvPr id="69" name="Text 28"/>
          <p:cNvSpPr txBox="1"/>
          <p:nvPr/>
        </p:nvSpPr>
        <p:spPr>
          <a:xfrm>
            <a:off x="6434175" y="3389184"/>
            <a:ext cx="292609"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FFFFFF"/>
                </a:solidFill>
              </a:defRPr>
            </a:lvl1pPr>
          </a:lstStyle>
          <a:p>
            <a:pPr/>
            <a:r>
              <a:t>−</a:t>
            </a:r>
          </a:p>
        </p:txBody>
      </p:sp>
      <p:sp>
        <p:nvSpPr>
          <p:cNvPr id="70" name="Text 29"/>
          <p:cNvSpPr txBox="1"/>
          <p:nvPr/>
        </p:nvSpPr>
        <p:spPr>
          <a:xfrm>
            <a:off x="6891376" y="3145535"/>
            <a:ext cx="4587088"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1B2A24"/>
                </a:solidFill>
              </a:defRPr>
            </a:lvl1pPr>
          </a:lstStyle>
          <a:p>
            <a:pPr/>
            <a:r>
              <a:t>Plus de paramètres</a:t>
            </a:r>
          </a:p>
        </p:txBody>
      </p:sp>
      <p:sp>
        <p:nvSpPr>
          <p:cNvPr id="71" name="Text 30"/>
          <p:cNvSpPr txBox="1"/>
          <p:nvPr/>
        </p:nvSpPr>
        <p:spPr>
          <a:xfrm>
            <a:off x="6891376" y="3493008"/>
            <a:ext cx="4587088"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5B6B63"/>
                </a:solidFill>
              </a:defRPr>
            </a:lvl1pPr>
          </a:lstStyle>
          <a:p>
            <a:pPr/>
            <a:r>
              <a:t>Sur autant de positifs : risque d'apprendre le fond par cœur</a:t>
            </a:r>
          </a:p>
        </p:txBody>
      </p:sp>
      <p:sp>
        <p:nvSpPr>
          <p:cNvPr id="72" name="Shape 31"/>
          <p:cNvSpPr/>
          <p:nvPr/>
        </p:nvSpPr>
        <p:spPr>
          <a:xfrm>
            <a:off x="6233007" y="4059935"/>
            <a:ext cx="5410049" cy="896113"/>
          </a:xfrm>
          <a:prstGeom prst="roundRect">
            <a:avLst>
              <a:gd name="adj" fmla="val 10204"/>
            </a:avLst>
          </a:prstGeom>
          <a:solidFill>
            <a:srgbClr val="F3F7F4"/>
          </a:solidFill>
          <a:ln w="12700">
            <a:solidFill>
              <a:srgbClr val="F3F7F4"/>
            </a:solidFill>
          </a:ln>
        </p:spPr>
        <p:txBody>
          <a:bodyPr lIns="45719" rIns="45719"/>
          <a:lstStyle/>
          <a:p>
            <a:pPr/>
          </a:p>
        </p:txBody>
      </p:sp>
      <p:sp>
        <p:nvSpPr>
          <p:cNvPr id="73" name="Shape 32"/>
          <p:cNvSpPr/>
          <p:nvPr/>
        </p:nvSpPr>
        <p:spPr>
          <a:xfrm>
            <a:off x="6434175" y="4361688"/>
            <a:ext cx="292609" cy="292609"/>
          </a:xfrm>
          <a:prstGeom prst="ellipse">
            <a:avLst/>
          </a:prstGeom>
          <a:solidFill>
            <a:srgbClr val="C8553D"/>
          </a:solidFill>
          <a:ln w="12700">
            <a:solidFill>
              <a:srgbClr val="C8553D"/>
            </a:solidFill>
          </a:ln>
        </p:spPr>
        <p:txBody>
          <a:bodyPr lIns="45719" rIns="45719"/>
          <a:lstStyle/>
          <a:p>
            <a:pPr/>
          </a:p>
        </p:txBody>
      </p:sp>
      <p:sp>
        <p:nvSpPr>
          <p:cNvPr id="74" name="Text 33"/>
          <p:cNvSpPr txBox="1"/>
          <p:nvPr/>
        </p:nvSpPr>
        <p:spPr>
          <a:xfrm>
            <a:off x="6434175" y="4413312"/>
            <a:ext cx="292609"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FFFFFF"/>
                </a:solidFill>
              </a:defRPr>
            </a:lvl1pPr>
          </a:lstStyle>
          <a:p>
            <a:pPr/>
            <a:r>
              <a:t>−</a:t>
            </a:r>
          </a:p>
        </p:txBody>
      </p:sp>
      <p:sp>
        <p:nvSpPr>
          <p:cNvPr id="75" name="Text 34"/>
          <p:cNvSpPr txBox="1"/>
          <p:nvPr/>
        </p:nvSpPr>
        <p:spPr>
          <a:xfrm>
            <a:off x="6891376" y="4169664"/>
            <a:ext cx="4587088"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1B2A24"/>
                </a:solidFill>
              </a:defRPr>
            </a:lvl1pPr>
          </a:lstStyle>
          <a:p>
            <a:pPr/>
            <a:r>
              <a:t>Gain non garanti</a:t>
            </a:r>
          </a:p>
        </p:txBody>
      </p:sp>
      <p:sp>
        <p:nvSpPr>
          <p:cNvPr id="76" name="Text 35"/>
          <p:cNvSpPr txBox="1"/>
          <p:nvPr/>
        </p:nvSpPr>
        <p:spPr>
          <a:xfrm>
            <a:off x="6891376" y="4517135"/>
            <a:ext cx="4587088"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5B6B63"/>
                </a:solidFill>
              </a:defRPr>
            </a:lvl1pPr>
          </a:lstStyle>
          <a:p>
            <a:pPr/>
            <a:r>
              <a:t>BirdCLEF+ 2026 (DS@GT) : −0,013 à −0,035 avec une tête à attention</a:t>
            </a:r>
          </a:p>
        </p:txBody>
      </p:sp>
      <p:sp>
        <p:nvSpPr>
          <p:cNvPr id="77" name="Shape 36"/>
          <p:cNvSpPr/>
          <p:nvPr/>
        </p:nvSpPr>
        <p:spPr>
          <a:xfrm>
            <a:off x="548640" y="5257800"/>
            <a:ext cx="11094416" cy="1005840"/>
          </a:xfrm>
          <a:prstGeom prst="roundRect">
            <a:avLst>
              <a:gd name="adj" fmla="val 9091"/>
            </a:avLst>
          </a:prstGeom>
          <a:solidFill>
            <a:srgbClr val="0E2A24"/>
          </a:solidFill>
          <a:ln w="12700">
            <a:solidFill>
              <a:srgbClr val="0E2A24"/>
            </a:solidFill>
          </a:ln>
        </p:spPr>
        <p:txBody>
          <a:bodyPr lIns="45719" rIns="45719"/>
          <a:lstStyle/>
          <a:p>
            <a:pPr/>
          </a:p>
        </p:txBody>
      </p:sp>
      <p:sp>
        <p:nvSpPr>
          <p:cNvPr id="78" name="Text 37"/>
          <p:cNvSpPr txBox="1"/>
          <p:nvPr/>
        </p:nvSpPr>
        <p:spPr>
          <a:xfrm>
            <a:off x="822960" y="5553141"/>
            <a:ext cx="10545776" cy="4151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500">
                <a:solidFill>
                  <a:srgbClr val="E9B44C"/>
                </a:solidFill>
              </a:defRPr>
            </a:pPr>
            <a:r>
              <a:t>Verdict : </a:t>
            </a:r>
            <a:r>
              <a:rPr b="0">
                <a:solidFill>
                  <a:srgbClr val="FFFFFF"/>
                </a:solidFill>
              </a:rPr>
              <a:t>la logistique reste la tête par défaut. La sonde attentive s'essaie sur tout encodeur qui fournit ses jetons (perch_v2 déjà), et n'est gardée que si elle fait mieux sur des points d'écoute jamais vus à l'entraînement.</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2" name="Shape 0"/>
          <p:cNvSpPr/>
          <p:nvPr/>
        </p:nvSpPr>
        <p:spPr>
          <a:xfrm>
            <a:off x="548640" y="365759"/>
            <a:ext cx="1193292" cy="292610"/>
          </a:xfrm>
          <a:prstGeom prst="roundRect">
            <a:avLst>
              <a:gd name="adj" fmla="val 50000"/>
            </a:avLst>
          </a:prstGeom>
          <a:solidFill>
            <a:srgbClr val="E4EEE8"/>
          </a:solidFill>
          <a:ln w="12700">
            <a:solidFill>
              <a:srgbClr val="E4EEE8"/>
            </a:solidFill>
          </a:ln>
        </p:spPr>
        <p:txBody>
          <a:bodyPr lIns="45719" rIns="45719"/>
          <a:lstStyle/>
          <a:p>
            <a:pPr/>
          </a:p>
        </p:txBody>
      </p:sp>
      <p:sp>
        <p:nvSpPr>
          <p:cNvPr id="83" name="Text 1"/>
          <p:cNvSpPr txBox="1"/>
          <p:nvPr/>
        </p:nvSpPr>
        <p:spPr>
          <a:xfrm>
            <a:off x="548640" y="443528"/>
            <a:ext cx="119329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100" sz="1000">
                <a:solidFill>
                  <a:srgbClr val="2A7F72"/>
                </a:solidFill>
              </a:defRPr>
            </a:lvl1pPr>
          </a:lstStyle>
          <a:p>
            <a:pPr/>
            <a:r>
              <a:t>ÉTAT DE L'ART</a:t>
            </a:r>
          </a:p>
        </p:txBody>
      </p:sp>
      <p:sp>
        <p:nvSpPr>
          <p:cNvPr id="84" name="Text 2"/>
          <p:cNvSpPr txBox="1"/>
          <p:nvPr/>
        </p:nvSpPr>
        <p:spPr>
          <a:xfrm>
            <a:off x="548639" y="860297"/>
            <a:ext cx="11094417"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800">
                <a:solidFill>
                  <a:srgbClr val="1B2A24"/>
                </a:solidFill>
                <a:latin typeface="Cambria"/>
                <a:ea typeface="Cambria"/>
                <a:cs typeface="Cambria"/>
                <a:sym typeface="Cambria"/>
              </a:defRPr>
            </a:lvl1pPr>
          </a:lstStyle>
          <a:p>
            <a:pPr/>
            <a:r>
              <a:t>Ce qui se fait de mieux aujourd'hui</a:t>
            </a:r>
          </a:p>
        </p:txBody>
      </p:sp>
      <p:sp>
        <p:nvSpPr>
          <p:cNvPr id="85" name="Text 3"/>
          <p:cNvSpPr txBox="1"/>
          <p:nvPr/>
        </p:nvSpPr>
        <p:spPr>
          <a:xfrm>
            <a:off x="11277295" y="6473952"/>
            <a:ext cx="457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900">
                <a:solidFill>
                  <a:srgbClr val="A7BFB2"/>
                </a:solidFill>
              </a:defRPr>
            </a:lvl1pPr>
          </a:lstStyle>
          <a:p>
            <a:pPr/>
            <a:r>
              <a:t>5</a:t>
            </a:r>
          </a:p>
        </p:txBody>
      </p:sp>
      <p:sp>
        <p:nvSpPr>
          <p:cNvPr id="86" name="Shape 4"/>
          <p:cNvSpPr/>
          <p:nvPr/>
        </p:nvSpPr>
        <p:spPr>
          <a:xfrm>
            <a:off x="548640" y="1554480"/>
            <a:ext cx="2670735" cy="3429001"/>
          </a:xfrm>
          <a:prstGeom prst="roundRect">
            <a:avLst>
              <a:gd name="adj" fmla="val 3424"/>
            </a:avLst>
          </a:prstGeom>
          <a:solidFill>
            <a:srgbClr val="F3F7F4"/>
          </a:solidFill>
          <a:ln w="12700">
            <a:solidFill>
              <a:srgbClr val="F3F7F4"/>
            </a:solidFill>
          </a:ln>
        </p:spPr>
        <p:txBody>
          <a:bodyPr lIns="45719" rIns="45719"/>
          <a:lstStyle/>
          <a:p>
            <a:pPr/>
          </a:p>
        </p:txBody>
      </p:sp>
      <p:sp>
        <p:nvSpPr>
          <p:cNvPr id="87" name="Shape 5"/>
          <p:cNvSpPr/>
          <p:nvPr/>
        </p:nvSpPr>
        <p:spPr>
          <a:xfrm>
            <a:off x="749808" y="1737360"/>
            <a:ext cx="182881" cy="182881"/>
          </a:xfrm>
          <a:prstGeom prst="ellipse">
            <a:avLst/>
          </a:prstGeom>
          <a:solidFill>
            <a:srgbClr val="2A7F72"/>
          </a:solidFill>
          <a:ln w="12700">
            <a:solidFill>
              <a:srgbClr val="2A7F72"/>
            </a:solidFill>
          </a:ln>
        </p:spPr>
        <p:txBody>
          <a:bodyPr lIns="45719" rIns="45719"/>
          <a:lstStyle/>
          <a:p>
            <a:pPr/>
          </a:p>
        </p:txBody>
      </p:sp>
      <p:sp>
        <p:nvSpPr>
          <p:cNvPr id="88" name="Text 6"/>
          <p:cNvSpPr txBox="1"/>
          <p:nvPr/>
        </p:nvSpPr>
        <p:spPr>
          <a:xfrm>
            <a:off x="1024127" y="1664207"/>
            <a:ext cx="2076376"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2A7F72"/>
                </a:solidFill>
              </a:defRPr>
            </a:lvl1pPr>
          </a:lstStyle>
          <a:p>
            <a:pPr/>
            <a:r>
              <a:t>Encodeurs</a:t>
            </a:r>
          </a:p>
        </p:txBody>
      </p:sp>
      <p:sp>
        <p:nvSpPr>
          <p:cNvPr id="89" name="Text 7"/>
          <p:cNvSpPr txBox="1"/>
          <p:nvPr/>
        </p:nvSpPr>
        <p:spPr>
          <a:xfrm>
            <a:off x="749808" y="2194560"/>
            <a:ext cx="2304975" cy="2246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177800" indent="-177800">
              <a:spcBef>
                <a:spcPts val="1200"/>
              </a:spcBef>
              <a:buSzPct val="100000"/>
              <a:buChar char="•"/>
              <a:defRPr b="1" sz="1400">
                <a:solidFill>
                  <a:srgbClr val="1B2A24"/>
                </a:solidFill>
              </a:defRPr>
            </a:pPr>
            <a:r>
              <a:t>Perch 2.0</a:t>
            </a:r>
            <a:r>
              <a:rPr b="0"/>
              <a:t> : la référence avec tête linéaire, BirdSet 0,908</a:t>
            </a:r>
          </a:p>
          <a:p>
            <a:pPr marL="177800" indent="-177800">
              <a:spcBef>
                <a:spcPts val="1200"/>
              </a:spcBef>
              <a:buSzPct val="100000"/>
              <a:buChar char="•"/>
              <a:defRPr b="1" sz="1400">
                <a:solidFill>
                  <a:srgbClr val="1B2A24"/>
                </a:solidFill>
              </a:defRPr>
            </a:pPr>
            <a:r>
              <a:t>MetaPerch</a:t>
            </a:r>
            <a:r>
              <a:rPr b="0"/>
              <a:t> (2026) : annoncé comme étant le meilleur en Amérique du Sud</a:t>
            </a:r>
          </a:p>
          <a:p>
            <a:pPr marL="177800" indent="-177800">
              <a:spcBef>
                <a:spcPts val="1200"/>
              </a:spcBef>
              <a:buSzPct val="100000"/>
              <a:buChar char="•"/>
              <a:defRPr b="1" sz="1400">
                <a:solidFill>
                  <a:srgbClr val="1B2A24"/>
                </a:solidFill>
              </a:defRPr>
            </a:pPr>
            <a:r>
              <a:t>Bird-MAE, NatureBEATs</a:t>
            </a:r>
            <a:r>
              <a:rPr b="0"/>
              <a:t> : forts avec une tête sur jetons</a:t>
            </a:r>
          </a:p>
          <a:p>
            <a:pPr marL="177800" indent="-177800">
              <a:spcBef>
                <a:spcPts val="1200"/>
              </a:spcBef>
              <a:buSzPct val="100000"/>
              <a:buChar char="•"/>
              <a:defRPr b="1" sz="1400">
                <a:solidFill>
                  <a:srgbClr val="1B2A24"/>
                </a:solidFill>
              </a:defRPr>
            </a:pPr>
            <a:r>
              <a:t>BirdNET+ V3</a:t>
            </a:r>
            <a:r>
              <a:rPr b="0"/>
              <a:t> : en préversion</a:t>
            </a:r>
          </a:p>
        </p:txBody>
      </p:sp>
      <p:sp>
        <p:nvSpPr>
          <p:cNvPr id="90" name="Shape 8"/>
          <p:cNvSpPr/>
          <p:nvPr/>
        </p:nvSpPr>
        <p:spPr>
          <a:xfrm>
            <a:off x="3356533" y="1554480"/>
            <a:ext cx="2670735" cy="3429001"/>
          </a:xfrm>
          <a:prstGeom prst="roundRect">
            <a:avLst>
              <a:gd name="adj" fmla="val 3424"/>
            </a:avLst>
          </a:prstGeom>
          <a:solidFill>
            <a:srgbClr val="F3F7F4"/>
          </a:solidFill>
          <a:ln w="12700">
            <a:solidFill>
              <a:srgbClr val="F3F7F4"/>
            </a:solidFill>
          </a:ln>
        </p:spPr>
        <p:txBody>
          <a:bodyPr lIns="45719" rIns="45719"/>
          <a:lstStyle/>
          <a:p>
            <a:pPr/>
          </a:p>
        </p:txBody>
      </p:sp>
      <p:sp>
        <p:nvSpPr>
          <p:cNvPr id="91" name="Shape 9"/>
          <p:cNvSpPr/>
          <p:nvPr/>
        </p:nvSpPr>
        <p:spPr>
          <a:xfrm>
            <a:off x="3557701" y="1737360"/>
            <a:ext cx="182881" cy="182881"/>
          </a:xfrm>
          <a:prstGeom prst="ellipse">
            <a:avLst/>
          </a:prstGeom>
          <a:solidFill>
            <a:srgbClr val="3E7CB1"/>
          </a:solidFill>
          <a:ln w="12700">
            <a:solidFill>
              <a:srgbClr val="3E7CB1"/>
            </a:solidFill>
          </a:ln>
        </p:spPr>
        <p:txBody>
          <a:bodyPr lIns="45719" rIns="45719"/>
          <a:lstStyle/>
          <a:p>
            <a:pPr/>
          </a:p>
        </p:txBody>
      </p:sp>
      <p:sp>
        <p:nvSpPr>
          <p:cNvPr id="92" name="Text 10"/>
          <p:cNvSpPr txBox="1"/>
          <p:nvPr/>
        </p:nvSpPr>
        <p:spPr>
          <a:xfrm>
            <a:off x="3832021" y="1664207"/>
            <a:ext cx="2076375"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3E7CB1"/>
                </a:solidFill>
              </a:defRPr>
            </a:lvl1pPr>
          </a:lstStyle>
          <a:p>
            <a:pPr/>
            <a:r>
              <a:t>Chaînes (BirdCLEF+ 2026)</a:t>
            </a:r>
          </a:p>
        </p:txBody>
      </p:sp>
      <p:sp>
        <p:nvSpPr>
          <p:cNvPr id="93" name="Text 11"/>
          <p:cNvSpPr txBox="1"/>
          <p:nvPr/>
        </p:nvSpPr>
        <p:spPr>
          <a:xfrm>
            <a:off x="3557701" y="2194560"/>
            <a:ext cx="2304975" cy="2094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177800" indent="-177800">
              <a:spcBef>
                <a:spcPts val="1200"/>
              </a:spcBef>
              <a:buSzPct val="100000"/>
              <a:buChar char="•"/>
              <a:defRPr b="1" sz="1400">
                <a:solidFill>
                  <a:srgbClr val="1B2A24"/>
                </a:solidFill>
              </a:defRPr>
            </a:pPr>
            <a:r>
              <a:t>Distillation</a:t>
            </a:r>
            <a:r>
              <a:rPr b="0"/>
              <a:t> : Perch v2 professeur d'un CNN rapide</a:t>
            </a:r>
          </a:p>
          <a:p>
            <a:pPr marL="177800" indent="-177800">
              <a:spcBef>
                <a:spcPts val="1200"/>
              </a:spcBef>
              <a:buSzPct val="100000"/>
              <a:buChar char="•"/>
              <a:defRPr b="1" sz="1400">
                <a:solidFill>
                  <a:srgbClr val="1B2A24"/>
                </a:solidFill>
              </a:defRPr>
            </a:pPr>
            <a:r>
              <a:t>Pseudo-labels</a:t>
            </a:r>
            <a:r>
              <a:rPr b="0"/>
              <a:t> : le modèle annote l'audio non étiqueté</a:t>
            </a:r>
          </a:p>
          <a:p>
            <a:pPr marL="177800" indent="-177800">
              <a:spcBef>
                <a:spcPts val="1200"/>
              </a:spcBef>
              <a:buSzPct val="100000"/>
              <a:buChar char="•"/>
              <a:defRPr b="1" sz="1400">
                <a:solidFill>
                  <a:srgbClr val="1B2A24"/>
                </a:solidFill>
              </a:defRPr>
            </a:pPr>
            <a:r>
              <a:t>A priori sur les chant :</a:t>
            </a:r>
            <a:r>
              <a:rPr b="0"/>
              <a:t>, lissage dans le temps (les fenêtres partagent leur score avec les voisines)</a:t>
            </a:r>
          </a:p>
        </p:txBody>
      </p:sp>
      <p:sp>
        <p:nvSpPr>
          <p:cNvPr id="94" name="Shape 12"/>
          <p:cNvSpPr/>
          <p:nvPr/>
        </p:nvSpPr>
        <p:spPr>
          <a:xfrm>
            <a:off x="6164427" y="1554480"/>
            <a:ext cx="2670736" cy="3429001"/>
          </a:xfrm>
          <a:prstGeom prst="roundRect">
            <a:avLst>
              <a:gd name="adj" fmla="val 3424"/>
            </a:avLst>
          </a:prstGeom>
          <a:solidFill>
            <a:srgbClr val="F3F7F4"/>
          </a:solidFill>
          <a:ln w="12700">
            <a:solidFill>
              <a:srgbClr val="F3F7F4"/>
            </a:solidFill>
          </a:ln>
        </p:spPr>
        <p:txBody>
          <a:bodyPr lIns="45719" rIns="45719"/>
          <a:lstStyle/>
          <a:p>
            <a:pPr/>
          </a:p>
        </p:txBody>
      </p:sp>
      <p:sp>
        <p:nvSpPr>
          <p:cNvPr id="95" name="Shape 13"/>
          <p:cNvSpPr/>
          <p:nvPr/>
        </p:nvSpPr>
        <p:spPr>
          <a:xfrm>
            <a:off x="6365595" y="1737360"/>
            <a:ext cx="182881" cy="182881"/>
          </a:xfrm>
          <a:prstGeom prst="ellipse">
            <a:avLst/>
          </a:prstGeom>
          <a:solidFill>
            <a:srgbClr val="8A5A00"/>
          </a:solidFill>
          <a:ln w="12700">
            <a:solidFill>
              <a:srgbClr val="8A5A00"/>
            </a:solidFill>
          </a:ln>
        </p:spPr>
        <p:txBody>
          <a:bodyPr lIns="45719" rIns="45719"/>
          <a:lstStyle/>
          <a:p>
            <a:pPr/>
          </a:p>
        </p:txBody>
      </p:sp>
      <p:sp>
        <p:nvSpPr>
          <p:cNvPr id="96" name="Text 14"/>
          <p:cNvSpPr txBox="1"/>
          <p:nvPr/>
        </p:nvSpPr>
        <p:spPr>
          <a:xfrm>
            <a:off x="6639915" y="1664207"/>
            <a:ext cx="2076375"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8A5A00"/>
                </a:solidFill>
              </a:defRPr>
            </a:lvl1pPr>
          </a:lstStyle>
          <a:p>
            <a:pPr/>
            <a:r>
              <a:t>Ensembles</a:t>
            </a:r>
          </a:p>
        </p:txBody>
      </p:sp>
      <p:sp>
        <p:nvSpPr>
          <p:cNvPr id="97" name="Text 15"/>
          <p:cNvSpPr txBox="1"/>
          <p:nvPr/>
        </p:nvSpPr>
        <p:spPr>
          <a:xfrm>
            <a:off x="6365595" y="2194560"/>
            <a:ext cx="2304975" cy="10275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177800" indent="-177800">
              <a:spcBef>
                <a:spcPts val="1200"/>
              </a:spcBef>
              <a:buSzPct val="100000"/>
              <a:buChar char="•"/>
              <a:defRPr b="1" sz="1400">
                <a:solidFill>
                  <a:srgbClr val="1B2A24"/>
                </a:solidFill>
              </a:defRPr>
            </a:pPr>
            <a:r>
              <a:t>Tout le top 5</a:t>
            </a:r>
            <a:r>
              <a:rPr b="0"/>
              <a:t> : 3 à 10 modèles combinés</a:t>
            </a:r>
          </a:p>
          <a:p>
            <a:pPr marL="177800" indent="-177800">
              <a:spcBef>
                <a:spcPts val="1200"/>
              </a:spcBef>
              <a:buSzPct val="100000"/>
              <a:buChar char="•"/>
              <a:defRPr b="1" sz="1400">
                <a:solidFill>
                  <a:srgbClr val="1B2A24"/>
                </a:solidFill>
              </a:defRPr>
            </a:pPr>
            <a:r>
              <a:t>La diversité</a:t>
            </a:r>
            <a:r>
              <a:rPr b="0"/>
              <a:t> rapporte plus que le meilleur modèle seul</a:t>
            </a:r>
          </a:p>
        </p:txBody>
      </p:sp>
      <p:sp>
        <p:nvSpPr>
          <p:cNvPr id="98" name="Shape 16"/>
          <p:cNvSpPr/>
          <p:nvPr/>
        </p:nvSpPr>
        <p:spPr>
          <a:xfrm>
            <a:off x="8972321" y="1554480"/>
            <a:ext cx="2670735" cy="3429001"/>
          </a:xfrm>
          <a:prstGeom prst="roundRect">
            <a:avLst>
              <a:gd name="adj" fmla="val 3424"/>
            </a:avLst>
          </a:prstGeom>
          <a:solidFill>
            <a:srgbClr val="F3F7F4"/>
          </a:solidFill>
          <a:ln w="12700">
            <a:solidFill>
              <a:srgbClr val="F3F7F4"/>
            </a:solidFill>
          </a:ln>
        </p:spPr>
        <p:txBody>
          <a:bodyPr lIns="45719" rIns="45719"/>
          <a:lstStyle/>
          <a:p>
            <a:pPr/>
          </a:p>
        </p:txBody>
      </p:sp>
      <p:sp>
        <p:nvSpPr>
          <p:cNvPr id="99" name="Shape 17"/>
          <p:cNvSpPr/>
          <p:nvPr/>
        </p:nvSpPr>
        <p:spPr>
          <a:xfrm>
            <a:off x="9173488" y="1737360"/>
            <a:ext cx="182881" cy="182881"/>
          </a:xfrm>
          <a:prstGeom prst="ellipse">
            <a:avLst/>
          </a:prstGeom>
          <a:solidFill>
            <a:srgbClr val="C8553D"/>
          </a:solidFill>
          <a:ln w="12700">
            <a:solidFill>
              <a:srgbClr val="C8553D"/>
            </a:solidFill>
          </a:ln>
        </p:spPr>
        <p:txBody>
          <a:bodyPr lIns="45719" rIns="45719"/>
          <a:lstStyle/>
          <a:p>
            <a:pPr/>
          </a:p>
        </p:txBody>
      </p:sp>
      <p:sp>
        <p:nvSpPr>
          <p:cNvPr id="100" name="Text 18"/>
          <p:cNvSpPr txBox="1"/>
          <p:nvPr/>
        </p:nvSpPr>
        <p:spPr>
          <a:xfrm>
            <a:off x="9447809" y="1664207"/>
            <a:ext cx="2076375"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C8553D"/>
                </a:solidFill>
              </a:defRPr>
            </a:lvl1pPr>
          </a:lstStyle>
          <a:p>
            <a:pPr/>
            <a:r>
              <a:t>Anoures, amphibiens</a:t>
            </a:r>
          </a:p>
        </p:txBody>
      </p:sp>
      <p:sp>
        <p:nvSpPr>
          <p:cNvPr id="101" name="Text 19"/>
          <p:cNvSpPr txBox="1"/>
          <p:nvPr/>
        </p:nvSpPr>
        <p:spPr>
          <a:xfrm>
            <a:off x="9173488" y="2194560"/>
            <a:ext cx="2304975" cy="1484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177800" indent="-177800">
              <a:spcBef>
                <a:spcPts val="1200"/>
              </a:spcBef>
              <a:buSzPct val="100000"/>
              <a:buChar char="•"/>
              <a:defRPr b="1" sz="1400">
                <a:solidFill>
                  <a:srgbClr val="1B2A24"/>
                </a:solidFill>
              </a:defRPr>
            </a:pPr>
            <a:r>
              <a:t>Pas de modèle dédié</a:t>
            </a:r>
            <a:r>
              <a:rPr b="0"/>
              <a:t> : transfert à partir d’embeddings d'oiseaux</a:t>
            </a:r>
          </a:p>
          <a:p>
            <a:pPr marL="177800" indent="-177800">
              <a:spcBef>
                <a:spcPts val="1200"/>
              </a:spcBef>
              <a:buSzPct val="100000"/>
              <a:buChar char="•"/>
              <a:defRPr b="1" sz="1400">
                <a:solidFill>
                  <a:srgbClr val="1B2A24"/>
                </a:solidFill>
              </a:defRPr>
            </a:pPr>
            <a:r>
              <a:t>Transfert + tête simple</a:t>
            </a:r>
            <a:r>
              <a:rPr b="0"/>
              <a:t> bat gabarits, CNN dédié et zéro-shot (2025)</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5" name="Shape 0"/>
          <p:cNvSpPr/>
          <p:nvPr/>
        </p:nvSpPr>
        <p:spPr>
          <a:xfrm>
            <a:off x="548640" y="365759"/>
            <a:ext cx="1737361" cy="292610"/>
          </a:xfrm>
          <a:prstGeom prst="roundRect">
            <a:avLst>
              <a:gd name="adj" fmla="val 50000"/>
            </a:avLst>
          </a:prstGeom>
          <a:solidFill>
            <a:srgbClr val="E4EEE8"/>
          </a:solidFill>
          <a:ln w="12700">
            <a:solidFill>
              <a:srgbClr val="E4EEE8"/>
            </a:solidFill>
          </a:ln>
        </p:spPr>
        <p:txBody>
          <a:bodyPr lIns="45719" rIns="45719"/>
          <a:lstStyle/>
          <a:p>
            <a:pPr/>
          </a:p>
        </p:txBody>
      </p:sp>
      <p:sp>
        <p:nvSpPr>
          <p:cNvPr id="106" name="Text 1"/>
          <p:cNvSpPr txBox="1"/>
          <p:nvPr/>
        </p:nvSpPr>
        <p:spPr>
          <a:xfrm>
            <a:off x="548640" y="443528"/>
            <a:ext cx="173736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100" sz="1000">
                <a:solidFill>
                  <a:srgbClr val="2A7F72"/>
                </a:solidFill>
              </a:defRPr>
            </a:lvl1pPr>
          </a:lstStyle>
          <a:p>
            <a:pPr/>
            <a:r>
              <a:t>BIRDCLEF+ 2026 · 1/2</a:t>
            </a:r>
          </a:p>
        </p:txBody>
      </p:sp>
      <p:sp>
        <p:nvSpPr>
          <p:cNvPr id="107" name="Text 2"/>
          <p:cNvSpPr txBox="1"/>
          <p:nvPr/>
        </p:nvSpPr>
        <p:spPr>
          <a:xfrm>
            <a:off x="548639" y="860297"/>
            <a:ext cx="11094417"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800">
                <a:solidFill>
                  <a:srgbClr val="1B2A24"/>
                </a:solidFill>
                <a:latin typeface="Cambria"/>
                <a:ea typeface="Cambria"/>
                <a:cs typeface="Cambria"/>
                <a:sym typeface="Cambria"/>
              </a:defRPr>
            </a:lvl1pPr>
          </a:lstStyle>
          <a:p>
            <a:pPr/>
            <a:r>
              <a:t>Le concours et les solutions du top 5</a:t>
            </a:r>
          </a:p>
        </p:txBody>
      </p:sp>
      <p:sp>
        <p:nvSpPr>
          <p:cNvPr id="108" name="Text 3"/>
          <p:cNvSpPr txBox="1"/>
          <p:nvPr/>
        </p:nvSpPr>
        <p:spPr>
          <a:xfrm>
            <a:off x="11277295" y="6473952"/>
            <a:ext cx="457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900">
                <a:solidFill>
                  <a:srgbClr val="A7BFB2"/>
                </a:solidFill>
              </a:defRPr>
            </a:lvl1pPr>
          </a:lstStyle>
          <a:p>
            <a:pPr/>
            <a:r>
              <a:t>6</a:t>
            </a:r>
          </a:p>
        </p:txBody>
      </p:sp>
      <p:sp>
        <p:nvSpPr>
          <p:cNvPr id="109" name="Shape 4"/>
          <p:cNvSpPr/>
          <p:nvPr/>
        </p:nvSpPr>
        <p:spPr>
          <a:xfrm>
            <a:off x="548640" y="1554480"/>
            <a:ext cx="2926080" cy="1444753"/>
          </a:xfrm>
          <a:prstGeom prst="roundRect">
            <a:avLst>
              <a:gd name="adj" fmla="val 6329"/>
            </a:avLst>
          </a:prstGeom>
          <a:solidFill>
            <a:srgbClr val="F3F7F4"/>
          </a:solidFill>
          <a:ln w="12700">
            <a:solidFill>
              <a:srgbClr val="F3F7F4"/>
            </a:solidFill>
          </a:ln>
        </p:spPr>
        <p:txBody>
          <a:bodyPr lIns="45719" rIns="45719"/>
          <a:lstStyle/>
          <a:p>
            <a:pPr/>
          </a:p>
        </p:txBody>
      </p:sp>
      <p:sp>
        <p:nvSpPr>
          <p:cNvPr id="110" name="Text 5"/>
          <p:cNvSpPr txBox="1"/>
          <p:nvPr/>
        </p:nvSpPr>
        <p:spPr>
          <a:xfrm>
            <a:off x="731519" y="1645920"/>
            <a:ext cx="2606041"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000">
                <a:solidFill>
                  <a:srgbClr val="8A5A00"/>
                </a:solidFill>
                <a:latin typeface="Cambria"/>
                <a:ea typeface="Cambria"/>
                <a:cs typeface="Cambria"/>
                <a:sym typeface="Cambria"/>
              </a:defRPr>
            </a:lvl1pPr>
          </a:lstStyle>
          <a:p>
            <a:pPr/>
            <a:r>
              <a:t>234 classes</a:t>
            </a:r>
          </a:p>
        </p:txBody>
      </p:sp>
      <p:sp>
        <p:nvSpPr>
          <p:cNvPr id="111" name="Text 6"/>
          <p:cNvSpPr txBox="1"/>
          <p:nvPr/>
        </p:nvSpPr>
        <p:spPr>
          <a:xfrm>
            <a:off x="731519" y="2121407"/>
            <a:ext cx="2606041" cy="2993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5B6B63"/>
                </a:solidFill>
              </a:defRPr>
            </a:lvl1pPr>
          </a:lstStyle>
          <a:p>
            <a:pPr/>
            <a:r>
              <a:t>162 oiseaux, 35 amphibiens, 28 types de sons d'insectes, 8 mammifères, 1 reptile</a:t>
            </a:r>
          </a:p>
        </p:txBody>
      </p:sp>
      <p:sp>
        <p:nvSpPr>
          <p:cNvPr id="112" name="Shape 7"/>
          <p:cNvSpPr/>
          <p:nvPr/>
        </p:nvSpPr>
        <p:spPr>
          <a:xfrm>
            <a:off x="548640" y="3127248"/>
            <a:ext cx="2926080" cy="1444753"/>
          </a:xfrm>
          <a:prstGeom prst="roundRect">
            <a:avLst>
              <a:gd name="adj" fmla="val 6329"/>
            </a:avLst>
          </a:prstGeom>
          <a:solidFill>
            <a:srgbClr val="F3F7F4"/>
          </a:solidFill>
          <a:ln w="12700">
            <a:solidFill>
              <a:srgbClr val="F3F7F4"/>
            </a:solidFill>
          </a:ln>
        </p:spPr>
        <p:txBody>
          <a:bodyPr lIns="45719" rIns="45719"/>
          <a:lstStyle/>
          <a:p>
            <a:pPr/>
          </a:p>
        </p:txBody>
      </p:sp>
      <p:sp>
        <p:nvSpPr>
          <p:cNvPr id="113" name="Text 8"/>
          <p:cNvSpPr txBox="1"/>
          <p:nvPr/>
        </p:nvSpPr>
        <p:spPr>
          <a:xfrm>
            <a:off x="731519" y="3218688"/>
            <a:ext cx="2606041"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000">
                <a:solidFill>
                  <a:srgbClr val="8A5A00"/>
                </a:solidFill>
                <a:latin typeface="Cambria"/>
                <a:ea typeface="Cambria"/>
                <a:cs typeface="Cambria"/>
                <a:sym typeface="Cambria"/>
              </a:defRPr>
            </a:lvl1pPr>
          </a:lstStyle>
          <a:p>
            <a:pPr/>
            <a:r>
              <a:t>522 h d'audio</a:t>
            </a:r>
          </a:p>
        </p:txBody>
      </p:sp>
      <p:sp>
        <p:nvSpPr>
          <p:cNvPr id="114" name="Text 9"/>
          <p:cNvSpPr txBox="1"/>
          <p:nvPr/>
        </p:nvSpPr>
        <p:spPr>
          <a:xfrm>
            <a:off x="731519" y="3694176"/>
            <a:ext cx="2606041" cy="4644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5B6B63"/>
                </a:solidFill>
              </a:defRPr>
            </a:lvl1pPr>
          </a:lstStyle>
          <a:p>
            <a:pPr/>
            <a:r>
              <a:t>344 h d'enregistrements ciblés (Xeno-canto, iNaturalist) + 178 h de paysages sonores de 23 sites, dont 1 h étiquetée</a:t>
            </a:r>
          </a:p>
        </p:txBody>
      </p:sp>
      <p:sp>
        <p:nvSpPr>
          <p:cNvPr id="115" name="Shape 10"/>
          <p:cNvSpPr/>
          <p:nvPr/>
        </p:nvSpPr>
        <p:spPr>
          <a:xfrm>
            <a:off x="548640" y="4700015"/>
            <a:ext cx="2926080" cy="1444753"/>
          </a:xfrm>
          <a:prstGeom prst="roundRect">
            <a:avLst>
              <a:gd name="adj" fmla="val 6329"/>
            </a:avLst>
          </a:prstGeom>
          <a:solidFill>
            <a:srgbClr val="0E2A24"/>
          </a:solidFill>
          <a:ln w="12700">
            <a:solidFill>
              <a:srgbClr val="0E2A24"/>
            </a:solidFill>
          </a:ln>
        </p:spPr>
        <p:txBody>
          <a:bodyPr lIns="45719" rIns="45719"/>
          <a:lstStyle/>
          <a:p>
            <a:pPr/>
          </a:p>
        </p:txBody>
      </p:sp>
      <p:sp>
        <p:nvSpPr>
          <p:cNvPr id="116" name="Text 11"/>
          <p:cNvSpPr txBox="1"/>
          <p:nvPr/>
        </p:nvSpPr>
        <p:spPr>
          <a:xfrm>
            <a:off x="731519" y="4791455"/>
            <a:ext cx="2606041"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000">
                <a:solidFill>
                  <a:srgbClr val="E9B44C"/>
                </a:solidFill>
                <a:latin typeface="Cambria"/>
                <a:ea typeface="Cambria"/>
                <a:cs typeface="Cambria"/>
                <a:sym typeface="Cambria"/>
              </a:defRPr>
            </a:lvl1pPr>
          </a:lstStyle>
          <a:p>
            <a:pPr/>
            <a:r>
              <a:t>CPU, 90 min</a:t>
            </a:r>
          </a:p>
        </p:txBody>
      </p:sp>
      <p:sp>
        <p:nvSpPr>
          <p:cNvPr id="117" name="Text 12"/>
          <p:cNvSpPr txBox="1"/>
          <p:nvPr/>
        </p:nvSpPr>
        <p:spPr>
          <a:xfrm>
            <a:off x="731519" y="5266944"/>
            <a:ext cx="2606041" cy="2993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FFFFFF"/>
                </a:solidFill>
              </a:defRPr>
            </a:lvl1pPr>
          </a:lstStyle>
          <a:p>
            <a:pPr/>
            <a:r>
              <a:t>un notebook sur 4 cœurs, sans GPU ni internet, pour prédire tout le test</a:t>
            </a:r>
          </a:p>
        </p:txBody>
      </p:sp>
      <p:graphicFrame>
        <p:nvGraphicFramePr>
          <p:cNvPr id="118" name="Table 0"/>
          <p:cNvGraphicFramePr/>
          <p:nvPr/>
        </p:nvGraphicFramePr>
        <p:xfrm>
          <a:off x="3657600" y="1559096"/>
          <a:ext cx="8339160" cy="3439825"/>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556243"/>
                <a:gridCol w="1618161"/>
                <a:gridCol w="960783"/>
                <a:gridCol w="3273175"/>
                <a:gridCol w="1924446"/>
              </a:tblGrid>
              <a:tr h="566928">
                <a:tc>
                  <a:txBody>
                    <a:bodyPr/>
                    <a:lstStyle/>
                    <a:p>
                      <a:pPr algn="l">
                        <a:defRPr sz="1800"/>
                      </a:pPr>
                      <a:r>
                        <a:rPr b="1" sz="1100">
                          <a:solidFill>
                            <a:srgbClr val="FFFFFF"/>
                          </a:solidFill>
                        </a:rPr>
                        <a:t>Rang</a:t>
                      </a:r>
                    </a:p>
                  </a:txBody>
                  <a:tcPr marL="64008" marR="64008" marT="64008" marB="64008" anchor="ctr" anchorCtr="0" horzOverflow="overflow">
                    <a:lnL w="6350">
                      <a:solidFill>
                        <a:srgbClr val="CFDDD5"/>
                      </a:solidFill>
                    </a:lnL>
                    <a:lnR w="6350">
                      <a:solidFill>
                        <a:srgbClr val="CFDDD5"/>
                      </a:solidFill>
                    </a:lnR>
                    <a:lnT w="6350">
                      <a:solidFill>
                        <a:srgbClr val="CFDDD5"/>
                      </a:solidFill>
                    </a:lnT>
                    <a:lnB w="6350">
                      <a:solidFill>
                        <a:srgbClr val="CFDDD5"/>
                      </a:solidFill>
                    </a:lnB>
                    <a:solidFill>
                      <a:srgbClr val="0E2A24"/>
                    </a:solidFill>
                  </a:tcPr>
                </a:tc>
                <a:tc>
                  <a:txBody>
                    <a:bodyPr/>
                    <a:lstStyle/>
                    <a:p>
                      <a:pPr algn="l">
                        <a:defRPr sz="1800"/>
                      </a:pPr>
                      <a:r>
                        <a:rPr b="1" sz="1100">
                          <a:solidFill>
                            <a:srgbClr val="FFFFFF"/>
                          </a:solidFill>
                        </a:rPr>
                        <a:t>Équipe</a:t>
                      </a:r>
                    </a:p>
                  </a:txBody>
                  <a:tcPr marL="64008" marR="64008" marT="64008" marB="64008" anchor="ctr" anchorCtr="0" horzOverflow="overflow">
                    <a:lnL w="6350">
                      <a:solidFill>
                        <a:srgbClr val="CFDDD5"/>
                      </a:solidFill>
                    </a:lnL>
                    <a:lnR w="6350">
                      <a:solidFill>
                        <a:srgbClr val="CFDDD5"/>
                      </a:solidFill>
                    </a:lnR>
                    <a:lnT w="6350">
                      <a:solidFill>
                        <a:srgbClr val="CFDDD5"/>
                      </a:solidFill>
                    </a:lnT>
                    <a:lnB w="6350">
                      <a:solidFill>
                        <a:srgbClr val="CFDDD5"/>
                      </a:solidFill>
                    </a:lnB>
                    <a:solidFill>
                      <a:srgbClr val="0E2A24"/>
                    </a:solidFill>
                  </a:tcPr>
                </a:tc>
                <a:tc>
                  <a:txBody>
                    <a:bodyPr/>
                    <a:lstStyle/>
                    <a:p>
                      <a:pPr algn="l">
                        <a:defRPr sz="1800"/>
                      </a:pPr>
                      <a:r>
                        <a:rPr b="1" sz="1100">
                          <a:solidFill>
                            <a:srgbClr val="FFFFFF"/>
                          </a:solidFill>
                        </a:rPr>
                        <a:t>Score final</a:t>
                      </a:r>
                    </a:p>
                  </a:txBody>
                  <a:tcPr marL="64008" marR="64008" marT="64008" marB="64008" anchor="ctr" anchorCtr="0" horzOverflow="overflow">
                    <a:lnL w="6350">
                      <a:solidFill>
                        <a:srgbClr val="CFDDD5"/>
                      </a:solidFill>
                    </a:lnL>
                    <a:lnR w="6350">
                      <a:solidFill>
                        <a:srgbClr val="CFDDD5"/>
                      </a:solidFill>
                    </a:lnR>
                    <a:lnT w="6350">
                      <a:solidFill>
                        <a:srgbClr val="CFDDD5"/>
                      </a:solidFill>
                    </a:lnT>
                    <a:lnB w="6350">
                      <a:solidFill>
                        <a:srgbClr val="CFDDD5"/>
                      </a:solidFill>
                    </a:lnB>
                    <a:solidFill>
                      <a:srgbClr val="0E2A24"/>
                    </a:solidFill>
                  </a:tcPr>
                </a:tc>
                <a:tc>
                  <a:txBody>
                    <a:bodyPr/>
                    <a:lstStyle/>
                    <a:p>
                      <a:pPr algn="l">
                        <a:defRPr sz="1800"/>
                      </a:pPr>
                      <a:r>
                        <a:rPr b="1" sz="1100">
                          <a:solidFill>
                            <a:srgbClr val="FFFFFF"/>
                          </a:solidFill>
                        </a:rPr>
                        <a:t>Approche</a:t>
                      </a:r>
                    </a:p>
                  </a:txBody>
                  <a:tcPr marL="64008" marR="64008" marT="64008" marB="64008" anchor="ctr" anchorCtr="0" horzOverflow="overflow">
                    <a:lnL w="6350">
                      <a:solidFill>
                        <a:srgbClr val="CFDDD5"/>
                      </a:solidFill>
                    </a:lnL>
                    <a:lnR w="6350">
                      <a:solidFill>
                        <a:srgbClr val="CFDDD5"/>
                      </a:solidFill>
                    </a:lnR>
                    <a:lnT w="6350">
                      <a:solidFill>
                        <a:srgbClr val="CFDDD5"/>
                      </a:solidFill>
                    </a:lnT>
                    <a:lnB w="6350">
                      <a:solidFill>
                        <a:srgbClr val="CFDDD5"/>
                      </a:solidFill>
                    </a:lnB>
                    <a:solidFill>
                      <a:srgbClr val="0E2A24"/>
                    </a:solidFill>
                  </a:tcPr>
                </a:tc>
                <a:tc>
                  <a:txBody>
                    <a:bodyPr/>
                    <a:lstStyle/>
                    <a:p>
                      <a:pPr algn="l">
                        <a:defRPr sz="1800"/>
                      </a:pPr>
                      <a:r>
                        <a:rPr b="1" sz="1100">
                          <a:solidFill>
                            <a:srgbClr val="FFFFFF"/>
                          </a:solidFill>
                        </a:rPr>
                        <a:t>Particularité</a:t>
                      </a:r>
                    </a:p>
                  </a:txBody>
                  <a:tcPr marL="64008" marR="64008" marT="64008" marB="64008" anchor="ctr" anchorCtr="0" horzOverflow="overflow">
                    <a:lnL w="6350">
                      <a:solidFill>
                        <a:srgbClr val="CFDDD5"/>
                      </a:solidFill>
                    </a:lnL>
                    <a:lnR w="6350">
                      <a:solidFill>
                        <a:srgbClr val="CFDDD5"/>
                      </a:solidFill>
                    </a:lnR>
                    <a:lnT w="6350">
                      <a:solidFill>
                        <a:srgbClr val="CFDDD5"/>
                      </a:solidFill>
                    </a:lnT>
                    <a:lnB w="6350">
                      <a:solidFill>
                        <a:srgbClr val="CFDDD5"/>
                      </a:solidFill>
                    </a:lnB>
                    <a:solidFill>
                      <a:srgbClr val="0E2A24"/>
                    </a:solidFill>
                  </a:tcPr>
                </a:tc>
              </a:tr>
              <a:tr h="566928">
                <a:tc>
                  <a:txBody>
                    <a:bodyPr/>
                    <a:lstStyle/>
                    <a:p>
                      <a:pPr algn="l">
                        <a:defRPr sz="1800"/>
                      </a:pPr>
                      <a:r>
                        <a:rPr sz="1100">
                          <a:solidFill>
                            <a:srgbClr val="1B2A24"/>
                          </a:solidFill>
                        </a:rPr>
                        <a:t>1</a:t>
                      </a:r>
                    </a:p>
                  </a:txBody>
                  <a:tcPr marL="64008" marR="64008" marT="64008" marB="64008" anchor="ctr" anchorCtr="0" horzOverflow="overflow">
                    <a:lnL w="6350">
                      <a:solidFill>
                        <a:srgbClr val="CFDDD5"/>
                      </a:solidFill>
                    </a:lnL>
                    <a:lnR w="6350">
                      <a:solidFill>
                        <a:srgbClr val="CFDDD5"/>
                      </a:solidFill>
                    </a:lnR>
                    <a:lnT w="6350">
                      <a:solidFill>
                        <a:srgbClr val="CFDDD5"/>
                      </a:solidFill>
                    </a:lnT>
                    <a:lnB w="6350">
                      <a:solidFill>
                        <a:srgbClr val="CFDDD5"/>
                      </a:solidFill>
                    </a:lnB>
                    <a:solidFill>
                      <a:srgbClr val="F3F7F4"/>
                    </a:solidFill>
                  </a:tcPr>
                </a:tc>
                <a:tc>
                  <a:txBody>
                    <a:bodyPr/>
                    <a:lstStyle/>
                    <a:p>
                      <a:pPr algn="l">
                        <a:defRPr sz="1800"/>
                      </a:pPr>
                      <a:r>
                        <a:rPr sz="1100">
                          <a:solidFill>
                            <a:srgbClr val="1B2A24"/>
                          </a:solidFill>
                        </a:rPr>
                        <a:t>Nikita Babych</a:t>
                      </a:r>
                    </a:p>
                  </a:txBody>
                  <a:tcPr marL="64008" marR="64008" marT="64008" marB="64008" anchor="ctr" anchorCtr="0" horzOverflow="overflow">
                    <a:lnL w="6350">
                      <a:solidFill>
                        <a:srgbClr val="CFDDD5"/>
                      </a:solidFill>
                    </a:lnL>
                    <a:lnR w="6350">
                      <a:solidFill>
                        <a:srgbClr val="CFDDD5"/>
                      </a:solidFill>
                    </a:lnR>
                    <a:lnT w="6350">
                      <a:solidFill>
                        <a:srgbClr val="CFDDD5"/>
                      </a:solidFill>
                    </a:lnT>
                    <a:lnB w="6350">
                      <a:solidFill>
                        <a:srgbClr val="CFDDD5"/>
                      </a:solidFill>
                    </a:lnB>
                    <a:solidFill>
                      <a:srgbClr val="F3F7F4"/>
                    </a:solidFill>
                  </a:tcPr>
                </a:tc>
                <a:tc>
                  <a:txBody>
                    <a:bodyPr/>
                    <a:lstStyle/>
                    <a:p>
                      <a:pPr algn="l">
                        <a:defRPr sz="1800"/>
                      </a:pPr>
                      <a:r>
                        <a:rPr sz="1100">
                          <a:solidFill>
                            <a:srgbClr val="1B2A24"/>
                          </a:solidFill>
                        </a:rPr>
                        <a:t>0,966</a:t>
                      </a:r>
                    </a:p>
                  </a:txBody>
                  <a:tcPr marL="64008" marR="64008" marT="64008" marB="64008" anchor="ctr" anchorCtr="0" horzOverflow="overflow">
                    <a:lnL w="6350">
                      <a:solidFill>
                        <a:srgbClr val="CFDDD5"/>
                      </a:solidFill>
                    </a:lnL>
                    <a:lnR w="6350">
                      <a:solidFill>
                        <a:srgbClr val="CFDDD5"/>
                      </a:solidFill>
                    </a:lnR>
                    <a:lnT w="6350">
                      <a:solidFill>
                        <a:srgbClr val="CFDDD5"/>
                      </a:solidFill>
                    </a:lnT>
                    <a:lnB w="6350">
                      <a:solidFill>
                        <a:srgbClr val="CFDDD5"/>
                      </a:solidFill>
                    </a:lnB>
                    <a:solidFill>
                      <a:srgbClr val="F3F7F4"/>
                    </a:solidFill>
                  </a:tcPr>
                </a:tc>
                <a:tc>
                  <a:txBody>
                    <a:bodyPr/>
                    <a:lstStyle/>
                    <a:p>
                      <a:pPr algn="l">
                        <a:defRPr sz="1800"/>
                      </a:pPr>
                      <a:r>
                        <a:rPr sz="1100">
                          <a:solidFill>
                            <a:srgbClr val="1B2A24"/>
                          </a:solidFill>
                        </a:rPr>
                        <a:t>9 CNN distillés de Perch v2 + spécialiste amphibiens/insectes + modèle par genre + Perch v2</a:t>
                      </a:r>
                    </a:p>
                  </a:txBody>
                  <a:tcPr marL="64008" marR="64008" marT="64008" marB="64008" anchor="ctr" anchorCtr="0" horzOverflow="overflow">
                    <a:lnL w="6350">
                      <a:solidFill>
                        <a:srgbClr val="CFDDD5"/>
                      </a:solidFill>
                    </a:lnL>
                    <a:lnR w="6350">
                      <a:solidFill>
                        <a:srgbClr val="CFDDD5"/>
                      </a:solidFill>
                    </a:lnR>
                    <a:lnT w="6350">
                      <a:solidFill>
                        <a:srgbClr val="CFDDD5"/>
                      </a:solidFill>
                    </a:lnT>
                    <a:lnB w="6350">
                      <a:solidFill>
                        <a:srgbClr val="CFDDD5"/>
                      </a:solidFill>
                    </a:lnB>
                    <a:solidFill>
                      <a:srgbClr val="F3F7F4"/>
                    </a:solidFill>
                  </a:tcPr>
                </a:tc>
                <a:tc>
                  <a:txBody>
                    <a:bodyPr/>
                    <a:lstStyle/>
                    <a:p>
                      <a:pPr algn="l">
                        <a:defRPr sz="1800"/>
                      </a:pPr>
                      <a:r>
                        <a:rPr sz="1100">
                          <a:solidFill>
                            <a:srgbClr val="1B2A24"/>
                          </a:solidFill>
                        </a:rPr>
                        <a:t>Noisy Student (auto-apprentissage) ; le seul avec des modèles dédiés aux amphibiens</a:t>
                      </a:r>
                    </a:p>
                  </a:txBody>
                  <a:tcPr marL="64008" marR="64008" marT="64008" marB="64008" anchor="ctr" anchorCtr="0" horzOverflow="overflow">
                    <a:lnL w="6350">
                      <a:solidFill>
                        <a:srgbClr val="CFDDD5"/>
                      </a:solidFill>
                    </a:lnL>
                    <a:lnR w="6350">
                      <a:solidFill>
                        <a:srgbClr val="CFDDD5"/>
                      </a:solidFill>
                    </a:lnR>
                    <a:lnT w="6350">
                      <a:solidFill>
                        <a:srgbClr val="CFDDD5"/>
                      </a:solidFill>
                    </a:lnT>
                    <a:lnB w="6350">
                      <a:solidFill>
                        <a:srgbClr val="CFDDD5"/>
                      </a:solidFill>
                    </a:lnB>
                    <a:solidFill>
                      <a:srgbClr val="F3F7F4"/>
                    </a:solidFill>
                  </a:tcPr>
                </a:tc>
              </a:tr>
              <a:tr h="566928">
                <a:tc>
                  <a:txBody>
                    <a:bodyPr/>
                    <a:lstStyle/>
                    <a:p>
                      <a:pPr algn="l">
                        <a:defRPr sz="1800"/>
                      </a:pPr>
                      <a:r>
                        <a:rPr sz="1100">
                          <a:solidFill>
                            <a:srgbClr val="1B2A24"/>
                          </a:solidFill>
                        </a:rPr>
                        <a:t>2</a:t>
                      </a:r>
                    </a:p>
                  </a:txBody>
                  <a:tcPr marL="64008" marR="64008" marT="64008" marB="64008" anchor="ctr" anchorCtr="0" horzOverflow="overflow">
                    <a:lnL w="6350">
                      <a:solidFill>
                        <a:srgbClr val="CFDDD5"/>
                      </a:solidFill>
                    </a:lnL>
                    <a:lnR w="6350">
                      <a:solidFill>
                        <a:srgbClr val="CFDDD5"/>
                      </a:solidFill>
                    </a:lnR>
                    <a:lnT w="6350">
                      <a:solidFill>
                        <a:srgbClr val="CFDDD5"/>
                      </a:solidFill>
                    </a:lnT>
                    <a:lnB w="6350">
                      <a:solidFill>
                        <a:srgbClr val="CFDDD5"/>
                      </a:solidFill>
                    </a:lnB>
                    <a:solidFill>
                      <a:srgbClr val="FFFFFF"/>
                    </a:solidFill>
                  </a:tcPr>
                </a:tc>
                <a:tc>
                  <a:txBody>
                    <a:bodyPr/>
                    <a:lstStyle/>
                    <a:p>
                      <a:pPr algn="l">
                        <a:defRPr sz="1800"/>
                      </a:pPr>
                      <a:r>
                        <a:rPr sz="1100">
                          <a:solidFill>
                            <a:srgbClr val="1B2A24"/>
                          </a:solidFill>
                        </a:rPr>
                        <a:t>tennogh</a:t>
                      </a:r>
                    </a:p>
                  </a:txBody>
                  <a:tcPr marL="64008" marR="64008" marT="64008" marB="64008" anchor="ctr" anchorCtr="0" horzOverflow="overflow">
                    <a:lnL w="6350">
                      <a:solidFill>
                        <a:srgbClr val="CFDDD5"/>
                      </a:solidFill>
                    </a:lnL>
                    <a:lnR w="6350">
                      <a:solidFill>
                        <a:srgbClr val="CFDDD5"/>
                      </a:solidFill>
                    </a:lnR>
                    <a:lnT w="6350">
                      <a:solidFill>
                        <a:srgbClr val="CFDDD5"/>
                      </a:solidFill>
                    </a:lnT>
                    <a:lnB w="6350">
                      <a:solidFill>
                        <a:srgbClr val="CFDDD5"/>
                      </a:solidFill>
                    </a:lnB>
                    <a:solidFill>
                      <a:srgbClr val="FFFFFF"/>
                    </a:solidFill>
                  </a:tcPr>
                </a:tc>
                <a:tc>
                  <a:txBody>
                    <a:bodyPr/>
                    <a:lstStyle/>
                    <a:p>
                      <a:pPr algn="l">
                        <a:defRPr sz="1800"/>
                      </a:pPr>
                      <a:r>
                        <a:rPr sz="1100">
                          <a:solidFill>
                            <a:srgbClr val="1B2A24"/>
                          </a:solidFill>
                        </a:rPr>
                        <a:t>0,960</a:t>
                      </a:r>
                    </a:p>
                  </a:txBody>
                  <a:tcPr marL="64008" marR="64008" marT="64008" marB="64008" anchor="ctr" anchorCtr="0" horzOverflow="overflow">
                    <a:lnL w="6350">
                      <a:solidFill>
                        <a:srgbClr val="CFDDD5"/>
                      </a:solidFill>
                    </a:lnL>
                    <a:lnR w="6350">
                      <a:solidFill>
                        <a:srgbClr val="CFDDD5"/>
                      </a:solidFill>
                    </a:lnR>
                    <a:lnT w="6350">
                      <a:solidFill>
                        <a:srgbClr val="CFDDD5"/>
                      </a:solidFill>
                    </a:lnT>
                    <a:lnB w="6350">
                      <a:solidFill>
                        <a:srgbClr val="CFDDD5"/>
                      </a:solidFill>
                    </a:lnB>
                    <a:solidFill>
                      <a:srgbClr val="FFFFFF"/>
                    </a:solidFill>
                  </a:tcPr>
                </a:tc>
                <a:tc>
                  <a:txBody>
                    <a:bodyPr/>
                    <a:lstStyle/>
                    <a:p>
                      <a:pPr algn="l">
                        <a:defRPr sz="1800"/>
                      </a:pPr>
                      <a:r>
                        <a:rPr sz="1100">
                          <a:solidFill>
                            <a:srgbClr val="1B2A24"/>
                          </a:solidFill>
                        </a:rPr>
                        <a:t>4 CNN maison + Perch v2 + SED distillé public + spécialiste insectes</a:t>
                      </a:r>
                    </a:p>
                  </a:txBody>
                  <a:tcPr marL="64008" marR="64008" marT="64008" marB="64008" anchor="ctr" anchorCtr="0" horzOverflow="overflow">
                    <a:lnL w="6350">
                      <a:solidFill>
                        <a:srgbClr val="CFDDD5"/>
                      </a:solidFill>
                    </a:lnL>
                    <a:lnR w="6350">
                      <a:solidFill>
                        <a:srgbClr val="CFDDD5"/>
                      </a:solidFill>
                    </a:lnR>
                    <a:lnT w="6350">
                      <a:solidFill>
                        <a:srgbClr val="CFDDD5"/>
                      </a:solidFill>
                    </a:lnT>
                    <a:lnB w="6350">
                      <a:solidFill>
                        <a:srgbClr val="CFDDD5"/>
                      </a:solidFill>
                    </a:lnB>
                    <a:solidFill>
                      <a:srgbClr val="FFFFFF"/>
                    </a:solidFill>
                  </a:tcPr>
                </a:tc>
                <a:tc>
                  <a:txBody>
                    <a:bodyPr/>
                    <a:lstStyle/>
                    <a:p>
                      <a:pPr algn="l">
                        <a:defRPr sz="1800"/>
                      </a:pPr>
                      <a:r>
                        <a:rPr sz="1100">
                          <a:solidFill>
                            <a:srgbClr val="1B2A24"/>
                          </a:solidFill>
                        </a:rPr>
                        <a:t>5 tours de pseudo-labels</a:t>
                      </a:r>
                    </a:p>
                  </a:txBody>
                  <a:tcPr marL="64008" marR="64008" marT="64008" marB="64008" anchor="ctr" anchorCtr="0" horzOverflow="overflow">
                    <a:lnL w="6350">
                      <a:solidFill>
                        <a:srgbClr val="CFDDD5"/>
                      </a:solidFill>
                    </a:lnL>
                    <a:lnR w="6350">
                      <a:solidFill>
                        <a:srgbClr val="CFDDD5"/>
                      </a:solidFill>
                    </a:lnR>
                    <a:lnT w="6350">
                      <a:solidFill>
                        <a:srgbClr val="CFDDD5"/>
                      </a:solidFill>
                    </a:lnT>
                    <a:lnB w="6350">
                      <a:solidFill>
                        <a:srgbClr val="CFDDD5"/>
                      </a:solidFill>
                    </a:lnB>
                    <a:solidFill>
                      <a:srgbClr val="FFFFFF"/>
                    </a:solidFill>
                  </a:tcPr>
                </a:tc>
              </a:tr>
              <a:tr h="566928">
                <a:tc>
                  <a:txBody>
                    <a:bodyPr/>
                    <a:lstStyle/>
                    <a:p>
                      <a:pPr algn="l">
                        <a:defRPr sz="1800"/>
                      </a:pPr>
                      <a:r>
                        <a:rPr sz="1100">
                          <a:solidFill>
                            <a:srgbClr val="1B2A24"/>
                          </a:solidFill>
                        </a:rPr>
                        <a:t>3</a:t>
                      </a:r>
                    </a:p>
                  </a:txBody>
                  <a:tcPr marL="64008" marR="64008" marT="64008" marB="64008" anchor="ctr" anchorCtr="0" horzOverflow="overflow">
                    <a:lnL w="6350">
                      <a:solidFill>
                        <a:srgbClr val="CFDDD5"/>
                      </a:solidFill>
                    </a:lnL>
                    <a:lnR w="6350">
                      <a:solidFill>
                        <a:srgbClr val="CFDDD5"/>
                      </a:solidFill>
                    </a:lnR>
                    <a:lnT w="6350">
                      <a:solidFill>
                        <a:srgbClr val="CFDDD5"/>
                      </a:solidFill>
                    </a:lnT>
                    <a:lnB w="6350">
                      <a:solidFill>
                        <a:srgbClr val="CFDDD5"/>
                      </a:solidFill>
                    </a:lnB>
                    <a:solidFill>
                      <a:srgbClr val="F3F7F4"/>
                    </a:solidFill>
                  </a:tcPr>
                </a:tc>
                <a:tc>
                  <a:txBody>
                    <a:bodyPr/>
                    <a:lstStyle/>
                    <a:p>
                      <a:pPr algn="l">
                        <a:defRPr sz="1800"/>
                      </a:pPr>
                      <a:r>
                        <a:rPr sz="1100">
                          <a:solidFill>
                            <a:srgbClr val="1B2A24"/>
                          </a:solidFill>
                        </a:rPr>
                        <a:t>kapenon</a:t>
                      </a:r>
                    </a:p>
                  </a:txBody>
                  <a:tcPr marL="64008" marR="64008" marT="64008" marB="64008" anchor="ctr" anchorCtr="0" horzOverflow="overflow">
                    <a:lnL w="6350">
                      <a:solidFill>
                        <a:srgbClr val="CFDDD5"/>
                      </a:solidFill>
                    </a:lnL>
                    <a:lnR w="6350">
                      <a:solidFill>
                        <a:srgbClr val="CFDDD5"/>
                      </a:solidFill>
                    </a:lnR>
                    <a:lnT w="6350">
                      <a:solidFill>
                        <a:srgbClr val="CFDDD5"/>
                      </a:solidFill>
                    </a:lnT>
                    <a:lnB w="6350">
                      <a:solidFill>
                        <a:srgbClr val="CFDDD5"/>
                      </a:solidFill>
                    </a:lnB>
                    <a:solidFill>
                      <a:srgbClr val="F3F7F4"/>
                    </a:solidFill>
                  </a:tcPr>
                </a:tc>
                <a:tc>
                  <a:txBody>
                    <a:bodyPr/>
                    <a:lstStyle/>
                    <a:p>
                      <a:pPr algn="l">
                        <a:defRPr sz="1800"/>
                      </a:pPr>
                      <a:r>
                        <a:rPr sz="1100">
                          <a:solidFill>
                            <a:srgbClr val="1B2A24"/>
                          </a:solidFill>
                        </a:rPr>
                        <a:t>0,960</a:t>
                      </a:r>
                    </a:p>
                  </a:txBody>
                  <a:tcPr marL="64008" marR="64008" marT="64008" marB="64008" anchor="ctr" anchorCtr="0" horzOverflow="overflow">
                    <a:lnL w="6350">
                      <a:solidFill>
                        <a:srgbClr val="CFDDD5"/>
                      </a:solidFill>
                    </a:lnL>
                    <a:lnR w="6350">
                      <a:solidFill>
                        <a:srgbClr val="CFDDD5"/>
                      </a:solidFill>
                    </a:lnR>
                    <a:lnT w="6350">
                      <a:solidFill>
                        <a:srgbClr val="CFDDD5"/>
                      </a:solidFill>
                    </a:lnT>
                    <a:lnB w="6350">
                      <a:solidFill>
                        <a:srgbClr val="CFDDD5"/>
                      </a:solidFill>
                    </a:lnB>
                    <a:solidFill>
                      <a:srgbClr val="F3F7F4"/>
                    </a:solidFill>
                  </a:tcPr>
                </a:tc>
                <a:tc>
                  <a:txBody>
                    <a:bodyPr/>
                    <a:lstStyle/>
                    <a:p>
                      <a:pPr algn="l">
                        <a:defRPr sz="1800"/>
                      </a:pPr>
                      <a:r>
                        <a:rPr sz="1100">
                          <a:solidFill>
                            <a:srgbClr val="1B2A24"/>
                          </a:solidFill>
                        </a:rPr>
                        <a:t>2 EfficientNetV2 + 1 SEResNeXt distillé de Perch v2</a:t>
                      </a:r>
                    </a:p>
                  </a:txBody>
                  <a:tcPr marL="64008" marR="64008" marT="64008" marB="64008" anchor="ctr" anchorCtr="0" horzOverflow="overflow">
                    <a:lnL w="6350">
                      <a:solidFill>
                        <a:srgbClr val="CFDDD5"/>
                      </a:solidFill>
                    </a:lnL>
                    <a:lnR w="6350">
                      <a:solidFill>
                        <a:srgbClr val="CFDDD5"/>
                      </a:solidFill>
                    </a:lnR>
                    <a:lnT w="6350">
                      <a:solidFill>
                        <a:srgbClr val="CFDDD5"/>
                      </a:solidFill>
                    </a:lnT>
                    <a:lnB w="6350">
                      <a:solidFill>
                        <a:srgbClr val="CFDDD5"/>
                      </a:solidFill>
                    </a:lnB>
                    <a:solidFill>
                      <a:srgbClr val="F3F7F4"/>
                    </a:solidFill>
                  </a:tcPr>
                </a:tc>
                <a:tc>
                  <a:txBody>
                    <a:bodyPr/>
                    <a:lstStyle/>
                    <a:p>
                      <a:pPr algn="l">
                        <a:defRPr sz="1800"/>
                      </a:pPr>
                      <a:r>
                        <a:rPr sz="1100">
                          <a:solidFill>
                            <a:srgbClr val="1B2A24"/>
                          </a:solidFill>
                        </a:rPr>
                        <a:t>seulement 3 modèles ; un seul tour de pseudo-labels</a:t>
                      </a:r>
                    </a:p>
                  </a:txBody>
                  <a:tcPr marL="64008" marR="64008" marT="64008" marB="64008" anchor="ctr" anchorCtr="0" horzOverflow="overflow">
                    <a:lnL w="6350">
                      <a:solidFill>
                        <a:srgbClr val="CFDDD5"/>
                      </a:solidFill>
                    </a:lnL>
                    <a:lnR w="6350">
                      <a:solidFill>
                        <a:srgbClr val="CFDDD5"/>
                      </a:solidFill>
                    </a:lnR>
                    <a:lnT w="6350">
                      <a:solidFill>
                        <a:srgbClr val="CFDDD5"/>
                      </a:solidFill>
                    </a:lnT>
                    <a:lnB w="6350">
                      <a:solidFill>
                        <a:srgbClr val="CFDDD5"/>
                      </a:solidFill>
                    </a:lnB>
                    <a:solidFill>
                      <a:srgbClr val="F3F7F4"/>
                    </a:solidFill>
                  </a:tcPr>
                </a:tc>
              </a:tr>
              <a:tr h="566928">
                <a:tc>
                  <a:txBody>
                    <a:bodyPr/>
                    <a:lstStyle/>
                    <a:p>
                      <a:pPr algn="l">
                        <a:defRPr sz="1800"/>
                      </a:pPr>
                      <a:r>
                        <a:rPr sz="1100">
                          <a:solidFill>
                            <a:srgbClr val="1B2A24"/>
                          </a:solidFill>
                        </a:rPr>
                        <a:t>4</a:t>
                      </a:r>
                    </a:p>
                  </a:txBody>
                  <a:tcPr marL="64008" marR="64008" marT="64008" marB="64008" anchor="ctr" anchorCtr="0" horzOverflow="overflow">
                    <a:lnL w="6350">
                      <a:solidFill>
                        <a:srgbClr val="CFDDD5"/>
                      </a:solidFill>
                    </a:lnL>
                    <a:lnR w="6350">
                      <a:solidFill>
                        <a:srgbClr val="CFDDD5"/>
                      </a:solidFill>
                    </a:lnR>
                    <a:lnT w="6350">
                      <a:solidFill>
                        <a:srgbClr val="CFDDD5"/>
                      </a:solidFill>
                    </a:lnT>
                    <a:lnB w="6350">
                      <a:solidFill>
                        <a:srgbClr val="CFDDD5"/>
                      </a:solidFill>
                    </a:lnB>
                    <a:solidFill>
                      <a:srgbClr val="FFFFFF"/>
                    </a:solidFill>
                  </a:tcPr>
                </a:tc>
                <a:tc>
                  <a:txBody>
                    <a:bodyPr/>
                    <a:lstStyle/>
                    <a:p>
                      <a:pPr algn="l">
                        <a:defRPr sz="1800"/>
                      </a:pPr>
                      <a:r>
                        <a:rPr sz="1100">
                          <a:solidFill>
                            <a:srgbClr val="1B2A24"/>
                          </a:solidFill>
                        </a:rPr>
                        <a:t>T. Li, Y. Wang, Starry</a:t>
                      </a:r>
                    </a:p>
                  </a:txBody>
                  <a:tcPr marL="64008" marR="64008" marT="64008" marB="64008" anchor="ctr" anchorCtr="0" horzOverflow="overflow">
                    <a:lnL w="6350">
                      <a:solidFill>
                        <a:srgbClr val="CFDDD5"/>
                      </a:solidFill>
                    </a:lnL>
                    <a:lnR w="6350">
                      <a:solidFill>
                        <a:srgbClr val="CFDDD5"/>
                      </a:solidFill>
                    </a:lnR>
                    <a:lnT w="6350">
                      <a:solidFill>
                        <a:srgbClr val="CFDDD5"/>
                      </a:solidFill>
                    </a:lnT>
                    <a:lnB w="6350">
                      <a:solidFill>
                        <a:srgbClr val="CFDDD5"/>
                      </a:solidFill>
                    </a:lnB>
                    <a:solidFill>
                      <a:srgbClr val="FFFFFF"/>
                    </a:solidFill>
                  </a:tcPr>
                </a:tc>
                <a:tc>
                  <a:txBody>
                    <a:bodyPr/>
                    <a:lstStyle/>
                    <a:p>
                      <a:pPr algn="l">
                        <a:defRPr sz="1800"/>
                      </a:pPr>
                      <a:r>
                        <a:rPr sz="1100">
                          <a:solidFill>
                            <a:srgbClr val="1B2A24"/>
                          </a:solidFill>
                        </a:rPr>
                        <a:t>0,959</a:t>
                      </a:r>
                    </a:p>
                  </a:txBody>
                  <a:tcPr marL="64008" marR="64008" marT="64008" marB="64008" anchor="ctr" anchorCtr="0" horzOverflow="overflow">
                    <a:lnL w="6350">
                      <a:solidFill>
                        <a:srgbClr val="CFDDD5"/>
                      </a:solidFill>
                    </a:lnL>
                    <a:lnR w="6350">
                      <a:solidFill>
                        <a:srgbClr val="CFDDD5"/>
                      </a:solidFill>
                    </a:lnR>
                    <a:lnT w="6350">
                      <a:solidFill>
                        <a:srgbClr val="CFDDD5"/>
                      </a:solidFill>
                    </a:lnT>
                    <a:lnB w="6350">
                      <a:solidFill>
                        <a:srgbClr val="CFDDD5"/>
                      </a:solidFill>
                    </a:lnB>
                    <a:solidFill>
                      <a:srgbClr val="FFFFFF"/>
                    </a:solidFill>
                  </a:tcPr>
                </a:tc>
                <a:tc>
                  <a:txBody>
                    <a:bodyPr/>
                    <a:lstStyle/>
                    <a:p>
                      <a:pPr algn="l">
                        <a:defRPr sz="1800"/>
                      </a:pPr>
                      <a:r>
                        <a:rPr sz="1100">
                          <a:solidFill>
                            <a:srgbClr val="1B2A24"/>
                          </a:solidFill>
                        </a:rPr>
                        <a:t>Perch v2 tel quel (40 %) + 2 SED + 2 SED distillés</a:t>
                      </a:r>
                    </a:p>
                  </a:txBody>
                  <a:tcPr marL="64008" marR="64008" marT="64008" marB="64008" anchor="ctr" anchorCtr="0" horzOverflow="overflow">
                    <a:lnL w="6350">
                      <a:solidFill>
                        <a:srgbClr val="CFDDD5"/>
                      </a:solidFill>
                    </a:lnL>
                    <a:lnR w="6350">
                      <a:solidFill>
                        <a:srgbClr val="CFDDD5"/>
                      </a:solidFill>
                    </a:lnR>
                    <a:lnT w="6350">
                      <a:solidFill>
                        <a:srgbClr val="CFDDD5"/>
                      </a:solidFill>
                    </a:lnT>
                    <a:lnB w="6350">
                      <a:solidFill>
                        <a:srgbClr val="CFDDD5"/>
                      </a:solidFill>
                    </a:lnB>
                    <a:solidFill>
                      <a:srgbClr val="FFFFFF"/>
                    </a:solidFill>
                  </a:tcPr>
                </a:tc>
                <a:tc>
                  <a:txBody>
                    <a:bodyPr/>
                    <a:lstStyle/>
                    <a:p>
                      <a:pPr algn="l">
                        <a:defRPr sz="1800"/>
                      </a:pPr>
                      <a:r>
                        <a:rPr sz="1100">
                          <a:solidFill>
                            <a:srgbClr val="1B2A24"/>
                          </a:solidFill>
                        </a:rPr>
                        <a:t>ajouter AnuraSet a fait baisser leur score</a:t>
                      </a:r>
                    </a:p>
                  </a:txBody>
                  <a:tcPr marL="64008" marR="64008" marT="64008" marB="64008" anchor="ctr" anchorCtr="0" horzOverflow="overflow">
                    <a:lnL w="6350">
                      <a:solidFill>
                        <a:srgbClr val="CFDDD5"/>
                      </a:solidFill>
                    </a:lnL>
                    <a:lnR w="6350">
                      <a:solidFill>
                        <a:srgbClr val="CFDDD5"/>
                      </a:solidFill>
                    </a:lnR>
                    <a:lnT w="6350">
                      <a:solidFill>
                        <a:srgbClr val="CFDDD5"/>
                      </a:solidFill>
                    </a:lnT>
                    <a:lnB w="6350">
                      <a:solidFill>
                        <a:srgbClr val="CFDDD5"/>
                      </a:solidFill>
                    </a:lnB>
                    <a:solidFill>
                      <a:srgbClr val="FFFFFF"/>
                    </a:solidFill>
                  </a:tcPr>
                </a:tc>
              </a:tr>
              <a:tr h="566928">
                <a:tc>
                  <a:txBody>
                    <a:bodyPr/>
                    <a:lstStyle/>
                    <a:p>
                      <a:pPr algn="l">
                        <a:defRPr sz="1800"/>
                      </a:pPr>
                      <a:r>
                        <a:rPr sz="1100">
                          <a:solidFill>
                            <a:srgbClr val="1B2A24"/>
                          </a:solidFill>
                        </a:rPr>
                        <a:t>5</a:t>
                      </a:r>
                    </a:p>
                  </a:txBody>
                  <a:tcPr marL="64008" marR="64008" marT="64008" marB="64008" anchor="ctr" anchorCtr="0" horzOverflow="overflow">
                    <a:lnL w="6350">
                      <a:solidFill>
                        <a:srgbClr val="CFDDD5"/>
                      </a:solidFill>
                    </a:lnL>
                    <a:lnR w="6350">
                      <a:solidFill>
                        <a:srgbClr val="CFDDD5"/>
                      </a:solidFill>
                    </a:lnR>
                    <a:lnT w="6350">
                      <a:solidFill>
                        <a:srgbClr val="CFDDD5"/>
                      </a:solidFill>
                    </a:lnT>
                    <a:lnB w="6350">
                      <a:solidFill>
                        <a:srgbClr val="CFDDD5"/>
                      </a:solidFill>
                    </a:lnB>
                    <a:solidFill>
                      <a:srgbClr val="F3F7F4"/>
                    </a:solidFill>
                  </a:tcPr>
                </a:tc>
                <a:tc>
                  <a:txBody>
                    <a:bodyPr/>
                    <a:lstStyle/>
                    <a:p>
                      <a:pPr algn="l">
                        <a:defRPr sz="1800"/>
                      </a:pPr>
                      <a:r>
                        <a:rPr sz="1100">
                          <a:solidFill>
                            <a:srgbClr val="1B2A24"/>
                          </a:solidFill>
                        </a:rPr>
                        <a:t>Jiacheng Ma</a:t>
                      </a:r>
                    </a:p>
                  </a:txBody>
                  <a:tcPr marL="64008" marR="64008" marT="64008" marB="64008" anchor="ctr" anchorCtr="0" horzOverflow="overflow">
                    <a:lnL w="6350">
                      <a:solidFill>
                        <a:srgbClr val="CFDDD5"/>
                      </a:solidFill>
                    </a:lnL>
                    <a:lnR w="6350">
                      <a:solidFill>
                        <a:srgbClr val="CFDDD5"/>
                      </a:solidFill>
                    </a:lnR>
                    <a:lnT w="6350">
                      <a:solidFill>
                        <a:srgbClr val="CFDDD5"/>
                      </a:solidFill>
                    </a:lnT>
                    <a:lnB w="6350">
                      <a:solidFill>
                        <a:srgbClr val="CFDDD5"/>
                      </a:solidFill>
                    </a:lnB>
                    <a:solidFill>
                      <a:srgbClr val="F3F7F4"/>
                    </a:solidFill>
                  </a:tcPr>
                </a:tc>
                <a:tc>
                  <a:txBody>
                    <a:bodyPr/>
                    <a:lstStyle/>
                    <a:p>
                      <a:pPr algn="l">
                        <a:defRPr sz="1800"/>
                      </a:pPr>
                      <a:r>
                        <a:rPr sz="1100">
                          <a:solidFill>
                            <a:srgbClr val="1B2A24"/>
                          </a:solidFill>
                        </a:rPr>
                        <a:t>0,958</a:t>
                      </a:r>
                    </a:p>
                  </a:txBody>
                  <a:tcPr marL="64008" marR="64008" marT="64008" marB="64008" anchor="ctr" anchorCtr="0" horzOverflow="overflow">
                    <a:lnL w="6350">
                      <a:solidFill>
                        <a:srgbClr val="CFDDD5"/>
                      </a:solidFill>
                    </a:lnL>
                    <a:lnR w="6350">
                      <a:solidFill>
                        <a:srgbClr val="CFDDD5"/>
                      </a:solidFill>
                    </a:lnR>
                    <a:lnT w="6350">
                      <a:solidFill>
                        <a:srgbClr val="CFDDD5"/>
                      </a:solidFill>
                    </a:lnT>
                    <a:lnB w="6350">
                      <a:solidFill>
                        <a:srgbClr val="CFDDD5"/>
                      </a:solidFill>
                    </a:lnB>
                    <a:solidFill>
                      <a:srgbClr val="F3F7F4"/>
                    </a:solidFill>
                  </a:tcPr>
                </a:tc>
                <a:tc>
                  <a:txBody>
                    <a:bodyPr/>
                    <a:lstStyle/>
                    <a:p>
                      <a:pPr algn="l">
                        <a:defRPr sz="1800"/>
                      </a:pPr>
                      <a:r>
                        <a:rPr sz="1100">
                          <a:solidFill>
                            <a:srgbClr val="1B2A24"/>
                          </a:solidFill>
                        </a:rPr>
                        <a:t>4 CNN + ProtoSSM + SED distillé</a:t>
                      </a:r>
                    </a:p>
                  </a:txBody>
                  <a:tcPr marL="64008" marR="64008" marT="64008" marB="64008" anchor="ctr" anchorCtr="0" horzOverflow="overflow">
                    <a:lnL w="6350">
                      <a:solidFill>
                        <a:srgbClr val="CFDDD5"/>
                      </a:solidFill>
                    </a:lnL>
                    <a:lnR w="6350">
                      <a:solidFill>
                        <a:srgbClr val="CFDDD5"/>
                      </a:solidFill>
                    </a:lnR>
                    <a:lnT w="6350">
                      <a:solidFill>
                        <a:srgbClr val="CFDDD5"/>
                      </a:solidFill>
                    </a:lnT>
                    <a:lnB w="6350">
                      <a:solidFill>
                        <a:srgbClr val="CFDDD5"/>
                      </a:solidFill>
                    </a:lnB>
                    <a:solidFill>
                      <a:srgbClr val="F3F7F4"/>
                    </a:solidFill>
                  </a:tcPr>
                </a:tc>
                <a:tc>
                  <a:txBody>
                    <a:bodyPr/>
                    <a:lstStyle/>
                    <a:p>
                      <a:pPr algn="l">
                        <a:defRPr sz="1800"/>
                      </a:pPr>
                      <a:r>
                        <a:rPr sz="1100">
                          <a:solidFill>
                            <a:srgbClr val="1B2A24"/>
                          </a:solidFill>
                        </a:rPr>
                        <a:t>code public</a:t>
                      </a:r>
                    </a:p>
                  </a:txBody>
                  <a:tcPr marL="64008" marR="64008" marT="64008" marB="64008" anchor="ctr" anchorCtr="0" horzOverflow="overflow">
                    <a:lnL w="6350">
                      <a:solidFill>
                        <a:srgbClr val="CFDDD5"/>
                      </a:solidFill>
                    </a:lnL>
                    <a:lnR w="6350">
                      <a:solidFill>
                        <a:srgbClr val="CFDDD5"/>
                      </a:solidFill>
                    </a:lnR>
                    <a:lnT w="6350">
                      <a:solidFill>
                        <a:srgbClr val="CFDDD5"/>
                      </a:solidFill>
                    </a:lnT>
                    <a:lnB w="6350">
                      <a:solidFill>
                        <a:srgbClr val="CFDDD5"/>
                      </a:solidFill>
                    </a:lnB>
                    <a:solidFill>
                      <a:srgbClr val="F3F7F4"/>
                    </a:solidFill>
                  </a:tcPr>
                </a:tc>
              </a:tr>
            </a:tbl>
          </a:graphicData>
        </a:graphic>
      </p:graphicFrame>
      <p:sp>
        <p:nvSpPr>
          <p:cNvPr id="119" name="Text 13"/>
          <p:cNvSpPr txBox="1"/>
          <p:nvPr/>
        </p:nvSpPr>
        <p:spPr>
          <a:xfrm>
            <a:off x="3657600" y="5074920"/>
            <a:ext cx="7982712"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i="1" sz="1000">
                <a:solidFill>
                  <a:srgbClr val="5B6B63"/>
                </a:solidFill>
              </a:defRPr>
            </a:lvl1pPr>
          </a:lstStyle>
          <a:p>
            <a:pPr/>
            <a:r>
              <a:t>Score final : ROC-AUC macro sur la partie cachée du test, révélée à la clôture (« classement privé »).</a:t>
            </a:r>
          </a:p>
        </p:txBody>
      </p:sp>
      <p:sp>
        <p:nvSpPr>
          <p:cNvPr id="120" name="Shape 14"/>
          <p:cNvSpPr/>
          <p:nvPr/>
        </p:nvSpPr>
        <p:spPr>
          <a:xfrm>
            <a:off x="3657600" y="5440679"/>
            <a:ext cx="2587752" cy="868681"/>
          </a:xfrm>
          <a:prstGeom prst="roundRect">
            <a:avLst>
              <a:gd name="adj" fmla="val 10526"/>
            </a:avLst>
          </a:prstGeom>
          <a:solidFill>
            <a:srgbClr val="E4EEE8"/>
          </a:solidFill>
          <a:ln w="12700">
            <a:solidFill>
              <a:srgbClr val="E4EEE8"/>
            </a:solidFill>
          </a:ln>
        </p:spPr>
        <p:txBody>
          <a:bodyPr lIns="45719" rIns="45719"/>
          <a:lstStyle/>
          <a:p>
            <a:pPr/>
          </a:p>
        </p:txBody>
      </p:sp>
      <p:sp>
        <p:nvSpPr>
          <p:cNvPr id="121" name="Text 15"/>
          <p:cNvSpPr txBox="1"/>
          <p:nvPr/>
        </p:nvSpPr>
        <p:spPr>
          <a:xfrm>
            <a:off x="3794759" y="5642786"/>
            <a:ext cx="2331721" cy="4644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100">
                <a:solidFill>
                  <a:srgbClr val="2A7F72"/>
                </a:solidFill>
              </a:defRPr>
            </a:pPr>
            <a:r>
              <a:t>Perch v2 partout : </a:t>
            </a:r>
            <a:r>
              <a:rPr b="0">
                <a:solidFill>
                  <a:srgbClr val="1B2A24"/>
                </a:solidFill>
              </a:rPr>
              <a:t>tel quel dans l'ensemble, ou comme professeur copié par un réseau plus rapide</a:t>
            </a:r>
          </a:p>
        </p:txBody>
      </p:sp>
      <p:sp>
        <p:nvSpPr>
          <p:cNvPr id="122" name="Shape 16"/>
          <p:cNvSpPr/>
          <p:nvPr/>
        </p:nvSpPr>
        <p:spPr>
          <a:xfrm>
            <a:off x="6355079" y="5440679"/>
            <a:ext cx="2587753" cy="868681"/>
          </a:xfrm>
          <a:prstGeom prst="roundRect">
            <a:avLst>
              <a:gd name="adj" fmla="val 10526"/>
            </a:avLst>
          </a:prstGeom>
          <a:solidFill>
            <a:srgbClr val="E4EEE8"/>
          </a:solidFill>
          <a:ln w="12700">
            <a:solidFill>
              <a:srgbClr val="E4EEE8"/>
            </a:solidFill>
          </a:ln>
        </p:spPr>
        <p:txBody>
          <a:bodyPr lIns="45719" rIns="45719"/>
          <a:lstStyle/>
          <a:p>
            <a:pPr/>
          </a:p>
        </p:txBody>
      </p:sp>
      <p:sp>
        <p:nvSpPr>
          <p:cNvPr id="123" name="Text 17"/>
          <p:cNvSpPr txBox="1"/>
          <p:nvPr/>
        </p:nvSpPr>
        <p:spPr>
          <a:xfrm>
            <a:off x="6492240" y="5642786"/>
            <a:ext cx="2331721" cy="4644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100">
                <a:solidFill>
                  <a:srgbClr val="2A7F72"/>
                </a:solidFill>
              </a:defRPr>
            </a:pPr>
            <a:r>
              <a:t>Pseudo-labels : </a:t>
            </a:r>
            <a:r>
              <a:rPr b="0">
                <a:solidFill>
                  <a:srgbClr val="1B2A24"/>
                </a:solidFill>
              </a:rPr>
              <a:t>le modèle annote l'audio non étiqueté puis s'y réentraîne : 0,935 → 0,950 chez le 1er</a:t>
            </a:r>
          </a:p>
        </p:txBody>
      </p:sp>
      <p:sp>
        <p:nvSpPr>
          <p:cNvPr id="124" name="Shape 18"/>
          <p:cNvSpPr/>
          <p:nvPr/>
        </p:nvSpPr>
        <p:spPr>
          <a:xfrm>
            <a:off x="9052559" y="5440679"/>
            <a:ext cx="2587753" cy="868681"/>
          </a:xfrm>
          <a:prstGeom prst="roundRect">
            <a:avLst>
              <a:gd name="adj" fmla="val 10526"/>
            </a:avLst>
          </a:prstGeom>
          <a:solidFill>
            <a:srgbClr val="E4EEE8"/>
          </a:solidFill>
          <a:ln w="12700">
            <a:solidFill>
              <a:srgbClr val="E4EEE8"/>
            </a:solidFill>
          </a:ln>
        </p:spPr>
        <p:txBody>
          <a:bodyPr lIns="45719" rIns="45719"/>
          <a:lstStyle/>
          <a:p>
            <a:pPr/>
          </a:p>
        </p:txBody>
      </p:sp>
      <p:sp>
        <p:nvSpPr>
          <p:cNvPr id="125" name="Text 19"/>
          <p:cNvSpPr txBox="1"/>
          <p:nvPr/>
        </p:nvSpPr>
        <p:spPr>
          <a:xfrm>
            <a:off x="9189719" y="5642786"/>
            <a:ext cx="2331721" cy="4644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100">
                <a:solidFill>
                  <a:srgbClr val="2A7F72"/>
                </a:solidFill>
              </a:defRPr>
            </a:pPr>
            <a:r>
              <a:t>Approches majoritaires : </a:t>
            </a:r>
            <a:r>
              <a:rPr b="0">
                <a:solidFill>
                  <a:srgbClr val="1B2A24"/>
                </a:solidFill>
              </a:rPr>
              <a:t>Les ensembles et la distillation pour la contrainte de temps.</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9" name="Shape 0"/>
          <p:cNvSpPr/>
          <p:nvPr/>
        </p:nvSpPr>
        <p:spPr>
          <a:xfrm>
            <a:off x="548640" y="365759"/>
            <a:ext cx="1737361" cy="292610"/>
          </a:xfrm>
          <a:prstGeom prst="roundRect">
            <a:avLst>
              <a:gd name="adj" fmla="val 50000"/>
            </a:avLst>
          </a:prstGeom>
          <a:solidFill>
            <a:srgbClr val="E4EEE8"/>
          </a:solidFill>
          <a:ln w="12700">
            <a:solidFill>
              <a:srgbClr val="E4EEE8"/>
            </a:solidFill>
          </a:ln>
        </p:spPr>
        <p:txBody>
          <a:bodyPr lIns="45719" rIns="45719"/>
          <a:lstStyle/>
          <a:p>
            <a:pPr/>
          </a:p>
        </p:txBody>
      </p:sp>
      <p:sp>
        <p:nvSpPr>
          <p:cNvPr id="130" name="Text 1"/>
          <p:cNvSpPr txBox="1"/>
          <p:nvPr/>
        </p:nvSpPr>
        <p:spPr>
          <a:xfrm>
            <a:off x="548640" y="443528"/>
            <a:ext cx="173736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100" sz="1000">
                <a:solidFill>
                  <a:srgbClr val="2A7F72"/>
                </a:solidFill>
              </a:defRPr>
            </a:lvl1pPr>
          </a:lstStyle>
          <a:p>
            <a:pPr/>
            <a:r>
              <a:t>BIRDCLEF+ 2026 · 2/2</a:t>
            </a:r>
          </a:p>
        </p:txBody>
      </p:sp>
      <p:sp>
        <p:nvSpPr>
          <p:cNvPr id="131" name="Text 2"/>
          <p:cNvSpPr txBox="1"/>
          <p:nvPr/>
        </p:nvSpPr>
        <p:spPr>
          <a:xfrm>
            <a:off x="548639" y="860297"/>
            <a:ext cx="11094417"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800">
                <a:solidFill>
                  <a:srgbClr val="1B2A24"/>
                </a:solidFill>
                <a:latin typeface="Cambria"/>
                <a:ea typeface="Cambria"/>
                <a:cs typeface="Cambria"/>
                <a:sym typeface="Cambria"/>
              </a:defRPr>
            </a:lvl1pPr>
          </a:lstStyle>
          <a:p>
            <a:pPr/>
            <a:r>
              <a:t>Une équipe a fait notre prototype différentiel sur Perch v2</a:t>
            </a:r>
          </a:p>
        </p:txBody>
      </p:sp>
      <p:sp>
        <p:nvSpPr>
          <p:cNvPr id="132" name="Text 3"/>
          <p:cNvSpPr txBox="1"/>
          <p:nvPr/>
        </p:nvSpPr>
        <p:spPr>
          <a:xfrm>
            <a:off x="11277295" y="6473952"/>
            <a:ext cx="457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900">
                <a:solidFill>
                  <a:srgbClr val="A7BFB2"/>
                </a:solidFill>
              </a:defRPr>
            </a:lvl1pPr>
          </a:lstStyle>
          <a:p>
            <a:pPr/>
            <a:r>
              <a:t>7</a:t>
            </a:r>
          </a:p>
        </p:txBody>
      </p:sp>
      <p:sp>
        <p:nvSpPr>
          <p:cNvPr id="133" name="Shape 4"/>
          <p:cNvSpPr/>
          <p:nvPr/>
        </p:nvSpPr>
        <p:spPr>
          <a:xfrm>
            <a:off x="548640" y="1600200"/>
            <a:ext cx="4846321" cy="4663441"/>
          </a:xfrm>
          <a:prstGeom prst="roundRect">
            <a:avLst>
              <a:gd name="adj" fmla="val 1961"/>
            </a:avLst>
          </a:prstGeom>
          <a:solidFill>
            <a:srgbClr val="0E2A24"/>
          </a:solidFill>
          <a:ln w="12700">
            <a:solidFill>
              <a:srgbClr val="0E2A24"/>
            </a:solidFill>
          </a:ln>
        </p:spPr>
        <p:txBody>
          <a:bodyPr lIns="45719" rIns="45719"/>
          <a:lstStyle/>
          <a:p>
            <a:pPr/>
          </a:p>
        </p:txBody>
      </p:sp>
      <p:sp>
        <p:nvSpPr>
          <p:cNvPr id="134" name="Text 5"/>
          <p:cNvSpPr txBox="1"/>
          <p:nvPr/>
        </p:nvSpPr>
        <p:spPr>
          <a:xfrm>
            <a:off x="822960" y="1783079"/>
            <a:ext cx="4297680"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100" sz="1100">
                <a:solidFill>
                  <a:srgbClr val="E9B44C"/>
                </a:solidFill>
              </a:defRPr>
            </a:lvl1pPr>
          </a:lstStyle>
          <a:p>
            <a:pPr/>
            <a:r>
              <a:t>LEUR TÊTE À PROTOTYPES</a:t>
            </a:r>
          </a:p>
        </p:txBody>
      </p:sp>
      <p:sp>
        <p:nvSpPr>
          <p:cNvPr id="135" name="Text 6"/>
          <p:cNvSpPr txBox="1"/>
          <p:nvPr/>
        </p:nvSpPr>
        <p:spPr>
          <a:xfrm>
            <a:off x="822960" y="2148839"/>
            <a:ext cx="438912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100">
                <a:solidFill>
                  <a:srgbClr val="FFFFFF"/>
                </a:solidFill>
                <a:latin typeface="Cambria"/>
                <a:ea typeface="Cambria"/>
                <a:cs typeface="Cambria"/>
                <a:sym typeface="Cambria"/>
              </a:defRPr>
            </a:lvl1pPr>
          </a:lstStyle>
          <a:p>
            <a:pPr/>
            <a:r>
              <a:t>score = cos(e, μ₊) − cos(e, μ₋)</a:t>
            </a:r>
          </a:p>
        </p:txBody>
      </p:sp>
      <p:sp>
        <p:nvSpPr>
          <p:cNvPr id="136" name="Text 7"/>
          <p:cNvSpPr txBox="1"/>
          <p:nvPr/>
        </p:nvSpPr>
        <p:spPr>
          <a:xfrm>
            <a:off x="822960" y="2926079"/>
            <a:ext cx="4297680" cy="13267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177800" indent="-177800">
              <a:spcBef>
                <a:spcPts val="1400"/>
              </a:spcBef>
              <a:buSzPct val="100000"/>
              <a:buChar char="•"/>
              <a:defRPr sz="1600">
                <a:solidFill>
                  <a:srgbClr val="FFFFFF"/>
                </a:solidFill>
              </a:defRPr>
            </a:pPr>
            <a:r>
              <a:t>e : embedding Perch v2 gelé de la fenêtre</a:t>
            </a:r>
          </a:p>
          <a:p>
            <a:pPr marL="177800" indent="-177800">
              <a:spcBef>
                <a:spcPts val="1400"/>
              </a:spcBef>
              <a:buSzPct val="100000"/>
              <a:buChar char="•"/>
              <a:defRPr sz="1600">
                <a:solidFill>
                  <a:srgbClr val="FFFFFF"/>
                </a:solidFill>
              </a:defRPr>
            </a:pPr>
            <a:r>
              <a:t>μ₊ : moyenne des fenêtres où l'espèce chante ; μ₋ : où elle ne chante pas</a:t>
            </a:r>
          </a:p>
          <a:p>
            <a:pPr marL="177800" indent="-177800">
              <a:spcBef>
                <a:spcPts val="1400"/>
              </a:spcBef>
              <a:buSzPct val="100000"/>
              <a:buChar char="•"/>
              <a:defRPr b="1" sz="1600">
                <a:solidFill>
                  <a:srgbClr val="E9B44C"/>
                </a:solidFill>
              </a:defRPr>
            </a:pPr>
            <a:r>
              <a:t>= notre prototype différentiel, en cosinus</a:t>
            </a:r>
          </a:p>
        </p:txBody>
      </p:sp>
      <p:sp>
        <p:nvSpPr>
          <p:cNvPr id="137" name="Text 8"/>
          <p:cNvSpPr txBox="1"/>
          <p:nvPr/>
        </p:nvSpPr>
        <p:spPr>
          <a:xfrm>
            <a:off x="822960" y="5760720"/>
            <a:ext cx="4297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i="1" sz="1100">
                <a:solidFill>
                  <a:srgbClr val="A7BFB2"/>
                </a:solidFill>
              </a:defRPr>
            </a:lvl1pPr>
          </a:lstStyle>
          <a:p>
            <a:pPr/>
            <a:r>
              <a:t>Miyaguchi, Gustineli, Cheung (Georgia Tech) · arXiv 2607.14474</a:t>
            </a:r>
          </a:p>
        </p:txBody>
      </p:sp>
      <p:sp>
        <p:nvSpPr>
          <p:cNvPr id="138" name="Shape 9"/>
          <p:cNvSpPr/>
          <p:nvPr/>
        </p:nvSpPr>
        <p:spPr>
          <a:xfrm>
            <a:off x="5669279" y="1600200"/>
            <a:ext cx="2880361" cy="1783080"/>
          </a:xfrm>
          <a:prstGeom prst="roundRect">
            <a:avLst>
              <a:gd name="adj" fmla="val 5128"/>
            </a:avLst>
          </a:prstGeom>
          <a:solidFill>
            <a:srgbClr val="F3F7F4"/>
          </a:solidFill>
          <a:ln w="12700">
            <a:solidFill>
              <a:srgbClr val="F3F7F4"/>
            </a:solidFill>
          </a:ln>
        </p:spPr>
        <p:txBody>
          <a:bodyPr lIns="45719" rIns="45719"/>
          <a:lstStyle/>
          <a:p>
            <a:pPr/>
          </a:p>
        </p:txBody>
      </p:sp>
      <p:sp>
        <p:nvSpPr>
          <p:cNvPr id="139" name="Text 10"/>
          <p:cNvSpPr txBox="1"/>
          <p:nvPr/>
        </p:nvSpPr>
        <p:spPr>
          <a:xfrm>
            <a:off x="5852159" y="1719072"/>
            <a:ext cx="256032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8A5A00"/>
                </a:solidFill>
              </a:defRPr>
            </a:lvl1pPr>
          </a:lstStyle>
          <a:p>
            <a:pPr/>
            <a:r>
              <a:t>Leur problème</a:t>
            </a:r>
          </a:p>
        </p:txBody>
      </p:sp>
      <p:sp>
        <p:nvSpPr>
          <p:cNvPr id="140" name="Text 11"/>
          <p:cNvSpPr txBox="1"/>
          <p:nvPr/>
        </p:nvSpPr>
        <p:spPr>
          <a:xfrm>
            <a:off x="5852159" y="2103120"/>
            <a:ext cx="2560321" cy="7763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1B2A24"/>
                </a:solidFill>
              </a:defRPr>
            </a:lvl1pPr>
          </a:lstStyle>
          <a:p>
            <a:pPr/>
            <a:r>
              <a:t>Les amphibiens font 1,3 % des enregistrements d'entraînement, mais s'entendent dans 76,6 % des fenêtres de terrain.</a:t>
            </a:r>
          </a:p>
        </p:txBody>
      </p:sp>
      <p:sp>
        <p:nvSpPr>
          <p:cNvPr id="141" name="Shape 12"/>
          <p:cNvSpPr/>
          <p:nvPr/>
        </p:nvSpPr>
        <p:spPr>
          <a:xfrm>
            <a:off x="8686800" y="1600200"/>
            <a:ext cx="2880361" cy="1783080"/>
          </a:xfrm>
          <a:prstGeom prst="roundRect">
            <a:avLst>
              <a:gd name="adj" fmla="val 5128"/>
            </a:avLst>
          </a:prstGeom>
          <a:solidFill>
            <a:srgbClr val="F3F7F4"/>
          </a:solidFill>
          <a:ln w="12700">
            <a:solidFill>
              <a:srgbClr val="F3F7F4"/>
            </a:solidFill>
          </a:ln>
        </p:spPr>
        <p:txBody>
          <a:bodyPr lIns="45719" rIns="45719"/>
          <a:lstStyle/>
          <a:p>
            <a:pPr/>
          </a:p>
        </p:txBody>
      </p:sp>
      <p:sp>
        <p:nvSpPr>
          <p:cNvPr id="142" name="Text 13"/>
          <p:cNvSpPr txBox="1"/>
          <p:nvPr/>
        </p:nvSpPr>
        <p:spPr>
          <a:xfrm>
            <a:off x="8869680" y="1719072"/>
            <a:ext cx="256032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8A5A00"/>
                </a:solidFill>
              </a:defRPr>
            </a:lvl1pPr>
          </a:lstStyle>
          <a:p>
            <a:pPr/>
            <a:r>
              <a:t>Leur résultat</a:t>
            </a:r>
          </a:p>
        </p:txBody>
      </p:sp>
      <p:sp>
        <p:nvSpPr>
          <p:cNvPr id="143" name="Text 14"/>
          <p:cNvSpPr txBox="1"/>
          <p:nvPr/>
        </p:nvSpPr>
        <p:spPr>
          <a:xfrm>
            <a:off x="8869680" y="2103120"/>
            <a:ext cx="2560321" cy="5731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1B2A24"/>
                </a:solidFill>
              </a:defRPr>
            </a:lvl1pPr>
          </a:lstStyle>
          <a:p>
            <a:pPr/>
            <a:r>
              <a:t>Sur les espèces non-oiseaux : AP 0,895 avec les prototypes, contre 0,074 pour leur réseau entraîné seul.</a:t>
            </a:r>
          </a:p>
        </p:txBody>
      </p:sp>
      <p:sp>
        <p:nvSpPr>
          <p:cNvPr id="144" name="Shape 15"/>
          <p:cNvSpPr/>
          <p:nvPr/>
        </p:nvSpPr>
        <p:spPr>
          <a:xfrm>
            <a:off x="5669279" y="3520440"/>
            <a:ext cx="5897881" cy="1325881"/>
          </a:xfrm>
          <a:prstGeom prst="roundRect">
            <a:avLst>
              <a:gd name="adj" fmla="val 6897"/>
            </a:avLst>
          </a:prstGeom>
          <a:solidFill>
            <a:srgbClr val="FFFFFF"/>
          </a:solidFill>
          <a:ln w="12700">
            <a:solidFill>
              <a:srgbClr val="CFDDD5"/>
            </a:solidFill>
          </a:ln>
        </p:spPr>
        <p:txBody>
          <a:bodyPr lIns="45719" rIns="45719"/>
          <a:lstStyle/>
          <a:p>
            <a:pPr/>
          </a:p>
        </p:txBody>
      </p:sp>
      <p:sp>
        <p:nvSpPr>
          <p:cNvPr id="145" name="Text 16"/>
          <p:cNvSpPr txBox="1"/>
          <p:nvPr/>
        </p:nvSpPr>
        <p:spPr>
          <a:xfrm>
            <a:off x="5852159" y="3611879"/>
            <a:ext cx="548640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100" sz="1100">
                <a:solidFill>
                  <a:srgbClr val="C8553D"/>
                </a:solidFill>
              </a:defRPr>
            </a:lvl1pPr>
          </a:lstStyle>
          <a:p>
            <a:pPr/>
            <a:r>
              <a:t>RÉSERVE</a:t>
            </a:r>
          </a:p>
        </p:txBody>
      </p:sp>
      <p:sp>
        <p:nvSpPr>
          <p:cNvPr id="146" name="Text 17"/>
          <p:cNvSpPr txBox="1"/>
          <p:nvPr/>
        </p:nvSpPr>
        <p:spPr>
          <a:xfrm>
            <a:off x="5852159" y="4099999"/>
            <a:ext cx="557784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marL="177800" indent="-177800">
              <a:spcBef>
                <a:spcPts val="500"/>
              </a:spcBef>
              <a:buSzPct val="100000"/>
              <a:buChar char="•"/>
              <a:defRPr sz="1300">
                <a:solidFill>
                  <a:srgbClr val="1B2A24"/>
                </a:solidFill>
              </a:defRPr>
            </a:lvl1pPr>
          </a:lstStyle>
          <a:p>
            <a:pPr/>
            <a:r>
              <a:t>AP mesurée sur les fichiers qui construisent les prototypes : trop belle</a:t>
            </a:r>
          </a:p>
        </p:txBody>
      </p:sp>
      <p:sp>
        <p:nvSpPr>
          <p:cNvPr id="147" name="Shape 18"/>
          <p:cNvSpPr/>
          <p:nvPr/>
        </p:nvSpPr>
        <p:spPr>
          <a:xfrm>
            <a:off x="5669279" y="4983479"/>
            <a:ext cx="5897881" cy="1280161"/>
          </a:xfrm>
          <a:prstGeom prst="roundRect">
            <a:avLst>
              <a:gd name="adj" fmla="val 7143"/>
            </a:avLst>
          </a:prstGeom>
          <a:solidFill>
            <a:srgbClr val="E4EEE8"/>
          </a:solidFill>
          <a:ln w="12700">
            <a:solidFill>
              <a:srgbClr val="E4EEE8"/>
            </a:solidFill>
          </a:ln>
        </p:spPr>
        <p:txBody>
          <a:bodyPr lIns="45719" rIns="45719"/>
          <a:lstStyle/>
          <a:p>
            <a:pPr/>
          </a:p>
        </p:txBody>
      </p:sp>
      <p:sp>
        <p:nvSpPr>
          <p:cNvPr id="148" name="Text 19"/>
          <p:cNvSpPr txBox="1"/>
          <p:nvPr/>
        </p:nvSpPr>
        <p:spPr>
          <a:xfrm>
            <a:off x="5852159" y="5414580"/>
            <a:ext cx="5577841" cy="4179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400">
                <a:solidFill>
                  <a:srgbClr val="2A7F72"/>
                </a:solidFill>
              </a:defRPr>
            </a:pPr>
            <a:r>
              <a:t>Pour nous : </a:t>
            </a:r>
            <a:r>
              <a:rPr b="0">
                <a:solidFill>
                  <a:srgbClr val="1B2A24"/>
                </a:solidFill>
              </a:rPr>
              <a:t>Prototype différentiel pour amorcer un nouveau point, logistique dès qu'il y a des exemples.</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2" name="Shape 0"/>
          <p:cNvSpPr/>
          <p:nvPr/>
        </p:nvSpPr>
        <p:spPr>
          <a:xfrm>
            <a:off x="548640" y="365759"/>
            <a:ext cx="649224" cy="292610"/>
          </a:xfrm>
          <a:prstGeom prst="roundRect">
            <a:avLst>
              <a:gd name="adj" fmla="val 50000"/>
            </a:avLst>
          </a:prstGeom>
          <a:solidFill>
            <a:srgbClr val="E4EEE8"/>
          </a:solidFill>
          <a:ln w="12700">
            <a:solidFill>
              <a:srgbClr val="E4EEE8"/>
            </a:solidFill>
          </a:ln>
        </p:spPr>
        <p:txBody>
          <a:bodyPr lIns="45719" rIns="45719"/>
          <a:lstStyle/>
          <a:p>
            <a:pPr/>
          </a:p>
        </p:txBody>
      </p:sp>
      <p:sp>
        <p:nvSpPr>
          <p:cNvPr id="153" name="Text 1"/>
          <p:cNvSpPr txBox="1"/>
          <p:nvPr/>
        </p:nvSpPr>
        <p:spPr>
          <a:xfrm>
            <a:off x="548640" y="443528"/>
            <a:ext cx="649224"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100" sz="1000">
                <a:solidFill>
                  <a:srgbClr val="2A7F72"/>
                </a:solidFill>
              </a:defRPr>
            </a:lvl1pPr>
          </a:lstStyle>
          <a:p>
            <a:pPr/>
            <a:r>
              <a:t>GITHUB</a:t>
            </a:r>
          </a:p>
        </p:txBody>
      </p:sp>
      <p:sp>
        <p:nvSpPr>
          <p:cNvPr id="154" name="Text 2"/>
          <p:cNvSpPr txBox="1"/>
          <p:nvPr/>
        </p:nvSpPr>
        <p:spPr>
          <a:xfrm>
            <a:off x="11277295" y="6473952"/>
            <a:ext cx="457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900">
                <a:solidFill>
                  <a:srgbClr val="A7BFB2"/>
                </a:solidFill>
              </a:defRPr>
            </a:lvl1pPr>
          </a:lstStyle>
          <a:p>
            <a:pPr/>
            <a:r>
              <a:t>8</a:t>
            </a:r>
          </a:p>
        </p:txBody>
      </p:sp>
      <p:pic>
        <p:nvPicPr>
          <p:cNvPr id="155" name="Image 0" descr="Image 0"/>
          <p:cNvPicPr>
            <a:picLocks noChangeAspect="1"/>
          </p:cNvPicPr>
          <p:nvPr/>
        </p:nvPicPr>
        <p:blipFill>
          <a:blip r:embed="rId3">
            <a:extLst/>
          </a:blip>
          <a:stretch>
            <a:fillRect/>
          </a:stretch>
        </p:blipFill>
        <p:spPr>
          <a:xfrm>
            <a:off x="4727447" y="1097280"/>
            <a:ext cx="2743201" cy="27432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close/>
              </a:path>
            </a:pathLst>
          </a:custGeom>
          <a:ln w="12700">
            <a:miter lim="400000"/>
          </a:ln>
        </p:spPr>
      </p:pic>
      <p:sp>
        <p:nvSpPr>
          <p:cNvPr id="156" name="Text 3"/>
          <p:cNvSpPr txBox="1"/>
          <p:nvPr/>
        </p:nvSpPr>
        <p:spPr>
          <a:xfrm>
            <a:off x="548639" y="4023359"/>
            <a:ext cx="11094417"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3000">
                <a:solidFill>
                  <a:srgbClr val="1B2A24"/>
                </a:solidFill>
                <a:latin typeface="Cambria"/>
                <a:ea typeface="Cambria"/>
                <a:cs typeface="Cambria"/>
                <a:sym typeface="Cambria"/>
              </a:defRPr>
            </a:lvl1pPr>
          </a:lstStyle>
          <a:p>
            <a:pPr/>
            <a:r>
              <a:t>Léonard Laplace-Palette</a:t>
            </a:r>
          </a:p>
        </p:txBody>
      </p:sp>
      <p:sp>
        <p:nvSpPr>
          <p:cNvPr id="157" name="Text 4"/>
          <p:cNvSpPr txBox="1"/>
          <p:nvPr/>
        </p:nvSpPr>
        <p:spPr>
          <a:xfrm>
            <a:off x="548639" y="4572000"/>
            <a:ext cx="11094417" cy="2190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700">
                <a:solidFill>
                  <a:srgbClr val="5B6B63"/>
                </a:solidFill>
              </a:defRPr>
            </a:lvl1pPr>
          </a:lstStyle>
          <a:p>
            <a:pPr/>
            <a:r>
              <a:t>@Rumble-Paw-Patrol</a:t>
            </a:r>
          </a:p>
        </p:txBody>
      </p:sp>
      <p:sp>
        <p:nvSpPr>
          <p:cNvPr id="158" name="Shape 5"/>
          <p:cNvSpPr/>
          <p:nvPr/>
        </p:nvSpPr>
        <p:spPr>
          <a:xfrm>
            <a:off x="3355847" y="5166359"/>
            <a:ext cx="5486401" cy="658369"/>
          </a:xfrm>
          <a:prstGeom prst="roundRect">
            <a:avLst>
              <a:gd name="adj" fmla="val 13889"/>
            </a:avLst>
          </a:prstGeom>
          <a:solidFill>
            <a:srgbClr val="0E2A24"/>
          </a:solidFill>
          <a:ln w="12700">
            <a:solidFill>
              <a:srgbClr val="0E2A24"/>
            </a:solidFill>
          </a:ln>
        </p:spPr>
        <p:txBody>
          <a:bodyPr lIns="45719" rIns="45719"/>
          <a:lstStyle/>
          <a:p>
            <a:pPr/>
          </a:p>
        </p:txBody>
      </p:sp>
      <p:pic>
        <p:nvPicPr>
          <p:cNvPr id="159" name="Image 1" descr="Image 1"/>
          <p:cNvPicPr>
            <a:picLocks noChangeAspect="1"/>
          </p:cNvPicPr>
          <p:nvPr/>
        </p:nvPicPr>
        <p:blipFill>
          <a:blip r:embed="rId4">
            <a:extLst/>
          </a:blip>
          <a:stretch>
            <a:fillRect/>
          </a:stretch>
        </p:blipFill>
        <p:spPr>
          <a:xfrm>
            <a:off x="3584447" y="5294376"/>
            <a:ext cx="402337" cy="402337"/>
          </a:xfrm>
          <a:prstGeom prst="rect">
            <a:avLst/>
          </a:prstGeom>
          <a:ln w="12700">
            <a:miter lim="400000"/>
          </a:ln>
        </p:spPr>
      </p:pic>
      <p:sp>
        <p:nvSpPr>
          <p:cNvPr id="160" name="Text 6"/>
          <p:cNvSpPr txBox="1"/>
          <p:nvPr/>
        </p:nvSpPr>
        <p:spPr>
          <a:xfrm>
            <a:off x="4160520" y="5386018"/>
            <a:ext cx="4572001" cy="21905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u="sng">
                <a:solidFill>
                  <a:srgbClr val="0563C1"/>
                </a:solidFill>
                <a:uFill>
                  <a:solidFill>
                    <a:srgbClr val="0563C1"/>
                  </a:solidFill>
                </a:uFill>
                <a:hlinkClick r:id="rId5" invalidUrl="" action="" tgtFrame="" tooltip="" history="1" highlightClick="0" endSnd="0"/>
              </a:defRPr>
            </a:lvl1pPr>
          </a:lstStyle>
          <a:p>
            <a:pPr>
              <a:defRPr>
                <a:solidFill>
                  <a:srgbClr val="FFFFFF"/>
                </a:solidFill>
                <a:uFillTx/>
              </a:defRPr>
            </a:pPr>
            <a:r>
              <a:rPr>
                <a:solidFill>
                  <a:srgbClr val="0563C1"/>
                </a:solidFill>
                <a:uFill>
                  <a:solidFill>
                    <a:srgbClr val="0563C1"/>
                  </a:solidFill>
                </a:uFill>
                <a:hlinkClick r:id="rId5" invalidUrl="" action="" tgtFrame="" tooltip="" history="1" highlightClick="0" endSnd="0"/>
              </a:rPr>
              <a:t>github.com/Rumble-Paw-Patrol/Grenouille</a:t>
            </a:r>
          </a:p>
        </p:txBody>
      </p:sp>
      <p:sp>
        <p:nvSpPr>
          <p:cNvPr id="161" name="Text 7"/>
          <p:cNvSpPr txBox="1"/>
          <p:nvPr/>
        </p:nvSpPr>
        <p:spPr>
          <a:xfrm>
            <a:off x="548640" y="6217920"/>
            <a:ext cx="10545775"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i="1" sz="1100">
                <a:solidFill>
                  <a:srgbClr val="5B6B63"/>
                </a:solidFill>
              </a:defRPr>
            </a:lvl1pPr>
          </a:lstStyle>
          <a:p>
            <a:pPr/>
            <a:r>
              <a:t>Les enregistrements audio restent sur les disques de l'ONF : le dépôt ne contient que le code, la documentation et 66 extraits de 10 s pour les tests.</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5" name="Shape 0"/>
          <p:cNvSpPr/>
          <p:nvPr/>
        </p:nvSpPr>
        <p:spPr>
          <a:xfrm>
            <a:off x="548640" y="365759"/>
            <a:ext cx="1193292" cy="292610"/>
          </a:xfrm>
          <a:prstGeom prst="roundRect">
            <a:avLst>
              <a:gd name="adj" fmla="val 50000"/>
            </a:avLst>
          </a:prstGeom>
          <a:solidFill>
            <a:srgbClr val="E4EEE8"/>
          </a:solidFill>
          <a:ln w="12700">
            <a:solidFill>
              <a:srgbClr val="E4EEE8"/>
            </a:solidFill>
          </a:ln>
        </p:spPr>
        <p:txBody>
          <a:bodyPr lIns="45719" rIns="45719"/>
          <a:lstStyle/>
          <a:p>
            <a:pPr/>
          </a:p>
        </p:txBody>
      </p:sp>
      <p:sp>
        <p:nvSpPr>
          <p:cNvPr id="166" name="Text 1"/>
          <p:cNvSpPr txBox="1"/>
          <p:nvPr/>
        </p:nvSpPr>
        <p:spPr>
          <a:xfrm>
            <a:off x="548640" y="443528"/>
            <a:ext cx="119329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100" sz="1000">
                <a:solidFill>
                  <a:srgbClr val="2A7F72"/>
                </a:solidFill>
              </a:defRPr>
            </a:lvl1pPr>
          </a:lstStyle>
          <a:p>
            <a:pPr/>
            <a:r>
              <a:t>DONNÉES · 1/2</a:t>
            </a:r>
          </a:p>
        </p:txBody>
      </p:sp>
      <p:sp>
        <p:nvSpPr>
          <p:cNvPr id="167" name="Text 2"/>
          <p:cNvSpPr txBox="1"/>
          <p:nvPr/>
        </p:nvSpPr>
        <p:spPr>
          <a:xfrm>
            <a:off x="548639" y="860297"/>
            <a:ext cx="11094417"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800">
                <a:solidFill>
                  <a:srgbClr val="1B2A24"/>
                </a:solidFill>
                <a:latin typeface="Cambria"/>
                <a:ea typeface="Cambria"/>
                <a:cs typeface="Cambria"/>
                <a:sym typeface="Cambria"/>
              </a:defRPr>
            </a:lvl1pPr>
          </a:lstStyle>
          <a:p>
            <a:pPr/>
            <a:r>
              <a:t>Le jeu de données : 96 292 enregistrements, 4 sites</a:t>
            </a:r>
          </a:p>
        </p:txBody>
      </p:sp>
      <p:sp>
        <p:nvSpPr>
          <p:cNvPr id="168" name="Text 3"/>
          <p:cNvSpPr txBox="1"/>
          <p:nvPr/>
        </p:nvSpPr>
        <p:spPr>
          <a:xfrm>
            <a:off x="548640" y="1600200"/>
            <a:ext cx="6766560" cy="1893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rgbClr val="1B2A24"/>
                </a:solidFill>
              </a:defRPr>
            </a:lvl1pPr>
          </a:lstStyle>
          <a:p>
            <a:pPr/>
            <a:r>
              <a:t>Heures d'audio par site (enregistrements de 2 min)</a:t>
            </a:r>
          </a:p>
        </p:txBody>
      </p:sp>
      <p:sp>
        <p:nvSpPr>
          <p:cNvPr id="169" name="Text 4"/>
          <p:cNvSpPr txBox="1"/>
          <p:nvPr/>
        </p:nvSpPr>
        <p:spPr>
          <a:xfrm>
            <a:off x="548640" y="2284161"/>
            <a:ext cx="105156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500">
                <a:solidFill>
                  <a:srgbClr val="1B2A24"/>
                </a:solidFill>
              </a:defRPr>
            </a:lvl1pPr>
          </a:lstStyle>
          <a:p>
            <a:pPr/>
            <a:r>
              <a:t>Kaw</a:t>
            </a:r>
          </a:p>
        </p:txBody>
      </p:sp>
      <p:sp>
        <p:nvSpPr>
          <p:cNvPr id="170" name="Shape 5"/>
          <p:cNvSpPr/>
          <p:nvPr/>
        </p:nvSpPr>
        <p:spPr>
          <a:xfrm>
            <a:off x="1737360" y="2148839"/>
            <a:ext cx="3138056" cy="457201"/>
          </a:xfrm>
          <a:prstGeom prst="rect">
            <a:avLst/>
          </a:prstGeom>
          <a:solidFill>
            <a:srgbClr val="3E7CB1"/>
          </a:solidFill>
          <a:ln w="12700">
            <a:solidFill>
              <a:srgbClr val="3E7CB1"/>
            </a:solidFill>
          </a:ln>
        </p:spPr>
        <p:txBody>
          <a:bodyPr lIns="45719" rIns="45719"/>
          <a:lstStyle/>
          <a:p>
            <a:pPr/>
          </a:p>
        </p:txBody>
      </p:sp>
      <p:sp>
        <p:nvSpPr>
          <p:cNvPr id="171" name="Shape 6"/>
          <p:cNvSpPr/>
          <p:nvPr/>
        </p:nvSpPr>
        <p:spPr>
          <a:xfrm>
            <a:off x="4902846" y="2148839"/>
            <a:ext cx="1262289" cy="457201"/>
          </a:xfrm>
          <a:prstGeom prst="rect">
            <a:avLst/>
          </a:prstGeom>
          <a:solidFill>
            <a:srgbClr val="2E8B57"/>
          </a:solidFill>
          <a:ln w="12700">
            <a:solidFill>
              <a:srgbClr val="2E8B57"/>
            </a:solidFill>
          </a:ln>
        </p:spPr>
        <p:txBody>
          <a:bodyPr lIns="45719" rIns="45719"/>
          <a:lstStyle/>
          <a:p>
            <a:pPr/>
          </a:p>
        </p:txBody>
      </p:sp>
      <p:sp>
        <p:nvSpPr>
          <p:cNvPr id="172" name="Text 7"/>
          <p:cNvSpPr txBox="1"/>
          <p:nvPr/>
        </p:nvSpPr>
        <p:spPr>
          <a:xfrm>
            <a:off x="1737360" y="2299007"/>
            <a:ext cx="3138056"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755 h</a:t>
            </a:r>
          </a:p>
        </p:txBody>
      </p:sp>
      <p:sp>
        <p:nvSpPr>
          <p:cNvPr id="173" name="Text 8"/>
          <p:cNvSpPr txBox="1"/>
          <p:nvPr/>
        </p:nvSpPr>
        <p:spPr>
          <a:xfrm>
            <a:off x="4902846" y="2299007"/>
            <a:ext cx="1262289"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304 h</a:t>
            </a:r>
          </a:p>
        </p:txBody>
      </p:sp>
      <p:sp>
        <p:nvSpPr>
          <p:cNvPr id="174" name="Text 9"/>
          <p:cNvSpPr txBox="1"/>
          <p:nvPr/>
        </p:nvSpPr>
        <p:spPr>
          <a:xfrm>
            <a:off x="6247429" y="2294059"/>
            <a:ext cx="822961"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5B6B63"/>
                </a:solidFill>
              </a:defRPr>
            </a:lvl1pPr>
          </a:lstStyle>
          <a:p>
            <a:pPr/>
            <a:r>
              <a:t>1059 h</a:t>
            </a:r>
          </a:p>
        </p:txBody>
      </p:sp>
      <p:sp>
        <p:nvSpPr>
          <p:cNvPr id="175" name="Text 10"/>
          <p:cNvSpPr txBox="1"/>
          <p:nvPr/>
        </p:nvSpPr>
        <p:spPr>
          <a:xfrm>
            <a:off x="1737360" y="2633472"/>
            <a:ext cx="50292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i="1" sz="1000">
                <a:solidFill>
                  <a:srgbClr val="5B6B63"/>
                </a:solidFill>
              </a:defRPr>
            </a:lvl1pPr>
          </a:lstStyle>
          <a:p>
            <a:pPr/>
            <a:r>
              <a:t>2026 : relevés CDR, Patawa Est, Patawa Ouest</a:t>
            </a:r>
          </a:p>
        </p:txBody>
      </p:sp>
      <p:sp>
        <p:nvSpPr>
          <p:cNvPr id="176" name="Text 11"/>
          <p:cNvSpPr txBox="1"/>
          <p:nvPr/>
        </p:nvSpPr>
        <p:spPr>
          <a:xfrm>
            <a:off x="548640" y="3152842"/>
            <a:ext cx="105156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500">
                <a:solidFill>
                  <a:srgbClr val="1B2A24"/>
                </a:solidFill>
              </a:defRPr>
            </a:lvl1pPr>
          </a:lstStyle>
          <a:p>
            <a:pPr/>
            <a:r>
              <a:t>Trésor</a:t>
            </a:r>
          </a:p>
        </p:txBody>
      </p:sp>
      <p:sp>
        <p:nvSpPr>
          <p:cNvPr id="177" name="Shape 12"/>
          <p:cNvSpPr/>
          <p:nvPr/>
        </p:nvSpPr>
        <p:spPr>
          <a:xfrm>
            <a:off x="1737360" y="3017520"/>
            <a:ext cx="3201231" cy="457201"/>
          </a:xfrm>
          <a:prstGeom prst="rect">
            <a:avLst/>
          </a:prstGeom>
          <a:solidFill>
            <a:srgbClr val="3E7CB1"/>
          </a:solidFill>
          <a:ln w="12700">
            <a:solidFill>
              <a:srgbClr val="3E7CB1"/>
            </a:solidFill>
          </a:ln>
        </p:spPr>
        <p:txBody>
          <a:bodyPr lIns="45719" rIns="45719"/>
          <a:lstStyle/>
          <a:p>
            <a:pPr/>
          </a:p>
        </p:txBody>
      </p:sp>
      <p:sp>
        <p:nvSpPr>
          <p:cNvPr id="178" name="Shape 13"/>
          <p:cNvSpPr/>
          <p:nvPr/>
        </p:nvSpPr>
        <p:spPr>
          <a:xfrm>
            <a:off x="4966022" y="3017520"/>
            <a:ext cx="1008750" cy="457201"/>
          </a:xfrm>
          <a:prstGeom prst="rect">
            <a:avLst/>
          </a:prstGeom>
          <a:solidFill>
            <a:srgbClr val="2E8B57"/>
          </a:solidFill>
          <a:ln w="12700">
            <a:solidFill>
              <a:srgbClr val="2E8B57"/>
            </a:solidFill>
          </a:ln>
        </p:spPr>
        <p:txBody>
          <a:bodyPr lIns="45719" rIns="45719"/>
          <a:lstStyle/>
          <a:p>
            <a:pPr/>
          </a:p>
        </p:txBody>
      </p:sp>
      <p:sp>
        <p:nvSpPr>
          <p:cNvPr id="179" name="Text 14"/>
          <p:cNvSpPr txBox="1"/>
          <p:nvPr/>
        </p:nvSpPr>
        <p:spPr>
          <a:xfrm>
            <a:off x="1737360" y="3167687"/>
            <a:ext cx="320123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770 h</a:t>
            </a:r>
          </a:p>
        </p:txBody>
      </p:sp>
      <p:sp>
        <p:nvSpPr>
          <p:cNvPr id="180" name="Text 15"/>
          <p:cNvSpPr txBox="1"/>
          <p:nvPr/>
        </p:nvSpPr>
        <p:spPr>
          <a:xfrm>
            <a:off x="4966022" y="3167687"/>
            <a:ext cx="1008750"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243 h</a:t>
            </a:r>
          </a:p>
        </p:txBody>
      </p:sp>
      <p:sp>
        <p:nvSpPr>
          <p:cNvPr id="181" name="Text 16"/>
          <p:cNvSpPr txBox="1"/>
          <p:nvPr/>
        </p:nvSpPr>
        <p:spPr>
          <a:xfrm>
            <a:off x="6057069" y="3162739"/>
            <a:ext cx="82296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5B6B63"/>
                </a:solidFill>
              </a:defRPr>
            </a:lvl1pPr>
          </a:lstStyle>
          <a:p>
            <a:pPr/>
            <a:r>
              <a:t>1013 h</a:t>
            </a:r>
          </a:p>
        </p:txBody>
      </p:sp>
      <p:sp>
        <p:nvSpPr>
          <p:cNvPr id="182" name="Text 17"/>
          <p:cNvSpPr txBox="1"/>
          <p:nvPr/>
        </p:nvSpPr>
        <p:spPr>
          <a:xfrm>
            <a:off x="1737360" y="3502152"/>
            <a:ext cx="50292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i="1" sz="1000">
                <a:solidFill>
                  <a:srgbClr val="5B6B63"/>
                </a:solidFill>
              </a:defRPr>
            </a:lvl1pPr>
          </a:lstStyle>
          <a:p>
            <a:pPr/>
            <a:r>
              <a:t>2026 : relevé RNRT</a:t>
            </a:r>
          </a:p>
        </p:txBody>
      </p:sp>
      <p:sp>
        <p:nvSpPr>
          <p:cNvPr id="183" name="Text 18"/>
          <p:cNvSpPr txBox="1"/>
          <p:nvPr/>
        </p:nvSpPr>
        <p:spPr>
          <a:xfrm>
            <a:off x="548640" y="4021521"/>
            <a:ext cx="1051561"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500">
                <a:solidFill>
                  <a:srgbClr val="1B2A24"/>
                </a:solidFill>
              </a:defRPr>
            </a:lvl1pPr>
          </a:lstStyle>
          <a:p>
            <a:pPr/>
            <a:r>
              <a:t>Molokoï</a:t>
            </a:r>
          </a:p>
        </p:txBody>
      </p:sp>
      <p:sp>
        <p:nvSpPr>
          <p:cNvPr id="184" name="Shape 19"/>
          <p:cNvSpPr/>
          <p:nvPr/>
        </p:nvSpPr>
        <p:spPr>
          <a:xfrm>
            <a:off x="1737360" y="3886200"/>
            <a:ext cx="2909456" cy="457200"/>
          </a:xfrm>
          <a:prstGeom prst="rect">
            <a:avLst/>
          </a:prstGeom>
          <a:solidFill>
            <a:srgbClr val="3E7CB1"/>
          </a:solidFill>
          <a:ln w="12700">
            <a:solidFill>
              <a:srgbClr val="3E7CB1"/>
            </a:solidFill>
          </a:ln>
        </p:spPr>
        <p:txBody>
          <a:bodyPr lIns="45719" rIns="45719"/>
          <a:lstStyle/>
          <a:p>
            <a:pPr/>
          </a:p>
        </p:txBody>
      </p:sp>
      <p:sp>
        <p:nvSpPr>
          <p:cNvPr id="185" name="Text 20"/>
          <p:cNvSpPr txBox="1"/>
          <p:nvPr/>
        </p:nvSpPr>
        <p:spPr>
          <a:xfrm>
            <a:off x="1737360" y="4036367"/>
            <a:ext cx="2909456"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700 h</a:t>
            </a:r>
          </a:p>
        </p:txBody>
      </p:sp>
      <p:sp>
        <p:nvSpPr>
          <p:cNvPr id="186" name="Text 21"/>
          <p:cNvSpPr txBox="1"/>
          <p:nvPr/>
        </p:nvSpPr>
        <p:spPr>
          <a:xfrm>
            <a:off x="4756542" y="4031419"/>
            <a:ext cx="822962"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5B6B63"/>
                </a:solidFill>
              </a:defRPr>
            </a:lvl1pPr>
          </a:lstStyle>
          <a:p>
            <a:pPr/>
            <a:r>
              <a:t>700 h</a:t>
            </a:r>
          </a:p>
        </p:txBody>
      </p:sp>
      <p:sp>
        <p:nvSpPr>
          <p:cNvPr id="187" name="Text 22"/>
          <p:cNvSpPr txBox="1"/>
          <p:nvPr/>
        </p:nvSpPr>
        <p:spPr>
          <a:xfrm>
            <a:off x="548640" y="4890201"/>
            <a:ext cx="105156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500">
                <a:solidFill>
                  <a:srgbClr val="1B2A24"/>
                </a:solidFill>
              </a:defRPr>
            </a:lvl1pPr>
          </a:lstStyle>
          <a:p>
            <a:pPr/>
            <a:r>
              <a:t>Mataroni</a:t>
            </a:r>
          </a:p>
        </p:txBody>
      </p:sp>
      <p:sp>
        <p:nvSpPr>
          <p:cNvPr id="188" name="Shape 23"/>
          <p:cNvSpPr/>
          <p:nvPr/>
        </p:nvSpPr>
        <p:spPr>
          <a:xfrm>
            <a:off x="1737360" y="4754879"/>
            <a:ext cx="1797628" cy="457201"/>
          </a:xfrm>
          <a:prstGeom prst="rect">
            <a:avLst/>
          </a:prstGeom>
          <a:solidFill>
            <a:srgbClr val="2E8B57"/>
          </a:solidFill>
          <a:ln w="12700">
            <a:solidFill>
              <a:srgbClr val="2E8B57"/>
            </a:solidFill>
          </a:ln>
        </p:spPr>
        <p:txBody>
          <a:bodyPr lIns="45719" rIns="45719"/>
          <a:lstStyle/>
          <a:p>
            <a:pPr/>
          </a:p>
        </p:txBody>
      </p:sp>
      <p:sp>
        <p:nvSpPr>
          <p:cNvPr id="189" name="Text 24"/>
          <p:cNvSpPr txBox="1"/>
          <p:nvPr/>
        </p:nvSpPr>
        <p:spPr>
          <a:xfrm>
            <a:off x="1764792" y="4905047"/>
            <a:ext cx="1797628"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433 h</a:t>
            </a:r>
          </a:p>
        </p:txBody>
      </p:sp>
      <p:sp>
        <p:nvSpPr>
          <p:cNvPr id="190" name="Text 25"/>
          <p:cNvSpPr txBox="1"/>
          <p:nvPr/>
        </p:nvSpPr>
        <p:spPr>
          <a:xfrm>
            <a:off x="3644715" y="4900098"/>
            <a:ext cx="82296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5B6B63"/>
                </a:solidFill>
              </a:defRPr>
            </a:lvl1pPr>
          </a:lstStyle>
          <a:p>
            <a:pPr/>
            <a:r>
              <a:t>433 h</a:t>
            </a:r>
          </a:p>
        </p:txBody>
      </p:sp>
      <p:sp>
        <p:nvSpPr>
          <p:cNvPr id="191" name="Shape 26"/>
          <p:cNvSpPr/>
          <p:nvPr/>
        </p:nvSpPr>
        <p:spPr>
          <a:xfrm>
            <a:off x="1737360" y="5742432"/>
            <a:ext cx="201169" cy="201169"/>
          </a:xfrm>
          <a:prstGeom prst="rect">
            <a:avLst/>
          </a:prstGeom>
          <a:solidFill>
            <a:srgbClr val="3E7CB1"/>
          </a:solidFill>
          <a:ln w="12700">
            <a:solidFill>
              <a:srgbClr val="3E7CB1"/>
            </a:solidFill>
          </a:ln>
        </p:spPr>
        <p:txBody>
          <a:bodyPr lIns="45719" rIns="45719"/>
          <a:lstStyle/>
          <a:p>
            <a:pPr/>
          </a:p>
        </p:txBody>
      </p:sp>
      <p:sp>
        <p:nvSpPr>
          <p:cNvPr id="192" name="Text 27"/>
          <p:cNvSpPr txBox="1"/>
          <p:nvPr/>
        </p:nvSpPr>
        <p:spPr>
          <a:xfrm>
            <a:off x="2029967" y="5764583"/>
            <a:ext cx="237744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1B2A24"/>
                </a:solidFill>
              </a:defRPr>
            </a:lvl1pPr>
          </a:lstStyle>
          <a:p>
            <a:pPr/>
            <a:r>
              <a:t>2023-2024 · phénologie</a:t>
            </a:r>
          </a:p>
        </p:txBody>
      </p:sp>
      <p:sp>
        <p:nvSpPr>
          <p:cNvPr id="193" name="Shape 28"/>
          <p:cNvSpPr/>
          <p:nvPr/>
        </p:nvSpPr>
        <p:spPr>
          <a:xfrm>
            <a:off x="4389120" y="5742432"/>
            <a:ext cx="201169" cy="201169"/>
          </a:xfrm>
          <a:prstGeom prst="rect">
            <a:avLst/>
          </a:prstGeom>
          <a:solidFill>
            <a:srgbClr val="2E8B57"/>
          </a:solidFill>
          <a:ln w="12700">
            <a:solidFill>
              <a:srgbClr val="2E8B57"/>
            </a:solidFill>
          </a:ln>
        </p:spPr>
        <p:txBody>
          <a:bodyPr lIns="45719" rIns="45719"/>
          <a:lstStyle/>
          <a:p>
            <a:pPr/>
          </a:p>
        </p:txBody>
      </p:sp>
      <p:sp>
        <p:nvSpPr>
          <p:cNvPr id="194" name="Text 29"/>
          <p:cNvSpPr txBox="1"/>
          <p:nvPr/>
        </p:nvSpPr>
        <p:spPr>
          <a:xfrm>
            <a:off x="4681728" y="5764583"/>
            <a:ext cx="237744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1B2A24"/>
                </a:solidFill>
              </a:defRPr>
            </a:lvl1pPr>
          </a:lstStyle>
          <a:p>
            <a:pPr/>
            <a:r>
              <a:t>2026 · campagne d’enregistrements</a:t>
            </a:r>
          </a:p>
        </p:txBody>
      </p:sp>
      <p:sp>
        <p:nvSpPr>
          <p:cNvPr id="195" name="Shape 30"/>
          <p:cNvSpPr/>
          <p:nvPr/>
        </p:nvSpPr>
        <p:spPr>
          <a:xfrm>
            <a:off x="7589519" y="1600200"/>
            <a:ext cx="4023361" cy="932689"/>
          </a:xfrm>
          <a:prstGeom prst="roundRect">
            <a:avLst>
              <a:gd name="adj" fmla="val 9804"/>
            </a:avLst>
          </a:prstGeom>
          <a:solidFill>
            <a:srgbClr val="F3F7F4"/>
          </a:solidFill>
          <a:ln w="12700">
            <a:solidFill>
              <a:srgbClr val="F3F7F4"/>
            </a:solidFill>
          </a:ln>
        </p:spPr>
        <p:txBody>
          <a:bodyPr lIns="45719" rIns="45719"/>
          <a:lstStyle/>
          <a:p>
            <a:pPr/>
          </a:p>
        </p:txBody>
      </p:sp>
      <p:sp>
        <p:nvSpPr>
          <p:cNvPr id="196" name="Text 31"/>
          <p:cNvSpPr txBox="1"/>
          <p:nvPr/>
        </p:nvSpPr>
        <p:spPr>
          <a:xfrm>
            <a:off x="7772400" y="1860550"/>
            <a:ext cx="1828800" cy="393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600">
                <a:solidFill>
                  <a:srgbClr val="8A5A00"/>
                </a:solidFill>
                <a:latin typeface="Cambria"/>
                <a:ea typeface="Cambria"/>
                <a:cs typeface="Cambria"/>
                <a:sym typeface="Cambria"/>
              </a:defRPr>
            </a:lvl1pPr>
          </a:lstStyle>
          <a:p>
            <a:pPr/>
            <a:r>
              <a:t>3 204 h</a:t>
            </a:r>
          </a:p>
        </p:txBody>
      </p:sp>
      <p:sp>
        <p:nvSpPr>
          <p:cNvPr id="197" name="Text 32"/>
          <p:cNvSpPr txBox="1"/>
          <p:nvPr/>
        </p:nvSpPr>
        <p:spPr>
          <a:xfrm>
            <a:off x="9601200" y="1974019"/>
            <a:ext cx="1920240"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5B6B63"/>
                </a:solidFill>
              </a:defRPr>
            </a:lvl1pPr>
          </a:lstStyle>
          <a:p>
            <a:pPr/>
            <a:r>
              <a:t>d'audio, 2,2 To</a:t>
            </a:r>
          </a:p>
        </p:txBody>
      </p:sp>
      <p:sp>
        <p:nvSpPr>
          <p:cNvPr id="198" name="Shape 33"/>
          <p:cNvSpPr/>
          <p:nvPr/>
        </p:nvSpPr>
        <p:spPr>
          <a:xfrm>
            <a:off x="7589519" y="2679192"/>
            <a:ext cx="4023361" cy="932689"/>
          </a:xfrm>
          <a:prstGeom prst="roundRect">
            <a:avLst>
              <a:gd name="adj" fmla="val 9804"/>
            </a:avLst>
          </a:prstGeom>
          <a:solidFill>
            <a:srgbClr val="F3F7F4"/>
          </a:solidFill>
          <a:ln w="12700">
            <a:solidFill>
              <a:srgbClr val="F3F7F4"/>
            </a:solidFill>
          </a:ln>
        </p:spPr>
        <p:txBody>
          <a:bodyPr lIns="45719" rIns="45719"/>
          <a:lstStyle/>
          <a:p>
            <a:pPr/>
          </a:p>
        </p:txBody>
      </p:sp>
      <p:sp>
        <p:nvSpPr>
          <p:cNvPr id="199" name="Text 34"/>
          <p:cNvSpPr txBox="1"/>
          <p:nvPr/>
        </p:nvSpPr>
        <p:spPr>
          <a:xfrm>
            <a:off x="7772400" y="2939542"/>
            <a:ext cx="1828800" cy="393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600">
                <a:solidFill>
                  <a:srgbClr val="8A5A00"/>
                </a:solidFill>
                <a:latin typeface="Cambria"/>
                <a:ea typeface="Cambria"/>
                <a:cs typeface="Cambria"/>
                <a:sym typeface="Cambria"/>
              </a:defRPr>
            </a:lvl1pPr>
          </a:lstStyle>
          <a:p>
            <a:pPr/>
            <a:r>
              <a:t>94 588</a:t>
            </a:r>
          </a:p>
        </p:txBody>
      </p:sp>
      <p:sp>
        <p:nvSpPr>
          <p:cNvPr id="200" name="Text 35"/>
          <p:cNvSpPr txBox="1"/>
          <p:nvPr/>
        </p:nvSpPr>
        <p:spPr>
          <a:xfrm>
            <a:off x="9601200" y="3053011"/>
            <a:ext cx="1920240"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5B6B63"/>
                </a:solidFill>
              </a:defRPr>
            </a:lvl1pPr>
          </a:lstStyle>
          <a:p>
            <a:pPr/>
            <a:r>
              <a:t>enregistrements encodables</a:t>
            </a:r>
          </a:p>
        </p:txBody>
      </p:sp>
      <p:sp>
        <p:nvSpPr>
          <p:cNvPr id="201" name="Shape 36"/>
          <p:cNvSpPr/>
          <p:nvPr/>
        </p:nvSpPr>
        <p:spPr>
          <a:xfrm>
            <a:off x="7589519" y="3758184"/>
            <a:ext cx="4023361" cy="932689"/>
          </a:xfrm>
          <a:prstGeom prst="roundRect">
            <a:avLst>
              <a:gd name="adj" fmla="val 9804"/>
            </a:avLst>
          </a:prstGeom>
          <a:solidFill>
            <a:srgbClr val="F3F7F4"/>
          </a:solidFill>
          <a:ln w="12700">
            <a:solidFill>
              <a:srgbClr val="F3F7F4"/>
            </a:solidFill>
          </a:ln>
        </p:spPr>
        <p:txBody>
          <a:bodyPr lIns="45719" rIns="45719"/>
          <a:lstStyle/>
          <a:p>
            <a:pPr/>
          </a:p>
        </p:txBody>
      </p:sp>
      <p:sp>
        <p:nvSpPr>
          <p:cNvPr id="202" name="Text 37"/>
          <p:cNvSpPr txBox="1"/>
          <p:nvPr/>
        </p:nvSpPr>
        <p:spPr>
          <a:xfrm>
            <a:off x="7772400" y="4018533"/>
            <a:ext cx="1828800" cy="393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600">
                <a:solidFill>
                  <a:srgbClr val="8A5A00"/>
                </a:solidFill>
                <a:latin typeface="Cambria"/>
                <a:ea typeface="Cambria"/>
                <a:cs typeface="Cambria"/>
                <a:sym typeface="Cambria"/>
              </a:defRPr>
            </a:lvl1pPr>
          </a:lstStyle>
          <a:p>
            <a:pPr/>
            <a:r>
              <a:t>4,5 M</a:t>
            </a:r>
          </a:p>
        </p:txBody>
      </p:sp>
      <p:sp>
        <p:nvSpPr>
          <p:cNvPr id="203" name="Text 38"/>
          <p:cNvSpPr txBox="1"/>
          <p:nvPr/>
        </p:nvSpPr>
        <p:spPr>
          <a:xfrm>
            <a:off x="9601200" y="4132002"/>
            <a:ext cx="1920240"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5B6B63"/>
                </a:solidFill>
              </a:defRPr>
            </a:lvl1pPr>
          </a:lstStyle>
          <a:p>
            <a:pPr/>
            <a:r>
              <a:t>fenêtres de 5 s (pas 2,5 s)</a:t>
            </a:r>
          </a:p>
        </p:txBody>
      </p:sp>
      <p:sp>
        <p:nvSpPr>
          <p:cNvPr id="204" name="Shape 39"/>
          <p:cNvSpPr/>
          <p:nvPr/>
        </p:nvSpPr>
        <p:spPr>
          <a:xfrm>
            <a:off x="7589519" y="4892040"/>
            <a:ext cx="4023361" cy="1417321"/>
          </a:xfrm>
          <a:prstGeom prst="roundRect">
            <a:avLst>
              <a:gd name="adj" fmla="val 6452"/>
            </a:avLst>
          </a:prstGeom>
          <a:solidFill>
            <a:srgbClr val="0E2A24"/>
          </a:solidFill>
          <a:ln w="12700">
            <a:solidFill>
              <a:srgbClr val="0E2A24"/>
            </a:solidFill>
          </a:ln>
        </p:spPr>
        <p:txBody>
          <a:bodyPr lIns="45719" rIns="45719"/>
          <a:lstStyle/>
          <a:p>
            <a:pPr/>
          </a:p>
        </p:txBody>
      </p:sp>
      <p:sp>
        <p:nvSpPr>
          <p:cNvPr id="205" name="Text 43"/>
          <p:cNvSpPr txBox="1"/>
          <p:nvPr/>
        </p:nvSpPr>
        <p:spPr>
          <a:xfrm>
            <a:off x="7749539" y="5197406"/>
            <a:ext cx="3703321" cy="7763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177800" indent="-177800">
              <a:spcBef>
                <a:spcPts val="800"/>
              </a:spcBef>
              <a:buSzPct val="100000"/>
              <a:buChar char="•"/>
              <a:defRPr sz="1300">
                <a:solidFill>
                  <a:srgbClr val="FFFFFF"/>
                </a:solidFill>
              </a:defRPr>
            </a:pPr>
            <a:r>
              <a:t>2023 : une année par point d’écoute</a:t>
            </a:r>
          </a:p>
          <a:p>
            <a:pPr marL="177800" indent="-177800">
              <a:spcBef>
                <a:spcPts val="800"/>
              </a:spcBef>
              <a:buSzPct val="100000"/>
              <a:buChar char="•"/>
              <a:defRPr sz="1300">
                <a:solidFill>
                  <a:srgbClr val="FFFFFF"/>
                </a:solidFill>
              </a:defRPr>
            </a:pPr>
            <a:r>
              <a:t>2026 : une semaine par point d’écoute</a:t>
            </a:r>
          </a:p>
          <a:p>
            <a:pPr marL="177800" indent="-177800">
              <a:spcBef>
                <a:spcPts val="800"/>
              </a:spcBef>
              <a:buSzPct val="100000"/>
              <a:buChar char="•"/>
              <a:defRPr b="1" sz="1300">
                <a:solidFill>
                  <a:srgbClr val="E9B44C"/>
                </a:solidFill>
              </a:defRPr>
            </a:pPr>
            <a:r>
              <a:t>Labels Blancinet (345 + 150) : sortis</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9" name="Shape 0"/>
          <p:cNvSpPr/>
          <p:nvPr/>
        </p:nvSpPr>
        <p:spPr>
          <a:xfrm>
            <a:off x="548640" y="365759"/>
            <a:ext cx="1193292" cy="292610"/>
          </a:xfrm>
          <a:prstGeom prst="roundRect">
            <a:avLst>
              <a:gd name="adj" fmla="val 50000"/>
            </a:avLst>
          </a:prstGeom>
          <a:solidFill>
            <a:srgbClr val="E4EEE8"/>
          </a:solidFill>
          <a:ln w="12700">
            <a:solidFill>
              <a:srgbClr val="E4EEE8"/>
            </a:solidFill>
          </a:ln>
        </p:spPr>
        <p:txBody>
          <a:bodyPr lIns="45719" rIns="45719"/>
          <a:lstStyle/>
          <a:p>
            <a:pPr/>
          </a:p>
        </p:txBody>
      </p:sp>
      <p:sp>
        <p:nvSpPr>
          <p:cNvPr id="210" name="Text 1"/>
          <p:cNvSpPr txBox="1"/>
          <p:nvPr/>
        </p:nvSpPr>
        <p:spPr>
          <a:xfrm>
            <a:off x="548640" y="443528"/>
            <a:ext cx="119329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100" sz="1000">
                <a:solidFill>
                  <a:srgbClr val="2A7F72"/>
                </a:solidFill>
              </a:defRPr>
            </a:lvl1pPr>
          </a:lstStyle>
          <a:p>
            <a:pPr/>
            <a:r>
              <a:t>DONNÉES · 2/2</a:t>
            </a:r>
          </a:p>
        </p:txBody>
      </p:sp>
      <p:sp>
        <p:nvSpPr>
          <p:cNvPr id="211" name="Text 2"/>
          <p:cNvSpPr txBox="1"/>
          <p:nvPr/>
        </p:nvSpPr>
        <p:spPr>
          <a:xfrm>
            <a:off x="548639" y="860297"/>
            <a:ext cx="11094417"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800">
                <a:solidFill>
                  <a:srgbClr val="1B2A24"/>
                </a:solidFill>
                <a:latin typeface="Cambria"/>
                <a:ea typeface="Cambria"/>
                <a:cs typeface="Cambria"/>
                <a:sym typeface="Cambria"/>
              </a:defRPr>
            </a:lvl1pPr>
          </a:lstStyle>
          <a:p>
            <a:pPr/>
            <a:r>
              <a:t>Annoter en partant de zéro (décision d’Élodie)</a:t>
            </a:r>
          </a:p>
        </p:txBody>
      </p:sp>
      <p:sp>
        <p:nvSpPr>
          <p:cNvPr id="212" name="Text 3"/>
          <p:cNvSpPr txBox="1"/>
          <p:nvPr/>
        </p:nvSpPr>
        <p:spPr>
          <a:xfrm>
            <a:off x="11277295" y="6473952"/>
            <a:ext cx="457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900">
                <a:solidFill>
                  <a:srgbClr val="A7BFB2"/>
                </a:solidFill>
              </a:defRPr>
            </a:lvl1pPr>
          </a:lstStyle>
          <a:p>
            <a:pPr/>
            <a:r>
              <a:t>10</a:t>
            </a:r>
          </a:p>
        </p:txBody>
      </p:sp>
      <p:sp>
        <p:nvSpPr>
          <p:cNvPr id="213" name="Shape 4"/>
          <p:cNvSpPr/>
          <p:nvPr/>
        </p:nvSpPr>
        <p:spPr>
          <a:xfrm>
            <a:off x="603504" y="1554480"/>
            <a:ext cx="1944564" cy="2103121"/>
          </a:xfrm>
          <a:prstGeom prst="roundRect">
            <a:avLst>
              <a:gd name="adj" fmla="val 4702"/>
            </a:avLst>
          </a:prstGeom>
          <a:solidFill>
            <a:srgbClr val="F3F7F4"/>
          </a:solidFill>
          <a:ln w="12700">
            <a:solidFill>
              <a:srgbClr val="F3F7F4"/>
            </a:solidFill>
          </a:ln>
        </p:spPr>
        <p:txBody>
          <a:bodyPr lIns="45719" rIns="45719"/>
          <a:lstStyle/>
          <a:p>
            <a:pPr/>
          </a:p>
        </p:txBody>
      </p:sp>
      <p:sp>
        <p:nvSpPr>
          <p:cNvPr id="214" name="Shape 5"/>
          <p:cNvSpPr/>
          <p:nvPr/>
        </p:nvSpPr>
        <p:spPr>
          <a:xfrm>
            <a:off x="786383" y="1700783"/>
            <a:ext cx="384049" cy="384049"/>
          </a:xfrm>
          <a:prstGeom prst="ellipse">
            <a:avLst/>
          </a:prstGeom>
          <a:solidFill>
            <a:srgbClr val="2A7F72"/>
          </a:solidFill>
          <a:ln w="12700">
            <a:solidFill>
              <a:srgbClr val="2A7F72"/>
            </a:solidFill>
          </a:ln>
        </p:spPr>
        <p:txBody>
          <a:bodyPr lIns="45719" rIns="45719"/>
          <a:lstStyle/>
          <a:p>
            <a:pPr/>
          </a:p>
        </p:txBody>
      </p:sp>
      <p:sp>
        <p:nvSpPr>
          <p:cNvPr id="215" name="Text 6"/>
          <p:cNvSpPr txBox="1"/>
          <p:nvPr/>
        </p:nvSpPr>
        <p:spPr>
          <a:xfrm>
            <a:off x="786383" y="1798128"/>
            <a:ext cx="384049"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FFFFFF"/>
                </a:solidFill>
              </a:defRPr>
            </a:lvl1pPr>
          </a:lstStyle>
          <a:p>
            <a:pPr/>
            <a:r>
              <a:t>1</a:t>
            </a:r>
          </a:p>
        </p:txBody>
      </p:sp>
      <p:sp>
        <p:nvSpPr>
          <p:cNvPr id="216" name="Text 7"/>
          <p:cNvSpPr txBox="1"/>
          <p:nvPr/>
        </p:nvSpPr>
        <p:spPr>
          <a:xfrm>
            <a:off x="786383" y="2176272"/>
            <a:ext cx="1670244"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1B2A24"/>
                </a:solidFill>
              </a:defRPr>
            </a:lvl1pPr>
          </a:lstStyle>
          <a:p>
            <a:pPr/>
            <a:r>
              <a:t>Répartir les points</a:t>
            </a:r>
          </a:p>
        </p:txBody>
      </p:sp>
      <p:sp>
        <p:nvSpPr>
          <p:cNvPr id="217" name="Text 8"/>
          <p:cNvSpPr txBox="1"/>
          <p:nvPr/>
        </p:nvSpPr>
        <p:spPr>
          <a:xfrm>
            <a:off x="786383" y="2606039"/>
            <a:ext cx="1670244" cy="7283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5B6B63"/>
                </a:solidFill>
              </a:defRPr>
            </a:lvl1pPr>
          </a:lstStyle>
          <a:p>
            <a:pPr/>
            <a:r>
              <a:t>avant écoute : chaque point va à l'entraînement ou au test, jamais aux deux</a:t>
            </a:r>
          </a:p>
        </p:txBody>
      </p:sp>
      <p:sp>
        <p:nvSpPr>
          <p:cNvPr id="218" name="Shape 9"/>
          <p:cNvSpPr/>
          <p:nvPr/>
        </p:nvSpPr>
        <p:spPr>
          <a:xfrm>
            <a:off x="2548066" y="2606039"/>
            <a:ext cx="164593" cy="1"/>
          </a:xfrm>
          <a:prstGeom prst="line">
            <a:avLst/>
          </a:prstGeom>
          <a:ln w="19050">
            <a:solidFill>
              <a:srgbClr val="A7BFB2"/>
            </a:solidFill>
            <a:tailEnd type="triangle"/>
          </a:ln>
        </p:spPr>
        <p:txBody>
          <a:bodyPr lIns="45719" rIns="45719"/>
          <a:lstStyle/>
          <a:p>
            <a:pPr/>
          </a:p>
        </p:txBody>
      </p:sp>
      <p:sp>
        <p:nvSpPr>
          <p:cNvPr id="219" name="Shape 10"/>
          <p:cNvSpPr/>
          <p:nvPr/>
        </p:nvSpPr>
        <p:spPr>
          <a:xfrm>
            <a:off x="2822387" y="1554480"/>
            <a:ext cx="1944564" cy="2103121"/>
          </a:xfrm>
          <a:prstGeom prst="roundRect">
            <a:avLst>
              <a:gd name="adj" fmla="val 4702"/>
            </a:avLst>
          </a:prstGeom>
          <a:solidFill>
            <a:srgbClr val="F3F7F4"/>
          </a:solidFill>
          <a:ln w="12700">
            <a:solidFill>
              <a:srgbClr val="F3F7F4"/>
            </a:solidFill>
          </a:ln>
        </p:spPr>
        <p:txBody>
          <a:bodyPr lIns="45719" rIns="45719"/>
          <a:lstStyle/>
          <a:p>
            <a:pPr/>
          </a:p>
        </p:txBody>
      </p:sp>
      <p:sp>
        <p:nvSpPr>
          <p:cNvPr id="220" name="Shape 11"/>
          <p:cNvSpPr/>
          <p:nvPr/>
        </p:nvSpPr>
        <p:spPr>
          <a:xfrm>
            <a:off x="3005266" y="1700783"/>
            <a:ext cx="384049" cy="384049"/>
          </a:xfrm>
          <a:prstGeom prst="ellipse">
            <a:avLst/>
          </a:prstGeom>
          <a:solidFill>
            <a:srgbClr val="2A7F72"/>
          </a:solidFill>
          <a:ln w="12700">
            <a:solidFill>
              <a:srgbClr val="2A7F72"/>
            </a:solidFill>
          </a:ln>
        </p:spPr>
        <p:txBody>
          <a:bodyPr lIns="45719" rIns="45719"/>
          <a:lstStyle/>
          <a:p>
            <a:pPr/>
          </a:p>
        </p:txBody>
      </p:sp>
      <p:sp>
        <p:nvSpPr>
          <p:cNvPr id="221" name="Text 12"/>
          <p:cNvSpPr txBox="1"/>
          <p:nvPr/>
        </p:nvSpPr>
        <p:spPr>
          <a:xfrm>
            <a:off x="3005266" y="1798128"/>
            <a:ext cx="384049"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FFFFFF"/>
                </a:solidFill>
              </a:defRPr>
            </a:lvl1pPr>
          </a:lstStyle>
          <a:p>
            <a:pPr/>
            <a:r>
              <a:t>2</a:t>
            </a:r>
          </a:p>
        </p:txBody>
      </p:sp>
      <p:sp>
        <p:nvSpPr>
          <p:cNvPr id="222" name="Text 13"/>
          <p:cNvSpPr txBox="1"/>
          <p:nvPr/>
        </p:nvSpPr>
        <p:spPr>
          <a:xfrm>
            <a:off x="3005266" y="2176272"/>
            <a:ext cx="1670244"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1B2A24"/>
                </a:solidFill>
              </a:defRPr>
            </a:lvl1pPr>
          </a:lstStyle>
          <a:p>
            <a:pPr/>
            <a:r>
              <a:t>Jeu d'entraînement</a:t>
            </a:r>
          </a:p>
        </p:txBody>
      </p:sp>
      <p:sp>
        <p:nvSpPr>
          <p:cNvPr id="223" name="Text 14"/>
          <p:cNvSpPr txBox="1"/>
          <p:nvPr/>
        </p:nvSpPr>
        <p:spPr>
          <a:xfrm>
            <a:off x="3005266" y="2606039"/>
            <a:ext cx="1670244" cy="537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5B6B63"/>
                </a:solidFill>
              </a:defRPr>
            </a:lvl1pPr>
          </a:lstStyle>
          <a:p>
            <a:pPr/>
            <a:r>
              <a:t>≈ 450 extraits de 30 s, 3 par point ; validation croisée par point</a:t>
            </a:r>
          </a:p>
        </p:txBody>
      </p:sp>
      <p:sp>
        <p:nvSpPr>
          <p:cNvPr id="224" name="Shape 15"/>
          <p:cNvSpPr/>
          <p:nvPr/>
        </p:nvSpPr>
        <p:spPr>
          <a:xfrm>
            <a:off x="4766950" y="2606039"/>
            <a:ext cx="164593" cy="1"/>
          </a:xfrm>
          <a:prstGeom prst="line">
            <a:avLst/>
          </a:prstGeom>
          <a:ln w="19050">
            <a:solidFill>
              <a:srgbClr val="A7BFB2"/>
            </a:solidFill>
            <a:tailEnd type="triangle"/>
          </a:ln>
        </p:spPr>
        <p:txBody>
          <a:bodyPr lIns="45719" rIns="45719"/>
          <a:lstStyle/>
          <a:p>
            <a:pPr/>
          </a:p>
        </p:txBody>
      </p:sp>
      <p:sp>
        <p:nvSpPr>
          <p:cNvPr id="225" name="Shape 16"/>
          <p:cNvSpPr/>
          <p:nvPr/>
        </p:nvSpPr>
        <p:spPr>
          <a:xfrm>
            <a:off x="5041270" y="1554480"/>
            <a:ext cx="1944564" cy="2103121"/>
          </a:xfrm>
          <a:prstGeom prst="roundRect">
            <a:avLst>
              <a:gd name="adj" fmla="val 4702"/>
            </a:avLst>
          </a:prstGeom>
          <a:solidFill>
            <a:srgbClr val="F3F7F4"/>
          </a:solidFill>
          <a:ln w="12700">
            <a:solidFill>
              <a:srgbClr val="F3F7F4"/>
            </a:solidFill>
          </a:ln>
        </p:spPr>
        <p:txBody>
          <a:bodyPr lIns="45719" rIns="45719"/>
          <a:lstStyle/>
          <a:p>
            <a:pPr/>
          </a:p>
        </p:txBody>
      </p:sp>
      <p:sp>
        <p:nvSpPr>
          <p:cNvPr id="226" name="Shape 17"/>
          <p:cNvSpPr/>
          <p:nvPr/>
        </p:nvSpPr>
        <p:spPr>
          <a:xfrm>
            <a:off x="5224150" y="1700783"/>
            <a:ext cx="384049" cy="384049"/>
          </a:xfrm>
          <a:prstGeom prst="ellipse">
            <a:avLst/>
          </a:prstGeom>
          <a:solidFill>
            <a:srgbClr val="2A7F72"/>
          </a:solidFill>
          <a:ln w="12700">
            <a:solidFill>
              <a:srgbClr val="2A7F72"/>
            </a:solidFill>
          </a:ln>
        </p:spPr>
        <p:txBody>
          <a:bodyPr lIns="45719" rIns="45719"/>
          <a:lstStyle/>
          <a:p>
            <a:pPr/>
          </a:p>
        </p:txBody>
      </p:sp>
      <p:sp>
        <p:nvSpPr>
          <p:cNvPr id="227" name="Text 18"/>
          <p:cNvSpPr txBox="1"/>
          <p:nvPr/>
        </p:nvSpPr>
        <p:spPr>
          <a:xfrm>
            <a:off x="5224150" y="1798128"/>
            <a:ext cx="384049"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FFFFFF"/>
                </a:solidFill>
              </a:defRPr>
            </a:lvl1pPr>
          </a:lstStyle>
          <a:p>
            <a:pPr/>
            <a:r>
              <a:t>3</a:t>
            </a:r>
          </a:p>
        </p:txBody>
      </p:sp>
      <p:sp>
        <p:nvSpPr>
          <p:cNvPr id="228" name="Text 19"/>
          <p:cNvSpPr txBox="1"/>
          <p:nvPr/>
        </p:nvSpPr>
        <p:spPr>
          <a:xfrm>
            <a:off x="5224150" y="2176272"/>
            <a:ext cx="1670244"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1B2A24"/>
                </a:solidFill>
              </a:defRPr>
            </a:lvl1pPr>
          </a:lstStyle>
          <a:p>
            <a:pPr/>
            <a:r>
              <a:t>Jeu de test</a:t>
            </a:r>
          </a:p>
        </p:txBody>
      </p:sp>
      <p:sp>
        <p:nvSpPr>
          <p:cNvPr id="229" name="Text 20"/>
          <p:cNvSpPr txBox="1"/>
          <p:nvPr/>
        </p:nvSpPr>
        <p:spPr>
          <a:xfrm>
            <a:off x="5224150" y="2606039"/>
            <a:ext cx="1670244" cy="537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5B6B63"/>
                </a:solidFill>
              </a:defRPr>
            </a:lvl1pPr>
          </a:lstStyle>
          <a:p>
            <a:pPr/>
            <a:r>
              <a:t>≈ 250 enregistrements entiers, points jamais vus, ≥ 60 positifs</a:t>
            </a:r>
          </a:p>
        </p:txBody>
      </p:sp>
      <p:sp>
        <p:nvSpPr>
          <p:cNvPr id="230" name="Shape 21"/>
          <p:cNvSpPr/>
          <p:nvPr/>
        </p:nvSpPr>
        <p:spPr>
          <a:xfrm>
            <a:off x="6985833" y="2606039"/>
            <a:ext cx="164593" cy="1"/>
          </a:xfrm>
          <a:prstGeom prst="line">
            <a:avLst/>
          </a:prstGeom>
          <a:ln w="19050">
            <a:solidFill>
              <a:srgbClr val="A7BFB2"/>
            </a:solidFill>
            <a:tailEnd type="triangle"/>
          </a:ln>
        </p:spPr>
        <p:txBody>
          <a:bodyPr lIns="45719" rIns="45719"/>
          <a:lstStyle/>
          <a:p>
            <a:pPr/>
          </a:p>
        </p:txBody>
      </p:sp>
      <p:sp>
        <p:nvSpPr>
          <p:cNvPr id="231" name="Shape 22"/>
          <p:cNvSpPr/>
          <p:nvPr/>
        </p:nvSpPr>
        <p:spPr>
          <a:xfrm>
            <a:off x="7260152" y="1554480"/>
            <a:ext cx="1944565" cy="2103121"/>
          </a:xfrm>
          <a:prstGeom prst="roundRect">
            <a:avLst>
              <a:gd name="adj" fmla="val 4702"/>
            </a:avLst>
          </a:prstGeom>
          <a:solidFill>
            <a:srgbClr val="0E2A24"/>
          </a:solidFill>
          <a:ln w="12700">
            <a:solidFill>
              <a:srgbClr val="0E2A24"/>
            </a:solidFill>
          </a:ln>
        </p:spPr>
        <p:txBody>
          <a:bodyPr lIns="45719" rIns="45719"/>
          <a:lstStyle/>
          <a:p>
            <a:pPr/>
          </a:p>
        </p:txBody>
      </p:sp>
      <p:sp>
        <p:nvSpPr>
          <p:cNvPr id="232" name="Shape 23"/>
          <p:cNvSpPr/>
          <p:nvPr/>
        </p:nvSpPr>
        <p:spPr>
          <a:xfrm>
            <a:off x="7443033" y="1700783"/>
            <a:ext cx="384049" cy="384049"/>
          </a:xfrm>
          <a:prstGeom prst="ellipse">
            <a:avLst/>
          </a:prstGeom>
          <a:solidFill>
            <a:srgbClr val="E9B44C"/>
          </a:solidFill>
          <a:ln w="12700">
            <a:solidFill>
              <a:srgbClr val="E9B44C"/>
            </a:solidFill>
          </a:ln>
        </p:spPr>
        <p:txBody>
          <a:bodyPr lIns="45719" rIns="45719"/>
          <a:lstStyle/>
          <a:p>
            <a:pPr/>
          </a:p>
        </p:txBody>
      </p:sp>
      <p:sp>
        <p:nvSpPr>
          <p:cNvPr id="233" name="Text 24"/>
          <p:cNvSpPr txBox="1"/>
          <p:nvPr/>
        </p:nvSpPr>
        <p:spPr>
          <a:xfrm>
            <a:off x="7443033" y="1798128"/>
            <a:ext cx="384049"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FFFFFF"/>
                </a:solidFill>
              </a:defRPr>
            </a:lvl1pPr>
          </a:lstStyle>
          <a:p>
            <a:pPr/>
            <a:r>
              <a:t>4</a:t>
            </a:r>
          </a:p>
        </p:txBody>
      </p:sp>
      <p:sp>
        <p:nvSpPr>
          <p:cNvPr id="234" name="Text 25"/>
          <p:cNvSpPr txBox="1"/>
          <p:nvPr/>
        </p:nvSpPr>
        <p:spPr>
          <a:xfrm>
            <a:off x="7443033" y="2176272"/>
            <a:ext cx="1670244"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FFFFFF"/>
                </a:solidFill>
              </a:defRPr>
            </a:lvl1pPr>
          </a:lstStyle>
          <a:p>
            <a:pPr/>
            <a:r>
              <a:t>Vérification</a:t>
            </a:r>
          </a:p>
        </p:txBody>
      </p:sp>
      <p:sp>
        <p:nvSpPr>
          <p:cNvPr id="235" name="Text 26"/>
          <p:cNvSpPr txBox="1"/>
          <p:nvPr/>
        </p:nvSpPr>
        <p:spPr>
          <a:xfrm>
            <a:off x="7443033" y="2606039"/>
            <a:ext cx="1670244" cy="537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A7BFB2"/>
                </a:solidFill>
              </a:defRPr>
            </a:lvl1pPr>
          </a:lstStyle>
          <a:p>
            <a:pPr/>
            <a:r>
              <a:t>à l'aveugle, par Élodie et Benoît : ≈ 2 h 30 d'écoute chacun</a:t>
            </a:r>
          </a:p>
        </p:txBody>
      </p:sp>
      <p:sp>
        <p:nvSpPr>
          <p:cNvPr id="236" name="Shape 27"/>
          <p:cNvSpPr/>
          <p:nvPr/>
        </p:nvSpPr>
        <p:spPr>
          <a:xfrm>
            <a:off x="9204715" y="2606039"/>
            <a:ext cx="164593" cy="1"/>
          </a:xfrm>
          <a:prstGeom prst="line">
            <a:avLst/>
          </a:prstGeom>
          <a:ln w="19050">
            <a:solidFill>
              <a:srgbClr val="A7BFB2"/>
            </a:solidFill>
            <a:tailEnd type="triangle"/>
          </a:ln>
        </p:spPr>
        <p:txBody>
          <a:bodyPr lIns="45719" rIns="45719"/>
          <a:lstStyle/>
          <a:p>
            <a:pPr/>
          </a:p>
        </p:txBody>
      </p:sp>
      <p:sp>
        <p:nvSpPr>
          <p:cNvPr id="237" name="Shape 28"/>
          <p:cNvSpPr/>
          <p:nvPr/>
        </p:nvSpPr>
        <p:spPr>
          <a:xfrm>
            <a:off x="9479036" y="1554480"/>
            <a:ext cx="1944564" cy="2103121"/>
          </a:xfrm>
          <a:prstGeom prst="roundRect">
            <a:avLst>
              <a:gd name="adj" fmla="val 4702"/>
            </a:avLst>
          </a:prstGeom>
          <a:solidFill>
            <a:srgbClr val="F3F7F4"/>
          </a:solidFill>
          <a:ln w="12700">
            <a:solidFill>
              <a:srgbClr val="F3F7F4"/>
            </a:solidFill>
          </a:ln>
        </p:spPr>
        <p:txBody>
          <a:bodyPr lIns="45719" rIns="45719"/>
          <a:lstStyle/>
          <a:p>
            <a:pPr/>
          </a:p>
        </p:txBody>
      </p:sp>
      <p:sp>
        <p:nvSpPr>
          <p:cNvPr id="238" name="Shape 29"/>
          <p:cNvSpPr/>
          <p:nvPr/>
        </p:nvSpPr>
        <p:spPr>
          <a:xfrm>
            <a:off x="9661915" y="1700783"/>
            <a:ext cx="384049" cy="384049"/>
          </a:xfrm>
          <a:prstGeom prst="ellipse">
            <a:avLst/>
          </a:prstGeom>
          <a:solidFill>
            <a:srgbClr val="2A7F72"/>
          </a:solidFill>
          <a:ln w="12700">
            <a:solidFill>
              <a:srgbClr val="2A7F72"/>
            </a:solidFill>
          </a:ln>
        </p:spPr>
        <p:txBody>
          <a:bodyPr lIns="45719" rIns="45719"/>
          <a:lstStyle/>
          <a:p>
            <a:pPr/>
          </a:p>
        </p:txBody>
      </p:sp>
      <p:sp>
        <p:nvSpPr>
          <p:cNvPr id="239" name="Text 30"/>
          <p:cNvSpPr txBox="1"/>
          <p:nvPr/>
        </p:nvSpPr>
        <p:spPr>
          <a:xfrm>
            <a:off x="9661915" y="1798128"/>
            <a:ext cx="384049"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FFFFFF"/>
                </a:solidFill>
              </a:defRPr>
            </a:lvl1pPr>
          </a:lstStyle>
          <a:p>
            <a:pPr/>
            <a:r>
              <a:t>5</a:t>
            </a:r>
          </a:p>
        </p:txBody>
      </p:sp>
      <p:sp>
        <p:nvSpPr>
          <p:cNvPr id="240" name="Text 31"/>
          <p:cNvSpPr txBox="1"/>
          <p:nvPr/>
        </p:nvSpPr>
        <p:spPr>
          <a:xfrm>
            <a:off x="9661915" y="2176272"/>
            <a:ext cx="1670244"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1B2A24"/>
                </a:solidFill>
              </a:defRPr>
            </a:lvl1pPr>
          </a:lstStyle>
          <a:p>
            <a:pPr/>
            <a:r>
              <a:t>Go pour encodage</a:t>
            </a:r>
          </a:p>
        </p:txBody>
      </p:sp>
      <p:sp>
        <p:nvSpPr>
          <p:cNvPr id="241" name="Text 32"/>
          <p:cNvSpPr txBox="1"/>
          <p:nvPr/>
        </p:nvSpPr>
        <p:spPr>
          <a:xfrm>
            <a:off x="9661915" y="2606039"/>
            <a:ext cx="1670244"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5B6B63"/>
                </a:solidFill>
              </a:defRPr>
            </a:lvl1pPr>
          </a:lstStyle>
          <a:p>
            <a:pPr/>
            <a:r>
              <a:t>Si 0 erreur</a:t>
            </a:r>
          </a:p>
        </p:txBody>
      </p:sp>
      <p:sp>
        <p:nvSpPr>
          <p:cNvPr id="242" name="Shape 33"/>
          <p:cNvSpPr/>
          <p:nvPr/>
        </p:nvSpPr>
        <p:spPr>
          <a:xfrm>
            <a:off x="548640" y="3840479"/>
            <a:ext cx="4846321" cy="2423161"/>
          </a:xfrm>
          <a:prstGeom prst="roundRect">
            <a:avLst>
              <a:gd name="adj" fmla="val 3774"/>
            </a:avLst>
          </a:prstGeom>
          <a:solidFill>
            <a:srgbClr val="0E2A24"/>
          </a:solidFill>
          <a:ln w="12700">
            <a:solidFill>
              <a:srgbClr val="0E2A24"/>
            </a:solidFill>
          </a:ln>
        </p:spPr>
        <p:txBody>
          <a:bodyPr lIns="45719" rIns="45719"/>
          <a:lstStyle/>
          <a:p>
            <a:pPr/>
          </a:p>
        </p:txBody>
      </p:sp>
      <p:sp>
        <p:nvSpPr>
          <p:cNvPr id="243" name="Text 34"/>
          <p:cNvSpPr txBox="1"/>
          <p:nvPr/>
        </p:nvSpPr>
        <p:spPr>
          <a:xfrm>
            <a:off x="777239" y="3977640"/>
            <a:ext cx="438912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100" sz="1100">
                <a:solidFill>
                  <a:srgbClr val="E9B44C"/>
                </a:solidFill>
              </a:defRPr>
            </a:lvl1pPr>
          </a:lstStyle>
          <a:p>
            <a:pPr/>
            <a:r>
              <a:t>LES FUTURES CAMPAGNES</a:t>
            </a:r>
          </a:p>
        </p:txBody>
      </p:sp>
      <p:sp>
        <p:nvSpPr>
          <p:cNvPr id="244" name="Text 35"/>
          <p:cNvSpPr txBox="1"/>
          <p:nvPr/>
        </p:nvSpPr>
        <p:spPr>
          <a:xfrm>
            <a:off x="777239" y="4315967"/>
            <a:ext cx="4434842" cy="508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FFFFFF"/>
                </a:solidFill>
                <a:latin typeface="Cambria"/>
                <a:ea typeface="Cambria"/>
                <a:cs typeface="Cambria"/>
                <a:sym typeface="Cambria"/>
              </a:defRPr>
            </a:lvl1pPr>
          </a:lstStyle>
          <a:p>
            <a:pPr/>
            <a:r>
              <a:t>1 semaine · saison des pluies · Mataroni · nouveaux points</a:t>
            </a:r>
          </a:p>
        </p:txBody>
      </p:sp>
      <p:sp>
        <p:nvSpPr>
          <p:cNvPr id="245" name="Text 36"/>
          <p:cNvSpPr txBox="1"/>
          <p:nvPr/>
        </p:nvSpPr>
        <p:spPr>
          <a:xfrm>
            <a:off x="777239" y="5029200"/>
            <a:ext cx="4434842" cy="4179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A7BFB2"/>
                </a:solidFill>
              </a:defRPr>
            </a:lvl1pPr>
          </a:lstStyle>
          <a:p>
            <a:pPr/>
            <a:r>
              <a:t>Le jeu de test les imite : des points de Mataroni jamais vus à l'entraînement, en saison des pluies.</a:t>
            </a:r>
          </a:p>
        </p:txBody>
      </p:sp>
      <p:sp>
        <p:nvSpPr>
          <p:cNvPr id="246" name="Shape 37"/>
          <p:cNvSpPr/>
          <p:nvPr/>
        </p:nvSpPr>
        <p:spPr>
          <a:xfrm>
            <a:off x="5577840" y="3840479"/>
            <a:ext cx="6062472" cy="731521"/>
          </a:xfrm>
          <a:prstGeom prst="roundRect">
            <a:avLst>
              <a:gd name="adj" fmla="val 12500"/>
            </a:avLst>
          </a:prstGeom>
          <a:solidFill>
            <a:srgbClr val="E4EEE8"/>
          </a:solidFill>
          <a:ln w="12700">
            <a:solidFill>
              <a:srgbClr val="E4EEE8"/>
            </a:solidFill>
          </a:ln>
        </p:spPr>
        <p:txBody>
          <a:bodyPr lIns="45719" rIns="45719"/>
          <a:lstStyle/>
          <a:p>
            <a:pPr/>
          </a:p>
        </p:txBody>
      </p:sp>
      <p:sp>
        <p:nvSpPr>
          <p:cNvPr id="247" name="Text 38"/>
          <p:cNvSpPr txBox="1"/>
          <p:nvPr/>
        </p:nvSpPr>
        <p:spPr>
          <a:xfrm>
            <a:off x="5760720" y="4037505"/>
            <a:ext cx="5760721" cy="3374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300">
                <a:solidFill>
                  <a:srgbClr val="1B2A24"/>
                </a:solidFill>
              </a:defRPr>
            </a:pPr>
            <a:r>
              <a:t>Aucun détecteur dans le tirage</a:t>
            </a:r>
          </a:p>
          <a:p>
            <a:pPr>
              <a:defRPr sz="1100">
                <a:solidFill>
                  <a:srgbClr val="5B6B63"/>
                </a:solidFill>
              </a:defRPr>
            </a:pPr>
            <a:r>
              <a:t>sinon le jeu hérite de ses angles morts</a:t>
            </a:r>
          </a:p>
        </p:txBody>
      </p:sp>
      <p:sp>
        <p:nvSpPr>
          <p:cNvPr id="248" name="Shape 39"/>
          <p:cNvSpPr/>
          <p:nvPr/>
        </p:nvSpPr>
        <p:spPr>
          <a:xfrm>
            <a:off x="5577840" y="4663440"/>
            <a:ext cx="6062472" cy="731521"/>
          </a:xfrm>
          <a:prstGeom prst="roundRect">
            <a:avLst>
              <a:gd name="adj" fmla="val 12500"/>
            </a:avLst>
          </a:prstGeom>
          <a:solidFill>
            <a:srgbClr val="E4EEE8"/>
          </a:solidFill>
          <a:ln w="12700">
            <a:solidFill>
              <a:srgbClr val="E4EEE8"/>
            </a:solidFill>
          </a:ln>
        </p:spPr>
        <p:txBody>
          <a:bodyPr lIns="45719" rIns="45719"/>
          <a:lstStyle/>
          <a:p>
            <a:pPr/>
          </a:p>
        </p:txBody>
      </p:sp>
      <p:sp>
        <p:nvSpPr>
          <p:cNvPr id="249" name="Text 40"/>
          <p:cNvSpPr txBox="1"/>
          <p:nvPr/>
        </p:nvSpPr>
        <p:spPr>
          <a:xfrm>
            <a:off x="5760720" y="4742619"/>
            <a:ext cx="5760721" cy="5731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300">
                <a:solidFill>
                  <a:srgbClr val="1B2A24"/>
                </a:solidFill>
              </a:defRPr>
            </a:pPr>
            <a:r>
              <a:t>Beaucoup de points, peu d'enregistrements annotés par point</a:t>
            </a:r>
          </a:p>
          <a:p>
            <a:pPr>
              <a:defRPr sz="1100">
                <a:solidFill>
                  <a:srgbClr val="5B6B63"/>
                </a:solidFill>
              </a:defRPr>
            </a:pPr>
            <a:r>
              <a:rPr sz="1300"/>
              <a:t>Annoter peu d'extraits sur beaucoup de points d'écoute, plutôt que beaucoup sur peu de points d’écoute</a:t>
            </a:r>
          </a:p>
        </p:txBody>
      </p:sp>
      <p:sp>
        <p:nvSpPr>
          <p:cNvPr id="250" name="Shape 41"/>
          <p:cNvSpPr/>
          <p:nvPr/>
        </p:nvSpPr>
        <p:spPr>
          <a:xfrm>
            <a:off x="5577840" y="5486400"/>
            <a:ext cx="6062472" cy="731520"/>
          </a:xfrm>
          <a:prstGeom prst="roundRect">
            <a:avLst>
              <a:gd name="adj" fmla="val 12500"/>
            </a:avLst>
          </a:prstGeom>
          <a:solidFill>
            <a:srgbClr val="E4EEE8"/>
          </a:solidFill>
          <a:ln w="12700">
            <a:solidFill>
              <a:srgbClr val="E4EEE8"/>
            </a:solidFill>
          </a:ln>
        </p:spPr>
        <p:txBody>
          <a:bodyPr lIns="45719" rIns="45719"/>
          <a:lstStyle/>
          <a:p>
            <a:pPr/>
          </a:p>
        </p:txBody>
      </p:sp>
      <p:sp>
        <p:nvSpPr>
          <p:cNvPr id="251" name="Text 42"/>
          <p:cNvSpPr txBox="1"/>
          <p:nvPr/>
        </p:nvSpPr>
        <p:spPr>
          <a:xfrm>
            <a:off x="5760720" y="5600875"/>
            <a:ext cx="5760721" cy="5025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300">
                <a:solidFill>
                  <a:srgbClr val="1B2A24"/>
                </a:solidFill>
              </a:defRPr>
            </a:pPr>
            <a:r>
              <a:t>Positifs et négatifs dans les mêmes conditions</a:t>
            </a:r>
          </a:p>
          <a:p>
            <a:pPr>
              <a:defRPr sz="1100">
                <a:solidFill>
                  <a:srgbClr val="5B6B63"/>
                </a:solidFill>
              </a:defRPr>
            </a:pPr>
            <a:r>
              <a:t>Positifs et négatifs tirés aux mêmes heures et aux mêmes points : seule la présence du chant les distingue</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5" name="Shape 0"/>
          <p:cNvSpPr/>
          <p:nvPr/>
        </p:nvSpPr>
        <p:spPr>
          <a:xfrm>
            <a:off x="548640" y="365759"/>
            <a:ext cx="1892808" cy="292610"/>
          </a:xfrm>
          <a:prstGeom prst="roundRect">
            <a:avLst>
              <a:gd name="adj" fmla="val 50000"/>
            </a:avLst>
          </a:prstGeom>
          <a:solidFill>
            <a:srgbClr val="E4EEE8"/>
          </a:solidFill>
          <a:ln w="12700">
            <a:solidFill>
              <a:srgbClr val="E4EEE8"/>
            </a:solidFill>
          </a:ln>
        </p:spPr>
        <p:txBody>
          <a:bodyPr lIns="45719" rIns="45719"/>
          <a:lstStyle/>
          <a:p>
            <a:pPr/>
          </a:p>
        </p:txBody>
      </p:sp>
      <p:sp>
        <p:nvSpPr>
          <p:cNvPr id="256" name="Text 1"/>
          <p:cNvSpPr txBox="1"/>
          <p:nvPr/>
        </p:nvSpPr>
        <p:spPr>
          <a:xfrm>
            <a:off x="548640" y="443528"/>
            <a:ext cx="1892808"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100" sz="1000">
                <a:solidFill>
                  <a:srgbClr val="2A7F72"/>
                </a:solidFill>
              </a:defRPr>
            </a:lvl1pPr>
          </a:lstStyle>
          <a:p>
            <a:pPr/>
            <a:r>
              <a:t>PRÉ-BENCHMARK ANURASET</a:t>
            </a:r>
          </a:p>
        </p:txBody>
      </p:sp>
      <p:sp>
        <p:nvSpPr>
          <p:cNvPr id="257" name="Text 2"/>
          <p:cNvSpPr txBox="1"/>
          <p:nvPr/>
        </p:nvSpPr>
        <p:spPr>
          <a:xfrm>
            <a:off x="548639" y="860297"/>
            <a:ext cx="11094417"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800">
                <a:solidFill>
                  <a:srgbClr val="1B2A24"/>
                </a:solidFill>
                <a:latin typeface="Cambria"/>
                <a:ea typeface="Cambria"/>
                <a:cs typeface="Cambria"/>
                <a:sym typeface="Cambria"/>
              </a:defRPr>
            </a:lvl1pPr>
          </a:lstStyle>
          <a:p>
            <a:pPr/>
            <a:r>
              <a:t>23 encodeurs sur des sites jamais vus : perch_v2, meilleur libre</a:t>
            </a:r>
          </a:p>
        </p:txBody>
      </p:sp>
      <p:sp>
        <p:nvSpPr>
          <p:cNvPr id="258" name="Text 3"/>
          <p:cNvSpPr txBox="1"/>
          <p:nvPr/>
        </p:nvSpPr>
        <p:spPr>
          <a:xfrm>
            <a:off x="548639" y="1508760"/>
            <a:ext cx="6949442"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300">
                <a:solidFill>
                  <a:srgbClr val="1B2A24"/>
                </a:solidFill>
              </a:defRPr>
            </a:lvl1pPr>
          </a:lstStyle>
          <a:p>
            <a:pPr/>
            <a:r>
              <a:t>AP moyenne par site tenu à l'écart (minute, 5 espèces)</a:t>
            </a:r>
          </a:p>
        </p:txBody>
      </p:sp>
      <p:sp>
        <p:nvSpPr>
          <p:cNvPr id="259" name="Shape 4"/>
          <p:cNvSpPr/>
          <p:nvPr/>
        </p:nvSpPr>
        <p:spPr>
          <a:xfrm flipH="1">
            <a:off x="3264408" y="1856232"/>
            <a:ext cx="1" cy="3666745"/>
          </a:xfrm>
          <a:prstGeom prst="line">
            <a:avLst/>
          </a:prstGeom>
          <a:ln>
            <a:solidFill>
              <a:srgbClr val="E3E8E5"/>
            </a:solidFill>
          </a:ln>
        </p:spPr>
        <p:txBody>
          <a:bodyPr lIns="45719" rIns="45719"/>
          <a:lstStyle/>
          <a:p>
            <a:pPr/>
          </a:p>
        </p:txBody>
      </p:sp>
      <p:sp>
        <p:nvSpPr>
          <p:cNvPr id="260" name="Text 5"/>
          <p:cNvSpPr txBox="1"/>
          <p:nvPr/>
        </p:nvSpPr>
        <p:spPr>
          <a:xfrm>
            <a:off x="2990088" y="5541264"/>
            <a:ext cx="5486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900">
                <a:solidFill>
                  <a:srgbClr val="5B6B63"/>
                </a:solidFill>
              </a:defRPr>
            </a:lvl1pPr>
          </a:lstStyle>
          <a:p>
            <a:pPr/>
            <a:r>
              <a:t>0,2</a:t>
            </a:r>
          </a:p>
        </p:txBody>
      </p:sp>
      <p:sp>
        <p:nvSpPr>
          <p:cNvPr id="261" name="Shape 6"/>
          <p:cNvSpPr/>
          <p:nvPr/>
        </p:nvSpPr>
        <p:spPr>
          <a:xfrm flipH="1">
            <a:off x="4105655" y="1856232"/>
            <a:ext cx="1" cy="3666745"/>
          </a:xfrm>
          <a:prstGeom prst="line">
            <a:avLst/>
          </a:prstGeom>
          <a:ln>
            <a:solidFill>
              <a:srgbClr val="E3E8E5"/>
            </a:solidFill>
          </a:ln>
        </p:spPr>
        <p:txBody>
          <a:bodyPr lIns="45719" rIns="45719"/>
          <a:lstStyle/>
          <a:p>
            <a:pPr/>
          </a:p>
        </p:txBody>
      </p:sp>
      <p:sp>
        <p:nvSpPr>
          <p:cNvPr id="262" name="Text 7"/>
          <p:cNvSpPr txBox="1"/>
          <p:nvPr/>
        </p:nvSpPr>
        <p:spPr>
          <a:xfrm>
            <a:off x="3831335" y="5541264"/>
            <a:ext cx="5486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900">
                <a:solidFill>
                  <a:srgbClr val="5B6B63"/>
                </a:solidFill>
              </a:defRPr>
            </a:lvl1pPr>
          </a:lstStyle>
          <a:p>
            <a:pPr/>
            <a:r>
              <a:t>0,4</a:t>
            </a:r>
          </a:p>
        </p:txBody>
      </p:sp>
      <p:sp>
        <p:nvSpPr>
          <p:cNvPr id="263" name="Shape 8"/>
          <p:cNvSpPr/>
          <p:nvPr/>
        </p:nvSpPr>
        <p:spPr>
          <a:xfrm flipH="1">
            <a:off x="4946903" y="1856232"/>
            <a:ext cx="1" cy="3666745"/>
          </a:xfrm>
          <a:prstGeom prst="line">
            <a:avLst/>
          </a:prstGeom>
          <a:ln>
            <a:solidFill>
              <a:srgbClr val="E3E8E5"/>
            </a:solidFill>
          </a:ln>
        </p:spPr>
        <p:txBody>
          <a:bodyPr lIns="45719" rIns="45719"/>
          <a:lstStyle/>
          <a:p>
            <a:pPr/>
          </a:p>
        </p:txBody>
      </p:sp>
      <p:sp>
        <p:nvSpPr>
          <p:cNvPr id="264" name="Text 9"/>
          <p:cNvSpPr txBox="1"/>
          <p:nvPr/>
        </p:nvSpPr>
        <p:spPr>
          <a:xfrm>
            <a:off x="4672584" y="5541264"/>
            <a:ext cx="5486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900">
                <a:solidFill>
                  <a:srgbClr val="5B6B63"/>
                </a:solidFill>
              </a:defRPr>
            </a:lvl1pPr>
          </a:lstStyle>
          <a:p>
            <a:pPr/>
            <a:r>
              <a:t>0,6</a:t>
            </a:r>
          </a:p>
        </p:txBody>
      </p:sp>
      <p:sp>
        <p:nvSpPr>
          <p:cNvPr id="265" name="Shape 10"/>
          <p:cNvSpPr/>
          <p:nvPr/>
        </p:nvSpPr>
        <p:spPr>
          <a:xfrm flipH="1">
            <a:off x="5788151" y="1856232"/>
            <a:ext cx="1" cy="3666745"/>
          </a:xfrm>
          <a:prstGeom prst="line">
            <a:avLst/>
          </a:prstGeom>
          <a:ln>
            <a:solidFill>
              <a:srgbClr val="E3E8E5"/>
            </a:solidFill>
          </a:ln>
        </p:spPr>
        <p:txBody>
          <a:bodyPr lIns="45719" rIns="45719"/>
          <a:lstStyle/>
          <a:p>
            <a:pPr/>
          </a:p>
        </p:txBody>
      </p:sp>
      <p:sp>
        <p:nvSpPr>
          <p:cNvPr id="266" name="Text 11"/>
          <p:cNvSpPr txBox="1"/>
          <p:nvPr/>
        </p:nvSpPr>
        <p:spPr>
          <a:xfrm>
            <a:off x="5513832" y="5541264"/>
            <a:ext cx="5486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900">
                <a:solidFill>
                  <a:srgbClr val="5B6B63"/>
                </a:solidFill>
              </a:defRPr>
            </a:lvl1pPr>
          </a:lstStyle>
          <a:p>
            <a:pPr/>
            <a:r>
              <a:t>0,8</a:t>
            </a:r>
          </a:p>
        </p:txBody>
      </p:sp>
      <p:sp>
        <p:nvSpPr>
          <p:cNvPr id="267" name="Shape 12"/>
          <p:cNvSpPr/>
          <p:nvPr/>
        </p:nvSpPr>
        <p:spPr>
          <a:xfrm>
            <a:off x="6629399" y="1856232"/>
            <a:ext cx="1" cy="3666745"/>
          </a:xfrm>
          <a:prstGeom prst="line">
            <a:avLst/>
          </a:prstGeom>
          <a:ln>
            <a:solidFill>
              <a:srgbClr val="E3E8E5"/>
            </a:solidFill>
          </a:ln>
        </p:spPr>
        <p:txBody>
          <a:bodyPr lIns="45719" rIns="45719"/>
          <a:lstStyle/>
          <a:p>
            <a:pPr/>
          </a:p>
        </p:txBody>
      </p:sp>
      <p:sp>
        <p:nvSpPr>
          <p:cNvPr id="268" name="Text 13"/>
          <p:cNvSpPr txBox="1"/>
          <p:nvPr/>
        </p:nvSpPr>
        <p:spPr>
          <a:xfrm>
            <a:off x="6355079" y="5541264"/>
            <a:ext cx="5486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900">
                <a:solidFill>
                  <a:srgbClr val="5B6B63"/>
                </a:solidFill>
              </a:defRPr>
            </a:lvl1pPr>
          </a:lstStyle>
          <a:p>
            <a:pPr/>
            <a:r>
              <a:t>1,0</a:t>
            </a:r>
          </a:p>
        </p:txBody>
      </p:sp>
      <p:sp>
        <p:nvSpPr>
          <p:cNvPr id="269" name="Text 14"/>
          <p:cNvSpPr txBox="1"/>
          <p:nvPr/>
        </p:nvSpPr>
        <p:spPr>
          <a:xfrm>
            <a:off x="548640" y="1985694"/>
            <a:ext cx="1783079"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1B2A24"/>
                </a:solidFill>
              </a:defRPr>
            </a:lvl1pPr>
          </a:lstStyle>
          <a:p>
            <a:pPr/>
            <a:r>
              <a:t>naturebeats</a:t>
            </a:r>
          </a:p>
        </p:txBody>
      </p:sp>
      <p:sp>
        <p:nvSpPr>
          <p:cNvPr id="270" name="Shape 15"/>
          <p:cNvSpPr/>
          <p:nvPr/>
        </p:nvSpPr>
        <p:spPr>
          <a:xfrm>
            <a:off x="2423160" y="1956816"/>
            <a:ext cx="2919132" cy="192025"/>
          </a:xfrm>
          <a:prstGeom prst="rect">
            <a:avLst/>
          </a:prstGeom>
          <a:solidFill>
            <a:srgbClr val="B8C4BD"/>
          </a:solidFill>
          <a:ln w="12700">
            <a:solidFill>
              <a:srgbClr val="B8C4BD"/>
            </a:solidFill>
          </a:ln>
        </p:spPr>
        <p:txBody>
          <a:bodyPr lIns="45719" rIns="45719"/>
          <a:lstStyle/>
          <a:p>
            <a:pPr/>
          </a:p>
        </p:txBody>
      </p:sp>
      <p:sp>
        <p:nvSpPr>
          <p:cNvPr id="271" name="Shape 16"/>
          <p:cNvSpPr/>
          <p:nvPr/>
        </p:nvSpPr>
        <p:spPr>
          <a:xfrm>
            <a:off x="5342290" y="1956816"/>
            <a:ext cx="622525" cy="192025"/>
          </a:xfrm>
          <a:prstGeom prst="rect">
            <a:avLst/>
          </a:prstGeom>
          <a:solidFill>
            <a:srgbClr val="5B6B63"/>
          </a:solidFill>
          <a:ln w="12700">
            <a:solidFill>
              <a:srgbClr val="5B6B63"/>
            </a:solidFill>
          </a:ln>
        </p:spPr>
        <p:txBody>
          <a:bodyPr lIns="45719" rIns="45719"/>
          <a:lstStyle/>
          <a:p>
            <a:pPr/>
          </a:p>
        </p:txBody>
      </p:sp>
      <p:sp>
        <p:nvSpPr>
          <p:cNvPr id="272" name="Text 17"/>
          <p:cNvSpPr txBox="1"/>
          <p:nvPr/>
        </p:nvSpPr>
        <p:spPr>
          <a:xfrm>
            <a:off x="6037965" y="1984292"/>
            <a:ext cx="201168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5B6B63"/>
                </a:solidFill>
              </a:defRPr>
            </a:lvl1pPr>
          </a:lstStyle>
          <a:p>
            <a:pPr/>
            <a:r>
              <a:t>0,84 · sonde à prototypes</a:t>
            </a:r>
          </a:p>
        </p:txBody>
      </p:sp>
      <p:sp>
        <p:nvSpPr>
          <p:cNvPr id="273" name="Text 18"/>
          <p:cNvSpPr txBox="1"/>
          <p:nvPr/>
        </p:nvSpPr>
        <p:spPr>
          <a:xfrm>
            <a:off x="548640" y="2287446"/>
            <a:ext cx="1783079"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100">
                <a:solidFill>
                  <a:srgbClr val="1B2A24"/>
                </a:solidFill>
              </a:defRPr>
            </a:lvl1pPr>
          </a:lstStyle>
          <a:p>
            <a:pPr/>
            <a:r>
              <a:t>perch_v2</a:t>
            </a:r>
          </a:p>
        </p:txBody>
      </p:sp>
      <p:sp>
        <p:nvSpPr>
          <p:cNvPr id="274" name="Shape 19"/>
          <p:cNvSpPr/>
          <p:nvPr/>
        </p:nvSpPr>
        <p:spPr>
          <a:xfrm>
            <a:off x="2423160" y="2258567"/>
            <a:ext cx="3314518" cy="192025"/>
          </a:xfrm>
          <a:prstGeom prst="rect">
            <a:avLst/>
          </a:prstGeom>
          <a:solidFill>
            <a:srgbClr val="8CC7A1"/>
          </a:solidFill>
          <a:ln w="12700">
            <a:solidFill>
              <a:srgbClr val="8CC7A1"/>
            </a:solidFill>
          </a:ln>
        </p:spPr>
        <p:txBody>
          <a:bodyPr lIns="45719" rIns="45719"/>
          <a:lstStyle/>
          <a:p>
            <a:pPr/>
          </a:p>
        </p:txBody>
      </p:sp>
      <p:sp>
        <p:nvSpPr>
          <p:cNvPr id="275" name="Shape 20"/>
          <p:cNvSpPr/>
          <p:nvPr/>
        </p:nvSpPr>
        <p:spPr>
          <a:xfrm>
            <a:off x="5737676" y="2258567"/>
            <a:ext cx="105157" cy="192025"/>
          </a:xfrm>
          <a:prstGeom prst="rect">
            <a:avLst/>
          </a:prstGeom>
          <a:solidFill>
            <a:srgbClr val="2E8B57"/>
          </a:solidFill>
          <a:ln w="12700">
            <a:solidFill>
              <a:srgbClr val="2E8B57"/>
            </a:solidFill>
          </a:ln>
        </p:spPr>
        <p:txBody>
          <a:bodyPr lIns="45719" rIns="45719"/>
          <a:lstStyle/>
          <a:p>
            <a:pPr/>
          </a:p>
        </p:txBody>
      </p:sp>
      <p:sp>
        <p:nvSpPr>
          <p:cNvPr id="276" name="Text 21"/>
          <p:cNvSpPr txBox="1"/>
          <p:nvPr/>
        </p:nvSpPr>
        <p:spPr>
          <a:xfrm>
            <a:off x="5915985" y="2286044"/>
            <a:ext cx="2011679"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5B6B63"/>
                </a:solidFill>
              </a:defRPr>
            </a:lvl1pPr>
          </a:lstStyle>
          <a:p>
            <a:pPr/>
            <a:r>
              <a:t>0,81 · sonde à prototypes</a:t>
            </a:r>
          </a:p>
        </p:txBody>
      </p:sp>
      <p:sp>
        <p:nvSpPr>
          <p:cNvPr id="277" name="Text 22"/>
          <p:cNvSpPr txBox="1"/>
          <p:nvPr/>
        </p:nvSpPr>
        <p:spPr>
          <a:xfrm>
            <a:off x="548640" y="2589198"/>
            <a:ext cx="1783079"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1B2A24"/>
                </a:solidFill>
              </a:defRPr>
            </a:lvl1pPr>
          </a:lstStyle>
          <a:p>
            <a:pPr/>
            <a:r>
              <a:t>convnext_birdset</a:t>
            </a:r>
          </a:p>
        </p:txBody>
      </p:sp>
      <p:sp>
        <p:nvSpPr>
          <p:cNvPr id="278" name="Shape 23"/>
          <p:cNvSpPr/>
          <p:nvPr/>
        </p:nvSpPr>
        <p:spPr>
          <a:xfrm>
            <a:off x="2423160" y="2560320"/>
            <a:ext cx="3415468" cy="192025"/>
          </a:xfrm>
          <a:prstGeom prst="rect">
            <a:avLst/>
          </a:prstGeom>
          <a:solidFill>
            <a:srgbClr val="B8C4BD"/>
          </a:solidFill>
          <a:ln w="12700">
            <a:solidFill>
              <a:srgbClr val="B8C4BD"/>
            </a:solidFill>
          </a:ln>
        </p:spPr>
        <p:txBody>
          <a:bodyPr lIns="45719" rIns="45719"/>
          <a:lstStyle/>
          <a:p>
            <a:pPr/>
          </a:p>
        </p:txBody>
      </p:sp>
      <p:sp>
        <p:nvSpPr>
          <p:cNvPr id="279" name="Text 24"/>
          <p:cNvSpPr txBox="1"/>
          <p:nvPr/>
        </p:nvSpPr>
        <p:spPr>
          <a:xfrm>
            <a:off x="5911779" y="2587796"/>
            <a:ext cx="201168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5B6B63"/>
                </a:solidFill>
              </a:defRPr>
            </a:lvl1pPr>
          </a:lstStyle>
          <a:p>
            <a:pPr/>
            <a:r>
              <a:t>0,81</a:t>
            </a:r>
          </a:p>
        </p:txBody>
      </p:sp>
      <p:sp>
        <p:nvSpPr>
          <p:cNvPr id="280" name="Text 25"/>
          <p:cNvSpPr txBox="1"/>
          <p:nvPr/>
        </p:nvSpPr>
        <p:spPr>
          <a:xfrm>
            <a:off x="548640" y="2890950"/>
            <a:ext cx="1783079"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1B2A24"/>
                </a:solidFill>
              </a:defRPr>
            </a:lvl1pPr>
          </a:lstStyle>
          <a:p>
            <a:pPr/>
            <a:r>
              <a:t>esp-aves2 sl_beats_bio</a:t>
            </a:r>
          </a:p>
        </p:txBody>
      </p:sp>
      <p:sp>
        <p:nvSpPr>
          <p:cNvPr id="281" name="Shape 26"/>
          <p:cNvSpPr/>
          <p:nvPr/>
        </p:nvSpPr>
        <p:spPr>
          <a:xfrm>
            <a:off x="2423160" y="2862072"/>
            <a:ext cx="3196743" cy="192025"/>
          </a:xfrm>
          <a:prstGeom prst="rect">
            <a:avLst/>
          </a:prstGeom>
          <a:solidFill>
            <a:srgbClr val="B8C4BD"/>
          </a:solidFill>
          <a:ln w="12700">
            <a:solidFill>
              <a:srgbClr val="B8C4BD"/>
            </a:solidFill>
          </a:ln>
        </p:spPr>
        <p:txBody>
          <a:bodyPr lIns="45719" rIns="45719"/>
          <a:lstStyle/>
          <a:p>
            <a:pPr/>
          </a:p>
        </p:txBody>
      </p:sp>
      <p:sp>
        <p:nvSpPr>
          <p:cNvPr id="282" name="Shape 27"/>
          <p:cNvSpPr/>
          <p:nvPr/>
        </p:nvSpPr>
        <p:spPr>
          <a:xfrm>
            <a:off x="5619901" y="2862072"/>
            <a:ext cx="138807" cy="192025"/>
          </a:xfrm>
          <a:prstGeom prst="rect">
            <a:avLst/>
          </a:prstGeom>
          <a:solidFill>
            <a:srgbClr val="5B6B63"/>
          </a:solidFill>
          <a:ln w="12700">
            <a:solidFill>
              <a:srgbClr val="5B6B63"/>
            </a:solidFill>
          </a:ln>
        </p:spPr>
        <p:txBody>
          <a:bodyPr lIns="45719" rIns="45719"/>
          <a:lstStyle/>
          <a:p>
            <a:pPr/>
          </a:p>
        </p:txBody>
      </p:sp>
      <p:sp>
        <p:nvSpPr>
          <p:cNvPr id="283" name="Text 28"/>
          <p:cNvSpPr txBox="1"/>
          <p:nvPr/>
        </p:nvSpPr>
        <p:spPr>
          <a:xfrm>
            <a:off x="5831859" y="2889548"/>
            <a:ext cx="201168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5B6B63"/>
                </a:solidFill>
              </a:defRPr>
            </a:lvl1pPr>
          </a:lstStyle>
          <a:p>
            <a:pPr/>
            <a:r>
              <a:t>0,79 · sonde à prototypes</a:t>
            </a:r>
          </a:p>
        </p:txBody>
      </p:sp>
      <p:sp>
        <p:nvSpPr>
          <p:cNvPr id="284" name="Text 29"/>
          <p:cNvSpPr txBox="1"/>
          <p:nvPr/>
        </p:nvSpPr>
        <p:spPr>
          <a:xfrm>
            <a:off x="548640" y="3192702"/>
            <a:ext cx="1783079"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1B2A24"/>
                </a:solidFill>
              </a:defRPr>
            </a:lvl1pPr>
          </a:lstStyle>
          <a:p>
            <a:pPr/>
            <a:r>
              <a:t>esp-aves2 sl_beats_all</a:t>
            </a:r>
          </a:p>
        </p:txBody>
      </p:sp>
      <p:sp>
        <p:nvSpPr>
          <p:cNvPr id="285" name="Shape 30"/>
          <p:cNvSpPr/>
          <p:nvPr/>
        </p:nvSpPr>
        <p:spPr>
          <a:xfrm>
            <a:off x="2423160" y="3163823"/>
            <a:ext cx="3062144" cy="192025"/>
          </a:xfrm>
          <a:prstGeom prst="rect">
            <a:avLst/>
          </a:prstGeom>
          <a:solidFill>
            <a:srgbClr val="B8C4BD"/>
          </a:solidFill>
          <a:ln w="12700">
            <a:solidFill>
              <a:srgbClr val="B8C4BD"/>
            </a:solidFill>
          </a:ln>
        </p:spPr>
        <p:txBody>
          <a:bodyPr lIns="45719" rIns="45719"/>
          <a:lstStyle/>
          <a:p>
            <a:pPr/>
          </a:p>
        </p:txBody>
      </p:sp>
      <p:sp>
        <p:nvSpPr>
          <p:cNvPr id="286" name="Shape 31"/>
          <p:cNvSpPr/>
          <p:nvPr/>
        </p:nvSpPr>
        <p:spPr>
          <a:xfrm>
            <a:off x="5485303" y="3163823"/>
            <a:ext cx="227138" cy="192025"/>
          </a:xfrm>
          <a:prstGeom prst="rect">
            <a:avLst/>
          </a:prstGeom>
          <a:solidFill>
            <a:srgbClr val="5B6B63"/>
          </a:solidFill>
          <a:ln w="12700">
            <a:solidFill>
              <a:srgbClr val="5B6B63"/>
            </a:solidFill>
          </a:ln>
        </p:spPr>
        <p:txBody>
          <a:bodyPr lIns="45719" rIns="45719"/>
          <a:lstStyle/>
          <a:p>
            <a:pPr/>
          </a:p>
        </p:txBody>
      </p:sp>
      <p:sp>
        <p:nvSpPr>
          <p:cNvPr id="287" name="Text 32"/>
          <p:cNvSpPr txBox="1"/>
          <p:nvPr/>
        </p:nvSpPr>
        <p:spPr>
          <a:xfrm>
            <a:off x="5785591" y="3191300"/>
            <a:ext cx="201168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5B6B63"/>
                </a:solidFill>
              </a:defRPr>
            </a:lvl1pPr>
          </a:lstStyle>
          <a:p>
            <a:pPr/>
            <a:r>
              <a:t>0,78 · sonde à prototypes</a:t>
            </a:r>
          </a:p>
        </p:txBody>
      </p:sp>
      <p:sp>
        <p:nvSpPr>
          <p:cNvPr id="288" name="Text 33"/>
          <p:cNvSpPr txBox="1"/>
          <p:nvPr/>
        </p:nvSpPr>
        <p:spPr>
          <a:xfrm>
            <a:off x="548640" y="3494454"/>
            <a:ext cx="1783079"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1B2A24"/>
                </a:solidFill>
              </a:defRPr>
            </a:lvl1pPr>
          </a:lstStyle>
          <a:p>
            <a:pPr/>
            <a:r>
              <a:t>perch_bird</a:t>
            </a:r>
          </a:p>
        </p:txBody>
      </p:sp>
      <p:sp>
        <p:nvSpPr>
          <p:cNvPr id="289" name="Shape 34"/>
          <p:cNvSpPr/>
          <p:nvPr/>
        </p:nvSpPr>
        <p:spPr>
          <a:xfrm>
            <a:off x="2423160" y="3465576"/>
            <a:ext cx="3289280" cy="192025"/>
          </a:xfrm>
          <a:prstGeom prst="rect">
            <a:avLst/>
          </a:prstGeom>
          <a:solidFill>
            <a:srgbClr val="B8C4BD"/>
          </a:solidFill>
          <a:ln w="12700">
            <a:solidFill>
              <a:srgbClr val="B8C4BD"/>
            </a:solidFill>
          </a:ln>
        </p:spPr>
        <p:txBody>
          <a:bodyPr lIns="45719" rIns="45719"/>
          <a:lstStyle/>
          <a:p>
            <a:pPr/>
          </a:p>
        </p:txBody>
      </p:sp>
      <p:sp>
        <p:nvSpPr>
          <p:cNvPr id="290" name="Text 35"/>
          <p:cNvSpPr txBox="1"/>
          <p:nvPr/>
        </p:nvSpPr>
        <p:spPr>
          <a:xfrm>
            <a:off x="5785591" y="3493052"/>
            <a:ext cx="201168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5B6B63"/>
                </a:solidFill>
              </a:defRPr>
            </a:lvl1pPr>
          </a:lstStyle>
          <a:p>
            <a:pPr/>
            <a:r>
              <a:t>0,78</a:t>
            </a:r>
          </a:p>
        </p:txBody>
      </p:sp>
      <p:sp>
        <p:nvSpPr>
          <p:cNvPr id="291" name="Text 36"/>
          <p:cNvSpPr txBox="1"/>
          <p:nvPr/>
        </p:nvSpPr>
        <p:spPr>
          <a:xfrm>
            <a:off x="548640" y="3796206"/>
            <a:ext cx="1783079"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1B2A24"/>
                </a:solidFill>
              </a:defRPr>
            </a:lvl1pPr>
          </a:lstStyle>
          <a:p>
            <a:pPr/>
            <a:r>
              <a:t>birdmae_base</a:t>
            </a:r>
          </a:p>
        </p:txBody>
      </p:sp>
      <p:sp>
        <p:nvSpPr>
          <p:cNvPr id="292" name="Shape 37"/>
          <p:cNvSpPr/>
          <p:nvPr/>
        </p:nvSpPr>
        <p:spPr>
          <a:xfrm>
            <a:off x="2423160" y="3767328"/>
            <a:ext cx="2124152" cy="192025"/>
          </a:xfrm>
          <a:prstGeom prst="rect">
            <a:avLst/>
          </a:prstGeom>
          <a:solidFill>
            <a:srgbClr val="B8C4BD"/>
          </a:solidFill>
          <a:ln w="12700">
            <a:solidFill>
              <a:srgbClr val="B8C4BD"/>
            </a:solidFill>
          </a:ln>
        </p:spPr>
        <p:txBody>
          <a:bodyPr lIns="45719" rIns="45719"/>
          <a:lstStyle/>
          <a:p>
            <a:pPr/>
          </a:p>
        </p:txBody>
      </p:sp>
      <p:sp>
        <p:nvSpPr>
          <p:cNvPr id="293" name="Shape 38"/>
          <p:cNvSpPr/>
          <p:nvPr/>
        </p:nvSpPr>
        <p:spPr>
          <a:xfrm>
            <a:off x="4547310" y="3767328"/>
            <a:ext cx="980055" cy="192025"/>
          </a:xfrm>
          <a:prstGeom prst="rect">
            <a:avLst/>
          </a:prstGeom>
          <a:solidFill>
            <a:srgbClr val="5B6B63"/>
          </a:solidFill>
          <a:ln w="12700">
            <a:solidFill>
              <a:srgbClr val="5B6B63"/>
            </a:solidFill>
          </a:ln>
        </p:spPr>
        <p:txBody>
          <a:bodyPr lIns="45719" rIns="45719"/>
          <a:lstStyle/>
          <a:p>
            <a:pPr/>
          </a:p>
        </p:txBody>
      </p:sp>
      <p:sp>
        <p:nvSpPr>
          <p:cNvPr id="294" name="Text 39"/>
          <p:cNvSpPr txBox="1"/>
          <p:nvPr/>
        </p:nvSpPr>
        <p:spPr>
          <a:xfrm>
            <a:off x="5600517" y="3794804"/>
            <a:ext cx="201168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5B6B63"/>
                </a:solidFill>
              </a:defRPr>
            </a:lvl1pPr>
          </a:lstStyle>
          <a:p>
            <a:pPr/>
            <a:r>
              <a:t>0,74 · sonde à prototypes</a:t>
            </a:r>
          </a:p>
        </p:txBody>
      </p:sp>
      <p:sp>
        <p:nvSpPr>
          <p:cNvPr id="295" name="Text 40"/>
          <p:cNvSpPr txBox="1"/>
          <p:nvPr/>
        </p:nvSpPr>
        <p:spPr>
          <a:xfrm>
            <a:off x="548640" y="4097958"/>
            <a:ext cx="1783079"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1B2A24"/>
                </a:solidFill>
              </a:defRPr>
            </a:lvl1pPr>
          </a:lstStyle>
          <a:p>
            <a:pPr/>
            <a:r>
              <a:t>birdnet_v3</a:t>
            </a:r>
          </a:p>
        </p:txBody>
      </p:sp>
      <p:sp>
        <p:nvSpPr>
          <p:cNvPr id="296" name="Shape 41"/>
          <p:cNvSpPr/>
          <p:nvPr/>
        </p:nvSpPr>
        <p:spPr>
          <a:xfrm>
            <a:off x="2423160" y="4069079"/>
            <a:ext cx="3087380" cy="192025"/>
          </a:xfrm>
          <a:prstGeom prst="rect">
            <a:avLst/>
          </a:prstGeom>
          <a:solidFill>
            <a:srgbClr val="8CC7A1"/>
          </a:solidFill>
          <a:ln w="12700">
            <a:solidFill>
              <a:srgbClr val="8CC7A1"/>
            </a:solidFill>
          </a:ln>
        </p:spPr>
        <p:txBody>
          <a:bodyPr lIns="45719" rIns="45719"/>
          <a:lstStyle/>
          <a:p>
            <a:pPr/>
          </a:p>
        </p:txBody>
      </p:sp>
      <p:sp>
        <p:nvSpPr>
          <p:cNvPr id="297" name="Shape 42"/>
          <p:cNvSpPr/>
          <p:nvPr/>
        </p:nvSpPr>
        <p:spPr>
          <a:xfrm>
            <a:off x="5508395" y="4069079"/>
            <a:ext cx="12701" cy="192025"/>
          </a:xfrm>
          <a:prstGeom prst="rect">
            <a:avLst/>
          </a:prstGeom>
          <a:solidFill>
            <a:srgbClr val="2E8B57"/>
          </a:solidFill>
          <a:ln w="12700">
            <a:solidFill>
              <a:srgbClr val="2E8B57"/>
            </a:solidFill>
          </a:ln>
        </p:spPr>
        <p:txBody>
          <a:bodyPr lIns="45719" rIns="45719"/>
          <a:lstStyle/>
          <a:p>
            <a:pPr/>
          </a:p>
        </p:txBody>
      </p:sp>
      <p:sp>
        <p:nvSpPr>
          <p:cNvPr id="298" name="Text 43"/>
          <p:cNvSpPr txBox="1"/>
          <p:nvPr/>
        </p:nvSpPr>
        <p:spPr>
          <a:xfrm>
            <a:off x="5592105" y="4096556"/>
            <a:ext cx="201168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5B6B63"/>
                </a:solidFill>
              </a:defRPr>
            </a:lvl1pPr>
          </a:lstStyle>
          <a:p>
            <a:pPr/>
            <a:r>
              <a:t>0,74</a:t>
            </a:r>
          </a:p>
        </p:txBody>
      </p:sp>
      <p:sp>
        <p:nvSpPr>
          <p:cNvPr id="299" name="Text 44"/>
          <p:cNvSpPr txBox="1"/>
          <p:nvPr/>
        </p:nvSpPr>
        <p:spPr>
          <a:xfrm>
            <a:off x="548640" y="4399710"/>
            <a:ext cx="1783079"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1B2A24"/>
                </a:solidFill>
              </a:defRPr>
            </a:lvl1pPr>
          </a:lstStyle>
          <a:p>
            <a:pPr/>
            <a:r>
              <a:t>esp-aves2 sl_eat_bio</a:t>
            </a:r>
          </a:p>
        </p:txBody>
      </p:sp>
      <p:sp>
        <p:nvSpPr>
          <p:cNvPr id="300" name="Shape 45"/>
          <p:cNvSpPr/>
          <p:nvPr/>
        </p:nvSpPr>
        <p:spPr>
          <a:xfrm>
            <a:off x="2423160" y="4370832"/>
            <a:ext cx="2956987" cy="192025"/>
          </a:xfrm>
          <a:prstGeom prst="rect">
            <a:avLst/>
          </a:prstGeom>
          <a:solidFill>
            <a:srgbClr val="B8C4BD"/>
          </a:solidFill>
          <a:ln w="12700">
            <a:solidFill>
              <a:srgbClr val="B8C4BD"/>
            </a:solidFill>
          </a:ln>
        </p:spPr>
        <p:txBody>
          <a:bodyPr lIns="45719" rIns="45719"/>
          <a:lstStyle/>
          <a:p>
            <a:pPr/>
          </a:p>
        </p:txBody>
      </p:sp>
      <p:sp>
        <p:nvSpPr>
          <p:cNvPr id="301" name="Text 46"/>
          <p:cNvSpPr txBox="1"/>
          <p:nvPr/>
        </p:nvSpPr>
        <p:spPr>
          <a:xfrm>
            <a:off x="5453298" y="4398308"/>
            <a:ext cx="201168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5B6B63"/>
                </a:solidFill>
              </a:defRPr>
            </a:lvl1pPr>
          </a:lstStyle>
          <a:p>
            <a:pPr/>
            <a:r>
              <a:t>0,70</a:t>
            </a:r>
          </a:p>
        </p:txBody>
      </p:sp>
      <p:sp>
        <p:nvSpPr>
          <p:cNvPr id="302" name="Text 47"/>
          <p:cNvSpPr txBox="1"/>
          <p:nvPr/>
        </p:nvSpPr>
        <p:spPr>
          <a:xfrm>
            <a:off x="548640" y="4701462"/>
            <a:ext cx="1783079"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1B2A24"/>
                </a:solidFill>
              </a:defRPr>
            </a:lvl1pPr>
          </a:lstStyle>
          <a:p>
            <a:pPr/>
            <a:r>
              <a:t>birdmae_large</a:t>
            </a:r>
          </a:p>
        </p:txBody>
      </p:sp>
      <p:sp>
        <p:nvSpPr>
          <p:cNvPr id="303" name="Shape 48"/>
          <p:cNvSpPr/>
          <p:nvPr/>
        </p:nvSpPr>
        <p:spPr>
          <a:xfrm>
            <a:off x="2423160" y="4672584"/>
            <a:ext cx="2090502" cy="192025"/>
          </a:xfrm>
          <a:prstGeom prst="rect">
            <a:avLst/>
          </a:prstGeom>
          <a:solidFill>
            <a:srgbClr val="B8C4BD"/>
          </a:solidFill>
          <a:ln w="12700">
            <a:solidFill>
              <a:srgbClr val="B8C4BD"/>
            </a:solidFill>
          </a:ln>
        </p:spPr>
        <p:txBody>
          <a:bodyPr lIns="45719" rIns="45719"/>
          <a:lstStyle/>
          <a:p>
            <a:pPr/>
          </a:p>
        </p:txBody>
      </p:sp>
      <p:sp>
        <p:nvSpPr>
          <p:cNvPr id="304" name="Shape 49"/>
          <p:cNvSpPr/>
          <p:nvPr/>
        </p:nvSpPr>
        <p:spPr>
          <a:xfrm>
            <a:off x="4513660" y="4672584"/>
            <a:ext cx="811805" cy="192025"/>
          </a:xfrm>
          <a:prstGeom prst="rect">
            <a:avLst/>
          </a:prstGeom>
          <a:solidFill>
            <a:srgbClr val="5B6B63"/>
          </a:solidFill>
          <a:ln w="12700">
            <a:solidFill>
              <a:srgbClr val="5B6B63"/>
            </a:solidFill>
          </a:ln>
        </p:spPr>
        <p:txBody>
          <a:bodyPr lIns="45719" rIns="45719"/>
          <a:lstStyle/>
          <a:p>
            <a:pPr/>
          </a:p>
        </p:txBody>
      </p:sp>
      <p:sp>
        <p:nvSpPr>
          <p:cNvPr id="305" name="Text 50"/>
          <p:cNvSpPr txBox="1"/>
          <p:nvPr/>
        </p:nvSpPr>
        <p:spPr>
          <a:xfrm>
            <a:off x="5398618" y="4700060"/>
            <a:ext cx="201168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5B6B63"/>
                </a:solidFill>
              </a:defRPr>
            </a:lvl1pPr>
          </a:lstStyle>
          <a:p>
            <a:pPr/>
            <a:r>
              <a:t>0,69 · sonde à prototypes</a:t>
            </a:r>
          </a:p>
        </p:txBody>
      </p:sp>
      <p:sp>
        <p:nvSpPr>
          <p:cNvPr id="306" name="Text 51"/>
          <p:cNvSpPr txBox="1"/>
          <p:nvPr/>
        </p:nvSpPr>
        <p:spPr>
          <a:xfrm>
            <a:off x="548640" y="5003213"/>
            <a:ext cx="1783079"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1B2A24"/>
                </a:solidFill>
              </a:defRPr>
            </a:lvl1pPr>
          </a:lstStyle>
          <a:p>
            <a:pPr/>
            <a:r>
              <a:t>birdnet 2.4</a:t>
            </a:r>
          </a:p>
        </p:txBody>
      </p:sp>
      <p:sp>
        <p:nvSpPr>
          <p:cNvPr id="307" name="Shape 52"/>
          <p:cNvSpPr/>
          <p:nvPr/>
        </p:nvSpPr>
        <p:spPr>
          <a:xfrm>
            <a:off x="2423160" y="4974335"/>
            <a:ext cx="2881275" cy="192025"/>
          </a:xfrm>
          <a:prstGeom prst="rect">
            <a:avLst/>
          </a:prstGeom>
          <a:solidFill>
            <a:srgbClr val="B8C4BD"/>
          </a:solidFill>
          <a:ln w="12700">
            <a:solidFill>
              <a:srgbClr val="B8C4BD"/>
            </a:solidFill>
          </a:ln>
        </p:spPr>
        <p:txBody>
          <a:bodyPr lIns="45719" rIns="45719"/>
          <a:lstStyle/>
          <a:p>
            <a:pPr/>
          </a:p>
        </p:txBody>
      </p:sp>
      <p:sp>
        <p:nvSpPr>
          <p:cNvPr id="308" name="Shape 53"/>
          <p:cNvSpPr/>
          <p:nvPr/>
        </p:nvSpPr>
        <p:spPr>
          <a:xfrm>
            <a:off x="5304393" y="4974335"/>
            <a:ext cx="12701" cy="192025"/>
          </a:xfrm>
          <a:prstGeom prst="rect">
            <a:avLst/>
          </a:prstGeom>
          <a:solidFill>
            <a:srgbClr val="5B6B63"/>
          </a:solidFill>
          <a:ln w="12700">
            <a:solidFill>
              <a:srgbClr val="5B6B63"/>
            </a:solidFill>
          </a:ln>
        </p:spPr>
        <p:txBody>
          <a:bodyPr lIns="45719" rIns="45719"/>
          <a:lstStyle/>
          <a:p>
            <a:pPr/>
          </a:p>
        </p:txBody>
      </p:sp>
      <p:sp>
        <p:nvSpPr>
          <p:cNvPr id="309" name="Text 54"/>
          <p:cNvSpPr txBox="1"/>
          <p:nvPr/>
        </p:nvSpPr>
        <p:spPr>
          <a:xfrm>
            <a:off x="5390205" y="5001812"/>
            <a:ext cx="201168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5B6B63"/>
                </a:solidFill>
              </a:defRPr>
            </a:lvl1pPr>
          </a:lstStyle>
          <a:p>
            <a:pPr/>
            <a:r>
              <a:t>0,69</a:t>
            </a:r>
          </a:p>
        </p:txBody>
      </p:sp>
      <p:sp>
        <p:nvSpPr>
          <p:cNvPr id="310" name="Text 55"/>
          <p:cNvSpPr txBox="1"/>
          <p:nvPr/>
        </p:nvSpPr>
        <p:spPr>
          <a:xfrm>
            <a:off x="548640" y="5304966"/>
            <a:ext cx="1783079"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1B2A24"/>
                </a:solidFill>
              </a:defRPr>
            </a:lvl1pPr>
          </a:lstStyle>
          <a:p>
            <a:pPr/>
            <a:r>
              <a:t>esp-aves2 sl_eat_all</a:t>
            </a:r>
          </a:p>
        </p:txBody>
      </p:sp>
      <p:sp>
        <p:nvSpPr>
          <p:cNvPr id="311" name="Shape 56"/>
          <p:cNvSpPr/>
          <p:nvPr/>
        </p:nvSpPr>
        <p:spPr>
          <a:xfrm>
            <a:off x="2423160" y="5276088"/>
            <a:ext cx="2519539" cy="192025"/>
          </a:xfrm>
          <a:prstGeom prst="rect">
            <a:avLst/>
          </a:prstGeom>
          <a:solidFill>
            <a:srgbClr val="B8C4BD"/>
          </a:solidFill>
          <a:ln w="12700">
            <a:solidFill>
              <a:srgbClr val="B8C4BD"/>
            </a:solidFill>
          </a:ln>
        </p:spPr>
        <p:txBody>
          <a:bodyPr lIns="45719" rIns="45719"/>
          <a:lstStyle/>
          <a:p>
            <a:pPr/>
          </a:p>
        </p:txBody>
      </p:sp>
      <p:sp>
        <p:nvSpPr>
          <p:cNvPr id="312" name="Shape 57"/>
          <p:cNvSpPr/>
          <p:nvPr/>
        </p:nvSpPr>
        <p:spPr>
          <a:xfrm>
            <a:off x="4942657" y="5276088"/>
            <a:ext cx="12701" cy="192025"/>
          </a:xfrm>
          <a:prstGeom prst="rect">
            <a:avLst/>
          </a:prstGeom>
          <a:solidFill>
            <a:srgbClr val="5B6B63"/>
          </a:solidFill>
          <a:ln w="12700">
            <a:solidFill>
              <a:srgbClr val="5B6B63"/>
            </a:solidFill>
          </a:ln>
        </p:spPr>
        <p:txBody>
          <a:bodyPr lIns="45719" rIns="45719"/>
          <a:lstStyle/>
          <a:p>
            <a:pPr/>
          </a:p>
        </p:txBody>
      </p:sp>
      <p:sp>
        <p:nvSpPr>
          <p:cNvPr id="313" name="Text 58"/>
          <p:cNvSpPr txBox="1"/>
          <p:nvPr/>
        </p:nvSpPr>
        <p:spPr>
          <a:xfrm>
            <a:off x="5028467" y="5303564"/>
            <a:ext cx="201168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5B6B63"/>
                </a:solidFill>
              </a:defRPr>
            </a:lvl1pPr>
          </a:lstStyle>
          <a:p>
            <a:pPr/>
            <a:r>
              <a:t>0,60</a:t>
            </a:r>
          </a:p>
        </p:txBody>
      </p:sp>
      <p:sp>
        <p:nvSpPr>
          <p:cNvPr id="314" name="Shape 59"/>
          <p:cNvSpPr/>
          <p:nvPr/>
        </p:nvSpPr>
        <p:spPr>
          <a:xfrm>
            <a:off x="731519" y="5870447"/>
            <a:ext cx="182881" cy="164593"/>
          </a:xfrm>
          <a:prstGeom prst="rect">
            <a:avLst/>
          </a:prstGeom>
          <a:solidFill>
            <a:srgbClr val="8CC7A1"/>
          </a:solidFill>
          <a:ln w="12700">
            <a:solidFill>
              <a:srgbClr val="8CC7A1"/>
            </a:solidFill>
          </a:ln>
        </p:spPr>
        <p:txBody>
          <a:bodyPr lIns="45719" rIns="45719"/>
          <a:lstStyle/>
          <a:p>
            <a:pPr/>
          </a:p>
        </p:txBody>
      </p:sp>
      <p:sp>
        <p:nvSpPr>
          <p:cNvPr id="315" name="Text 60"/>
          <p:cNvSpPr txBox="1"/>
          <p:nvPr/>
        </p:nvSpPr>
        <p:spPr>
          <a:xfrm>
            <a:off x="960119" y="5944108"/>
            <a:ext cx="14173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1B2A24"/>
                </a:solidFill>
              </a:defRPr>
            </a:lvl1pPr>
          </a:lstStyle>
          <a:p>
            <a:pPr/>
            <a:r>
              <a:t>libre : logistique</a:t>
            </a:r>
          </a:p>
        </p:txBody>
      </p:sp>
      <p:sp>
        <p:nvSpPr>
          <p:cNvPr id="316" name="Shape 61"/>
          <p:cNvSpPr/>
          <p:nvPr/>
        </p:nvSpPr>
        <p:spPr>
          <a:xfrm>
            <a:off x="2514600" y="5870447"/>
            <a:ext cx="182881" cy="164593"/>
          </a:xfrm>
          <a:prstGeom prst="rect">
            <a:avLst/>
          </a:prstGeom>
          <a:solidFill>
            <a:srgbClr val="2E8B57"/>
          </a:solidFill>
          <a:ln w="12700">
            <a:solidFill>
              <a:srgbClr val="2E8B57"/>
            </a:solidFill>
          </a:ln>
        </p:spPr>
        <p:txBody>
          <a:bodyPr lIns="45719" rIns="45719"/>
          <a:lstStyle/>
          <a:p>
            <a:pPr/>
          </a:p>
        </p:txBody>
      </p:sp>
      <p:sp>
        <p:nvSpPr>
          <p:cNvPr id="317" name="Text 62"/>
          <p:cNvSpPr txBox="1"/>
          <p:nvPr/>
        </p:nvSpPr>
        <p:spPr>
          <a:xfrm>
            <a:off x="2743200" y="5944108"/>
            <a:ext cx="141732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1B2A24"/>
                </a:solidFill>
              </a:defRPr>
            </a:lvl1pPr>
          </a:lstStyle>
          <a:p>
            <a:pPr/>
            <a:r>
              <a:t>libre : gain de la tête adaptée</a:t>
            </a:r>
          </a:p>
        </p:txBody>
      </p:sp>
      <p:sp>
        <p:nvSpPr>
          <p:cNvPr id="318" name="Shape 63"/>
          <p:cNvSpPr/>
          <p:nvPr/>
        </p:nvSpPr>
        <p:spPr>
          <a:xfrm>
            <a:off x="4297679" y="5870447"/>
            <a:ext cx="182881" cy="164593"/>
          </a:xfrm>
          <a:prstGeom prst="rect">
            <a:avLst/>
          </a:prstGeom>
          <a:solidFill>
            <a:srgbClr val="B8C4BD"/>
          </a:solidFill>
          <a:ln w="12700">
            <a:solidFill>
              <a:srgbClr val="B8C4BD"/>
            </a:solidFill>
          </a:ln>
        </p:spPr>
        <p:txBody>
          <a:bodyPr lIns="45719" rIns="45719"/>
          <a:lstStyle/>
          <a:p>
            <a:pPr/>
          </a:p>
        </p:txBody>
      </p:sp>
      <p:sp>
        <p:nvSpPr>
          <p:cNvPr id="319" name="Text 64"/>
          <p:cNvSpPr txBox="1"/>
          <p:nvPr/>
        </p:nvSpPr>
        <p:spPr>
          <a:xfrm>
            <a:off x="4526279" y="5944108"/>
            <a:ext cx="14173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1B2A24"/>
                </a:solidFill>
              </a:defRPr>
            </a:lvl1pPr>
          </a:lstStyle>
          <a:p>
            <a:pPr/>
            <a:r>
              <a:t>non libre : logistique</a:t>
            </a:r>
          </a:p>
        </p:txBody>
      </p:sp>
      <p:sp>
        <p:nvSpPr>
          <p:cNvPr id="320" name="Shape 65"/>
          <p:cNvSpPr/>
          <p:nvPr/>
        </p:nvSpPr>
        <p:spPr>
          <a:xfrm>
            <a:off x="6080759" y="5870447"/>
            <a:ext cx="182881" cy="164593"/>
          </a:xfrm>
          <a:prstGeom prst="rect">
            <a:avLst/>
          </a:prstGeom>
          <a:solidFill>
            <a:srgbClr val="5B6B63"/>
          </a:solidFill>
          <a:ln w="12700">
            <a:solidFill>
              <a:srgbClr val="5B6B63"/>
            </a:solidFill>
          </a:ln>
        </p:spPr>
        <p:txBody>
          <a:bodyPr lIns="45719" rIns="45719"/>
          <a:lstStyle/>
          <a:p>
            <a:pPr/>
          </a:p>
        </p:txBody>
      </p:sp>
      <p:sp>
        <p:nvSpPr>
          <p:cNvPr id="321" name="Text 66"/>
          <p:cNvSpPr txBox="1"/>
          <p:nvPr/>
        </p:nvSpPr>
        <p:spPr>
          <a:xfrm>
            <a:off x="6309359" y="5880521"/>
            <a:ext cx="1417321" cy="25417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1B2A24"/>
                </a:solidFill>
              </a:defRPr>
            </a:lvl1pPr>
          </a:lstStyle>
          <a:p>
            <a:pPr/>
            <a:r>
              <a:t>non libre : gain de la tête adaptée</a:t>
            </a:r>
          </a:p>
        </p:txBody>
      </p:sp>
      <p:sp>
        <p:nvSpPr>
          <p:cNvPr id="322" name="Text 67"/>
          <p:cNvSpPr txBox="1"/>
          <p:nvPr/>
        </p:nvSpPr>
        <p:spPr>
          <a:xfrm>
            <a:off x="548639" y="6272784"/>
            <a:ext cx="6949442"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i="1" sz="1000">
                <a:solidFill>
                  <a:srgbClr val="5B6B63"/>
                </a:solidFill>
              </a:defRPr>
            </a:lvl1pPr>
          </a:lstStyle>
          <a:p>
            <a:pPr/>
            <a:r>
              <a:t>11 autres encodeurs entre 0,40 et 0,59 · aucun écart significatif entre les quatre premiers</a:t>
            </a:r>
          </a:p>
        </p:txBody>
      </p:sp>
      <p:sp>
        <p:nvSpPr>
          <p:cNvPr id="323" name="Shape 68"/>
          <p:cNvSpPr/>
          <p:nvPr/>
        </p:nvSpPr>
        <p:spPr>
          <a:xfrm>
            <a:off x="7818119" y="1508760"/>
            <a:ext cx="3822193" cy="1078993"/>
          </a:xfrm>
          <a:prstGeom prst="roundRect">
            <a:avLst>
              <a:gd name="adj" fmla="val 8475"/>
            </a:avLst>
          </a:prstGeom>
          <a:solidFill>
            <a:srgbClr val="0E2A24"/>
          </a:solidFill>
          <a:ln w="12700">
            <a:solidFill>
              <a:srgbClr val="0E2A24"/>
            </a:solidFill>
          </a:ln>
        </p:spPr>
        <p:txBody>
          <a:bodyPr lIns="45719" rIns="45719"/>
          <a:lstStyle/>
          <a:p>
            <a:pPr/>
          </a:p>
        </p:txBody>
      </p:sp>
      <p:sp>
        <p:nvSpPr>
          <p:cNvPr id="324" name="Text 69"/>
          <p:cNvSpPr txBox="1"/>
          <p:nvPr/>
        </p:nvSpPr>
        <p:spPr>
          <a:xfrm>
            <a:off x="8001000" y="1600200"/>
            <a:ext cx="3520441" cy="1893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rgbClr val="E9B44C"/>
                </a:solidFill>
              </a:defRPr>
            </a:lvl1pPr>
          </a:lstStyle>
          <a:p>
            <a:pPr/>
            <a:r>
              <a:t>Meilleur libre : perch_v2</a:t>
            </a:r>
          </a:p>
        </p:txBody>
      </p:sp>
      <p:sp>
        <p:nvSpPr>
          <p:cNvPr id="325" name="Text 70"/>
          <p:cNvSpPr txBox="1"/>
          <p:nvPr/>
        </p:nvSpPr>
        <p:spPr>
          <a:xfrm>
            <a:off x="8001000" y="1947672"/>
            <a:ext cx="352044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FFFFFF"/>
                </a:solidFill>
              </a:defRPr>
            </a:lvl1pPr>
          </a:lstStyle>
          <a:p>
            <a:pPr/>
            <a:r>
              <a:t>0,81 avec la sonde à prototypes</a:t>
            </a:r>
          </a:p>
        </p:txBody>
      </p:sp>
      <p:sp>
        <p:nvSpPr>
          <p:cNvPr id="326" name="Shape 71"/>
          <p:cNvSpPr/>
          <p:nvPr/>
        </p:nvSpPr>
        <p:spPr>
          <a:xfrm>
            <a:off x="7818119" y="2715767"/>
            <a:ext cx="3822193" cy="1078993"/>
          </a:xfrm>
          <a:prstGeom prst="roundRect">
            <a:avLst>
              <a:gd name="adj" fmla="val 8475"/>
            </a:avLst>
          </a:prstGeom>
          <a:solidFill>
            <a:srgbClr val="F3F7F4"/>
          </a:solidFill>
          <a:ln w="12700">
            <a:solidFill>
              <a:srgbClr val="F3F7F4"/>
            </a:solidFill>
          </a:ln>
        </p:spPr>
        <p:txBody>
          <a:bodyPr lIns="45719" rIns="45719"/>
          <a:lstStyle/>
          <a:p>
            <a:pPr/>
          </a:p>
        </p:txBody>
      </p:sp>
      <p:sp>
        <p:nvSpPr>
          <p:cNvPr id="327" name="Text 72"/>
          <p:cNvSpPr txBox="1"/>
          <p:nvPr/>
        </p:nvSpPr>
        <p:spPr>
          <a:xfrm>
            <a:off x="8001000" y="2807207"/>
            <a:ext cx="352044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rgbClr val="2A7F72"/>
                </a:solidFill>
              </a:defRPr>
            </a:lvl1pPr>
          </a:lstStyle>
          <a:p>
            <a:pPr/>
            <a:r>
              <a:t>La tête doit suivre la sortie</a:t>
            </a:r>
          </a:p>
        </p:txBody>
      </p:sp>
      <p:sp>
        <p:nvSpPr>
          <p:cNvPr id="328" name="Text 73"/>
          <p:cNvSpPr txBox="1"/>
          <p:nvPr/>
        </p:nvSpPr>
        <p:spPr>
          <a:xfrm>
            <a:off x="8001000" y="3154679"/>
            <a:ext cx="3520441" cy="2993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1B2A24"/>
                </a:solidFill>
              </a:defRPr>
            </a:lvl1pPr>
          </a:lstStyle>
          <a:p>
            <a:pPr/>
            <a:r>
              <a:t>Bird-MAE-Base 0,51 → 0,74, naturebeats 0,69 → 0,84 avec la sonde à prototypes sur leurs jetons.</a:t>
            </a:r>
          </a:p>
        </p:txBody>
      </p:sp>
      <p:sp>
        <p:nvSpPr>
          <p:cNvPr id="329" name="Shape 74"/>
          <p:cNvSpPr/>
          <p:nvPr/>
        </p:nvSpPr>
        <p:spPr>
          <a:xfrm>
            <a:off x="7818119" y="3922776"/>
            <a:ext cx="3822193" cy="1078993"/>
          </a:xfrm>
          <a:prstGeom prst="roundRect">
            <a:avLst>
              <a:gd name="adj" fmla="val 8475"/>
            </a:avLst>
          </a:prstGeom>
          <a:solidFill>
            <a:srgbClr val="F3F7F4"/>
          </a:solidFill>
          <a:ln w="12700">
            <a:solidFill>
              <a:srgbClr val="F3F7F4"/>
            </a:solidFill>
          </a:ln>
        </p:spPr>
        <p:txBody>
          <a:bodyPr lIns="45719" rIns="45719"/>
          <a:lstStyle/>
          <a:p>
            <a:pPr/>
          </a:p>
        </p:txBody>
      </p:sp>
      <p:sp>
        <p:nvSpPr>
          <p:cNvPr id="330" name="Text 75"/>
          <p:cNvSpPr txBox="1"/>
          <p:nvPr/>
        </p:nvSpPr>
        <p:spPr>
          <a:xfrm>
            <a:off x="8001000" y="4014215"/>
            <a:ext cx="352044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rgbClr val="C8553D"/>
                </a:solidFill>
              </a:defRPr>
            </a:lvl1pPr>
          </a:lstStyle>
          <a:p>
            <a:pPr/>
            <a:r>
              <a:t>La sonde attentive n'aide presque jamais</a:t>
            </a:r>
          </a:p>
        </p:txBody>
      </p:sp>
      <p:sp>
        <p:nvSpPr>
          <p:cNvPr id="331" name="Text 76"/>
          <p:cNvSpPr txBox="1"/>
          <p:nvPr/>
        </p:nvSpPr>
        <p:spPr>
          <a:xfrm>
            <a:off x="8001000" y="4361688"/>
            <a:ext cx="3520441" cy="2993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1B2A24"/>
                </a:solidFill>
              </a:defRPr>
            </a:lvl1pPr>
          </a:lstStyle>
          <a:p>
            <a:pPr/>
            <a:r>
              <a:t>une seule requête, peu de positifs : elle se cale sans doute sur le site.</a:t>
            </a:r>
          </a:p>
        </p:txBody>
      </p:sp>
      <p:sp>
        <p:nvSpPr>
          <p:cNvPr id="332" name="Shape 77"/>
          <p:cNvSpPr/>
          <p:nvPr/>
        </p:nvSpPr>
        <p:spPr>
          <a:xfrm>
            <a:off x="7818119" y="5129784"/>
            <a:ext cx="3822193" cy="1078993"/>
          </a:xfrm>
          <a:prstGeom prst="roundRect">
            <a:avLst>
              <a:gd name="adj" fmla="val 8475"/>
            </a:avLst>
          </a:prstGeom>
          <a:solidFill>
            <a:srgbClr val="F3F7F4"/>
          </a:solidFill>
          <a:ln w="12700">
            <a:solidFill>
              <a:srgbClr val="F3F7F4"/>
            </a:solidFill>
          </a:ln>
        </p:spPr>
        <p:txBody>
          <a:bodyPr lIns="45719" rIns="45719"/>
          <a:lstStyle/>
          <a:p>
            <a:pPr/>
          </a:p>
        </p:txBody>
      </p:sp>
      <p:sp>
        <p:nvSpPr>
          <p:cNvPr id="333" name="Text 78"/>
          <p:cNvSpPr txBox="1"/>
          <p:nvPr/>
        </p:nvSpPr>
        <p:spPr>
          <a:xfrm>
            <a:off x="8001000" y="5221223"/>
            <a:ext cx="352044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rgbClr val="2A7F72"/>
                </a:solidFill>
              </a:defRPr>
            </a:lvl1pPr>
          </a:lstStyle>
          <a:p>
            <a:pPr/>
            <a:r>
              <a:t>Site sans annotation</a:t>
            </a:r>
          </a:p>
        </p:txBody>
      </p:sp>
      <p:sp>
        <p:nvSpPr>
          <p:cNvPr id="334" name="Text 79"/>
          <p:cNvSpPr txBox="1"/>
          <p:nvPr/>
        </p:nvSpPr>
        <p:spPr>
          <a:xfrm>
            <a:off x="8001000" y="5568696"/>
            <a:ext cx="3520441" cy="2993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1B2A24"/>
                </a:solidFill>
              </a:defRPr>
            </a:lvl1pPr>
          </a:lstStyle>
          <a:p>
            <a:pPr/>
            <a:r>
              <a:t>convnext_birdset part le mieux (0,83), perch_v2 juste derrière (0,81).</a:t>
            </a:r>
          </a:p>
        </p:txBody>
      </p:sp>
      <p:sp>
        <p:nvSpPr>
          <p:cNvPr id="335" name="Text 80"/>
          <p:cNvSpPr txBox="1"/>
          <p:nvPr/>
        </p:nvSpPr>
        <p:spPr>
          <a:xfrm>
            <a:off x="548639" y="6400800"/>
            <a:ext cx="11094417"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i="1" sz="1000">
                <a:solidFill>
                  <a:srgbClr val="5B6B63"/>
                </a:solidFill>
              </a:defRPr>
            </a:lvl1pPr>
          </a:lstStyle>
          <a:p>
            <a:pPr/>
            <a:r>
              <a:t>AnuraSet : 1 612 min, 4 sites du Brésil, 5 espèces sur ≥ 2 sites · un site tenu à l'écart à la fois · benchmark 08, statut indicateur</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E2A24"/>
        </a:solidFill>
      </p:bgPr>
    </p:bg>
    <p:spTree>
      <p:nvGrpSpPr>
        <p:cNvPr id="1" name=""/>
        <p:cNvGrpSpPr/>
        <p:nvPr/>
      </p:nvGrpSpPr>
      <p:grpSpPr>
        <a:xfrm>
          <a:off x="0" y="0"/>
          <a:ext cx="0" cy="0"/>
          <a:chOff x="0" y="0"/>
          <a:chExt cx="0" cy="0"/>
        </a:xfrm>
      </p:grpSpPr>
      <p:sp>
        <p:nvSpPr>
          <p:cNvPr id="339" name="Shape 0"/>
          <p:cNvSpPr/>
          <p:nvPr/>
        </p:nvSpPr>
        <p:spPr>
          <a:xfrm>
            <a:off x="548640" y="502919"/>
            <a:ext cx="3291841" cy="329185"/>
          </a:xfrm>
          <a:prstGeom prst="roundRect">
            <a:avLst>
              <a:gd name="adj" fmla="val 50000"/>
            </a:avLst>
          </a:prstGeom>
          <a:solidFill>
            <a:srgbClr val="173D34"/>
          </a:solidFill>
          <a:ln w="12700">
            <a:solidFill>
              <a:srgbClr val="173D34"/>
            </a:solidFill>
          </a:ln>
        </p:spPr>
        <p:txBody>
          <a:bodyPr lIns="45719" rIns="45719"/>
          <a:lstStyle/>
          <a:p>
            <a:pPr/>
          </a:p>
        </p:txBody>
      </p:sp>
      <p:sp>
        <p:nvSpPr>
          <p:cNvPr id="340" name="Text 1"/>
          <p:cNvSpPr txBox="1"/>
          <p:nvPr/>
        </p:nvSpPr>
        <p:spPr>
          <a:xfrm>
            <a:off x="548639" y="600378"/>
            <a:ext cx="329184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100" sz="1100">
                <a:solidFill>
                  <a:srgbClr val="E9B44C"/>
                </a:solidFill>
              </a:defRPr>
            </a:lvl1pPr>
          </a:lstStyle>
          <a:p>
            <a:pPr/>
            <a:r>
              <a:t>D'ICI LA PROCHAINE RÉUNION</a:t>
            </a:r>
          </a:p>
        </p:txBody>
      </p:sp>
      <p:sp>
        <p:nvSpPr>
          <p:cNvPr id="341" name="Text 2"/>
          <p:cNvSpPr txBox="1"/>
          <p:nvPr/>
        </p:nvSpPr>
        <p:spPr>
          <a:xfrm>
            <a:off x="548640" y="960119"/>
            <a:ext cx="10972801" cy="469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3200">
                <a:solidFill>
                  <a:srgbClr val="FFFFFF"/>
                </a:solidFill>
                <a:latin typeface="Cambria"/>
                <a:ea typeface="Cambria"/>
                <a:cs typeface="Cambria"/>
                <a:sym typeface="Cambria"/>
              </a:defRPr>
            </a:lvl1pPr>
          </a:lstStyle>
          <a:p>
            <a:pPr/>
            <a:r>
              <a:t>Les deux à trois prochaines semaines</a:t>
            </a:r>
          </a:p>
        </p:txBody>
      </p:sp>
      <p:sp>
        <p:nvSpPr>
          <p:cNvPr id="342" name="Shape 3"/>
          <p:cNvSpPr/>
          <p:nvPr/>
        </p:nvSpPr>
        <p:spPr>
          <a:xfrm>
            <a:off x="822960" y="2286000"/>
            <a:ext cx="10545776" cy="0"/>
          </a:xfrm>
          <a:prstGeom prst="line">
            <a:avLst/>
          </a:prstGeom>
          <a:ln w="25400">
            <a:solidFill>
              <a:srgbClr val="2A7F72"/>
            </a:solidFill>
          </a:ln>
        </p:spPr>
        <p:txBody>
          <a:bodyPr lIns="45719" rIns="45719"/>
          <a:lstStyle/>
          <a:p>
            <a:pPr/>
          </a:p>
        </p:txBody>
      </p:sp>
      <p:sp>
        <p:nvSpPr>
          <p:cNvPr id="343" name="Shape 4"/>
          <p:cNvSpPr/>
          <p:nvPr/>
        </p:nvSpPr>
        <p:spPr>
          <a:xfrm>
            <a:off x="640080" y="2066544"/>
            <a:ext cx="438912" cy="438912"/>
          </a:xfrm>
          <a:prstGeom prst="ellipse">
            <a:avLst/>
          </a:prstGeom>
          <a:solidFill>
            <a:srgbClr val="2A7F72"/>
          </a:solidFill>
          <a:ln w="12700">
            <a:solidFill>
              <a:srgbClr val="2A7F72"/>
            </a:solidFill>
          </a:ln>
        </p:spPr>
        <p:txBody>
          <a:bodyPr lIns="45719" rIns="45719"/>
          <a:lstStyle/>
          <a:p>
            <a:pPr/>
          </a:p>
        </p:txBody>
      </p:sp>
      <p:sp>
        <p:nvSpPr>
          <p:cNvPr id="344" name="Text 5"/>
          <p:cNvSpPr txBox="1"/>
          <p:nvPr/>
        </p:nvSpPr>
        <p:spPr>
          <a:xfrm>
            <a:off x="640080" y="2191320"/>
            <a:ext cx="43891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FFFFFF"/>
                </a:solidFill>
              </a:defRPr>
            </a:lvl1pPr>
          </a:lstStyle>
          <a:p>
            <a:pPr/>
            <a:r>
              <a:t>1</a:t>
            </a:r>
          </a:p>
        </p:txBody>
      </p:sp>
      <p:sp>
        <p:nvSpPr>
          <p:cNvPr id="345" name="Shape 6"/>
          <p:cNvSpPr/>
          <p:nvPr/>
        </p:nvSpPr>
        <p:spPr>
          <a:xfrm>
            <a:off x="594359" y="2743200"/>
            <a:ext cx="2545005" cy="2377440"/>
          </a:xfrm>
          <a:prstGeom prst="roundRect">
            <a:avLst>
              <a:gd name="adj" fmla="val 3846"/>
            </a:avLst>
          </a:prstGeom>
          <a:solidFill>
            <a:srgbClr val="173D34"/>
          </a:solidFill>
          <a:ln w="12700">
            <a:solidFill>
              <a:srgbClr val="173D34"/>
            </a:solidFill>
          </a:ln>
        </p:spPr>
        <p:txBody>
          <a:bodyPr lIns="45719" rIns="45719"/>
          <a:lstStyle/>
          <a:p>
            <a:pPr/>
          </a:p>
        </p:txBody>
      </p:sp>
      <p:sp>
        <p:nvSpPr>
          <p:cNvPr id="346" name="Text 7"/>
          <p:cNvSpPr txBox="1"/>
          <p:nvPr/>
        </p:nvSpPr>
        <p:spPr>
          <a:xfrm>
            <a:off x="822960" y="2926079"/>
            <a:ext cx="2133525" cy="2416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rgbClr val="FFFFFF"/>
                </a:solidFill>
              </a:defRPr>
            </a:lvl1pPr>
          </a:lstStyle>
          <a:p>
            <a:pPr/>
            <a:r>
              <a:t>Annoter mon jeu</a:t>
            </a:r>
          </a:p>
        </p:txBody>
      </p:sp>
      <p:sp>
        <p:nvSpPr>
          <p:cNvPr id="347" name="Text 8"/>
          <p:cNvSpPr txBox="1"/>
          <p:nvPr/>
        </p:nvSpPr>
        <p:spPr>
          <a:xfrm>
            <a:off x="822960" y="3657600"/>
            <a:ext cx="2133525" cy="7763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A7BFB2"/>
                </a:solidFill>
              </a:defRPr>
            </a:lvl1pPr>
          </a:lstStyle>
          <a:p>
            <a:pPr/>
            <a:r>
              <a:t>jeu d'entraînement (≈ 450 extraits de 30 s) et jeu de test (≈ 250 enregistrements entiers), tirés sans détecteur</a:t>
            </a:r>
          </a:p>
        </p:txBody>
      </p:sp>
      <p:sp>
        <p:nvSpPr>
          <p:cNvPr id="348" name="Shape 9"/>
          <p:cNvSpPr/>
          <p:nvPr/>
        </p:nvSpPr>
        <p:spPr>
          <a:xfrm>
            <a:off x="3413683" y="2066544"/>
            <a:ext cx="438913" cy="438912"/>
          </a:xfrm>
          <a:prstGeom prst="ellipse">
            <a:avLst/>
          </a:prstGeom>
          <a:solidFill>
            <a:srgbClr val="2A7F72"/>
          </a:solidFill>
          <a:ln w="12700">
            <a:solidFill>
              <a:srgbClr val="2A7F72"/>
            </a:solidFill>
          </a:ln>
        </p:spPr>
        <p:txBody>
          <a:bodyPr lIns="45719" rIns="45719"/>
          <a:lstStyle/>
          <a:p>
            <a:pPr/>
          </a:p>
        </p:txBody>
      </p:sp>
      <p:sp>
        <p:nvSpPr>
          <p:cNvPr id="349" name="Text 10"/>
          <p:cNvSpPr txBox="1"/>
          <p:nvPr/>
        </p:nvSpPr>
        <p:spPr>
          <a:xfrm>
            <a:off x="3413683" y="2191320"/>
            <a:ext cx="438913"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FFFFFF"/>
                </a:solidFill>
              </a:defRPr>
            </a:lvl1pPr>
          </a:lstStyle>
          <a:p>
            <a:pPr/>
            <a:r>
              <a:t>2</a:t>
            </a:r>
          </a:p>
        </p:txBody>
      </p:sp>
      <p:sp>
        <p:nvSpPr>
          <p:cNvPr id="350" name="Shape 11"/>
          <p:cNvSpPr/>
          <p:nvPr/>
        </p:nvSpPr>
        <p:spPr>
          <a:xfrm>
            <a:off x="3367964" y="2743200"/>
            <a:ext cx="2545005" cy="2377440"/>
          </a:xfrm>
          <a:prstGeom prst="roundRect">
            <a:avLst>
              <a:gd name="adj" fmla="val 3846"/>
            </a:avLst>
          </a:prstGeom>
          <a:solidFill>
            <a:srgbClr val="173D34"/>
          </a:solidFill>
          <a:ln w="12700">
            <a:solidFill>
              <a:srgbClr val="173D34"/>
            </a:solidFill>
          </a:ln>
        </p:spPr>
        <p:txBody>
          <a:bodyPr lIns="45719" rIns="45719"/>
          <a:lstStyle/>
          <a:p>
            <a:pPr/>
          </a:p>
        </p:txBody>
      </p:sp>
      <p:sp>
        <p:nvSpPr>
          <p:cNvPr id="351" name="Text 12"/>
          <p:cNvSpPr txBox="1"/>
          <p:nvPr/>
        </p:nvSpPr>
        <p:spPr>
          <a:xfrm>
            <a:off x="3596564" y="2926079"/>
            <a:ext cx="2133525" cy="5337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rgbClr val="FFFFFF"/>
                </a:solidFill>
              </a:defRPr>
            </a:lvl1pPr>
          </a:lstStyle>
          <a:p>
            <a:pPr/>
            <a:r>
              <a:t>Vérifier avec Élodie et Benoît</a:t>
            </a:r>
          </a:p>
        </p:txBody>
      </p:sp>
      <p:sp>
        <p:nvSpPr>
          <p:cNvPr id="352" name="Text 13"/>
          <p:cNvSpPr txBox="1"/>
          <p:nvPr/>
        </p:nvSpPr>
        <p:spPr>
          <a:xfrm>
            <a:off x="3596564" y="3657600"/>
            <a:ext cx="2133525" cy="5731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A7BFB2"/>
                </a:solidFill>
              </a:defRPr>
            </a:lvl1pPr>
          </a:lstStyle>
          <a:p>
            <a:pPr/>
            <a:r>
              <a:t>paquet à l'aveugle, ≈ 2 h 30 d'écoute chacun ; corrections ; go écrit</a:t>
            </a:r>
          </a:p>
        </p:txBody>
      </p:sp>
      <p:sp>
        <p:nvSpPr>
          <p:cNvPr id="353" name="Shape 14"/>
          <p:cNvSpPr/>
          <p:nvPr/>
        </p:nvSpPr>
        <p:spPr>
          <a:xfrm>
            <a:off x="6187287" y="2066544"/>
            <a:ext cx="438913" cy="438912"/>
          </a:xfrm>
          <a:prstGeom prst="ellipse">
            <a:avLst/>
          </a:prstGeom>
          <a:solidFill>
            <a:srgbClr val="2A7F72"/>
          </a:solidFill>
          <a:ln w="12700">
            <a:solidFill>
              <a:srgbClr val="2A7F72"/>
            </a:solidFill>
          </a:ln>
        </p:spPr>
        <p:txBody>
          <a:bodyPr lIns="45719" rIns="45719"/>
          <a:lstStyle/>
          <a:p>
            <a:pPr/>
          </a:p>
        </p:txBody>
      </p:sp>
      <p:sp>
        <p:nvSpPr>
          <p:cNvPr id="354" name="Text 15"/>
          <p:cNvSpPr txBox="1"/>
          <p:nvPr/>
        </p:nvSpPr>
        <p:spPr>
          <a:xfrm>
            <a:off x="6187287" y="2191320"/>
            <a:ext cx="438913"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FFFFFF"/>
                </a:solidFill>
              </a:defRPr>
            </a:lvl1pPr>
          </a:lstStyle>
          <a:p>
            <a:pPr/>
            <a:r>
              <a:t>3</a:t>
            </a:r>
          </a:p>
        </p:txBody>
      </p:sp>
      <p:sp>
        <p:nvSpPr>
          <p:cNvPr id="355" name="Shape 16"/>
          <p:cNvSpPr/>
          <p:nvPr/>
        </p:nvSpPr>
        <p:spPr>
          <a:xfrm>
            <a:off x="6141568" y="2743200"/>
            <a:ext cx="2545005" cy="2377440"/>
          </a:xfrm>
          <a:prstGeom prst="roundRect">
            <a:avLst>
              <a:gd name="adj" fmla="val 3846"/>
            </a:avLst>
          </a:prstGeom>
          <a:solidFill>
            <a:srgbClr val="173D34"/>
          </a:solidFill>
          <a:ln w="12700">
            <a:solidFill>
              <a:srgbClr val="173D34"/>
            </a:solidFill>
          </a:ln>
        </p:spPr>
        <p:txBody>
          <a:bodyPr lIns="45719" rIns="45719"/>
          <a:lstStyle/>
          <a:p>
            <a:pPr/>
          </a:p>
        </p:txBody>
      </p:sp>
      <p:sp>
        <p:nvSpPr>
          <p:cNvPr id="356" name="Text 17"/>
          <p:cNvSpPr txBox="1"/>
          <p:nvPr/>
        </p:nvSpPr>
        <p:spPr>
          <a:xfrm>
            <a:off x="6370168" y="2926079"/>
            <a:ext cx="2133525" cy="5337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rgbClr val="FFFFFF"/>
                </a:solidFill>
              </a:defRPr>
            </a:lvl1pPr>
          </a:lstStyle>
          <a:p>
            <a:pPr/>
            <a:r>
              <a:t>Benchmarker sur mes données</a:t>
            </a:r>
          </a:p>
        </p:txBody>
      </p:sp>
      <p:sp>
        <p:nvSpPr>
          <p:cNvPr id="357" name="Text 18"/>
          <p:cNvSpPr txBox="1"/>
          <p:nvPr/>
        </p:nvSpPr>
        <p:spPr>
          <a:xfrm>
            <a:off x="6370168" y="3657600"/>
            <a:ext cx="2133525" cy="5731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A7BFB2"/>
                </a:solidFill>
              </a:defRPr>
            </a:lvl1pPr>
          </a:lstStyle>
          <a:p>
            <a:pPr/>
            <a:r>
              <a:t>même gabarit que le benchmark AnuraSet, sur des points tenus à l'écart</a:t>
            </a:r>
          </a:p>
        </p:txBody>
      </p:sp>
      <p:sp>
        <p:nvSpPr>
          <p:cNvPr id="358" name="Shape 19"/>
          <p:cNvSpPr/>
          <p:nvPr/>
        </p:nvSpPr>
        <p:spPr>
          <a:xfrm>
            <a:off x="8960891" y="2066544"/>
            <a:ext cx="438912" cy="438912"/>
          </a:xfrm>
          <a:prstGeom prst="ellipse">
            <a:avLst/>
          </a:prstGeom>
          <a:solidFill>
            <a:srgbClr val="E9B44C"/>
          </a:solidFill>
          <a:ln w="12700">
            <a:solidFill>
              <a:srgbClr val="E9B44C"/>
            </a:solidFill>
          </a:ln>
        </p:spPr>
        <p:txBody>
          <a:bodyPr lIns="45719" rIns="45719"/>
          <a:lstStyle/>
          <a:p>
            <a:pPr/>
          </a:p>
        </p:txBody>
      </p:sp>
      <p:sp>
        <p:nvSpPr>
          <p:cNvPr id="359" name="Text 20"/>
          <p:cNvSpPr txBox="1"/>
          <p:nvPr/>
        </p:nvSpPr>
        <p:spPr>
          <a:xfrm>
            <a:off x="8960891" y="2191320"/>
            <a:ext cx="43891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FFFFFF"/>
                </a:solidFill>
              </a:defRPr>
            </a:lvl1pPr>
          </a:lstStyle>
          <a:p>
            <a:pPr/>
            <a:r>
              <a:t>4</a:t>
            </a:r>
          </a:p>
        </p:txBody>
      </p:sp>
      <p:sp>
        <p:nvSpPr>
          <p:cNvPr id="360" name="Shape 21"/>
          <p:cNvSpPr/>
          <p:nvPr/>
        </p:nvSpPr>
        <p:spPr>
          <a:xfrm>
            <a:off x="8915171" y="2743200"/>
            <a:ext cx="2545005" cy="2377440"/>
          </a:xfrm>
          <a:prstGeom prst="roundRect">
            <a:avLst>
              <a:gd name="adj" fmla="val 3846"/>
            </a:avLst>
          </a:prstGeom>
          <a:solidFill>
            <a:srgbClr val="173D34"/>
          </a:solidFill>
          <a:ln w="12700">
            <a:solidFill>
              <a:srgbClr val="173D34"/>
            </a:solidFill>
          </a:ln>
        </p:spPr>
        <p:txBody>
          <a:bodyPr lIns="45719" rIns="45719"/>
          <a:lstStyle/>
          <a:p>
            <a:pPr/>
          </a:p>
        </p:txBody>
      </p:sp>
      <p:sp>
        <p:nvSpPr>
          <p:cNvPr id="361" name="Text 22"/>
          <p:cNvSpPr txBox="1"/>
          <p:nvPr/>
        </p:nvSpPr>
        <p:spPr>
          <a:xfrm>
            <a:off x="9143771" y="2926079"/>
            <a:ext cx="2133525" cy="5337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rgbClr val="E9B44C"/>
                </a:solidFill>
              </a:defRPr>
            </a:lvl1pPr>
          </a:lstStyle>
          <a:p>
            <a:pPr/>
            <a:r>
              <a:t>Présenter le benchmark</a:t>
            </a:r>
          </a:p>
        </p:txBody>
      </p:sp>
      <p:sp>
        <p:nvSpPr>
          <p:cNvPr id="362" name="Text 23"/>
          <p:cNvSpPr txBox="1"/>
          <p:nvPr/>
        </p:nvSpPr>
        <p:spPr>
          <a:xfrm>
            <a:off x="9143771" y="3657600"/>
            <a:ext cx="2133525" cy="3699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A7BFB2"/>
                </a:solidFill>
              </a:defRPr>
            </a:lvl1pPr>
          </a:lstStyle>
          <a:p>
            <a:pPr/>
            <a:r>
              <a:t>et conclure à la prochaine réunion</a:t>
            </a:r>
          </a:p>
        </p:txBody>
      </p:sp>
      <p:sp>
        <p:nvSpPr>
          <p:cNvPr id="363" name="Shape 24"/>
          <p:cNvSpPr/>
          <p:nvPr/>
        </p:nvSpPr>
        <p:spPr>
          <a:xfrm>
            <a:off x="548640" y="5440679"/>
            <a:ext cx="11094416" cy="822961"/>
          </a:xfrm>
          <a:prstGeom prst="roundRect">
            <a:avLst>
              <a:gd name="adj" fmla="val 11111"/>
            </a:avLst>
          </a:prstGeom>
          <a:solidFill>
            <a:srgbClr val="E9B44C"/>
          </a:solidFill>
          <a:ln w="12700">
            <a:solidFill>
              <a:srgbClr val="E9B44C"/>
            </a:solidFill>
          </a:ln>
        </p:spPr>
        <p:txBody>
          <a:bodyPr lIns="45719" rIns="45719"/>
          <a:lstStyle/>
          <a:p>
            <a:pPr/>
          </a:p>
        </p:txBody>
      </p:sp>
      <p:sp>
        <p:nvSpPr>
          <p:cNvPr id="364" name="Text 25"/>
          <p:cNvSpPr txBox="1"/>
          <p:nvPr/>
        </p:nvSpPr>
        <p:spPr>
          <a:xfrm>
            <a:off x="822960" y="5758881"/>
            <a:ext cx="10545776"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500">
                <a:solidFill>
                  <a:srgbClr val="0E2A24"/>
                </a:solidFill>
              </a:defRPr>
            </a:pPr>
            <a:r>
              <a:t>Questions : </a:t>
            </a:r>
            <a:r>
              <a:rPr b="0"/>
              <a:t>vos identifiants GitHub ? · peut-on encoder dans le cloud plutôt que sur un portable (droits sur l'audio, stockage, budget) ?</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