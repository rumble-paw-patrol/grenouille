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L'inventaire est complet depuis le 29 septembre : 96 292 enregistrements de 2 min, 3 204 h, 2,2 To, sur quatre sites. Deux campagnes. La phénologie 2023-2024 : Kaw, Molokoï et Trésor, deux enregistreurs par site, un an de décembre 2023 à novembre 2024, 2 225 h. La campagne 2026 : une semaine par relevé, à Mataroni, à Kaw (relevés CDR, Patawa Est et Patawa Ouest) et à Trésor (relevé RNRT, la réserve naturelle régionale Trésor), 979 h. Tous les enregistrements font 2 min, toutes les 30 min de 5 h à 20 h, en 48 kHz stéréo. Après les drapeaux, 94 588 enregistrements restent encodables, soit 4,5 millions de fenêtres de 5 s au pas de 2,5 s. Deux conséquences : Mataroni n'a qu'une semaine de 2026, et seul le jeu 2023 couvre toutes les saisons ; les 345 positifs et 150 négatifs de Blancinet sortent de l'entraînement et de l'évaluation.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Protocole. AnuraSet : 1 612 enregistrements d'une minute, 4 sites du Brésil ; on garde les 5 espèces d'anoures présentes sur au moins deux sites. Pour chaque encodeur, la tête apprend sur les autres sites et on juge le site tenu à l'écart : la mesure est l'AP moyenne par site, au niveau de la minute, moyennée sur les 5 espèces. Chaque encodeur est jugé avec la tête qui correspond à sa sortie : la logistique sur l'embedding, et pour les encodeurs qui fournissent leurs jetons, une sonde à prototypes ou une sonde attentive sur les jetons. Sur le graphique, la partie claire est la logistique, la partie foncée ce que la meilleure tête ajoute. Résultats. En tête, sans écart significatif entre eux après correction de Holm : naturebeats avec la sonde à prototypes (0,84), perch_v2 avec la sonde à prototypes (0,81), convnext_birdset en logistique (0,81), puis perch_v2 en logistique (0,79), la référence. Le meilleur encodeur libre est perch_v2 : aucun encodeur non libre ne le bat après Holm. naturebeats est sous licence non commerciale, convnext_birdset n'a aucune licence déclarée. Ce que ça change. Un : la tête doit suivre la sortie de l'encodeur. Les transformers auto-supervisés jugés en logistique semblaient mauvais : Bird-MAE-Base passe de 0,51 à 0,74 et naturebeats de 0,69 à 0,84 avec la sonde à prototypes sur leurs jetons. Deux : la sonde attentive, elle, n'aide presque jamais : une seule requête apprise sur peu de positifs se cale sans doute sur un indice de site. C'est l'inconvénient annoncé dans la partie attention, et le notebook 04 permettra de le voir. Trois : sur un site sans aucune annotation, convnext_birdset part le mieux (0,83), perch_v2 juste derrière (0,81). Quatre : BirdNET 3 fait 0,74, mieux que BirdNET 2.4 mais sous perch_v2. Pour A. blanci : perch_v2, avec la logistique et la sonde à prototypes, entre au benchmark ONF ; naturebeats et convnext_birdset sont proposés comme objectifs non libres, à décider avec Élodie. Limites : d'autres anoures qu'A. blanci, 2 à 4 sites par espèce, meilleure tête choisie après coup, trois encodeurs de la vague 2 encore à ajouter.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93292"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193292"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DONNÉES · 1/2</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Le jeu de données : 96 292 enregistrements, 4 sites</a:t>
            </a:r>
            <a:endParaRPr lang="en-US" sz="2800" dirty="0"/>
          </a:p>
        </p:txBody>
      </p:sp>
      <p:sp>
        <p:nvSpPr>
          <p:cNvPr id="6" name="Text 3"/>
          <p:cNvSpPr txBox="1"/>
          <p:nvPr/>
        </p:nvSpPr>
        <p:spPr>
          <a:xfrm>
            <a:off x="548640" y="1600200"/>
            <a:ext cx="6766560" cy="320040"/>
          </a:xfrm>
          <a:prstGeom prst="rect">
            <a:avLst/>
          </a:prstGeom>
          <a:noFill/>
          <a:ln/>
        </p:spPr>
        <p:txBody>
          <a:bodyPr wrap="square" lIns="0" tIns="0" rIns="0" bIns="0" rtlCol="0" anchor="t"/>
          <a:lstStyle/>
          <a:p>
            <a:pPr indent="0" marL="0">
              <a:buNone/>
            </a:pPr>
            <a:r>
              <a:rPr lang="en-US" sz="1400" b="1" dirty="0">
                <a:solidFill>
                  <a:srgbClr val="1B2A24"/>
                </a:solidFill>
                <a:latin typeface="Calibri" pitchFamily="34" charset="0"/>
                <a:ea typeface="Calibri" pitchFamily="34" charset="-122"/>
                <a:cs typeface="Calibri" pitchFamily="34" charset="-120"/>
              </a:rPr>
              <a:t>Heures d'audio par site (enregistrements de 2 min)</a:t>
            </a:r>
            <a:endParaRPr lang="en-US" sz="1400" dirty="0"/>
          </a:p>
        </p:txBody>
      </p:sp>
      <p:sp>
        <p:nvSpPr>
          <p:cNvPr id="7" name="Text 4"/>
          <p:cNvSpPr txBox="1"/>
          <p:nvPr/>
        </p:nvSpPr>
        <p:spPr>
          <a:xfrm>
            <a:off x="548640" y="2148840"/>
            <a:ext cx="1051560" cy="457200"/>
          </a:xfrm>
          <a:prstGeom prst="rect">
            <a:avLst/>
          </a:prstGeom>
          <a:noFill/>
          <a:ln/>
        </p:spPr>
        <p:txBody>
          <a:bodyPr wrap="square" lIns="0" tIns="0" rIns="0" bIns="0" rtlCol="0" anchor="ctr"/>
          <a:lstStyle/>
          <a:p>
            <a:pPr algn="r" indent="0" marL="0">
              <a:buNone/>
            </a:pPr>
            <a:r>
              <a:rPr lang="en-US" sz="1500" b="1" dirty="0">
                <a:solidFill>
                  <a:srgbClr val="1B2A24"/>
                </a:solidFill>
                <a:latin typeface="Calibri" pitchFamily="34" charset="0"/>
                <a:ea typeface="Calibri" pitchFamily="34" charset="-122"/>
                <a:cs typeface="Calibri" pitchFamily="34" charset="-120"/>
              </a:rPr>
              <a:t>Kaw</a:t>
            </a:r>
            <a:endParaRPr lang="en-US" sz="1500" dirty="0"/>
          </a:p>
        </p:txBody>
      </p:sp>
      <p:sp>
        <p:nvSpPr>
          <p:cNvPr id="8" name="Shape 5"/>
          <p:cNvSpPr/>
          <p:nvPr/>
        </p:nvSpPr>
        <p:spPr>
          <a:xfrm>
            <a:off x="1737360" y="2148840"/>
            <a:ext cx="3138055" cy="457200"/>
          </a:xfrm>
          <a:prstGeom prst="rect">
            <a:avLst/>
          </a:prstGeom>
          <a:solidFill>
            <a:srgbClr val="3E7CB1"/>
          </a:solidFill>
          <a:ln w="12700">
            <a:solidFill>
              <a:srgbClr val="3E7CB1"/>
            </a:solidFill>
            <a:prstDash val="solid"/>
          </a:ln>
        </p:spPr>
      </p:sp>
      <p:sp>
        <p:nvSpPr>
          <p:cNvPr id="9" name="Shape 6"/>
          <p:cNvSpPr/>
          <p:nvPr/>
        </p:nvSpPr>
        <p:spPr>
          <a:xfrm>
            <a:off x="4902847" y="2148840"/>
            <a:ext cx="1262288" cy="457200"/>
          </a:xfrm>
          <a:prstGeom prst="rect">
            <a:avLst/>
          </a:prstGeom>
          <a:solidFill>
            <a:srgbClr val="2E8B57"/>
          </a:solidFill>
          <a:ln w="12700">
            <a:solidFill>
              <a:srgbClr val="2E8B57"/>
            </a:solidFill>
            <a:prstDash val="solid"/>
          </a:ln>
        </p:spPr>
      </p:sp>
      <p:sp>
        <p:nvSpPr>
          <p:cNvPr id="10" name="Text 7"/>
          <p:cNvSpPr txBox="1"/>
          <p:nvPr/>
        </p:nvSpPr>
        <p:spPr>
          <a:xfrm>
            <a:off x="1737360" y="2148840"/>
            <a:ext cx="3138055"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755 h</a:t>
            </a:r>
            <a:endParaRPr lang="en-US" sz="1200" dirty="0"/>
          </a:p>
        </p:txBody>
      </p:sp>
      <p:sp>
        <p:nvSpPr>
          <p:cNvPr id="11" name="Text 8"/>
          <p:cNvSpPr txBox="1"/>
          <p:nvPr/>
        </p:nvSpPr>
        <p:spPr>
          <a:xfrm>
            <a:off x="4902847" y="2148840"/>
            <a:ext cx="126228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304 h</a:t>
            </a:r>
            <a:endParaRPr lang="en-US" sz="1200" dirty="0"/>
          </a:p>
        </p:txBody>
      </p:sp>
      <p:sp>
        <p:nvSpPr>
          <p:cNvPr id="12" name="Text 9"/>
          <p:cNvSpPr txBox="1"/>
          <p:nvPr/>
        </p:nvSpPr>
        <p:spPr>
          <a:xfrm>
            <a:off x="6247430" y="2148840"/>
            <a:ext cx="822960" cy="457200"/>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1059 h</a:t>
            </a:r>
            <a:endParaRPr lang="en-US" sz="1300" dirty="0"/>
          </a:p>
        </p:txBody>
      </p:sp>
      <p:sp>
        <p:nvSpPr>
          <p:cNvPr id="13" name="Text 10"/>
          <p:cNvSpPr txBox="1"/>
          <p:nvPr/>
        </p:nvSpPr>
        <p:spPr>
          <a:xfrm>
            <a:off x="1737360" y="2633472"/>
            <a:ext cx="5029200" cy="256032"/>
          </a:xfrm>
          <a:prstGeom prst="rect">
            <a:avLst/>
          </a:prstGeom>
          <a:noFill/>
          <a:ln/>
        </p:spPr>
        <p:txBody>
          <a:bodyPr wrap="square" lIns="0" tIns="0" rIns="0" bIns="0" rtlCol="0" anchor="t"/>
          <a:lstStyle/>
          <a:p>
            <a:pPr indent="0" marL="0">
              <a:buNone/>
            </a:pPr>
            <a:r>
              <a:rPr lang="en-US" sz="1050" i="1" dirty="0">
                <a:solidFill>
                  <a:srgbClr val="5B6B63"/>
                </a:solidFill>
                <a:latin typeface="Calibri" pitchFamily="34" charset="0"/>
                <a:ea typeface="Calibri" pitchFamily="34" charset="-122"/>
                <a:cs typeface="Calibri" pitchFamily="34" charset="-120"/>
              </a:rPr>
              <a:t>2026 : relevés CDR, Patawa Est, Patawa Ouest</a:t>
            </a:r>
            <a:endParaRPr lang="en-US" sz="1050" dirty="0"/>
          </a:p>
        </p:txBody>
      </p:sp>
      <p:sp>
        <p:nvSpPr>
          <p:cNvPr id="14" name="Text 11"/>
          <p:cNvSpPr txBox="1"/>
          <p:nvPr/>
        </p:nvSpPr>
        <p:spPr>
          <a:xfrm>
            <a:off x="548640" y="3017520"/>
            <a:ext cx="1051560" cy="457200"/>
          </a:xfrm>
          <a:prstGeom prst="rect">
            <a:avLst/>
          </a:prstGeom>
          <a:noFill/>
          <a:ln/>
        </p:spPr>
        <p:txBody>
          <a:bodyPr wrap="square" lIns="0" tIns="0" rIns="0" bIns="0" rtlCol="0" anchor="ctr"/>
          <a:lstStyle/>
          <a:p>
            <a:pPr algn="r" indent="0" marL="0">
              <a:buNone/>
            </a:pPr>
            <a:r>
              <a:rPr lang="en-US" sz="1500" b="1" dirty="0">
                <a:solidFill>
                  <a:srgbClr val="1B2A24"/>
                </a:solidFill>
                <a:latin typeface="Calibri" pitchFamily="34" charset="0"/>
                <a:ea typeface="Calibri" pitchFamily="34" charset="-122"/>
                <a:cs typeface="Calibri" pitchFamily="34" charset="-120"/>
              </a:rPr>
              <a:t>Trésor</a:t>
            </a:r>
            <a:endParaRPr lang="en-US" sz="1500" dirty="0"/>
          </a:p>
        </p:txBody>
      </p:sp>
      <p:sp>
        <p:nvSpPr>
          <p:cNvPr id="15" name="Shape 12"/>
          <p:cNvSpPr/>
          <p:nvPr/>
        </p:nvSpPr>
        <p:spPr>
          <a:xfrm>
            <a:off x="1737360" y="3017520"/>
            <a:ext cx="3201231" cy="457200"/>
          </a:xfrm>
          <a:prstGeom prst="rect">
            <a:avLst/>
          </a:prstGeom>
          <a:solidFill>
            <a:srgbClr val="3E7CB1"/>
          </a:solidFill>
          <a:ln w="12700">
            <a:solidFill>
              <a:srgbClr val="3E7CB1"/>
            </a:solidFill>
            <a:prstDash val="solid"/>
          </a:ln>
        </p:spPr>
      </p:sp>
      <p:sp>
        <p:nvSpPr>
          <p:cNvPr id="16" name="Shape 13"/>
          <p:cNvSpPr/>
          <p:nvPr/>
        </p:nvSpPr>
        <p:spPr>
          <a:xfrm>
            <a:off x="4966023" y="3017520"/>
            <a:ext cx="1008749" cy="457200"/>
          </a:xfrm>
          <a:prstGeom prst="rect">
            <a:avLst/>
          </a:prstGeom>
          <a:solidFill>
            <a:srgbClr val="2E8B57"/>
          </a:solidFill>
          <a:ln w="12700">
            <a:solidFill>
              <a:srgbClr val="2E8B57"/>
            </a:solidFill>
            <a:prstDash val="solid"/>
          </a:ln>
        </p:spPr>
      </p:sp>
      <p:sp>
        <p:nvSpPr>
          <p:cNvPr id="17" name="Text 14"/>
          <p:cNvSpPr txBox="1"/>
          <p:nvPr/>
        </p:nvSpPr>
        <p:spPr>
          <a:xfrm>
            <a:off x="1737360" y="3017520"/>
            <a:ext cx="3201231"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770 h</a:t>
            </a:r>
            <a:endParaRPr lang="en-US" sz="1200" dirty="0"/>
          </a:p>
        </p:txBody>
      </p:sp>
      <p:sp>
        <p:nvSpPr>
          <p:cNvPr id="18" name="Text 15"/>
          <p:cNvSpPr txBox="1"/>
          <p:nvPr/>
        </p:nvSpPr>
        <p:spPr>
          <a:xfrm>
            <a:off x="4966023" y="3017520"/>
            <a:ext cx="1008749"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243 h</a:t>
            </a:r>
            <a:endParaRPr lang="en-US" sz="1200" dirty="0"/>
          </a:p>
        </p:txBody>
      </p:sp>
      <p:sp>
        <p:nvSpPr>
          <p:cNvPr id="19" name="Text 16"/>
          <p:cNvSpPr txBox="1"/>
          <p:nvPr/>
        </p:nvSpPr>
        <p:spPr>
          <a:xfrm>
            <a:off x="6057069" y="3017520"/>
            <a:ext cx="822960" cy="457200"/>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1013 h</a:t>
            </a:r>
            <a:endParaRPr lang="en-US" sz="1300" dirty="0"/>
          </a:p>
        </p:txBody>
      </p:sp>
      <p:sp>
        <p:nvSpPr>
          <p:cNvPr id="20" name="Text 17"/>
          <p:cNvSpPr txBox="1"/>
          <p:nvPr/>
        </p:nvSpPr>
        <p:spPr>
          <a:xfrm>
            <a:off x="1737360" y="3502152"/>
            <a:ext cx="5029200" cy="256032"/>
          </a:xfrm>
          <a:prstGeom prst="rect">
            <a:avLst/>
          </a:prstGeom>
          <a:noFill/>
          <a:ln/>
        </p:spPr>
        <p:txBody>
          <a:bodyPr wrap="square" lIns="0" tIns="0" rIns="0" bIns="0" rtlCol="0" anchor="t"/>
          <a:lstStyle/>
          <a:p>
            <a:pPr indent="0" marL="0">
              <a:buNone/>
            </a:pPr>
            <a:r>
              <a:rPr lang="en-US" sz="1050" i="1" dirty="0">
                <a:solidFill>
                  <a:srgbClr val="5B6B63"/>
                </a:solidFill>
                <a:latin typeface="Calibri" pitchFamily="34" charset="0"/>
                <a:ea typeface="Calibri" pitchFamily="34" charset="-122"/>
                <a:cs typeface="Calibri" pitchFamily="34" charset="-120"/>
              </a:rPr>
              <a:t>2026 : relevé RNRT</a:t>
            </a:r>
            <a:endParaRPr lang="en-US" sz="1050" dirty="0"/>
          </a:p>
        </p:txBody>
      </p:sp>
      <p:sp>
        <p:nvSpPr>
          <p:cNvPr id="21" name="Text 18"/>
          <p:cNvSpPr txBox="1"/>
          <p:nvPr/>
        </p:nvSpPr>
        <p:spPr>
          <a:xfrm>
            <a:off x="548640" y="3886200"/>
            <a:ext cx="1051560" cy="457200"/>
          </a:xfrm>
          <a:prstGeom prst="rect">
            <a:avLst/>
          </a:prstGeom>
          <a:noFill/>
          <a:ln/>
        </p:spPr>
        <p:txBody>
          <a:bodyPr wrap="square" lIns="0" tIns="0" rIns="0" bIns="0" rtlCol="0" anchor="ctr"/>
          <a:lstStyle/>
          <a:p>
            <a:pPr algn="r" indent="0" marL="0">
              <a:buNone/>
            </a:pPr>
            <a:r>
              <a:rPr lang="en-US" sz="1500" b="1" dirty="0">
                <a:solidFill>
                  <a:srgbClr val="1B2A24"/>
                </a:solidFill>
                <a:latin typeface="Calibri" pitchFamily="34" charset="0"/>
                <a:ea typeface="Calibri" pitchFamily="34" charset="-122"/>
                <a:cs typeface="Calibri" pitchFamily="34" charset="-120"/>
              </a:rPr>
              <a:t>Molokoï</a:t>
            </a:r>
            <a:endParaRPr lang="en-US" sz="1500" dirty="0"/>
          </a:p>
        </p:txBody>
      </p:sp>
      <p:sp>
        <p:nvSpPr>
          <p:cNvPr id="22" name="Shape 19"/>
          <p:cNvSpPr/>
          <p:nvPr/>
        </p:nvSpPr>
        <p:spPr>
          <a:xfrm>
            <a:off x="1737360" y="3886200"/>
            <a:ext cx="2909455" cy="457200"/>
          </a:xfrm>
          <a:prstGeom prst="rect">
            <a:avLst/>
          </a:prstGeom>
          <a:solidFill>
            <a:srgbClr val="3E7CB1"/>
          </a:solidFill>
          <a:ln w="12700">
            <a:solidFill>
              <a:srgbClr val="3E7CB1"/>
            </a:solidFill>
            <a:prstDash val="solid"/>
          </a:ln>
        </p:spPr>
      </p:sp>
      <p:sp>
        <p:nvSpPr>
          <p:cNvPr id="23" name="Text 20"/>
          <p:cNvSpPr txBox="1"/>
          <p:nvPr/>
        </p:nvSpPr>
        <p:spPr>
          <a:xfrm>
            <a:off x="1737360" y="3886200"/>
            <a:ext cx="2909455"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700 h</a:t>
            </a:r>
            <a:endParaRPr lang="en-US" sz="1200" dirty="0"/>
          </a:p>
        </p:txBody>
      </p:sp>
      <p:sp>
        <p:nvSpPr>
          <p:cNvPr id="24" name="Text 21"/>
          <p:cNvSpPr txBox="1"/>
          <p:nvPr/>
        </p:nvSpPr>
        <p:spPr>
          <a:xfrm>
            <a:off x="4756543" y="3886200"/>
            <a:ext cx="822960" cy="457200"/>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700 h</a:t>
            </a:r>
            <a:endParaRPr lang="en-US" sz="1300" dirty="0"/>
          </a:p>
        </p:txBody>
      </p:sp>
      <p:sp>
        <p:nvSpPr>
          <p:cNvPr id="25" name="Text 22"/>
          <p:cNvSpPr txBox="1"/>
          <p:nvPr/>
        </p:nvSpPr>
        <p:spPr>
          <a:xfrm>
            <a:off x="548640" y="4754880"/>
            <a:ext cx="1051560" cy="457200"/>
          </a:xfrm>
          <a:prstGeom prst="rect">
            <a:avLst/>
          </a:prstGeom>
          <a:noFill/>
          <a:ln/>
        </p:spPr>
        <p:txBody>
          <a:bodyPr wrap="square" lIns="0" tIns="0" rIns="0" bIns="0" rtlCol="0" anchor="ctr"/>
          <a:lstStyle/>
          <a:p>
            <a:pPr algn="r" indent="0" marL="0">
              <a:buNone/>
            </a:pPr>
            <a:r>
              <a:rPr lang="en-US" sz="1500" b="1" dirty="0">
                <a:solidFill>
                  <a:srgbClr val="1B2A24"/>
                </a:solidFill>
                <a:latin typeface="Calibri" pitchFamily="34" charset="0"/>
                <a:ea typeface="Calibri" pitchFamily="34" charset="-122"/>
                <a:cs typeface="Calibri" pitchFamily="34" charset="-120"/>
              </a:rPr>
              <a:t>Mataroni</a:t>
            </a:r>
            <a:endParaRPr lang="en-US" sz="1500" dirty="0"/>
          </a:p>
        </p:txBody>
      </p:sp>
      <p:sp>
        <p:nvSpPr>
          <p:cNvPr id="26" name="Shape 23"/>
          <p:cNvSpPr/>
          <p:nvPr/>
        </p:nvSpPr>
        <p:spPr>
          <a:xfrm>
            <a:off x="1737360" y="4754880"/>
            <a:ext cx="1797627" cy="457200"/>
          </a:xfrm>
          <a:prstGeom prst="rect">
            <a:avLst/>
          </a:prstGeom>
          <a:solidFill>
            <a:srgbClr val="2E8B57"/>
          </a:solidFill>
          <a:ln w="12700">
            <a:solidFill>
              <a:srgbClr val="2E8B57"/>
            </a:solidFill>
            <a:prstDash val="solid"/>
          </a:ln>
        </p:spPr>
      </p:sp>
      <p:sp>
        <p:nvSpPr>
          <p:cNvPr id="27" name="Text 24"/>
          <p:cNvSpPr txBox="1"/>
          <p:nvPr/>
        </p:nvSpPr>
        <p:spPr>
          <a:xfrm>
            <a:off x="1764792" y="4754880"/>
            <a:ext cx="1797627"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433 h</a:t>
            </a:r>
            <a:endParaRPr lang="en-US" sz="1200" dirty="0"/>
          </a:p>
        </p:txBody>
      </p:sp>
      <p:sp>
        <p:nvSpPr>
          <p:cNvPr id="28" name="Text 25"/>
          <p:cNvSpPr txBox="1"/>
          <p:nvPr/>
        </p:nvSpPr>
        <p:spPr>
          <a:xfrm>
            <a:off x="3644715" y="4754880"/>
            <a:ext cx="822960" cy="457200"/>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433 h</a:t>
            </a:r>
            <a:endParaRPr lang="en-US" sz="1300" dirty="0"/>
          </a:p>
        </p:txBody>
      </p:sp>
      <p:sp>
        <p:nvSpPr>
          <p:cNvPr id="29" name="Shape 26"/>
          <p:cNvSpPr/>
          <p:nvPr/>
        </p:nvSpPr>
        <p:spPr>
          <a:xfrm>
            <a:off x="1737360" y="5742432"/>
            <a:ext cx="201168" cy="201168"/>
          </a:xfrm>
          <a:prstGeom prst="rect">
            <a:avLst/>
          </a:prstGeom>
          <a:solidFill>
            <a:srgbClr val="3E7CB1"/>
          </a:solidFill>
          <a:ln w="12700">
            <a:solidFill>
              <a:srgbClr val="3E7CB1"/>
            </a:solidFill>
            <a:prstDash val="solid"/>
          </a:ln>
        </p:spPr>
      </p:sp>
      <p:sp>
        <p:nvSpPr>
          <p:cNvPr id="30" name="Text 27"/>
          <p:cNvSpPr txBox="1"/>
          <p:nvPr/>
        </p:nvSpPr>
        <p:spPr>
          <a:xfrm>
            <a:off x="2029968" y="5669280"/>
            <a:ext cx="2377440" cy="347472"/>
          </a:xfrm>
          <a:prstGeom prst="rect">
            <a:avLst/>
          </a:prstGeom>
          <a:noFill/>
          <a:ln/>
        </p:spPr>
        <p:txBody>
          <a:bodyPr wrap="square" lIns="0" tIns="0" rIns="0" bIns="0" rtlCol="0" anchor="ctr"/>
          <a:lstStyle/>
          <a:p>
            <a:pPr indent="0" marL="0">
              <a:buNone/>
            </a:pPr>
            <a:r>
              <a:rPr lang="en-US" sz="1200" dirty="0">
                <a:solidFill>
                  <a:srgbClr val="1B2A24"/>
                </a:solidFill>
                <a:latin typeface="Calibri" pitchFamily="34" charset="0"/>
                <a:ea typeface="Calibri" pitchFamily="34" charset="-122"/>
                <a:cs typeface="Calibri" pitchFamily="34" charset="-120"/>
              </a:rPr>
              <a:t>2023-2024 · phénologie (1 an)</a:t>
            </a:r>
            <a:endParaRPr lang="en-US" sz="1200" dirty="0"/>
          </a:p>
        </p:txBody>
      </p:sp>
      <p:sp>
        <p:nvSpPr>
          <p:cNvPr id="31" name="Shape 28"/>
          <p:cNvSpPr/>
          <p:nvPr/>
        </p:nvSpPr>
        <p:spPr>
          <a:xfrm>
            <a:off x="4389120" y="5742432"/>
            <a:ext cx="201168" cy="201168"/>
          </a:xfrm>
          <a:prstGeom prst="rect">
            <a:avLst/>
          </a:prstGeom>
          <a:solidFill>
            <a:srgbClr val="2E8B57"/>
          </a:solidFill>
          <a:ln w="12700">
            <a:solidFill>
              <a:srgbClr val="2E8B57"/>
            </a:solidFill>
            <a:prstDash val="solid"/>
          </a:ln>
        </p:spPr>
      </p:sp>
      <p:sp>
        <p:nvSpPr>
          <p:cNvPr id="32" name="Text 29"/>
          <p:cNvSpPr txBox="1"/>
          <p:nvPr/>
        </p:nvSpPr>
        <p:spPr>
          <a:xfrm>
            <a:off x="4681728" y="5669280"/>
            <a:ext cx="2377440" cy="347472"/>
          </a:xfrm>
          <a:prstGeom prst="rect">
            <a:avLst/>
          </a:prstGeom>
          <a:noFill/>
          <a:ln/>
        </p:spPr>
        <p:txBody>
          <a:bodyPr wrap="square" lIns="0" tIns="0" rIns="0" bIns="0" rtlCol="0" anchor="ctr"/>
          <a:lstStyle/>
          <a:p>
            <a:pPr indent="0" marL="0">
              <a:buNone/>
            </a:pPr>
            <a:r>
              <a:rPr lang="en-US" sz="1200" dirty="0">
                <a:solidFill>
                  <a:srgbClr val="1B2A24"/>
                </a:solidFill>
                <a:latin typeface="Calibri" pitchFamily="34" charset="0"/>
                <a:ea typeface="Calibri" pitchFamily="34" charset="-122"/>
                <a:cs typeface="Calibri" pitchFamily="34" charset="-120"/>
              </a:rPr>
              <a:t>2026 · campagne (1 semaine par relevé)</a:t>
            </a:r>
            <a:endParaRPr lang="en-US" sz="1200" dirty="0"/>
          </a:p>
        </p:txBody>
      </p:sp>
      <p:sp>
        <p:nvSpPr>
          <p:cNvPr id="33" name="Shape 30"/>
          <p:cNvSpPr/>
          <p:nvPr/>
        </p:nvSpPr>
        <p:spPr>
          <a:xfrm>
            <a:off x="7589520" y="1600200"/>
            <a:ext cx="4023360" cy="932688"/>
          </a:xfrm>
          <a:prstGeom prst="roundRect">
            <a:avLst>
              <a:gd name="adj" fmla="val 9804"/>
            </a:avLst>
          </a:prstGeom>
          <a:solidFill>
            <a:srgbClr val="F3F7F4"/>
          </a:solidFill>
          <a:ln w="12700">
            <a:solidFill>
              <a:srgbClr val="F3F7F4"/>
            </a:solidFill>
            <a:prstDash val="solid"/>
          </a:ln>
        </p:spPr>
      </p:sp>
      <p:sp>
        <p:nvSpPr>
          <p:cNvPr id="34" name="Text 31"/>
          <p:cNvSpPr txBox="1"/>
          <p:nvPr/>
        </p:nvSpPr>
        <p:spPr>
          <a:xfrm>
            <a:off x="7772400" y="1691640"/>
            <a:ext cx="1828800" cy="731520"/>
          </a:xfrm>
          <a:prstGeom prst="rect">
            <a:avLst/>
          </a:prstGeom>
          <a:noFill/>
          <a:ln/>
        </p:spPr>
        <p:txBody>
          <a:bodyPr wrap="square" lIns="0" tIns="0" rIns="0" bIns="0" rtlCol="0" anchor="ctr"/>
          <a:lstStyle/>
          <a:p>
            <a:pPr indent="0" marL="0">
              <a:buNone/>
            </a:pPr>
            <a:r>
              <a:rPr lang="en-US" sz="2600" b="1" dirty="0">
                <a:solidFill>
                  <a:srgbClr val="8A5A00"/>
                </a:solidFill>
                <a:latin typeface="Cambria" pitchFamily="34" charset="0"/>
                <a:ea typeface="Cambria" pitchFamily="34" charset="-122"/>
                <a:cs typeface="Cambria" pitchFamily="34" charset="-120"/>
              </a:rPr>
              <a:t>3 204 h</a:t>
            </a:r>
            <a:endParaRPr lang="en-US" sz="2600" dirty="0"/>
          </a:p>
        </p:txBody>
      </p:sp>
      <p:sp>
        <p:nvSpPr>
          <p:cNvPr id="35" name="Text 32"/>
          <p:cNvSpPr txBox="1"/>
          <p:nvPr/>
        </p:nvSpPr>
        <p:spPr>
          <a:xfrm>
            <a:off x="9601200" y="1691640"/>
            <a:ext cx="1920240" cy="731520"/>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d'audio, 2,2 To</a:t>
            </a:r>
            <a:endParaRPr lang="en-US" sz="1300" dirty="0"/>
          </a:p>
        </p:txBody>
      </p:sp>
      <p:sp>
        <p:nvSpPr>
          <p:cNvPr id="36" name="Shape 33"/>
          <p:cNvSpPr/>
          <p:nvPr/>
        </p:nvSpPr>
        <p:spPr>
          <a:xfrm>
            <a:off x="7589520" y="2679192"/>
            <a:ext cx="4023360" cy="932688"/>
          </a:xfrm>
          <a:prstGeom prst="roundRect">
            <a:avLst>
              <a:gd name="adj" fmla="val 9804"/>
            </a:avLst>
          </a:prstGeom>
          <a:solidFill>
            <a:srgbClr val="F3F7F4"/>
          </a:solidFill>
          <a:ln w="12700">
            <a:solidFill>
              <a:srgbClr val="F3F7F4"/>
            </a:solidFill>
            <a:prstDash val="solid"/>
          </a:ln>
        </p:spPr>
      </p:sp>
      <p:sp>
        <p:nvSpPr>
          <p:cNvPr id="37" name="Text 34"/>
          <p:cNvSpPr txBox="1"/>
          <p:nvPr/>
        </p:nvSpPr>
        <p:spPr>
          <a:xfrm>
            <a:off x="7772400" y="2770632"/>
            <a:ext cx="1828800" cy="731520"/>
          </a:xfrm>
          <a:prstGeom prst="rect">
            <a:avLst/>
          </a:prstGeom>
          <a:noFill/>
          <a:ln/>
        </p:spPr>
        <p:txBody>
          <a:bodyPr wrap="square" lIns="0" tIns="0" rIns="0" bIns="0" rtlCol="0" anchor="ctr"/>
          <a:lstStyle/>
          <a:p>
            <a:pPr indent="0" marL="0">
              <a:buNone/>
            </a:pPr>
            <a:r>
              <a:rPr lang="en-US" sz="2600" b="1" dirty="0">
                <a:solidFill>
                  <a:srgbClr val="8A5A00"/>
                </a:solidFill>
                <a:latin typeface="Cambria" pitchFamily="34" charset="0"/>
                <a:ea typeface="Cambria" pitchFamily="34" charset="-122"/>
                <a:cs typeface="Cambria" pitchFamily="34" charset="-120"/>
              </a:rPr>
              <a:t>94 588</a:t>
            </a:r>
            <a:endParaRPr lang="en-US" sz="2600" dirty="0"/>
          </a:p>
        </p:txBody>
      </p:sp>
      <p:sp>
        <p:nvSpPr>
          <p:cNvPr id="38" name="Text 35"/>
          <p:cNvSpPr txBox="1"/>
          <p:nvPr/>
        </p:nvSpPr>
        <p:spPr>
          <a:xfrm>
            <a:off x="9601200" y="2770632"/>
            <a:ext cx="1920240" cy="731520"/>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enregistrements encodables</a:t>
            </a:r>
            <a:endParaRPr lang="en-US" sz="1300" dirty="0"/>
          </a:p>
        </p:txBody>
      </p:sp>
      <p:sp>
        <p:nvSpPr>
          <p:cNvPr id="39" name="Shape 36"/>
          <p:cNvSpPr/>
          <p:nvPr/>
        </p:nvSpPr>
        <p:spPr>
          <a:xfrm>
            <a:off x="7589520" y="3758184"/>
            <a:ext cx="4023360" cy="932688"/>
          </a:xfrm>
          <a:prstGeom prst="roundRect">
            <a:avLst>
              <a:gd name="adj" fmla="val 9804"/>
            </a:avLst>
          </a:prstGeom>
          <a:solidFill>
            <a:srgbClr val="F3F7F4"/>
          </a:solidFill>
          <a:ln w="12700">
            <a:solidFill>
              <a:srgbClr val="F3F7F4"/>
            </a:solidFill>
            <a:prstDash val="solid"/>
          </a:ln>
        </p:spPr>
      </p:sp>
      <p:sp>
        <p:nvSpPr>
          <p:cNvPr id="40" name="Text 37"/>
          <p:cNvSpPr txBox="1"/>
          <p:nvPr/>
        </p:nvSpPr>
        <p:spPr>
          <a:xfrm>
            <a:off x="7772400" y="3849624"/>
            <a:ext cx="1828800" cy="731520"/>
          </a:xfrm>
          <a:prstGeom prst="rect">
            <a:avLst/>
          </a:prstGeom>
          <a:noFill/>
          <a:ln/>
        </p:spPr>
        <p:txBody>
          <a:bodyPr wrap="square" lIns="0" tIns="0" rIns="0" bIns="0" rtlCol="0" anchor="ctr"/>
          <a:lstStyle/>
          <a:p>
            <a:pPr indent="0" marL="0">
              <a:buNone/>
            </a:pPr>
            <a:r>
              <a:rPr lang="en-US" sz="2600" b="1" dirty="0">
                <a:solidFill>
                  <a:srgbClr val="8A5A00"/>
                </a:solidFill>
                <a:latin typeface="Cambria" pitchFamily="34" charset="0"/>
                <a:ea typeface="Cambria" pitchFamily="34" charset="-122"/>
                <a:cs typeface="Cambria" pitchFamily="34" charset="-120"/>
              </a:rPr>
              <a:t>4,5 M</a:t>
            </a:r>
            <a:endParaRPr lang="en-US" sz="2600" dirty="0"/>
          </a:p>
        </p:txBody>
      </p:sp>
      <p:sp>
        <p:nvSpPr>
          <p:cNvPr id="41" name="Text 38"/>
          <p:cNvSpPr txBox="1"/>
          <p:nvPr/>
        </p:nvSpPr>
        <p:spPr>
          <a:xfrm>
            <a:off x="9601200" y="3849624"/>
            <a:ext cx="1920240" cy="731520"/>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fenêtres de 5 s (pas 2,5 s)</a:t>
            </a:r>
            <a:endParaRPr lang="en-US" sz="1300" dirty="0"/>
          </a:p>
        </p:txBody>
      </p:sp>
      <p:sp>
        <p:nvSpPr>
          <p:cNvPr id="42" name="Shape 39"/>
          <p:cNvSpPr/>
          <p:nvPr/>
        </p:nvSpPr>
        <p:spPr>
          <a:xfrm>
            <a:off x="7589520" y="4892040"/>
            <a:ext cx="4023360" cy="1417320"/>
          </a:xfrm>
          <a:prstGeom prst="roundRect">
            <a:avLst>
              <a:gd name="adj" fmla="val 6452"/>
            </a:avLst>
          </a:prstGeom>
          <a:solidFill>
            <a:srgbClr val="0E2A24"/>
          </a:solidFill>
          <a:ln w="12700">
            <a:solidFill>
              <a:srgbClr val="0E2A24"/>
            </a:solidFill>
            <a:prstDash val="solid"/>
          </a:ln>
        </p:spPr>
      </p:sp>
      <p:sp>
        <p:nvSpPr>
          <p:cNvPr id="43" name="Text 40"/>
          <p:cNvSpPr txBox="1"/>
          <p:nvPr/>
        </p:nvSpPr>
        <p:spPr>
          <a:xfrm>
            <a:off x="7772400" y="5029200"/>
            <a:ext cx="3703320" cy="118872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Mataroni : une semaine, en 2026 seulement</a:t>
            </a:r>
            <a:endParaRPr lang="en-US" sz="1350" dirty="0"/>
          </a:p>
          <a:p>
            <a:pPr marL="177800" indent="-177800">
              <a:buSzPct val="100000"/>
              <a:buChar char="•"/>
            </a:pPr>
            <a:r>
              <a:rPr lang="en-US" sz="1350" b="1" dirty="0">
                <a:solidFill>
                  <a:srgbClr val="E9B44C"/>
                </a:solidFill>
                <a:latin typeface="Calibri" pitchFamily="34" charset="0"/>
                <a:ea typeface="Calibri" pitchFamily="34" charset="-122"/>
                <a:cs typeface="Calibri" pitchFamily="34" charset="-120"/>
              </a:rPr>
              <a:t>Labels Blancinet (345 + 150) : sortis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892808"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892808"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PRÉ-BENCHMARK ANURASET</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23 encodeurs sur des sites jamais vus : perch_v2, meilleur libre</a:t>
            </a:r>
            <a:endParaRPr lang="en-US" sz="2800" dirty="0"/>
          </a:p>
        </p:txBody>
      </p:sp>
      <p:sp>
        <p:nvSpPr>
          <p:cNvPr id="6" name="Text 3"/>
          <p:cNvSpPr txBox="1"/>
          <p:nvPr/>
        </p:nvSpPr>
        <p:spPr>
          <a:xfrm>
            <a:off x="548640" y="1508760"/>
            <a:ext cx="6949440" cy="292608"/>
          </a:xfrm>
          <a:prstGeom prst="rect">
            <a:avLst/>
          </a:prstGeom>
          <a:noFill/>
          <a:ln/>
        </p:spPr>
        <p:txBody>
          <a:bodyPr wrap="square" lIns="0" tIns="0" rIns="0" bIns="0" rtlCol="0" anchor="t"/>
          <a:lstStyle/>
          <a:p>
            <a:pPr indent="0" marL="0">
              <a:buNone/>
            </a:pPr>
            <a:r>
              <a:rPr lang="en-US" sz="1300" b="1" dirty="0">
                <a:solidFill>
                  <a:srgbClr val="1B2A24"/>
                </a:solidFill>
                <a:latin typeface="Calibri" pitchFamily="34" charset="0"/>
                <a:ea typeface="Calibri" pitchFamily="34" charset="-122"/>
                <a:cs typeface="Calibri" pitchFamily="34" charset="-120"/>
              </a:rPr>
              <a:t>AP moyenne par site tenu à l'écart (minute, 5 espèces)</a:t>
            </a:r>
            <a:endParaRPr lang="en-US" sz="1300" dirty="0"/>
          </a:p>
        </p:txBody>
      </p:sp>
      <p:sp>
        <p:nvSpPr>
          <p:cNvPr id="7" name="Shape 4"/>
          <p:cNvSpPr/>
          <p:nvPr/>
        </p:nvSpPr>
        <p:spPr>
          <a:xfrm>
            <a:off x="3264408" y="1856232"/>
            <a:ext cx="0" cy="3666744"/>
          </a:xfrm>
          <a:prstGeom prst="line">
            <a:avLst/>
          </a:prstGeom>
          <a:noFill/>
          <a:ln w="9525">
            <a:solidFill>
              <a:srgbClr val="E3E8E5"/>
            </a:solidFill>
            <a:prstDash val="solid"/>
          </a:ln>
        </p:spPr>
      </p:sp>
      <p:sp>
        <p:nvSpPr>
          <p:cNvPr id="8" name="Text 5"/>
          <p:cNvSpPr txBox="1"/>
          <p:nvPr/>
        </p:nvSpPr>
        <p:spPr>
          <a:xfrm>
            <a:off x="2990088" y="5541264"/>
            <a:ext cx="548640" cy="228600"/>
          </a:xfrm>
          <a:prstGeom prst="rect">
            <a:avLst/>
          </a:prstGeom>
          <a:noFill/>
          <a:ln/>
        </p:spPr>
        <p:txBody>
          <a:bodyPr wrap="square" lIns="0" tIns="0" rIns="0" bIns="0" rtlCol="0" anchor="t"/>
          <a:lstStyle/>
          <a:p>
            <a:pPr algn="ctr" indent="0" marL="0">
              <a:buNone/>
            </a:pPr>
            <a:r>
              <a:rPr lang="en-US" sz="950" dirty="0">
                <a:solidFill>
                  <a:srgbClr val="5B6B63"/>
                </a:solidFill>
                <a:latin typeface="Calibri" pitchFamily="34" charset="0"/>
                <a:ea typeface="Calibri" pitchFamily="34" charset="-122"/>
                <a:cs typeface="Calibri" pitchFamily="34" charset="-120"/>
              </a:rPr>
              <a:t>0,2</a:t>
            </a:r>
            <a:endParaRPr lang="en-US" sz="950" dirty="0"/>
          </a:p>
        </p:txBody>
      </p:sp>
      <p:sp>
        <p:nvSpPr>
          <p:cNvPr id="9" name="Shape 6"/>
          <p:cNvSpPr/>
          <p:nvPr/>
        </p:nvSpPr>
        <p:spPr>
          <a:xfrm>
            <a:off x="4105656" y="1856232"/>
            <a:ext cx="0" cy="3666744"/>
          </a:xfrm>
          <a:prstGeom prst="line">
            <a:avLst/>
          </a:prstGeom>
          <a:noFill/>
          <a:ln w="9525">
            <a:solidFill>
              <a:srgbClr val="E3E8E5"/>
            </a:solidFill>
            <a:prstDash val="solid"/>
          </a:ln>
        </p:spPr>
      </p:sp>
      <p:sp>
        <p:nvSpPr>
          <p:cNvPr id="10" name="Text 7"/>
          <p:cNvSpPr txBox="1"/>
          <p:nvPr/>
        </p:nvSpPr>
        <p:spPr>
          <a:xfrm>
            <a:off x="3831336" y="5541264"/>
            <a:ext cx="548640" cy="228600"/>
          </a:xfrm>
          <a:prstGeom prst="rect">
            <a:avLst/>
          </a:prstGeom>
          <a:noFill/>
          <a:ln/>
        </p:spPr>
        <p:txBody>
          <a:bodyPr wrap="square" lIns="0" tIns="0" rIns="0" bIns="0" rtlCol="0" anchor="t"/>
          <a:lstStyle/>
          <a:p>
            <a:pPr algn="ctr" indent="0" marL="0">
              <a:buNone/>
            </a:pPr>
            <a:r>
              <a:rPr lang="en-US" sz="950" dirty="0">
                <a:solidFill>
                  <a:srgbClr val="5B6B63"/>
                </a:solidFill>
                <a:latin typeface="Calibri" pitchFamily="34" charset="0"/>
                <a:ea typeface="Calibri" pitchFamily="34" charset="-122"/>
                <a:cs typeface="Calibri" pitchFamily="34" charset="-120"/>
              </a:rPr>
              <a:t>0,4</a:t>
            </a:r>
            <a:endParaRPr lang="en-US" sz="950" dirty="0"/>
          </a:p>
        </p:txBody>
      </p:sp>
      <p:sp>
        <p:nvSpPr>
          <p:cNvPr id="11" name="Shape 8"/>
          <p:cNvSpPr/>
          <p:nvPr/>
        </p:nvSpPr>
        <p:spPr>
          <a:xfrm>
            <a:off x="4946904" y="1856232"/>
            <a:ext cx="0" cy="3666744"/>
          </a:xfrm>
          <a:prstGeom prst="line">
            <a:avLst/>
          </a:prstGeom>
          <a:noFill/>
          <a:ln w="9525">
            <a:solidFill>
              <a:srgbClr val="E3E8E5"/>
            </a:solidFill>
            <a:prstDash val="solid"/>
          </a:ln>
        </p:spPr>
      </p:sp>
      <p:sp>
        <p:nvSpPr>
          <p:cNvPr id="12" name="Text 9"/>
          <p:cNvSpPr txBox="1"/>
          <p:nvPr/>
        </p:nvSpPr>
        <p:spPr>
          <a:xfrm>
            <a:off x="4672584" y="5541264"/>
            <a:ext cx="548640" cy="228600"/>
          </a:xfrm>
          <a:prstGeom prst="rect">
            <a:avLst/>
          </a:prstGeom>
          <a:noFill/>
          <a:ln/>
        </p:spPr>
        <p:txBody>
          <a:bodyPr wrap="square" lIns="0" tIns="0" rIns="0" bIns="0" rtlCol="0" anchor="t"/>
          <a:lstStyle/>
          <a:p>
            <a:pPr algn="ctr" indent="0" marL="0">
              <a:buNone/>
            </a:pPr>
            <a:r>
              <a:rPr lang="en-US" sz="950" dirty="0">
                <a:solidFill>
                  <a:srgbClr val="5B6B63"/>
                </a:solidFill>
                <a:latin typeface="Calibri" pitchFamily="34" charset="0"/>
                <a:ea typeface="Calibri" pitchFamily="34" charset="-122"/>
                <a:cs typeface="Calibri" pitchFamily="34" charset="-120"/>
              </a:rPr>
              <a:t>0,6</a:t>
            </a:r>
            <a:endParaRPr lang="en-US" sz="950" dirty="0"/>
          </a:p>
        </p:txBody>
      </p:sp>
      <p:sp>
        <p:nvSpPr>
          <p:cNvPr id="13" name="Shape 10"/>
          <p:cNvSpPr/>
          <p:nvPr/>
        </p:nvSpPr>
        <p:spPr>
          <a:xfrm>
            <a:off x="5788152" y="1856232"/>
            <a:ext cx="0" cy="3666744"/>
          </a:xfrm>
          <a:prstGeom prst="line">
            <a:avLst/>
          </a:prstGeom>
          <a:noFill/>
          <a:ln w="9525">
            <a:solidFill>
              <a:srgbClr val="E3E8E5"/>
            </a:solidFill>
            <a:prstDash val="solid"/>
          </a:ln>
        </p:spPr>
      </p:sp>
      <p:sp>
        <p:nvSpPr>
          <p:cNvPr id="14" name="Text 11"/>
          <p:cNvSpPr txBox="1"/>
          <p:nvPr/>
        </p:nvSpPr>
        <p:spPr>
          <a:xfrm>
            <a:off x="5513832" y="5541264"/>
            <a:ext cx="548640" cy="228600"/>
          </a:xfrm>
          <a:prstGeom prst="rect">
            <a:avLst/>
          </a:prstGeom>
          <a:noFill/>
          <a:ln/>
        </p:spPr>
        <p:txBody>
          <a:bodyPr wrap="square" lIns="0" tIns="0" rIns="0" bIns="0" rtlCol="0" anchor="t"/>
          <a:lstStyle/>
          <a:p>
            <a:pPr algn="ctr" indent="0" marL="0">
              <a:buNone/>
            </a:pPr>
            <a:r>
              <a:rPr lang="en-US" sz="950" dirty="0">
                <a:solidFill>
                  <a:srgbClr val="5B6B63"/>
                </a:solidFill>
                <a:latin typeface="Calibri" pitchFamily="34" charset="0"/>
                <a:ea typeface="Calibri" pitchFamily="34" charset="-122"/>
                <a:cs typeface="Calibri" pitchFamily="34" charset="-120"/>
              </a:rPr>
              <a:t>0,8</a:t>
            </a:r>
            <a:endParaRPr lang="en-US" sz="950" dirty="0"/>
          </a:p>
        </p:txBody>
      </p:sp>
      <p:sp>
        <p:nvSpPr>
          <p:cNvPr id="15" name="Shape 12"/>
          <p:cNvSpPr/>
          <p:nvPr/>
        </p:nvSpPr>
        <p:spPr>
          <a:xfrm>
            <a:off x="6629400" y="1856232"/>
            <a:ext cx="0" cy="3666744"/>
          </a:xfrm>
          <a:prstGeom prst="line">
            <a:avLst/>
          </a:prstGeom>
          <a:noFill/>
          <a:ln w="9525">
            <a:solidFill>
              <a:srgbClr val="E3E8E5"/>
            </a:solidFill>
            <a:prstDash val="solid"/>
          </a:ln>
        </p:spPr>
      </p:sp>
      <p:sp>
        <p:nvSpPr>
          <p:cNvPr id="16" name="Text 13"/>
          <p:cNvSpPr txBox="1"/>
          <p:nvPr/>
        </p:nvSpPr>
        <p:spPr>
          <a:xfrm>
            <a:off x="6355080" y="5541264"/>
            <a:ext cx="548640" cy="228600"/>
          </a:xfrm>
          <a:prstGeom prst="rect">
            <a:avLst/>
          </a:prstGeom>
          <a:noFill/>
          <a:ln/>
        </p:spPr>
        <p:txBody>
          <a:bodyPr wrap="square" lIns="0" tIns="0" rIns="0" bIns="0" rtlCol="0" anchor="t"/>
          <a:lstStyle/>
          <a:p>
            <a:pPr algn="ctr" indent="0" marL="0">
              <a:buNone/>
            </a:pPr>
            <a:r>
              <a:rPr lang="en-US" sz="950" dirty="0">
                <a:solidFill>
                  <a:srgbClr val="5B6B63"/>
                </a:solidFill>
                <a:latin typeface="Calibri" pitchFamily="34" charset="0"/>
                <a:ea typeface="Calibri" pitchFamily="34" charset="-122"/>
                <a:cs typeface="Calibri" pitchFamily="34" charset="-120"/>
              </a:rPr>
              <a:t>1,0</a:t>
            </a:r>
            <a:endParaRPr lang="en-US" sz="950" dirty="0"/>
          </a:p>
        </p:txBody>
      </p:sp>
      <p:sp>
        <p:nvSpPr>
          <p:cNvPr id="17" name="Text 14"/>
          <p:cNvSpPr txBox="1"/>
          <p:nvPr/>
        </p:nvSpPr>
        <p:spPr>
          <a:xfrm>
            <a:off x="548640" y="1901952"/>
            <a:ext cx="1783080" cy="301752"/>
          </a:xfrm>
          <a:prstGeom prst="rect">
            <a:avLst/>
          </a:prstGeom>
          <a:noFill/>
          <a:ln/>
        </p:spPr>
        <p:txBody>
          <a:bodyPr wrap="square" lIns="0" tIns="0" rIns="0" bIns="0" rtlCol="0" anchor="ctr"/>
          <a:lstStyle/>
          <a:p>
            <a:pPr algn="r" indent="0" marL="0">
              <a:buNone/>
            </a:pPr>
            <a:r>
              <a:rPr lang="en-US" sz="1150" dirty="0">
                <a:solidFill>
                  <a:srgbClr val="1B2A24"/>
                </a:solidFill>
                <a:latin typeface="Calibri" pitchFamily="34" charset="0"/>
                <a:ea typeface="Calibri" pitchFamily="34" charset="-122"/>
                <a:cs typeface="Calibri" pitchFamily="34" charset="-120"/>
              </a:rPr>
              <a:t>naturebeats</a:t>
            </a:r>
            <a:endParaRPr lang="en-US" sz="1150" dirty="0"/>
          </a:p>
        </p:txBody>
      </p:sp>
      <p:sp>
        <p:nvSpPr>
          <p:cNvPr id="18" name="Shape 15"/>
          <p:cNvSpPr/>
          <p:nvPr/>
        </p:nvSpPr>
        <p:spPr>
          <a:xfrm>
            <a:off x="2423160" y="1956816"/>
            <a:ext cx="2919131" cy="192024"/>
          </a:xfrm>
          <a:prstGeom prst="rect">
            <a:avLst/>
          </a:prstGeom>
          <a:solidFill>
            <a:srgbClr val="B8C4BD"/>
          </a:solidFill>
          <a:ln w="12700">
            <a:solidFill>
              <a:srgbClr val="B8C4BD"/>
            </a:solidFill>
            <a:prstDash val="solid"/>
          </a:ln>
        </p:spPr>
      </p:sp>
      <p:sp>
        <p:nvSpPr>
          <p:cNvPr id="19" name="Shape 16"/>
          <p:cNvSpPr/>
          <p:nvPr/>
        </p:nvSpPr>
        <p:spPr>
          <a:xfrm>
            <a:off x="5342291" y="1956816"/>
            <a:ext cx="622524" cy="192024"/>
          </a:xfrm>
          <a:prstGeom prst="rect">
            <a:avLst/>
          </a:prstGeom>
          <a:solidFill>
            <a:srgbClr val="5B6B63"/>
          </a:solidFill>
          <a:ln w="12700">
            <a:solidFill>
              <a:srgbClr val="5B6B63"/>
            </a:solidFill>
            <a:prstDash val="solid"/>
          </a:ln>
        </p:spPr>
      </p:sp>
      <p:sp>
        <p:nvSpPr>
          <p:cNvPr id="20" name="Text 17"/>
          <p:cNvSpPr txBox="1"/>
          <p:nvPr/>
        </p:nvSpPr>
        <p:spPr>
          <a:xfrm>
            <a:off x="6037966" y="1901952"/>
            <a:ext cx="2011680" cy="301752"/>
          </a:xfrm>
          <a:prstGeom prst="rect">
            <a:avLst/>
          </a:prstGeom>
          <a:noFill/>
          <a:ln/>
        </p:spPr>
        <p:txBody>
          <a:bodyPr wrap="square" lIns="0" tIns="0" rIns="0" bIns="0" rtlCol="0" anchor="ctr"/>
          <a:lstStyle/>
          <a:p>
            <a:pPr indent="0" marL="0">
              <a:buNone/>
            </a:pPr>
            <a:r>
              <a:rPr lang="en-US" sz="1000" dirty="0">
                <a:solidFill>
                  <a:srgbClr val="5B6B63"/>
                </a:solidFill>
                <a:latin typeface="Calibri" pitchFamily="34" charset="0"/>
                <a:ea typeface="Calibri" pitchFamily="34" charset="-122"/>
                <a:cs typeface="Calibri" pitchFamily="34" charset="-120"/>
              </a:rPr>
              <a:t>0,84 · sonde à prototypes</a:t>
            </a:r>
            <a:endParaRPr lang="en-US" sz="1000" dirty="0"/>
          </a:p>
        </p:txBody>
      </p:sp>
      <p:sp>
        <p:nvSpPr>
          <p:cNvPr id="21" name="Text 18"/>
          <p:cNvSpPr txBox="1"/>
          <p:nvPr/>
        </p:nvSpPr>
        <p:spPr>
          <a:xfrm>
            <a:off x="548640" y="2203704"/>
            <a:ext cx="1783080" cy="301752"/>
          </a:xfrm>
          <a:prstGeom prst="rect">
            <a:avLst/>
          </a:prstGeom>
          <a:noFill/>
          <a:ln/>
        </p:spPr>
        <p:txBody>
          <a:bodyPr wrap="square" lIns="0" tIns="0" rIns="0" bIns="0" rtlCol="0" anchor="ctr"/>
          <a:lstStyle/>
          <a:p>
            <a:pPr algn="r" indent="0" marL="0">
              <a:buNone/>
            </a:pPr>
            <a:r>
              <a:rPr lang="en-US" sz="1150" b="1" dirty="0">
                <a:solidFill>
                  <a:srgbClr val="1B2A24"/>
                </a:solidFill>
                <a:latin typeface="Calibri" pitchFamily="34" charset="0"/>
                <a:ea typeface="Calibri" pitchFamily="34" charset="-122"/>
                <a:cs typeface="Calibri" pitchFamily="34" charset="-120"/>
              </a:rPr>
              <a:t>perch_v2</a:t>
            </a:r>
            <a:endParaRPr lang="en-US" sz="1150" dirty="0"/>
          </a:p>
        </p:txBody>
      </p:sp>
      <p:sp>
        <p:nvSpPr>
          <p:cNvPr id="22" name="Shape 19"/>
          <p:cNvSpPr/>
          <p:nvPr/>
        </p:nvSpPr>
        <p:spPr>
          <a:xfrm>
            <a:off x="2423160" y="2258568"/>
            <a:ext cx="3314517" cy="192024"/>
          </a:xfrm>
          <a:prstGeom prst="rect">
            <a:avLst/>
          </a:prstGeom>
          <a:solidFill>
            <a:srgbClr val="8CC7A1"/>
          </a:solidFill>
          <a:ln w="12700">
            <a:solidFill>
              <a:srgbClr val="8CC7A1"/>
            </a:solidFill>
            <a:prstDash val="solid"/>
          </a:ln>
        </p:spPr>
      </p:sp>
      <p:sp>
        <p:nvSpPr>
          <p:cNvPr id="23" name="Shape 20"/>
          <p:cNvSpPr/>
          <p:nvPr/>
        </p:nvSpPr>
        <p:spPr>
          <a:xfrm>
            <a:off x="5737677" y="2258568"/>
            <a:ext cx="105156" cy="192024"/>
          </a:xfrm>
          <a:prstGeom prst="rect">
            <a:avLst/>
          </a:prstGeom>
          <a:solidFill>
            <a:srgbClr val="2E8B57"/>
          </a:solidFill>
          <a:ln w="12700">
            <a:solidFill>
              <a:srgbClr val="2E8B57"/>
            </a:solidFill>
            <a:prstDash val="solid"/>
          </a:ln>
        </p:spPr>
      </p:sp>
      <p:sp>
        <p:nvSpPr>
          <p:cNvPr id="24" name="Text 21"/>
          <p:cNvSpPr txBox="1"/>
          <p:nvPr/>
        </p:nvSpPr>
        <p:spPr>
          <a:xfrm>
            <a:off x="5915985" y="2203704"/>
            <a:ext cx="2011680" cy="301752"/>
          </a:xfrm>
          <a:prstGeom prst="rect">
            <a:avLst/>
          </a:prstGeom>
          <a:noFill/>
          <a:ln/>
        </p:spPr>
        <p:txBody>
          <a:bodyPr wrap="square" lIns="0" tIns="0" rIns="0" bIns="0" rtlCol="0" anchor="ctr"/>
          <a:lstStyle/>
          <a:p>
            <a:pPr indent="0" marL="0">
              <a:buNone/>
            </a:pPr>
            <a:r>
              <a:rPr lang="en-US" sz="1000" dirty="0">
                <a:solidFill>
                  <a:srgbClr val="5B6B63"/>
                </a:solidFill>
                <a:latin typeface="Calibri" pitchFamily="34" charset="0"/>
                <a:ea typeface="Calibri" pitchFamily="34" charset="-122"/>
                <a:cs typeface="Calibri" pitchFamily="34" charset="-120"/>
              </a:rPr>
              <a:t>0,81 · sonde à prototypes</a:t>
            </a:r>
            <a:endParaRPr lang="en-US" sz="1000" dirty="0"/>
          </a:p>
        </p:txBody>
      </p:sp>
      <p:sp>
        <p:nvSpPr>
          <p:cNvPr id="25" name="Text 22"/>
          <p:cNvSpPr txBox="1"/>
          <p:nvPr/>
        </p:nvSpPr>
        <p:spPr>
          <a:xfrm>
            <a:off x="548640" y="2505456"/>
            <a:ext cx="1783080" cy="301752"/>
          </a:xfrm>
          <a:prstGeom prst="rect">
            <a:avLst/>
          </a:prstGeom>
          <a:noFill/>
          <a:ln/>
        </p:spPr>
        <p:txBody>
          <a:bodyPr wrap="square" lIns="0" tIns="0" rIns="0" bIns="0" rtlCol="0" anchor="ctr"/>
          <a:lstStyle/>
          <a:p>
            <a:pPr algn="r" indent="0" marL="0">
              <a:buNone/>
            </a:pPr>
            <a:r>
              <a:rPr lang="en-US" sz="1150" dirty="0">
                <a:solidFill>
                  <a:srgbClr val="1B2A24"/>
                </a:solidFill>
                <a:latin typeface="Calibri" pitchFamily="34" charset="0"/>
                <a:ea typeface="Calibri" pitchFamily="34" charset="-122"/>
                <a:cs typeface="Calibri" pitchFamily="34" charset="-120"/>
              </a:rPr>
              <a:t>convnext_birdset</a:t>
            </a:r>
            <a:endParaRPr lang="en-US" sz="1150" dirty="0"/>
          </a:p>
        </p:txBody>
      </p:sp>
      <p:sp>
        <p:nvSpPr>
          <p:cNvPr id="26" name="Shape 23"/>
          <p:cNvSpPr/>
          <p:nvPr/>
        </p:nvSpPr>
        <p:spPr>
          <a:xfrm>
            <a:off x="2423160" y="2560320"/>
            <a:ext cx="3415467" cy="192024"/>
          </a:xfrm>
          <a:prstGeom prst="rect">
            <a:avLst/>
          </a:prstGeom>
          <a:solidFill>
            <a:srgbClr val="B8C4BD"/>
          </a:solidFill>
          <a:ln w="12700">
            <a:solidFill>
              <a:srgbClr val="B8C4BD"/>
            </a:solidFill>
            <a:prstDash val="solid"/>
          </a:ln>
        </p:spPr>
      </p:sp>
      <p:sp>
        <p:nvSpPr>
          <p:cNvPr id="27" name="Text 24"/>
          <p:cNvSpPr txBox="1"/>
          <p:nvPr/>
        </p:nvSpPr>
        <p:spPr>
          <a:xfrm>
            <a:off x="5911779" y="2505456"/>
            <a:ext cx="2011680" cy="301752"/>
          </a:xfrm>
          <a:prstGeom prst="rect">
            <a:avLst/>
          </a:prstGeom>
          <a:noFill/>
          <a:ln/>
        </p:spPr>
        <p:txBody>
          <a:bodyPr wrap="square" lIns="0" tIns="0" rIns="0" bIns="0" rtlCol="0" anchor="ctr"/>
          <a:lstStyle/>
          <a:p>
            <a:pPr indent="0" marL="0">
              <a:buNone/>
            </a:pPr>
            <a:r>
              <a:rPr lang="en-US" sz="1000" dirty="0">
                <a:solidFill>
                  <a:srgbClr val="5B6B63"/>
                </a:solidFill>
                <a:latin typeface="Calibri" pitchFamily="34" charset="0"/>
                <a:ea typeface="Calibri" pitchFamily="34" charset="-122"/>
                <a:cs typeface="Calibri" pitchFamily="34" charset="-120"/>
              </a:rPr>
              <a:t>0,81</a:t>
            </a:r>
            <a:endParaRPr lang="en-US" sz="1000" dirty="0"/>
          </a:p>
        </p:txBody>
      </p:sp>
      <p:sp>
        <p:nvSpPr>
          <p:cNvPr id="28" name="Text 25"/>
          <p:cNvSpPr txBox="1"/>
          <p:nvPr/>
        </p:nvSpPr>
        <p:spPr>
          <a:xfrm>
            <a:off x="548640" y="2807208"/>
            <a:ext cx="1783080" cy="301752"/>
          </a:xfrm>
          <a:prstGeom prst="rect">
            <a:avLst/>
          </a:prstGeom>
          <a:noFill/>
          <a:ln/>
        </p:spPr>
        <p:txBody>
          <a:bodyPr wrap="square" lIns="0" tIns="0" rIns="0" bIns="0" rtlCol="0" anchor="ctr"/>
          <a:lstStyle/>
          <a:p>
            <a:pPr algn="r" indent="0" marL="0">
              <a:buNone/>
            </a:pPr>
            <a:r>
              <a:rPr lang="en-US" sz="1150" dirty="0">
                <a:solidFill>
                  <a:srgbClr val="1B2A24"/>
                </a:solidFill>
                <a:latin typeface="Calibri" pitchFamily="34" charset="0"/>
                <a:ea typeface="Calibri" pitchFamily="34" charset="-122"/>
                <a:cs typeface="Calibri" pitchFamily="34" charset="-120"/>
              </a:rPr>
              <a:t>esp-aves2 sl_beats_bio</a:t>
            </a:r>
            <a:endParaRPr lang="en-US" sz="1150" dirty="0"/>
          </a:p>
        </p:txBody>
      </p:sp>
      <p:sp>
        <p:nvSpPr>
          <p:cNvPr id="29" name="Shape 26"/>
          <p:cNvSpPr/>
          <p:nvPr/>
        </p:nvSpPr>
        <p:spPr>
          <a:xfrm>
            <a:off x="2423160" y="2862072"/>
            <a:ext cx="3196742" cy="192024"/>
          </a:xfrm>
          <a:prstGeom prst="rect">
            <a:avLst/>
          </a:prstGeom>
          <a:solidFill>
            <a:srgbClr val="B8C4BD"/>
          </a:solidFill>
          <a:ln w="12700">
            <a:solidFill>
              <a:srgbClr val="B8C4BD"/>
            </a:solidFill>
            <a:prstDash val="solid"/>
          </a:ln>
        </p:spPr>
      </p:sp>
      <p:sp>
        <p:nvSpPr>
          <p:cNvPr id="30" name="Shape 27"/>
          <p:cNvSpPr/>
          <p:nvPr/>
        </p:nvSpPr>
        <p:spPr>
          <a:xfrm>
            <a:off x="5619902" y="2862072"/>
            <a:ext cx="138806" cy="192024"/>
          </a:xfrm>
          <a:prstGeom prst="rect">
            <a:avLst/>
          </a:prstGeom>
          <a:solidFill>
            <a:srgbClr val="5B6B63"/>
          </a:solidFill>
          <a:ln w="12700">
            <a:solidFill>
              <a:srgbClr val="5B6B63"/>
            </a:solidFill>
            <a:prstDash val="solid"/>
          </a:ln>
        </p:spPr>
      </p:sp>
      <p:sp>
        <p:nvSpPr>
          <p:cNvPr id="31" name="Text 28"/>
          <p:cNvSpPr txBox="1"/>
          <p:nvPr/>
        </p:nvSpPr>
        <p:spPr>
          <a:xfrm>
            <a:off x="5831860" y="2807208"/>
            <a:ext cx="2011680" cy="301752"/>
          </a:xfrm>
          <a:prstGeom prst="rect">
            <a:avLst/>
          </a:prstGeom>
          <a:noFill/>
          <a:ln/>
        </p:spPr>
        <p:txBody>
          <a:bodyPr wrap="square" lIns="0" tIns="0" rIns="0" bIns="0" rtlCol="0" anchor="ctr"/>
          <a:lstStyle/>
          <a:p>
            <a:pPr indent="0" marL="0">
              <a:buNone/>
            </a:pPr>
            <a:r>
              <a:rPr lang="en-US" sz="1000" dirty="0">
                <a:solidFill>
                  <a:srgbClr val="5B6B63"/>
                </a:solidFill>
                <a:latin typeface="Calibri" pitchFamily="34" charset="0"/>
                <a:ea typeface="Calibri" pitchFamily="34" charset="-122"/>
                <a:cs typeface="Calibri" pitchFamily="34" charset="-120"/>
              </a:rPr>
              <a:t>0,79 · sonde à prototypes</a:t>
            </a:r>
            <a:endParaRPr lang="en-US" sz="1000" dirty="0"/>
          </a:p>
        </p:txBody>
      </p:sp>
      <p:sp>
        <p:nvSpPr>
          <p:cNvPr id="32" name="Text 29"/>
          <p:cNvSpPr txBox="1"/>
          <p:nvPr/>
        </p:nvSpPr>
        <p:spPr>
          <a:xfrm>
            <a:off x="548640" y="3108960"/>
            <a:ext cx="1783080" cy="301752"/>
          </a:xfrm>
          <a:prstGeom prst="rect">
            <a:avLst/>
          </a:prstGeom>
          <a:noFill/>
          <a:ln/>
        </p:spPr>
        <p:txBody>
          <a:bodyPr wrap="square" lIns="0" tIns="0" rIns="0" bIns="0" rtlCol="0" anchor="ctr"/>
          <a:lstStyle/>
          <a:p>
            <a:pPr algn="r" indent="0" marL="0">
              <a:buNone/>
            </a:pPr>
            <a:r>
              <a:rPr lang="en-US" sz="1150" dirty="0">
                <a:solidFill>
                  <a:srgbClr val="1B2A24"/>
                </a:solidFill>
                <a:latin typeface="Calibri" pitchFamily="34" charset="0"/>
                <a:ea typeface="Calibri" pitchFamily="34" charset="-122"/>
                <a:cs typeface="Calibri" pitchFamily="34" charset="-120"/>
              </a:rPr>
              <a:t>esp-aves2 sl_beats_all</a:t>
            </a:r>
            <a:endParaRPr lang="en-US" sz="1150" dirty="0"/>
          </a:p>
        </p:txBody>
      </p:sp>
      <p:sp>
        <p:nvSpPr>
          <p:cNvPr id="33" name="Shape 30"/>
          <p:cNvSpPr/>
          <p:nvPr/>
        </p:nvSpPr>
        <p:spPr>
          <a:xfrm>
            <a:off x="2423160" y="3163824"/>
            <a:ext cx="3062143" cy="192024"/>
          </a:xfrm>
          <a:prstGeom prst="rect">
            <a:avLst/>
          </a:prstGeom>
          <a:solidFill>
            <a:srgbClr val="B8C4BD"/>
          </a:solidFill>
          <a:ln w="12700">
            <a:solidFill>
              <a:srgbClr val="B8C4BD"/>
            </a:solidFill>
            <a:prstDash val="solid"/>
          </a:ln>
        </p:spPr>
      </p:sp>
      <p:sp>
        <p:nvSpPr>
          <p:cNvPr id="34" name="Shape 31"/>
          <p:cNvSpPr/>
          <p:nvPr/>
        </p:nvSpPr>
        <p:spPr>
          <a:xfrm>
            <a:off x="5485303" y="3163824"/>
            <a:ext cx="227137" cy="192024"/>
          </a:xfrm>
          <a:prstGeom prst="rect">
            <a:avLst/>
          </a:prstGeom>
          <a:solidFill>
            <a:srgbClr val="5B6B63"/>
          </a:solidFill>
          <a:ln w="12700">
            <a:solidFill>
              <a:srgbClr val="5B6B63"/>
            </a:solidFill>
            <a:prstDash val="solid"/>
          </a:ln>
        </p:spPr>
      </p:sp>
      <p:sp>
        <p:nvSpPr>
          <p:cNvPr id="35" name="Text 32"/>
          <p:cNvSpPr txBox="1"/>
          <p:nvPr/>
        </p:nvSpPr>
        <p:spPr>
          <a:xfrm>
            <a:off x="5785592" y="3108960"/>
            <a:ext cx="2011680" cy="301752"/>
          </a:xfrm>
          <a:prstGeom prst="rect">
            <a:avLst/>
          </a:prstGeom>
          <a:noFill/>
          <a:ln/>
        </p:spPr>
        <p:txBody>
          <a:bodyPr wrap="square" lIns="0" tIns="0" rIns="0" bIns="0" rtlCol="0" anchor="ctr"/>
          <a:lstStyle/>
          <a:p>
            <a:pPr indent="0" marL="0">
              <a:buNone/>
            </a:pPr>
            <a:r>
              <a:rPr lang="en-US" sz="1000" dirty="0">
                <a:solidFill>
                  <a:srgbClr val="5B6B63"/>
                </a:solidFill>
                <a:latin typeface="Calibri" pitchFamily="34" charset="0"/>
                <a:ea typeface="Calibri" pitchFamily="34" charset="-122"/>
                <a:cs typeface="Calibri" pitchFamily="34" charset="-120"/>
              </a:rPr>
              <a:t>0,78 · sonde à prototypes</a:t>
            </a:r>
            <a:endParaRPr lang="en-US" sz="1000" dirty="0"/>
          </a:p>
        </p:txBody>
      </p:sp>
      <p:sp>
        <p:nvSpPr>
          <p:cNvPr id="36" name="Text 33"/>
          <p:cNvSpPr txBox="1"/>
          <p:nvPr/>
        </p:nvSpPr>
        <p:spPr>
          <a:xfrm>
            <a:off x="548640" y="3410712"/>
            <a:ext cx="1783080" cy="301752"/>
          </a:xfrm>
          <a:prstGeom prst="rect">
            <a:avLst/>
          </a:prstGeom>
          <a:noFill/>
          <a:ln/>
        </p:spPr>
        <p:txBody>
          <a:bodyPr wrap="square" lIns="0" tIns="0" rIns="0" bIns="0" rtlCol="0" anchor="ctr"/>
          <a:lstStyle/>
          <a:p>
            <a:pPr algn="r" indent="0" marL="0">
              <a:buNone/>
            </a:pPr>
            <a:r>
              <a:rPr lang="en-US" sz="1150" dirty="0">
                <a:solidFill>
                  <a:srgbClr val="1B2A24"/>
                </a:solidFill>
                <a:latin typeface="Calibri" pitchFamily="34" charset="0"/>
                <a:ea typeface="Calibri" pitchFamily="34" charset="-122"/>
                <a:cs typeface="Calibri" pitchFamily="34" charset="-120"/>
              </a:rPr>
              <a:t>perch_bird</a:t>
            </a:r>
            <a:endParaRPr lang="en-US" sz="1150" dirty="0"/>
          </a:p>
        </p:txBody>
      </p:sp>
      <p:sp>
        <p:nvSpPr>
          <p:cNvPr id="37" name="Shape 34"/>
          <p:cNvSpPr/>
          <p:nvPr/>
        </p:nvSpPr>
        <p:spPr>
          <a:xfrm>
            <a:off x="2423160" y="3465576"/>
            <a:ext cx="3289280" cy="192024"/>
          </a:xfrm>
          <a:prstGeom prst="rect">
            <a:avLst/>
          </a:prstGeom>
          <a:solidFill>
            <a:srgbClr val="B8C4BD"/>
          </a:solidFill>
          <a:ln w="12700">
            <a:solidFill>
              <a:srgbClr val="B8C4BD"/>
            </a:solidFill>
            <a:prstDash val="solid"/>
          </a:ln>
        </p:spPr>
      </p:sp>
      <p:sp>
        <p:nvSpPr>
          <p:cNvPr id="38" name="Text 35"/>
          <p:cNvSpPr txBox="1"/>
          <p:nvPr/>
        </p:nvSpPr>
        <p:spPr>
          <a:xfrm>
            <a:off x="5785592" y="3410712"/>
            <a:ext cx="2011680" cy="301752"/>
          </a:xfrm>
          <a:prstGeom prst="rect">
            <a:avLst/>
          </a:prstGeom>
          <a:noFill/>
          <a:ln/>
        </p:spPr>
        <p:txBody>
          <a:bodyPr wrap="square" lIns="0" tIns="0" rIns="0" bIns="0" rtlCol="0" anchor="ctr"/>
          <a:lstStyle/>
          <a:p>
            <a:pPr indent="0" marL="0">
              <a:buNone/>
            </a:pPr>
            <a:r>
              <a:rPr lang="en-US" sz="1000" dirty="0">
                <a:solidFill>
                  <a:srgbClr val="5B6B63"/>
                </a:solidFill>
                <a:latin typeface="Calibri" pitchFamily="34" charset="0"/>
                <a:ea typeface="Calibri" pitchFamily="34" charset="-122"/>
                <a:cs typeface="Calibri" pitchFamily="34" charset="-120"/>
              </a:rPr>
              <a:t>0,78</a:t>
            </a:r>
            <a:endParaRPr lang="en-US" sz="1000" dirty="0"/>
          </a:p>
        </p:txBody>
      </p:sp>
      <p:sp>
        <p:nvSpPr>
          <p:cNvPr id="39" name="Text 36"/>
          <p:cNvSpPr txBox="1"/>
          <p:nvPr/>
        </p:nvSpPr>
        <p:spPr>
          <a:xfrm>
            <a:off x="548640" y="3712464"/>
            <a:ext cx="1783080" cy="301752"/>
          </a:xfrm>
          <a:prstGeom prst="rect">
            <a:avLst/>
          </a:prstGeom>
          <a:noFill/>
          <a:ln/>
        </p:spPr>
        <p:txBody>
          <a:bodyPr wrap="square" lIns="0" tIns="0" rIns="0" bIns="0" rtlCol="0" anchor="ctr"/>
          <a:lstStyle/>
          <a:p>
            <a:pPr algn="r" indent="0" marL="0">
              <a:buNone/>
            </a:pPr>
            <a:r>
              <a:rPr lang="en-US" sz="1150" dirty="0">
                <a:solidFill>
                  <a:srgbClr val="1B2A24"/>
                </a:solidFill>
                <a:latin typeface="Calibri" pitchFamily="34" charset="0"/>
                <a:ea typeface="Calibri" pitchFamily="34" charset="-122"/>
                <a:cs typeface="Calibri" pitchFamily="34" charset="-120"/>
              </a:rPr>
              <a:t>birdmae_base</a:t>
            </a:r>
            <a:endParaRPr lang="en-US" sz="1150" dirty="0"/>
          </a:p>
        </p:txBody>
      </p:sp>
      <p:sp>
        <p:nvSpPr>
          <p:cNvPr id="40" name="Shape 37"/>
          <p:cNvSpPr/>
          <p:nvPr/>
        </p:nvSpPr>
        <p:spPr>
          <a:xfrm>
            <a:off x="2423160" y="3767328"/>
            <a:ext cx="2124151" cy="192024"/>
          </a:xfrm>
          <a:prstGeom prst="rect">
            <a:avLst/>
          </a:prstGeom>
          <a:solidFill>
            <a:srgbClr val="B8C4BD"/>
          </a:solidFill>
          <a:ln w="12700">
            <a:solidFill>
              <a:srgbClr val="B8C4BD"/>
            </a:solidFill>
            <a:prstDash val="solid"/>
          </a:ln>
        </p:spPr>
      </p:sp>
      <p:sp>
        <p:nvSpPr>
          <p:cNvPr id="41" name="Shape 38"/>
          <p:cNvSpPr/>
          <p:nvPr/>
        </p:nvSpPr>
        <p:spPr>
          <a:xfrm>
            <a:off x="4547311" y="3767328"/>
            <a:ext cx="980054" cy="192024"/>
          </a:xfrm>
          <a:prstGeom prst="rect">
            <a:avLst/>
          </a:prstGeom>
          <a:solidFill>
            <a:srgbClr val="5B6B63"/>
          </a:solidFill>
          <a:ln w="12700">
            <a:solidFill>
              <a:srgbClr val="5B6B63"/>
            </a:solidFill>
            <a:prstDash val="solid"/>
          </a:ln>
        </p:spPr>
      </p:sp>
      <p:sp>
        <p:nvSpPr>
          <p:cNvPr id="42" name="Text 39"/>
          <p:cNvSpPr txBox="1"/>
          <p:nvPr/>
        </p:nvSpPr>
        <p:spPr>
          <a:xfrm>
            <a:off x="5600517" y="3712464"/>
            <a:ext cx="2011680" cy="301752"/>
          </a:xfrm>
          <a:prstGeom prst="rect">
            <a:avLst/>
          </a:prstGeom>
          <a:noFill/>
          <a:ln/>
        </p:spPr>
        <p:txBody>
          <a:bodyPr wrap="square" lIns="0" tIns="0" rIns="0" bIns="0" rtlCol="0" anchor="ctr"/>
          <a:lstStyle/>
          <a:p>
            <a:pPr indent="0" marL="0">
              <a:buNone/>
            </a:pPr>
            <a:r>
              <a:rPr lang="en-US" sz="1000" dirty="0">
                <a:solidFill>
                  <a:srgbClr val="5B6B63"/>
                </a:solidFill>
                <a:latin typeface="Calibri" pitchFamily="34" charset="0"/>
                <a:ea typeface="Calibri" pitchFamily="34" charset="-122"/>
                <a:cs typeface="Calibri" pitchFamily="34" charset="-120"/>
              </a:rPr>
              <a:t>0,74 · sonde à prototypes</a:t>
            </a:r>
            <a:endParaRPr lang="en-US" sz="1000" dirty="0"/>
          </a:p>
        </p:txBody>
      </p:sp>
      <p:sp>
        <p:nvSpPr>
          <p:cNvPr id="43" name="Text 40"/>
          <p:cNvSpPr txBox="1"/>
          <p:nvPr/>
        </p:nvSpPr>
        <p:spPr>
          <a:xfrm>
            <a:off x="548640" y="4014216"/>
            <a:ext cx="1783080" cy="301752"/>
          </a:xfrm>
          <a:prstGeom prst="rect">
            <a:avLst/>
          </a:prstGeom>
          <a:noFill/>
          <a:ln/>
        </p:spPr>
        <p:txBody>
          <a:bodyPr wrap="square" lIns="0" tIns="0" rIns="0" bIns="0" rtlCol="0" anchor="ctr"/>
          <a:lstStyle/>
          <a:p>
            <a:pPr algn="r" indent="0" marL="0">
              <a:buNone/>
            </a:pPr>
            <a:r>
              <a:rPr lang="en-US" sz="1150" dirty="0">
                <a:solidFill>
                  <a:srgbClr val="1B2A24"/>
                </a:solidFill>
                <a:latin typeface="Calibri" pitchFamily="34" charset="0"/>
                <a:ea typeface="Calibri" pitchFamily="34" charset="-122"/>
                <a:cs typeface="Calibri" pitchFamily="34" charset="-120"/>
              </a:rPr>
              <a:t>birdnet_v3</a:t>
            </a:r>
            <a:endParaRPr lang="en-US" sz="1150" dirty="0"/>
          </a:p>
        </p:txBody>
      </p:sp>
      <p:sp>
        <p:nvSpPr>
          <p:cNvPr id="44" name="Shape 41"/>
          <p:cNvSpPr/>
          <p:nvPr/>
        </p:nvSpPr>
        <p:spPr>
          <a:xfrm>
            <a:off x="2423160" y="4069080"/>
            <a:ext cx="3087380" cy="192024"/>
          </a:xfrm>
          <a:prstGeom prst="rect">
            <a:avLst/>
          </a:prstGeom>
          <a:solidFill>
            <a:srgbClr val="8CC7A1"/>
          </a:solidFill>
          <a:ln w="12700">
            <a:solidFill>
              <a:srgbClr val="8CC7A1"/>
            </a:solidFill>
            <a:prstDash val="solid"/>
          </a:ln>
        </p:spPr>
      </p:sp>
      <p:sp>
        <p:nvSpPr>
          <p:cNvPr id="45" name="Shape 42"/>
          <p:cNvSpPr/>
          <p:nvPr/>
        </p:nvSpPr>
        <p:spPr>
          <a:xfrm>
            <a:off x="5510540" y="4069080"/>
            <a:ext cx="8412" cy="192024"/>
          </a:xfrm>
          <a:prstGeom prst="rect">
            <a:avLst/>
          </a:prstGeom>
          <a:solidFill>
            <a:srgbClr val="2E8B57"/>
          </a:solidFill>
          <a:ln w="12700">
            <a:solidFill>
              <a:srgbClr val="2E8B57"/>
            </a:solidFill>
            <a:prstDash val="solid"/>
          </a:ln>
        </p:spPr>
      </p:sp>
      <p:sp>
        <p:nvSpPr>
          <p:cNvPr id="46" name="Text 43"/>
          <p:cNvSpPr txBox="1"/>
          <p:nvPr/>
        </p:nvSpPr>
        <p:spPr>
          <a:xfrm>
            <a:off x="5592105" y="4014216"/>
            <a:ext cx="2011680" cy="301752"/>
          </a:xfrm>
          <a:prstGeom prst="rect">
            <a:avLst/>
          </a:prstGeom>
          <a:noFill/>
          <a:ln/>
        </p:spPr>
        <p:txBody>
          <a:bodyPr wrap="square" lIns="0" tIns="0" rIns="0" bIns="0" rtlCol="0" anchor="ctr"/>
          <a:lstStyle/>
          <a:p>
            <a:pPr indent="0" marL="0">
              <a:buNone/>
            </a:pPr>
            <a:r>
              <a:rPr lang="en-US" sz="1000" dirty="0">
                <a:solidFill>
                  <a:srgbClr val="5B6B63"/>
                </a:solidFill>
                <a:latin typeface="Calibri" pitchFamily="34" charset="0"/>
                <a:ea typeface="Calibri" pitchFamily="34" charset="-122"/>
                <a:cs typeface="Calibri" pitchFamily="34" charset="-120"/>
              </a:rPr>
              <a:t>0,74</a:t>
            </a:r>
            <a:endParaRPr lang="en-US" sz="1000" dirty="0"/>
          </a:p>
        </p:txBody>
      </p:sp>
      <p:sp>
        <p:nvSpPr>
          <p:cNvPr id="47" name="Text 44"/>
          <p:cNvSpPr txBox="1"/>
          <p:nvPr/>
        </p:nvSpPr>
        <p:spPr>
          <a:xfrm>
            <a:off x="548640" y="4315968"/>
            <a:ext cx="1783080" cy="301752"/>
          </a:xfrm>
          <a:prstGeom prst="rect">
            <a:avLst/>
          </a:prstGeom>
          <a:noFill/>
          <a:ln/>
        </p:spPr>
        <p:txBody>
          <a:bodyPr wrap="square" lIns="0" tIns="0" rIns="0" bIns="0" rtlCol="0" anchor="ctr"/>
          <a:lstStyle/>
          <a:p>
            <a:pPr algn="r" indent="0" marL="0">
              <a:buNone/>
            </a:pPr>
            <a:r>
              <a:rPr lang="en-US" sz="1150" dirty="0">
                <a:solidFill>
                  <a:srgbClr val="1B2A24"/>
                </a:solidFill>
                <a:latin typeface="Calibri" pitchFamily="34" charset="0"/>
                <a:ea typeface="Calibri" pitchFamily="34" charset="-122"/>
                <a:cs typeface="Calibri" pitchFamily="34" charset="-120"/>
              </a:rPr>
              <a:t>esp-aves2 sl_eat_bio</a:t>
            </a:r>
            <a:endParaRPr lang="en-US" sz="1150" dirty="0"/>
          </a:p>
        </p:txBody>
      </p:sp>
      <p:sp>
        <p:nvSpPr>
          <p:cNvPr id="48" name="Shape 45"/>
          <p:cNvSpPr/>
          <p:nvPr/>
        </p:nvSpPr>
        <p:spPr>
          <a:xfrm>
            <a:off x="2423160" y="4370832"/>
            <a:ext cx="2956987" cy="192024"/>
          </a:xfrm>
          <a:prstGeom prst="rect">
            <a:avLst/>
          </a:prstGeom>
          <a:solidFill>
            <a:srgbClr val="B8C4BD"/>
          </a:solidFill>
          <a:ln w="12700">
            <a:solidFill>
              <a:srgbClr val="B8C4BD"/>
            </a:solidFill>
            <a:prstDash val="solid"/>
          </a:ln>
        </p:spPr>
      </p:sp>
      <p:sp>
        <p:nvSpPr>
          <p:cNvPr id="49" name="Text 46"/>
          <p:cNvSpPr txBox="1"/>
          <p:nvPr/>
        </p:nvSpPr>
        <p:spPr>
          <a:xfrm>
            <a:off x="5453299" y="4315968"/>
            <a:ext cx="2011680" cy="301752"/>
          </a:xfrm>
          <a:prstGeom prst="rect">
            <a:avLst/>
          </a:prstGeom>
          <a:noFill/>
          <a:ln/>
        </p:spPr>
        <p:txBody>
          <a:bodyPr wrap="square" lIns="0" tIns="0" rIns="0" bIns="0" rtlCol="0" anchor="ctr"/>
          <a:lstStyle/>
          <a:p>
            <a:pPr indent="0" marL="0">
              <a:buNone/>
            </a:pPr>
            <a:r>
              <a:rPr lang="en-US" sz="1000" dirty="0">
                <a:solidFill>
                  <a:srgbClr val="5B6B63"/>
                </a:solidFill>
                <a:latin typeface="Calibri" pitchFamily="34" charset="0"/>
                <a:ea typeface="Calibri" pitchFamily="34" charset="-122"/>
                <a:cs typeface="Calibri" pitchFamily="34" charset="-120"/>
              </a:rPr>
              <a:t>0,70</a:t>
            </a:r>
            <a:endParaRPr lang="en-US" sz="1000" dirty="0"/>
          </a:p>
        </p:txBody>
      </p:sp>
      <p:sp>
        <p:nvSpPr>
          <p:cNvPr id="50" name="Text 47"/>
          <p:cNvSpPr txBox="1"/>
          <p:nvPr/>
        </p:nvSpPr>
        <p:spPr>
          <a:xfrm>
            <a:off x="548640" y="4617720"/>
            <a:ext cx="1783080" cy="301752"/>
          </a:xfrm>
          <a:prstGeom prst="rect">
            <a:avLst/>
          </a:prstGeom>
          <a:noFill/>
          <a:ln/>
        </p:spPr>
        <p:txBody>
          <a:bodyPr wrap="square" lIns="0" tIns="0" rIns="0" bIns="0" rtlCol="0" anchor="ctr"/>
          <a:lstStyle/>
          <a:p>
            <a:pPr algn="r" indent="0" marL="0">
              <a:buNone/>
            </a:pPr>
            <a:r>
              <a:rPr lang="en-US" sz="1150" dirty="0">
                <a:solidFill>
                  <a:srgbClr val="1B2A24"/>
                </a:solidFill>
                <a:latin typeface="Calibri" pitchFamily="34" charset="0"/>
                <a:ea typeface="Calibri" pitchFamily="34" charset="-122"/>
                <a:cs typeface="Calibri" pitchFamily="34" charset="-120"/>
              </a:rPr>
              <a:t>birdmae_large</a:t>
            </a:r>
            <a:endParaRPr lang="en-US" sz="1150" dirty="0"/>
          </a:p>
        </p:txBody>
      </p:sp>
      <p:sp>
        <p:nvSpPr>
          <p:cNvPr id="51" name="Shape 48"/>
          <p:cNvSpPr/>
          <p:nvPr/>
        </p:nvSpPr>
        <p:spPr>
          <a:xfrm>
            <a:off x="2423160" y="4672584"/>
            <a:ext cx="2090501" cy="192024"/>
          </a:xfrm>
          <a:prstGeom prst="rect">
            <a:avLst/>
          </a:prstGeom>
          <a:solidFill>
            <a:srgbClr val="B8C4BD"/>
          </a:solidFill>
          <a:ln w="12700">
            <a:solidFill>
              <a:srgbClr val="B8C4BD"/>
            </a:solidFill>
            <a:prstDash val="solid"/>
          </a:ln>
        </p:spPr>
      </p:sp>
      <p:sp>
        <p:nvSpPr>
          <p:cNvPr id="52" name="Shape 49"/>
          <p:cNvSpPr/>
          <p:nvPr/>
        </p:nvSpPr>
        <p:spPr>
          <a:xfrm>
            <a:off x="4513661" y="4672584"/>
            <a:ext cx="811804" cy="192024"/>
          </a:xfrm>
          <a:prstGeom prst="rect">
            <a:avLst/>
          </a:prstGeom>
          <a:solidFill>
            <a:srgbClr val="5B6B63"/>
          </a:solidFill>
          <a:ln w="12700">
            <a:solidFill>
              <a:srgbClr val="5B6B63"/>
            </a:solidFill>
            <a:prstDash val="solid"/>
          </a:ln>
        </p:spPr>
      </p:sp>
      <p:sp>
        <p:nvSpPr>
          <p:cNvPr id="53" name="Text 50"/>
          <p:cNvSpPr txBox="1"/>
          <p:nvPr/>
        </p:nvSpPr>
        <p:spPr>
          <a:xfrm>
            <a:off x="5398618" y="4617720"/>
            <a:ext cx="2011680" cy="301752"/>
          </a:xfrm>
          <a:prstGeom prst="rect">
            <a:avLst/>
          </a:prstGeom>
          <a:noFill/>
          <a:ln/>
        </p:spPr>
        <p:txBody>
          <a:bodyPr wrap="square" lIns="0" tIns="0" rIns="0" bIns="0" rtlCol="0" anchor="ctr"/>
          <a:lstStyle/>
          <a:p>
            <a:pPr indent="0" marL="0">
              <a:buNone/>
            </a:pPr>
            <a:r>
              <a:rPr lang="en-US" sz="1000" dirty="0">
                <a:solidFill>
                  <a:srgbClr val="5B6B63"/>
                </a:solidFill>
                <a:latin typeface="Calibri" pitchFamily="34" charset="0"/>
                <a:ea typeface="Calibri" pitchFamily="34" charset="-122"/>
                <a:cs typeface="Calibri" pitchFamily="34" charset="-120"/>
              </a:rPr>
              <a:t>0,69 · sonde à prototypes</a:t>
            </a:r>
            <a:endParaRPr lang="en-US" sz="1000" dirty="0"/>
          </a:p>
        </p:txBody>
      </p:sp>
      <p:sp>
        <p:nvSpPr>
          <p:cNvPr id="54" name="Text 51"/>
          <p:cNvSpPr txBox="1"/>
          <p:nvPr/>
        </p:nvSpPr>
        <p:spPr>
          <a:xfrm>
            <a:off x="548640" y="4919472"/>
            <a:ext cx="1783080" cy="301752"/>
          </a:xfrm>
          <a:prstGeom prst="rect">
            <a:avLst/>
          </a:prstGeom>
          <a:noFill/>
          <a:ln/>
        </p:spPr>
        <p:txBody>
          <a:bodyPr wrap="square" lIns="0" tIns="0" rIns="0" bIns="0" rtlCol="0" anchor="ctr"/>
          <a:lstStyle/>
          <a:p>
            <a:pPr algn="r" indent="0" marL="0">
              <a:buNone/>
            </a:pPr>
            <a:r>
              <a:rPr lang="en-US" sz="1150" dirty="0">
                <a:solidFill>
                  <a:srgbClr val="1B2A24"/>
                </a:solidFill>
                <a:latin typeface="Calibri" pitchFamily="34" charset="0"/>
                <a:ea typeface="Calibri" pitchFamily="34" charset="-122"/>
                <a:cs typeface="Calibri" pitchFamily="34" charset="-120"/>
              </a:rPr>
              <a:t>birdnet 2.4</a:t>
            </a:r>
            <a:endParaRPr lang="en-US" sz="1150" dirty="0"/>
          </a:p>
        </p:txBody>
      </p:sp>
      <p:sp>
        <p:nvSpPr>
          <p:cNvPr id="55" name="Shape 52"/>
          <p:cNvSpPr/>
          <p:nvPr/>
        </p:nvSpPr>
        <p:spPr>
          <a:xfrm>
            <a:off x="2423160" y="4974336"/>
            <a:ext cx="2881274" cy="192024"/>
          </a:xfrm>
          <a:prstGeom prst="rect">
            <a:avLst/>
          </a:prstGeom>
          <a:solidFill>
            <a:srgbClr val="B8C4BD"/>
          </a:solidFill>
          <a:ln w="12700">
            <a:solidFill>
              <a:srgbClr val="B8C4BD"/>
            </a:solidFill>
            <a:prstDash val="solid"/>
          </a:ln>
        </p:spPr>
      </p:sp>
      <p:sp>
        <p:nvSpPr>
          <p:cNvPr id="56" name="Shape 53"/>
          <p:cNvSpPr/>
          <p:nvPr/>
        </p:nvSpPr>
        <p:spPr>
          <a:xfrm>
            <a:off x="5304434" y="4974336"/>
            <a:ext cx="12619" cy="192024"/>
          </a:xfrm>
          <a:prstGeom prst="rect">
            <a:avLst/>
          </a:prstGeom>
          <a:solidFill>
            <a:srgbClr val="5B6B63"/>
          </a:solidFill>
          <a:ln w="12700">
            <a:solidFill>
              <a:srgbClr val="5B6B63"/>
            </a:solidFill>
            <a:prstDash val="solid"/>
          </a:ln>
        </p:spPr>
      </p:sp>
      <p:sp>
        <p:nvSpPr>
          <p:cNvPr id="57" name="Text 54"/>
          <p:cNvSpPr txBox="1"/>
          <p:nvPr/>
        </p:nvSpPr>
        <p:spPr>
          <a:xfrm>
            <a:off x="5390205" y="4919472"/>
            <a:ext cx="2011680" cy="301752"/>
          </a:xfrm>
          <a:prstGeom prst="rect">
            <a:avLst/>
          </a:prstGeom>
          <a:noFill/>
          <a:ln/>
        </p:spPr>
        <p:txBody>
          <a:bodyPr wrap="square" lIns="0" tIns="0" rIns="0" bIns="0" rtlCol="0" anchor="ctr"/>
          <a:lstStyle/>
          <a:p>
            <a:pPr indent="0" marL="0">
              <a:buNone/>
            </a:pPr>
            <a:r>
              <a:rPr lang="en-US" sz="1000" dirty="0">
                <a:solidFill>
                  <a:srgbClr val="5B6B63"/>
                </a:solidFill>
                <a:latin typeface="Calibri" pitchFamily="34" charset="0"/>
                <a:ea typeface="Calibri" pitchFamily="34" charset="-122"/>
                <a:cs typeface="Calibri" pitchFamily="34" charset="-120"/>
              </a:rPr>
              <a:t>0,69</a:t>
            </a:r>
            <a:endParaRPr lang="en-US" sz="1000" dirty="0"/>
          </a:p>
        </p:txBody>
      </p:sp>
      <p:sp>
        <p:nvSpPr>
          <p:cNvPr id="58" name="Text 55"/>
          <p:cNvSpPr txBox="1"/>
          <p:nvPr/>
        </p:nvSpPr>
        <p:spPr>
          <a:xfrm>
            <a:off x="548640" y="5221224"/>
            <a:ext cx="1783080" cy="301752"/>
          </a:xfrm>
          <a:prstGeom prst="rect">
            <a:avLst/>
          </a:prstGeom>
          <a:noFill/>
          <a:ln/>
        </p:spPr>
        <p:txBody>
          <a:bodyPr wrap="square" lIns="0" tIns="0" rIns="0" bIns="0" rtlCol="0" anchor="ctr"/>
          <a:lstStyle/>
          <a:p>
            <a:pPr algn="r" indent="0" marL="0">
              <a:buNone/>
            </a:pPr>
            <a:r>
              <a:rPr lang="en-US" sz="1150" dirty="0">
                <a:solidFill>
                  <a:srgbClr val="1B2A24"/>
                </a:solidFill>
                <a:latin typeface="Calibri" pitchFamily="34" charset="0"/>
                <a:ea typeface="Calibri" pitchFamily="34" charset="-122"/>
                <a:cs typeface="Calibri" pitchFamily="34" charset="-120"/>
              </a:rPr>
              <a:t>esp-aves2 sl_eat_all</a:t>
            </a:r>
            <a:endParaRPr lang="en-US" sz="1150" dirty="0"/>
          </a:p>
        </p:txBody>
      </p:sp>
      <p:sp>
        <p:nvSpPr>
          <p:cNvPr id="59" name="Shape 56"/>
          <p:cNvSpPr/>
          <p:nvPr/>
        </p:nvSpPr>
        <p:spPr>
          <a:xfrm>
            <a:off x="2423160" y="5276088"/>
            <a:ext cx="2519538" cy="192024"/>
          </a:xfrm>
          <a:prstGeom prst="rect">
            <a:avLst/>
          </a:prstGeom>
          <a:solidFill>
            <a:srgbClr val="B8C4BD"/>
          </a:solidFill>
          <a:ln w="12700">
            <a:solidFill>
              <a:srgbClr val="B8C4BD"/>
            </a:solidFill>
            <a:prstDash val="solid"/>
          </a:ln>
        </p:spPr>
      </p:sp>
      <p:sp>
        <p:nvSpPr>
          <p:cNvPr id="60" name="Shape 57"/>
          <p:cNvSpPr/>
          <p:nvPr/>
        </p:nvSpPr>
        <p:spPr>
          <a:xfrm>
            <a:off x="4942698" y="5276088"/>
            <a:ext cx="12619" cy="192024"/>
          </a:xfrm>
          <a:prstGeom prst="rect">
            <a:avLst/>
          </a:prstGeom>
          <a:solidFill>
            <a:srgbClr val="5B6B63"/>
          </a:solidFill>
          <a:ln w="12700">
            <a:solidFill>
              <a:srgbClr val="5B6B63"/>
            </a:solidFill>
            <a:prstDash val="solid"/>
          </a:ln>
        </p:spPr>
      </p:sp>
      <p:sp>
        <p:nvSpPr>
          <p:cNvPr id="61" name="Text 58"/>
          <p:cNvSpPr txBox="1"/>
          <p:nvPr/>
        </p:nvSpPr>
        <p:spPr>
          <a:xfrm>
            <a:off x="5028468" y="5221224"/>
            <a:ext cx="2011680" cy="301752"/>
          </a:xfrm>
          <a:prstGeom prst="rect">
            <a:avLst/>
          </a:prstGeom>
          <a:noFill/>
          <a:ln/>
        </p:spPr>
        <p:txBody>
          <a:bodyPr wrap="square" lIns="0" tIns="0" rIns="0" bIns="0" rtlCol="0" anchor="ctr"/>
          <a:lstStyle/>
          <a:p>
            <a:pPr indent="0" marL="0">
              <a:buNone/>
            </a:pPr>
            <a:r>
              <a:rPr lang="en-US" sz="1000" dirty="0">
                <a:solidFill>
                  <a:srgbClr val="5B6B63"/>
                </a:solidFill>
                <a:latin typeface="Calibri" pitchFamily="34" charset="0"/>
                <a:ea typeface="Calibri" pitchFamily="34" charset="-122"/>
                <a:cs typeface="Calibri" pitchFamily="34" charset="-120"/>
              </a:rPr>
              <a:t>0,60</a:t>
            </a:r>
            <a:endParaRPr lang="en-US" sz="1000" dirty="0"/>
          </a:p>
        </p:txBody>
      </p:sp>
      <p:sp>
        <p:nvSpPr>
          <p:cNvPr id="62" name="Shape 59"/>
          <p:cNvSpPr/>
          <p:nvPr/>
        </p:nvSpPr>
        <p:spPr>
          <a:xfrm>
            <a:off x="731520" y="5870448"/>
            <a:ext cx="182880" cy="164592"/>
          </a:xfrm>
          <a:prstGeom prst="rect">
            <a:avLst/>
          </a:prstGeom>
          <a:solidFill>
            <a:srgbClr val="8CC7A1"/>
          </a:solidFill>
          <a:ln w="12700">
            <a:solidFill>
              <a:srgbClr val="8CC7A1"/>
            </a:solidFill>
            <a:prstDash val="solid"/>
          </a:ln>
        </p:spPr>
      </p:sp>
      <p:sp>
        <p:nvSpPr>
          <p:cNvPr id="63" name="Text 60"/>
          <p:cNvSpPr txBox="1"/>
          <p:nvPr/>
        </p:nvSpPr>
        <p:spPr>
          <a:xfrm>
            <a:off x="960120" y="5815584"/>
            <a:ext cx="1417320" cy="384048"/>
          </a:xfrm>
          <a:prstGeom prst="rect">
            <a:avLst/>
          </a:prstGeom>
          <a:noFill/>
          <a:ln/>
        </p:spPr>
        <p:txBody>
          <a:bodyPr wrap="square" lIns="0" tIns="0" rIns="0" bIns="0" rtlCol="0" anchor="ctr"/>
          <a:lstStyle/>
          <a:p>
            <a:pPr indent="0" marL="0">
              <a:buNone/>
            </a:pPr>
            <a:r>
              <a:rPr lang="en-US" sz="950" dirty="0">
                <a:solidFill>
                  <a:srgbClr val="1B2A24"/>
                </a:solidFill>
                <a:latin typeface="Calibri" pitchFamily="34" charset="0"/>
                <a:ea typeface="Calibri" pitchFamily="34" charset="-122"/>
                <a:cs typeface="Calibri" pitchFamily="34" charset="-120"/>
              </a:rPr>
              <a:t>libre : logistique</a:t>
            </a:r>
            <a:endParaRPr lang="en-US" sz="950" dirty="0"/>
          </a:p>
        </p:txBody>
      </p:sp>
      <p:sp>
        <p:nvSpPr>
          <p:cNvPr id="64" name="Shape 61"/>
          <p:cNvSpPr/>
          <p:nvPr/>
        </p:nvSpPr>
        <p:spPr>
          <a:xfrm>
            <a:off x="2514600" y="5870448"/>
            <a:ext cx="182880" cy="164592"/>
          </a:xfrm>
          <a:prstGeom prst="rect">
            <a:avLst/>
          </a:prstGeom>
          <a:solidFill>
            <a:srgbClr val="2E8B57"/>
          </a:solidFill>
          <a:ln w="12700">
            <a:solidFill>
              <a:srgbClr val="2E8B57"/>
            </a:solidFill>
            <a:prstDash val="solid"/>
          </a:ln>
        </p:spPr>
      </p:sp>
      <p:sp>
        <p:nvSpPr>
          <p:cNvPr id="65" name="Text 62"/>
          <p:cNvSpPr txBox="1"/>
          <p:nvPr/>
        </p:nvSpPr>
        <p:spPr>
          <a:xfrm>
            <a:off x="2743200" y="5815584"/>
            <a:ext cx="1417320" cy="384048"/>
          </a:xfrm>
          <a:prstGeom prst="rect">
            <a:avLst/>
          </a:prstGeom>
          <a:noFill/>
          <a:ln/>
        </p:spPr>
        <p:txBody>
          <a:bodyPr wrap="square" lIns="0" tIns="0" rIns="0" bIns="0" rtlCol="0" anchor="ctr"/>
          <a:lstStyle/>
          <a:p>
            <a:pPr indent="0" marL="0">
              <a:buNone/>
            </a:pPr>
            <a:r>
              <a:rPr lang="en-US" sz="950" dirty="0">
                <a:solidFill>
                  <a:srgbClr val="1B2A24"/>
                </a:solidFill>
                <a:latin typeface="Calibri" pitchFamily="34" charset="0"/>
                <a:ea typeface="Calibri" pitchFamily="34" charset="-122"/>
                <a:cs typeface="Calibri" pitchFamily="34" charset="-120"/>
              </a:rPr>
              <a:t>libre : gain de la tête adaptée</a:t>
            </a:r>
            <a:endParaRPr lang="en-US" sz="950" dirty="0"/>
          </a:p>
        </p:txBody>
      </p:sp>
      <p:sp>
        <p:nvSpPr>
          <p:cNvPr id="66" name="Shape 63"/>
          <p:cNvSpPr/>
          <p:nvPr/>
        </p:nvSpPr>
        <p:spPr>
          <a:xfrm>
            <a:off x="4297680" y="5870448"/>
            <a:ext cx="182880" cy="164592"/>
          </a:xfrm>
          <a:prstGeom prst="rect">
            <a:avLst/>
          </a:prstGeom>
          <a:solidFill>
            <a:srgbClr val="B8C4BD"/>
          </a:solidFill>
          <a:ln w="12700">
            <a:solidFill>
              <a:srgbClr val="B8C4BD"/>
            </a:solidFill>
            <a:prstDash val="solid"/>
          </a:ln>
        </p:spPr>
      </p:sp>
      <p:sp>
        <p:nvSpPr>
          <p:cNvPr id="67" name="Text 64"/>
          <p:cNvSpPr txBox="1"/>
          <p:nvPr/>
        </p:nvSpPr>
        <p:spPr>
          <a:xfrm>
            <a:off x="4526280" y="5815584"/>
            <a:ext cx="1417320" cy="384048"/>
          </a:xfrm>
          <a:prstGeom prst="rect">
            <a:avLst/>
          </a:prstGeom>
          <a:noFill/>
          <a:ln/>
        </p:spPr>
        <p:txBody>
          <a:bodyPr wrap="square" lIns="0" tIns="0" rIns="0" bIns="0" rtlCol="0" anchor="ctr"/>
          <a:lstStyle/>
          <a:p>
            <a:pPr indent="0" marL="0">
              <a:buNone/>
            </a:pPr>
            <a:r>
              <a:rPr lang="en-US" sz="950" dirty="0">
                <a:solidFill>
                  <a:srgbClr val="1B2A24"/>
                </a:solidFill>
                <a:latin typeface="Calibri" pitchFamily="34" charset="0"/>
                <a:ea typeface="Calibri" pitchFamily="34" charset="-122"/>
                <a:cs typeface="Calibri" pitchFamily="34" charset="-120"/>
              </a:rPr>
              <a:t>non libre : logistique</a:t>
            </a:r>
            <a:endParaRPr lang="en-US" sz="950" dirty="0"/>
          </a:p>
        </p:txBody>
      </p:sp>
      <p:sp>
        <p:nvSpPr>
          <p:cNvPr id="68" name="Shape 65"/>
          <p:cNvSpPr/>
          <p:nvPr/>
        </p:nvSpPr>
        <p:spPr>
          <a:xfrm>
            <a:off x="6080760" y="5870448"/>
            <a:ext cx="182880" cy="164592"/>
          </a:xfrm>
          <a:prstGeom prst="rect">
            <a:avLst/>
          </a:prstGeom>
          <a:solidFill>
            <a:srgbClr val="5B6B63"/>
          </a:solidFill>
          <a:ln w="12700">
            <a:solidFill>
              <a:srgbClr val="5B6B63"/>
            </a:solidFill>
            <a:prstDash val="solid"/>
          </a:ln>
        </p:spPr>
      </p:sp>
      <p:sp>
        <p:nvSpPr>
          <p:cNvPr id="69" name="Text 66"/>
          <p:cNvSpPr txBox="1"/>
          <p:nvPr/>
        </p:nvSpPr>
        <p:spPr>
          <a:xfrm>
            <a:off x="6309360" y="5815584"/>
            <a:ext cx="1417320" cy="384048"/>
          </a:xfrm>
          <a:prstGeom prst="rect">
            <a:avLst/>
          </a:prstGeom>
          <a:noFill/>
          <a:ln/>
        </p:spPr>
        <p:txBody>
          <a:bodyPr wrap="square" lIns="0" tIns="0" rIns="0" bIns="0" rtlCol="0" anchor="ctr"/>
          <a:lstStyle/>
          <a:p>
            <a:pPr indent="0" marL="0">
              <a:buNone/>
            </a:pPr>
            <a:r>
              <a:rPr lang="en-US" sz="950" dirty="0">
                <a:solidFill>
                  <a:srgbClr val="1B2A24"/>
                </a:solidFill>
                <a:latin typeface="Calibri" pitchFamily="34" charset="0"/>
                <a:ea typeface="Calibri" pitchFamily="34" charset="-122"/>
                <a:cs typeface="Calibri" pitchFamily="34" charset="-120"/>
              </a:rPr>
              <a:t>non libre : gain de la tête adaptée</a:t>
            </a:r>
            <a:endParaRPr lang="en-US" sz="950" dirty="0"/>
          </a:p>
        </p:txBody>
      </p:sp>
      <p:sp>
        <p:nvSpPr>
          <p:cNvPr id="70" name="Text 67"/>
          <p:cNvSpPr txBox="1"/>
          <p:nvPr/>
        </p:nvSpPr>
        <p:spPr>
          <a:xfrm>
            <a:off x="548640" y="6272784"/>
            <a:ext cx="6949440" cy="256032"/>
          </a:xfrm>
          <a:prstGeom prst="rect">
            <a:avLst/>
          </a:prstGeom>
          <a:noFill/>
          <a:ln/>
        </p:spPr>
        <p:txBody>
          <a:bodyPr wrap="square" lIns="0" tIns="0" rIns="0" bIns="0" rtlCol="0" anchor="t"/>
          <a:lstStyle/>
          <a:p>
            <a:pPr indent="0" marL="0">
              <a:buNone/>
            </a:pPr>
            <a:r>
              <a:rPr lang="en-US" sz="1000" i="1" dirty="0">
                <a:solidFill>
                  <a:srgbClr val="5B6B63"/>
                </a:solidFill>
                <a:latin typeface="Calibri" pitchFamily="34" charset="0"/>
                <a:ea typeface="Calibri" pitchFamily="34" charset="-122"/>
                <a:cs typeface="Calibri" pitchFamily="34" charset="-120"/>
              </a:rPr>
              <a:t>11 autres encodeurs entre 0,40 et 0,59 · aucun écart significatif entre les quatre premiers (Holm)</a:t>
            </a:r>
            <a:endParaRPr lang="en-US" sz="1000" dirty="0"/>
          </a:p>
        </p:txBody>
      </p:sp>
      <p:sp>
        <p:nvSpPr>
          <p:cNvPr id="71" name="Shape 68"/>
          <p:cNvSpPr/>
          <p:nvPr/>
        </p:nvSpPr>
        <p:spPr>
          <a:xfrm>
            <a:off x="7818120" y="1508760"/>
            <a:ext cx="3822192" cy="1078992"/>
          </a:xfrm>
          <a:prstGeom prst="roundRect">
            <a:avLst>
              <a:gd name="adj" fmla="val 8475"/>
            </a:avLst>
          </a:prstGeom>
          <a:solidFill>
            <a:srgbClr val="0E2A24"/>
          </a:solidFill>
          <a:ln w="12700">
            <a:solidFill>
              <a:srgbClr val="0E2A24"/>
            </a:solidFill>
            <a:prstDash val="solid"/>
          </a:ln>
        </p:spPr>
      </p:sp>
      <p:sp>
        <p:nvSpPr>
          <p:cNvPr id="72" name="Text 69"/>
          <p:cNvSpPr txBox="1"/>
          <p:nvPr/>
        </p:nvSpPr>
        <p:spPr>
          <a:xfrm>
            <a:off x="8001000" y="1600200"/>
            <a:ext cx="3520440" cy="320040"/>
          </a:xfrm>
          <a:prstGeom prst="rect">
            <a:avLst/>
          </a:prstGeom>
          <a:noFill/>
          <a:ln/>
        </p:spPr>
        <p:txBody>
          <a:bodyPr wrap="square" lIns="0" tIns="0" rIns="0" bIns="0" rtlCol="0" anchor="t"/>
          <a:lstStyle/>
          <a:p>
            <a:pPr indent="0" marL="0">
              <a:buNone/>
            </a:pPr>
            <a:r>
              <a:rPr lang="en-US" sz="1400" b="1" dirty="0">
                <a:solidFill>
                  <a:srgbClr val="E9B44C"/>
                </a:solidFill>
                <a:latin typeface="Calibri" pitchFamily="34" charset="0"/>
                <a:ea typeface="Calibri" pitchFamily="34" charset="-122"/>
                <a:cs typeface="Calibri" pitchFamily="34" charset="-120"/>
              </a:rPr>
              <a:t>Meilleur libre : perch_v2</a:t>
            </a:r>
            <a:endParaRPr lang="en-US" sz="1400" dirty="0"/>
          </a:p>
        </p:txBody>
      </p:sp>
      <p:sp>
        <p:nvSpPr>
          <p:cNvPr id="73" name="Text 70"/>
          <p:cNvSpPr txBox="1"/>
          <p:nvPr/>
        </p:nvSpPr>
        <p:spPr>
          <a:xfrm>
            <a:off x="8001000" y="1947672"/>
            <a:ext cx="3520440" cy="59436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0,81 avec la sonde à prototypes ; aucun non libre ne le bat après Holm.</a:t>
            </a:r>
            <a:endParaRPr lang="en-US" sz="1150" dirty="0"/>
          </a:p>
        </p:txBody>
      </p:sp>
      <p:sp>
        <p:nvSpPr>
          <p:cNvPr id="74" name="Shape 71"/>
          <p:cNvSpPr/>
          <p:nvPr/>
        </p:nvSpPr>
        <p:spPr>
          <a:xfrm>
            <a:off x="7818120" y="2715768"/>
            <a:ext cx="3822192" cy="1078992"/>
          </a:xfrm>
          <a:prstGeom prst="roundRect">
            <a:avLst>
              <a:gd name="adj" fmla="val 8475"/>
            </a:avLst>
          </a:prstGeom>
          <a:solidFill>
            <a:srgbClr val="F3F7F4"/>
          </a:solidFill>
          <a:ln w="12700">
            <a:solidFill>
              <a:srgbClr val="F3F7F4"/>
            </a:solidFill>
            <a:prstDash val="solid"/>
          </a:ln>
        </p:spPr>
      </p:sp>
      <p:sp>
        <p:nvSpPr>
          <p:cNvPr id="75" name="Text 72"/>
          <p:cNvSpPr txBox="1"/>
          <p:nvPr/>
        </p:nvSpPr>
        <p:spPr>
          <a:xfrm>
            <a:off x="8001000" y="2807208"/>
            <a:ext cx="3520440" cy="320040"/>
          </a:xfrm>
          <a:prstGeom prst="rect">
            <a:avLst/>
          </a:prstGeom>
          <a:noFill/>
          <a:ln/>
        </p:spPr>
        <p:txBody>
          <a:bodyPr wrap="square" lIns="0" tIns="0" rIns="0" bIns="0" rtlCol="0" anchor="t"/>
          <a:lstStyle/>
          <a:p>
            <a:pPr indent="0" marL="0">
              <a:buNone/>
            </a:pPr>
            <a:r>
              <a:rPr lang="en-US" sz="1400" b="1" dirty="0">
                <a:solidFill>
                  <a:srgbClr val="2A7F72"/>
                </a:solidFill>
                <a:latin typeface="Calibri" pitchFamily="34" charset="0"/>
                <a:ea typeface="Calibri" pitchFamily="34" charset="-122"/>
                <a:cs typeface="Calibri" pitchFamily="34" charset="-120"/>
              </a:rPr>
              <a:t>La tête doit suivre la sortie</a:t>
            </a:r>
            <a:endParaRPr lang="en-US" sz="1400" dirty="0"/>
          </a:p>
        </p:txBody>
      </p:sp>
      <p:sp>
        <p:nvSpPr>
          <p:cNvPr id="76" name="Text 73"/>
          <p:cNvSpPr txBox="1"/>
          <p:nvPr/>
        </p:nvSpPr>
        <p:spPr>
          <a:xfrm>
            <a:off x="8001000" y="3154680"/>
            <a:ext cx="3520440" cy="594360"/>
          </a:xfrm>
          <a:prstGeom prst="rect">
            <a:avLst/>
          </a:prstGeom>
          <a:noFill/>
          <a:ln/>
        </p:spPr>
        <p:txBody>
          <a:bodyPr wrap="square" lIns="0" tIns="0" rIns="0" bIns="0" rtlCol="0" anchor="t"/>
          <a:lstStyle/>
          <a:p>
            <a:pPr indent="0" marL="0">
              <a:buNone/>
            </a:pPr>
            <a:r>
              <a:rPr lang="en-US" sz="1150" dirty="0">
                <a:solidFill>
                  <a:srgbClr val="1B2A24"/>
                </a:solidFill>
                <a:latin typeface="Calibri" pitchFamily="34" charset="0"/>
                <a:ea typeface="Calibri" pitchFamily="34" charset="-122"/>
                <a:cs typeface="Calibri" pitchFamily="34" charset="-120"/>
              </a:rPr>
              <a:t>Bird-MAE-Base 0,51 → 0,74, naturebeats 0,69 → 0,84 avec la sonde à prototypes sur leurs jetons.</a:t>
            </a:r>
            <a:endParaRPr lang="en-US" sz="1150" dirty="0"/>
          </a:p>
        </p:txBody>
      </p:sp>
      <p:sp>
        <p:nvSpPr>
          <p:cNvPr id="77" name="Shape 74"/>
          <p:cNvSpPr/>
          <p:nvPr/>
        </p:nvSpPr>
        <p:spPr>
          <a:xfrm>
            <a:off x="7818120" y="3922776"/>
            <a:ext cx="3822192" cy="1078992"/>
          </a:xfrm>
          <a:prstGeom prst="roundRect">
            <a:avLst>
              <a:gd name="adj" fmla="val 8475"/>
            </a:avLst>
          </a:prstGeom>
          <a:solidFill>
            <a:srgbClr val="F3F7F4"/>
          </a:solidFill>
          <a:ln w="12700">
            <a:solidFill>
              <a:srgbClr val="F3F7F4"/>
            </a:solidFill>
            <a:prstDash val="solid"/>
          </a:ln>
        </p:spPr>
      </p:sp>
      <p:sp>
        <p:nvSpPr>
          <p:cNvPr id="78" name="Text 75"/>
          <p:cNvSpPr txBox="1"/>
          <p:nvPr/>
        </p:nvSpPr>
        <p:spPr>
          <a:xfrm>
            <a:off x="8001000" y="4014216"/>
            <a:ext cx="3520440" cy="320040"/>
          </a:xfrm>
          <a:prstGeom prst="rect">
            <a:avLst/>
          </a:prstGeom>
          <a:noFill/>
          <a:ln/>
        </p:spPr>
        <p:txBody>
          <a:bodyPr wrap="square" lIns="0" tIns="0" rIns="0" bIns="0" rtlCol="0" anchor="t"/>
          <a:lstStyle/>
          <a:p>
            <a:pPr indent="0" marL="0">
              <a:buNone/>
            </a:pPr>
            <a:r>
              <a:rPr lang="en-US" sz="1400" b="1" dirty="0">
                <a:solidFill>
                  <a:srgbClr val="C8553D"/>
                </a:solidFill>
                <a:latin typeface="Calibri" pitchFamily="34" charset="0"/>
                <a:ea typeface="Calibri" pitchFamily="34" charset="-122"/>
                <a:cs typeface="Calibri" pitchFamily="34" charset="-120"/>
              </a:rPr>
              <a:t>La sonde attentive n'aide presque jamais</a:t>
            </a:r>
            <a:endParaRPr lang="en-US" sz="1400" dirty="0"/>
          </a:p>
        </p:txBody>
      </p:sp>
      <p:sp>
        <p:nvSpPr>
          <p:cNvPr id="79" name="Text 76"/>
          <p:cNvSpPr txBox="1"/>
          <p:nvPr/>
        </p:nvSpPr>
        <p:spPr>
          <a:xfrm>
            <a:off x="8001000" y="4361688"/>
            <a:ext cx="3520440" cy="594360"/>
          </a:xfrm>
          <a:prstGeom prst="rect">
            <a:avLst/>
          </a:prstGeom>
          <a:noFill/>
          <a:ln/>
        </p:spPr>
        <p:txBody>
          <a:bodyPr wrap="square" lIns="0" tIns="0" rIns="0" bIns="0" rtlCol="0" anchor="t"/>
          <a:lstStyle/>
          <a:p>
            <a:pPr indent="0" marL="0">
              <a:buNone/>
            </a:pPr>
            <a:r>
              <a:rPr lang="en-US" sz="1150" dirty="0">
                <a:solidFill>
                  <a:srgbClr val="1B2A24"/>
                </a:solidFill>
                <a:latin typeface="Calibri" pitchFamily="34" charset="0"/>
                <a:ea typeface="Calibri" pitchFamily="34" charset="-122"/>
                <a:cs typeface="Calibri" pitchFamily="34" charset="-120"/>
              </a:rPr>
              <a:t>une seule requête, peu de positifs : elle se cale sans doute sur le site.</a:t>
            </a:r>
            <a:endParaRPr lang="en-US" sz="1150" dirty="0"/>
          </a:p>
        </p:txBody>
      </p:sp>
      <p:sp>
        <p:nvSpPr>
          <p:cNvPr id="80" name="Shape 77"/>
          <p:cNvSpPr/>
          <p:nvPr/>
        </p:nvSpPr>
        <p:spPr>
          <a:xfrm>
            <a:off x="7818120" y="5129784"/>
            <a:ext cx="3822192" cy="1078992"/>
          </a:xfrm>
          <a:prstGeom prst="roundRect">
            <a:avLst>
              <a:gd name="adj" fmla="val 8475"/>
            </a:avLst>
          </a:prstGeom>
          <a:solidFill>
            <a:srgbClr val="F3F7F4"/>
          </a:solidFill>
          <a:ln w="12700">
            <a:solidFill>
              <a:srgbClr val="F3F7F4"/>
            </a:solidFill>
            <a:prstDash val="solid"/>
          </a:ln>
        </p:spPr>
      </p:sp>
      <p:sp>
        <p:nvSpPr>
          <p:cNvPr id="81" name="Text 78"/>
          <p:cNvSpPr txBox="1"/>
          <p:nvPr/>
        </p:nvSpPr>
        <p:spPr>
          <a:xfrm>
            <a:off x="8001000" y="5221224"/>
            <a:ext cx="3520440" cy="320040"/>
          </a:xfrm>
          <a:prstGeom prst="rect">
            <a:avLst/>
          </a:prstGeom>
          <a:noFill/>
          <a:ln/>
        </p:spPr>
        <p:txBody>
          <a:bodyPr wrap="square" lIns="0" tIns="0" rIns="0" bIns="0" rtlCol="0" anchor="t"/>
          <a:lstStyle/>
          <a:p>
            <a:pPr indent="0" marL="0">
              <a:buNone/>
            </a:pPr>
            <a:r>
              <a:rPr lang="en-US" sz="1400" b="1" dirty="0">
                <a:solidFill>
                  <a:srgbClr val="2A7F72"/>
                </a:solidFill>
                <a:latin typeface="Calibri" pitchFamily="34" charset="0"/>
                <a:ea typeface="Calibri" pitchFamily="34" charset="-122"/>
                <a:cs typeface="Calibri" pitchFamily="34" charset="-120"/>
              </a:rPr>
              <a:t>Site sans annotation</a:t>
            </a:r>
            <a:endParaRPr lang="en-US" sz="1400" dirty="0"/>
          </a:p>
        </p:txBody>
      </p:sp>
      <p:sp>
        <p:nvSpPr>
          <p:cNvPr id="82" name="Text 79"/>
          <p:cNvSpPr txBox="1"/>
          <p:nvPr/>
        </p:nvSpPr>
        <p:spPr>
          <a:xfrm>
            <a:off x="8001000" y="5568696"/>
            <a:ext cx="3520440" cy="594360"/>
          </a:xfrm>
          <a:prstGeom prst="rect">
            <a:avLst/>
          </a:prstGeom>
          <a:noFill/>
          <a:ln/>
        </p:spPr>
        <p:txBody>
          <a:bodyPr wrap="square" lIns="0" tIns="0" rIns="0" bIns="0" rtlCol="0" anchor="t"/>
          <a:lstStyle/>
          <a:p>
            <a:pPr indent="0" marL="0">
              <a:buNone/>
            </a:pPr>
            <a:r>
              <a:rPr lang="en-US" sz="1150" dirty="0">
                <a:solidFill>
                  <a:srgbClr val="1B2A24"/>
                </a:solidFill>
                <a:latin typeface="Calibri" pitchFamily="34" charset="0"/>
                <a:ea typeface="Calibri" pitchFamily="34" charset="-122"/>
                <a:cs typeface="Calibri" pitchFamily="34" charset="-120"/>
              </a:rPr>
              <a:t>convnext_birdset part le mieux (0,83), perch_v2 juste derrière (0,81).</a:t>
            </a:r>
            <a:endParaRPr lang="en-US" sz="1150" dirty="0"/>
          </a:p>
        </p:txBody>
      </p:sp>
      <p:sp>
        <p:nvSpPr>
          <p:cNvPr id="83" name="Text 80"/>
          <p:cNvSpPr txBox="1"/>
          <p:nvPr/>
        </p:nvSpPr>
        <p:spPr>
          <a:xfrm>
            <a:off x="548640" y="6400800"/>
            <a:ext cx="11094415" cy="256032"/>
          </a:xfrm>
          <a:prstGeom prst="rect">
            <a:avLst/>
          </a:prstGeom>
          <a:noFill/>
          <a:ln/>
        </p:spPr>
        <p:txBody>
          <a:bodyPr wrap="square" lIns="0" tIns="0" rIns="0" bIns="0" rtlCol="0" anchor="t"/>
          <a:lstStyle/>
          <a:p>
            <a:pPr indent="0" marL="0">
              <a:buNone/>
            </a:pPr>
            <a:r>
              <a:rPr lang="en-US" sz="1000" i="1" dirty="0">
                <a:solidFill>
                  <a:srgbClr val="5B6B63"/>
                </a:solidFill>
                <a:latin typeface="Calibri" pitchFamily="34" charset="0"/>
                <a:ea typeface="Calibri" pitchFamily="34" charset="-122"/>
                <a:cs typeface="Calibri" pitchFamily="34" charset="-120"/>
              </a:rPr>
              <a:t>AnuraSet : 1 612 min, 4 sites du Brésil, 5 espèces sur ≥ 2 sites · un site tenu à l'écart à la fois · benchmark 08, statut indicateur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Suivi n° 2 — diapos ajoutées</dc:title>
  <dc:subject>PptxGenJS Presentation</dc:subject>
  <dc:creator>Léonard Laplace-Palette</dc:creator>
  <cp:lastModifiedBy>Léonard Laplace-Palette</cp:lastModifiedBy>
  <cp:revision>1</cp:revision>
  <dcterms:created xsi:type="dcterms:W3CDTF">2026-10-01T13:03:47Z</dcterms:created>
  <dcterms:modified xsi:type="dcterms:W3CDTF">2026-10-01T13:03:47Z</dcterms:modified>
</cp:coreProperties>
</file>